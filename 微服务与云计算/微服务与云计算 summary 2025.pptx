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media/image4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3"/>
  </p:sldMasterIdLst>
  <p:notesMasterIdLst>
    <p:notesMasterId r:id="rId6"/>
  </p:notesMasterIdLst>
  <p:handoutMasterIdLst>
    <p:handoutMasterId r:id="rId182"/>
  </p:handoutMasterIdLst>
  <p:sldIdLst>
    <p:sldId id="302" r:id="rId4"/>
    <p:sldId id="7061" r:id="rId5"/>
    <p:sldId id="7922" r:id="rId7"/>
    <p:sldId id="7923" r:id="rId8"/>
    <p:sldId id="7739" r:id="rId9"/>
    <p:sldId id="7740" r:id="rId10"/>
    <p:sldId id="7741" r:id="rId11"/>
    <p:sldId id="7742" r:id="rId12"/>
    <p:sldId id="7743" r:id="rId13"/>
    <p:sldId id="7744" r:id="rId14"/>
    <p:sldId id="7745" r:id="rId15"/>
    <p:sldId id="7746" r:id="rId16"/>
    <p:sldId id="7747" r:id="rId17"/>
    <p:sldId id="7748" r:id="rId18"/>
    <p:sldId id="7749" r:id="rId19"/>
    <p:sldId id="7750" r:id="rId20"/>
    <p:sldId id="7751" r:id="rId21"/>
    <p:sldId id="7752" r:id="rId22"/>
    <p:sldId id="7764" r:id="rId23"/>
    <p:sldId id="7765" r:id="rId24"/>
    <p:sldId id="7766" r:id="rId25"/>
    <p:sldId id="7753" r:id="rId26"/>
    <p:sldId id="7767" r:id="rId27"/>
    <p:sldId id="7754" r:id="rId28"/>
    <p:sldId id="7757" r:id="rId29"/>
    <p:sldId id="7756" r:id="rId30"/>
    <p:sldId id="7758" r:id="rId31"/>
    <p:sldId id="7759" r:id="rId32"/>
    <p:sldId id="7761" r:id="rId33"/>
    <p:sldId id="7762" r:id="rId34"/>
    <p:sldId id="7768" r:id="rId35"/>
    <p:sldId id="7769" r:id="rId36"/>
    <p:sldId id="7770" r:id="rId37"/>
    <p:sldId id="7771" r:id="rId38"/>
    <p:sldId id="7772" r:id="rId39"/>
    <p:sldId id="7773" r:id="rId40"/>
    <p:sldId id="7775" r:id="rId41"/>
    <p:sldId id="7776" r:id="rId42"/>
    <p:sldId id="7777" r:id="rId43"/>
    <p:sldId id="7778" r:id="rId44"/>
    <p:sldId id="7779" r:id="rId45"/>
    <p:sldId id="7780" r:id="rId46"/>
    <p:sldId id="7781" r:id="rId47"/>
    <p:sldId id="7783" r:id="rId48"/>
    <p:sldId id="7784" r:id="rId49"/>
    <p:sldId id="7785" r:id="rId50"/>
    <p:sldId id="7786" r:id="rId51"/>
    <p:sldId id="7787" r:id="rId52"/>
    <p:sldId id="7788" r:id="rId53"/>
    <p:sldId id="7789" r:id="rId54"/>
    <p:sldId id="7790" r:id="rId55"/>
    <p:sldId id="7795" r:id="rId56"/>
    <p:sldId id="7203" r:id="rId57"/>
    <p:sldId id="7204" r:id="rId58"/>
    <p:sldId id="7205" r:id="rId59"/>
    <p:sldId id="7206" r:id="rId60"/>
    <p:sldId id="7207" r:id="rId61"/>
    <p:sldId id="7208" r:id="rId62"/>
    <p:sldId id="7924" r:id="rId63"/>
    <p:sldId id="7925" r:id="rId64"/>
    <p:sldId id="6874" r:id="rId65"/>
    <p:sldId id="7212" r:id="rId66"/>
    <p:sldId id="7213" r:id="rId67"/>
    <p:sldId id="7215" r:id="rId68"/>
    <p:sldId id="7484" r:id="rId69"/>
    <p:sldId id="7485" r:id="rId70"/>
    <p:sldId id="7216" r:id="rId71"/>
    <p:sldId id="7358" r:id="rId72"/>
    <p:sldId id="7613" r:id="rId73"/>
    <p:sldId id="7359" r:id="rId74"/>
    <p:sldId id="7360" r:id="rId75"/>
    <p:sldId id="7361" r:id="rId76"/>
    <p:sldId id="7362" r:id="rId77"/>
    <p:sldId id="7363" r:id="rId78"/>
    <p:sldId id="7364" r:id="rId79"/>
    <p:sldId id="7365" r:id="rId80"/>
    <p:sldId id="7214" r:id="rId81"/>
    <p:sldId id="6573" r:id="rId82"/>
    <p:sldId id="6574" r:id="rId83"/>
    <p:sldId id="6164" r:id="rId84"/>
    <p:sldId id="6165" r:id="rId85"/>
    <p:sldId id="2830" r:id="rId86"/>
    <p:sldId id="3430" r:id="rId87"/>
    <p:sldId id="6326" r:id="rId88"/>
    <p:sldId id="6576" r:id="rId89"/>
    <p:sldId id="6763" r:id="rId90"/>
    <p:sldId id="6764" r:id="rId91"/>
    <p:sldId id="6765" r:id="rId92"/>
    <p:sldId id="6769" r:id="rId93"/>
    <p:sldId id="6575" r:id="rId94"/>
    <p:sldId id="6766" r:id="rId95"/>
    <p:sldId id="6767" r:id="rId96"/>
    <p:sldId id="6768" r:id="rId97"/>
    <p:sldId id="6666" r:id="rId98"/>
    <p:sldId id="6667" r:id="rId99"/>
    <p:sldId id="3234" r:id="rId100"/>
    <p:sldId id="3364" r:id="rId101"/>
    <p:sldId id="3656" r:id="rId102"/>
    <p:sldId id="6412" r:id="rId103"/>
    <p:sldId id="4826" r:id="rId104"/>
    <p:sldId id="5722" r:id="rId105"/>
    <p:sldId id="3896" r:id="rId106"/>
    <p:sldId id="3897" r:id="rId107"/>
    <p:sldId id="3900" r:id="rId108"/>
    <p:sldId id="5038" r:id="rId109"/>
    <p:sldId id="5301" r:id="rId110"/>
    <p:sldId id="5390" r:id="rId111"/>
    <p:sldId id="5121" r:id="rId112"/>
    <p:sldId id="6871" r:id="rId113"/>
    <p:sldId id="6770" r:id="rId114"/>
    <p:sldId id="6872" r:id="rId115"/>
    <p:sldId id="7366" r:id="rId116"/>
    <p:sldId id="5977" r:id="rId117"/>
    <p:sldId id="5981" r:id="rId118"/>
    <p:sldId id="5982" r:id="rId119"/>
    <p:sldId id="5986" r:id="rId120"/>
    <p:sldId id="5985" r:id="rId121"/>
    <p:sldId id="5984" r:id="rId122"/>
    <p:sldId id="5987" r:id="rId123"/>
    <p:sldId id="6873" r:id="rId124"/>
    <p:sldId id="5983" r:id="rId125"/>
    <p:sldId id="6351" r:id="rId126"/>
    <p:sldId id="6328" r:id="rId127"/>
    <p:sldId id="6329" r:id="rId128"/>
    <p:sldId id="6330" r:id="rId129"/>
    <p:sldId id="6331" r:id="rId130"/>
    <p:sldId id="6332" r:id="rId131"/>
    <p:sldId id="6333" r:id="rId132"/>
    <p:sldId id="6334" r:id="rId133"/>
    <p:sldId id="6337" r:id="rId134"/>
    <p:sldId id="6338" r:id="rId135"/>
    <p:sldId id="6339" r:id="rId136"/>
    <p:sldId id="6340" r:id="rId137"/>
    <p:sldId id="6341" r:id="rId138"/>
    <p:sldId id="6342" r:id="rId139"/>
    <p:sldId id="6343" r:id="rId140"/>
    <p:sldId id="6344" r:id="rId141"/>
    <p:sldId id="6345" r:id="rId142"/>
    <p:sldId id="6346" r:id="rId143"/>
    <p:sldId id="6347" r:id="rId144"/>
    <p:sldId id="6348" r:id="rId145"/>
    <p:sldId id="6349" r:id="rId146"/>
    <p:sldId id="6350" r:id="rId147"/>
    <p:sldId id="6668" r:id="rId148"/>
    <p:sldId id="6669" r:id="rId149"/>
    <p:sldId id="6670" r:id="rId150"/>
    <p:sldId id="6671" r:id="rId151"/>
    <p:sldId id="6672" r:id="rId152"/>
    <p:sldId id="6673" r:id="rId153"/>
    <p:sldId id="6674" r:id="rId154"/>
    <p:sldId id="6675" r:id="rId155"/>
    <p:sldId id="6676" r:id="rId156"/>
    <p:sldId id="6677" r:id="rId157"/>
    <p:sldId id="6678" r:id="rId158"/>
    <p:sldId id="6679" r:id="rId159"/>
    <p:sldId id="6680" r:id="rId160"/>
    <p:sldId id="6681" r:id="rId161"/>
    <p:sldId id="7018" r:id="rId162"/>
    <p:sldId id="7019" r:id="rId163"/>
    <p:sldId id="7039" r:id="rId164"/>
    <p:sldId id="7038" r:id="rId165"/>
    <p:sldId id="7040" r:id="rId166"/>
    <p:sldId id="6992" r:id="rId167"/>
    <p:sldId id="6993" r:id="rId168"/>
    <p:sldId id="7041" r:id="rId169"/>
    <p:sldId id="7021" r:id="rId170"/>
    <p:sldId id="7003" r:id="rId171"/>
    <p:sldId id="6994" r:id="rId172"/>
    <p:sldId id="7004" r:id="rId173"/>
    <p:sldId id="7005" r:id="rId174"/>
    <p:sldId id="7006" r:id="rId175"/>
    <p:sldId id="6995" r:id="rId176"/>
    <p:sldId id="6996" r:id="rId177"/>
    <p:sldId id="6997" r:id="rId178"/>
    <p:sldId id="7000" r:id="rId179"/>
    <p:sldId id="7020" r:id="rId180"/>
    <p:sldId id="6352" r:id="rId181"/>
  </p:sldIdLst>
  <p:sldSz cx="9144000" cy="6858000" type="screen4x3"/>
  <p:notesSz cx="7099300" cy="10234295"/>
  <p:custDataLst>
    <p:tags r:id="rId187"/>
  </p:custDataLst>
  <p:defaultTextStyle>
    <a:defPPr>
      <a:defRPr lang="en-GB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Comic Sans MS" panose="030F0902030302020204" pitchFamily="66" charset="0"/>
        <a:ea typeface="+mn-ea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Comic Sans MS" panose="030F0902030302020204" pitchFamily="66" charset="0"/>
        <a:ea typeface="+mn-ea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Comic Sans MS" panose="030F0902030302020204" pitchFamily="66" charset="0"/>
        <a:ea typeface="+mn-ea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Comic Sans MS" panose="030F0902030302020204" pitchFamily="66" charset="0"/>
        <a:ea typeface="+mn-ea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Comic Sans MS" panose="030F0902030302020204" pitchFamily="66" charset="0"/>
        <a:ea typeface="+mn-ea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Comic Sans MS" panose="030F0902030302020204" pitchFamily="66" charset="0"/>
        <a:ea typeface="+mn-ea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Comic Sans MS" panose="030F0902030302020204" pitchFamily="66" charset="0"/>
        <a:ea typeface="+mn-ea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Comic Sans MS" panose="030F0902030302020204" pitchFamily="66" charset="0"/>
        <a:ea typeface="+mn-ea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Comic Sans MS" panose="030F0902030302020204" pitchFamily="66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08" userDrawn="1">
          <p15:clr>
            <a:srgbClr val="A4A3A4"/>
          </p15:clr>
        </p15:guide>
        <p15:guide id="2" pos="288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姚芋头" initials="姚芋头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0001FF"/>
    <a:srgbClr val="000000"/>
    <a:srgbClr val="0000FF"/>
    <a:srgbClr val="00FF00"/>
    <a:srgbClr val="FFCC66"/>
    <a:srgbClr val="FF99FF"/>
    <a:srgbClr val="CC3399"/>
    <a:srgbClr val="CC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65"/>
    <p:restoredTop sz="94603"/>
  </p:normalViewPr>
  <p:slideViewPr>
    <p:cSldViewPr showGuides="1">
      <p:cViewPr varScale="1">
        <p:scale>
          <a:sx n="79" d="100"/>
          <a:sy n="79" d="100"/>
        </p:scale>
        <p:origin x="1020" y="90"/>
      </p:cViewPr>
      <p:guideLst>
        <p:guide orient="horz" pos="2108"/>
        <p:guide pos="288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9" Type="http://schemas.openxmlformats.org/officeDocument/2006/relationships/slide" Target="slides/slide95.xml"/><Relationship Id="rId98" Type="http://schemas.openxmlformats.org/officeDocument/2006/relationships/slide" Target="slides/slide94.xml"/><Relationship Id="rId97" Type="http://schemas.openxmlformats.org/officeDocument/2006/relationships/slide" Target="slides/slide93.xml"/><Relationship Id="rId96" Type="http://schemas.openxmlformats.org/officeDocument/2006/relationships/slide" Target="slides/slide92.xml"/><Relationship Id="rId95" Type="http://schemas.openxmlformats.org/officeDocument/2006/relationships/slide" Target="slides/slide91.xml"/><Relationship Id="rId94" Type="http://schemas.openxmlformats.org/officeDocument/2006/relationships/slide" Target="slides/slide90.xml"/><Relationship Id="rId93" Type="http://schemas.openxmlformats.org/officeDocument/2006/relationships/slide" Target="slides/slide89.xml"/><Relationship Id="rId92" Type="http://schemas.openxmlformats.org/officeDocument/2006/relationships/slide" Target="slides/slide88.xml"/><Relationship Id="rId91" Type="http://schemas.openxmlformats.org/officeDocument/2006/relationships/slide" Target="slides/slide87.xml"/><Relationship Id="rId90" Type="http://schemas.openxmlformats.org/officeDocument/2006/relationships/slide" Target="slides/slide86.xml"/><Relationship Id="rId9" Type="http://schemas.openxmlformats.org/officeDocument/2006/relationships/slide" Target="slides/slide5.xml"/><Relationship Id="rId89" Type="http://schemas.openxmlformats.org/officeDocument/2006/relationships/slide" Target="slides/slide85.xml"/><Relationship Id="rId88" Type="http://schemas.openxmlformats.org/officeDocument/2006/relationships/slide" Target="slides/slide84.xml"/><Relationship Id="rId87" Type="http://schemas.openxmlformats.org/officeDocument/2006/relationships/slide" Target="slides/slide83.xml"/><Relationship Id="rId86" Type="http://schemas.openxmlformats.org/officeDocument/2006/relationships/slide" Target="slides/slide82.xml"/><Relationship Id="rId85" Type="http://schemas.openxmlformats.org/officeDocument/2006/relationships/slide" Target="slides/slide81.xml"/><Relationship Id="rId84" Type="http://schemas.openxmlformats.org/officeDocument/2006/relationships/slide" Target="slides/slide80.xml"/><Relationship Id="rId83" Type="http://schemas.openxmlformats.org/officeDocument/2006/relationships/slide" Target="slides/slide79.xml"/><Relationship Id="rId82" Type="http://schemas.openxmlformats.org/officeDocument/2006/relationships/slide" Target="slides/slide78.xml"/><Relationship Id="rId81" Type="http://schemas.openxmlformats.org/officeDocument/2006/relationships/slide" Target="slides/slide77.xml"/><Relationship Id="rId80" Type="http://schemas.openxmlformats.org/officeDocument/2006/relationships/slide" Target="slides/slide76.xml"/><Relationship Id="rId8" Type="http://schemas.openxmlformats.org/officeDocument/2006/relationships/slide" Target="slides/slide4.xml"/><Relationship Id="rId79" Type="http://schemas.openxmlformats.org/officeDocument/2006/relationships/slide" Target="slides/slide75.xml"/><Relationship Id="rId78" Type="http://schemas.openxmlformats.org/officeDocument/2006/relationships/slide" Target="slides/slide74.xml"/><Relationship Id="rId77" Type="http://schemas.openxmlformats.org/officeDocument/2006/relationships/slide" Target="slides/slide73.xml"/><Relationship Id="rId76" Type="http://schemas.openxmlformats.org/officeDocument/2006/relationships/slide" Target="slides/slide72.xml"/><Relationship Id="rId75" Type="http://schemas.openxmlformats.org/officeDocument/2006/relationships/slide" Target="slides/slide71.xml"/><Relationship Id="rId74" Type="http://schemas.openxmlformats.org/officeDocument/2006/relationships/slide" Target="slides/slide70.xml"/><Relationship Id="rId73" Type="http://schemas.openxmlformats.org/officeDocument/2006/relationships/slide" Target="slides/slide69.xml"/><Relationship Id="rId72" Type="http://schemas.openxmlformats.org/officeDocument/2006/relationships/slide" Target="slides/slide68.xml"/><Relationship Id="rId71" Type="http://schemas.openxmlformats.org/officeDocument/2006/relationships/slide" Target="slides/slide67.xml"/><Relationship Id="rId70" Type="http://schemas.openxmlformats.org/officeDocument/2006/relationships/slide" Target="slides/slide66.xml"/><Relationship Id="rId7" Type="http://schemas.openxmlformats.org/officeDocument/2006/relationships/slide" Target="slides/slide3.xml"/><Relationship Id="rId69" Type="http://schemas.openxmlformats.org/officeDocument/2006/relationships/slide" Target="slides/slide65.xml"/><Relationship Id="rId68" Type="http://schemas.openxmlformats.org/officeDocument/2006/relationships/slide" Target="slides/slide64.xml"/><Relationship Id="rId67" Type="http://schemas.openxmlformats.org/officeDocument/2006/relationships/slide" Target="slides/slide63.xml"/><Relationship Id="rId66" Type="http://schemas.openxmlformats.org/officeDocument/2006/relationships/slide" Target="slides/slide62.xml"/><Relationship Id="rId65" Type="http://schemas.openxmlformats.org/officeDocument/2006/relationships/slide" Target="slides/slide61.xml"/><Relationship Id="rId64" Type="http://schemas.openxmlformats.org/officeDocument/2006/relationships/slide" Target="slides/slide60.xml"/><Relationship Id="rId63" Type="http://schemas.openxmlformats.org/officeDocument/2006/relationships/slide" Target="slides/slide59.xml"/><Relationship Id="rId62" Type="http://schemas.openxmlformats.org/officeDocument/2006/relationships/slide" Target="slides/slide58.xml"/><Relationship Id="rId61" Type="http://schemas.openxmlformats.org/officeDocument/2006/relationships/slide" Target="slides/slide57.xml"/><Relationship Id="rId60" Type="http://schemas.openxmlformats.org/officeDocument/2006/relationships/slide" Target="slides/slide56.xml"/><Relationship Id="rId6" Type="http://schemas.openxmlformats.org/officeDocument/2006/relationships/notesMaster" Target="notesMasters/notesMaster1.xml"/><Relationship Id="rId59" Type="http://schemas.openxmlformats.org/officeDocument/2006/relationships/slide" Target="slides/slide55.xml"/><Relationship Id="rId58" Type="http://schemas.openxmlformats.org/officeDocument/2006/relationships/slide" Target="slides/slide54.xml"/><Relationship Id="rId57" Type="http://schemas.openxmlformats.org/officeDocument/2006/relationships/slide" Target="slides/slide53.xml"/><Relationship Id="rId56" Type="http://schemas.openxmlformats.org/officeDocument/2006/relationships/slide" Target="slides/slide52.xml"/><Relationship Id="rId55" Type="http://schemas.openxmlformats.org/officeDocument/2006/relationships/slide" Target="slides/slide51.xml"/><Relationship Id="rId54" Type="http://schemas.openxmlformats.org/officeDocument/2006/relationships/slide" Target="slides/slide50.xml"/><Relationship Id="rId53" Type="http://schemas.openxmlformats.org/officeDocument/2006/relationships/slide" Target="slides/slide49.xml"/><Relationship Id="rId52" Type="http://schemas.openxmlformats.org/officeDocument/2006/relationships/slide" Target="slides/slide48.xml"/><Relationship Id="rId51" Type="http://schemas.openxmlformats.org/officeDocument/2006/relationships/slide" Target="slides/slide47.xml"/><Relationship Id="rId50" Type="http://schemas.openxmlformats.org/officeDocument/2006/relationships/slide" Target="slides/slide46.xml"/><Relationship Id="rId5" Type="http://schemas.openxmlformats.org/officeDocument/2006/relationships/slide" Target="slides/slide2.xml"/><Relationship Id="rId49" Type="http://schemas.openxmlformats.org/officeDocument/2006/relationships/slide" Target="slides/slide45.xml"/><Relationship Id="rId48" Type="http://schemas.openxmlformats.org/officeDocument/2006/relationships/slide" Target="slides/slide44.xml"/><Relationship Id="rId47" Type="http://schemas.openxmlformats.org/officeDocument/2006/relationships/slide" Target="slides/slide43.xml"/><Relationship Id="rId46" Type="http://schemas.openxmlformats.org/officeDocument/2006/relationships/slide" Target="slides/slide42.xml"/><Relationship Id="rId45" Type="http://schemas.openxmlformats.org/officeDocument/2006/relationships/slide" Target="slides/slide41.xml"/><Relationship Id="rId44" Type="http://schemas.openxmlformats.org/officeDocument/2006/relationships/slide" Target="slides/slide40.xml"/><Relationship Id="rId43" Type="http://schemas.openxmlformats.org/officeDocument/2006/relationships/slide" Target="slides/slide39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40" Type="http://schemas.openxmlformats.org/officeDocument/2006/relationships/slide" Target="slides/slide36.xml"/><Relationship Id="rId4" Type="http://schemas.openxmlformats.org/officeDocument/2006/relationships/slide" Target="slides/slide1.xml"/><Relationship Id="rId39" Type="http://schemas.openxmlformats.org/officeDocument/2006/relationships/slide" Target="slides/slide35.xml"/><Relationship Id="rId38" Type="http://schemas.openxmlformats.org/officeDocument/2006/relationships/slide" Target="slides/slide34.xml"/><Relationship Id="rId37" Type="http://schemas.openxmlformats.org/officeDocument/2006/relationships/slide" Target="slides/slide33.xml"/><Relationship Id="rId36" Type="http://schemas.openxmlformats.org/officeDocument/2006/relationships/slide" Target="slides/slide32.xml"/><Relationship Id="rId35" Type="http://schemas.openxmlformats.org/officeDocument/2006/relationships/slide" Target="slides/slide31.xml"/><Relationship Id="rId34" Type="http://schemas.openxmlformats.org/officeDocument/2006/relationships/slide" Target="slides/slide30.xml"/><Relationship Id="rId33" Type="http://schemas.openxmlformats.org/officeDocument/2006/relationships/slide" Target="slides/slide29.xml"/><Relationship Id="rId32" Type="http://schemas.openxmlformats.org/officeDocument/2006/relationships/slide" Target="slides/slide28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5.xml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7" Type="http://schemas.openxmlformats.org/officeDocument/2006/relationships/tags" Target="tags/tag165.xml"/><Relationship Id="rId186" Type="http://schemas.openxmlformats.org/officeDocument/2006/relationships/commentAuthors" Target="commentAuthors.xml"/><Relationship Id="rId185" Type="http://schemas.openxmlformats.org/officeDocument/2006/relationships/tableStyles" Target="tableStyles.xml"/><Relationship Id="rId184" Type="http://schemas.openxmlformats.org/officeDocument/2006/relationships/viewProps" Target="viewProps.xml"/><Relationship Id="rId183" Type="http://schemas.openxmlformats.org/officeDocument/2006/relationships/presProps" Target="presProps.xml"/><Relationship Id="rId182" Type="http://schemas.openxmlformats.org/officeDocument/2006/relationships/handoutMaster" Target="handoutMasters/handoutMaster1.xml"/><Relationship Id="rId181" Type="http://schemas.openxmlformats.org/officeDocument/2006/relationships/slide" Target="slides/slide177.xml"/><Relationship Id="rId180" Type="http://schemas.openxmlformats.org/officeDocument/2006/relationships/slide" Target="slides/slide176.xml"/><Relationship Id="rId18" Type="http://schemas.openxmlformats.org/officeDocument/2006/relationships/slide" Target="slides/slide14.xml"/><Relationship Id="rId179" Type="http://schemas.openxmlformats.org/officeDocument/2006/relationships/slide" Target="slides/slide175.xml"/><Relationship Id="rId178" Type="http://schemas.openxmlformats.org/officeDocument/2006/relationships/slide" Target="slides/slide174.xml"/><Relationship Id="rId177" Type="http://schemas.openxmlformats.org/officeDocument/2006/relationships/slide" Target="slides/slide173.xml"/><Relationship Id="rId176" Type="http://schemas.openxmlformats.org/officeDocument/2006/relationships/slide" Target="slides/slide172.xml"/><Relationship Id="rId175" Type="http://schemas.openxmlformats.org/officeDocument/2006/relationships/slide" Target="slides/slide171.xml"/><Relationship Id="rId174" Type="http://schemas.openxmlformats.org/officeDocument/2006/relationships/slide" Target="slides/slide170.xml"/><Relationship Id="rId173" Type="http://schemas.openxmlformats.org/officeDocument/2006/relationships/slide" Target="slides/slide169.xml"/><Relationship Id="rId172" Type="http://schemas.openxmlformats.org/officeDocument/2006/relationships/slide" Target="slides/slide168.xml"/><Relationship Id="rId171" Type="http://schemas.openxmlformats.org/officeDocument/2006/relationships/slide" Target="slides/slide167.xml"/><Relationship Id="rId170" Type="http://schemas.openxmlformats.org/officeDocument/2006/relationships/slide" Target="slides/slide166.xml"/><Relationship Id="rId17" Type="http://schemas.openxmlformats.org/officeDocument/2006/relationships/slide" Target="slides/slide13.xml"/><Relationship Id="rId169" Type="http://schemas.openxmlformats.org/officeDocument/2006/relationships/slide" Target="slides/slide165.xml"/><Relationship Id="rId168" Type="http://schemas.openxmlformats.org/officeDocument/2006/relationships/slide" Target="slides/slide164.xml"/><Relationship Id="rId167" Type="http://schemas.openxmlformats.org/officeDocument/2006/relationships/slide" Target="slides/slide163.xml"/><Relationship Id="rId166" Type="http://schemas.openxmlformats.org/officeDocument/2006/relationships/slide" Target="slides/slide162.xml"/><Relationship Id="rId165" Type="http://schemas.openxmlformats.org/officeDocument/2006/relationships/slide" Target="slides/slide161.xml"/><Relationship Id="rId164" Type="http://schemas.openxmlformats.org/officeDocument/2006/relationships/slide" Target="slides/slide160.xml"/><Relationship Id="rId163" Type="http://schemas.openxmlformats.org/officeDocument/2006/relationships/slide" Target="slides/slide159.xml"/><Relationship Id="rId162" Type="http://schemas.openxmlformats.org/officeDocument/2006/relationships/slide" Target="slides/slide158.xml"/><Relationship Id="rId161" Type="http://schemas.openxmlformats.org/officeDocument/2006/relationships/slide" Target="slides/slide157.xml"/><Relationship Id="rId160" Type="http://schemas.openxmlformats.org/officeDocument/2006/relationships/slide" Target="slides/slide156.xml"/><Relationship Id="rId16" Type="http://schemas.openxmlformats.org/officeDocument/2006/relationships/slide" Target="slides/slide12.xml"/><Relationship Id="rId159" Type="http://schemas.openxmlformats.org/officeDocument/2006/relationships/slide" Target="slides/slide155.xml"/><Relationship Id="rId158" Type="http://schemas.openxmlformats.org/officeDocument/2006/relationships/slide" Target="slides/slide154.xml"/><Relationship Id="rId157" Type="http://schemas.openxmlformats.org/officeDocument/2006/relationships/slide" Target="slides/slide153.xml"/><Relationship Id="rId156" Type="http://schemas.openxmlformats.org/officeDocument/2006/relationships/slide" Target="slides/slide152.xml"/><Relationship Id="rId155" Type="http://schemas.openxmlformats.org/officeDocument/2006/relationships/slide" Target="slides/slide151.xml"/><Relationship Id="rId154" Type="http://schemas.openxmlformats.org/officeDocument/2006/relationships/slide" Target="slides/slide150.xml"/><Relationship Id="rId153" Type="http://schemas.openxmlformats.org/officeDocument/2006/relationships/slide" Target="slides/slide149.xml"/><Relationship Id="rId152" Type="http://schemas.openxmlformats.org/officeDocument/2006/relationships/slide" Target="slides/slide148.xml"/><Relationship Id="rId151" Type="http://schemas.openxmlformats.org/officeDocument/2006/relationships/slide" Target="slides/slide147.xml"/><Relationship Id="rId150" Type="http://schemas.openxmlformats.org/officeDocument/2006/relationships/slide" Target="slides/slide146.xml"/><Relationship Id="rId15" Type="http://schemas.openxmlformats.org/officeDocument/2006/relationships/slide" Target="slides/slide11.xml"/><Relationship Id="rId149" Type="http://schemas.openxmlformats.org/officeDocument/2006/relationships/slide" Target="slides/slide145.xml"/><Relationship Id="rId148" Type="http://schemas.openxmlformats.org/officeDocument/2006/relationships/slide" Target="slides/slide144.xml"/><Relationship Id="rId147" Type="http://schemas.openxmlformats.org/officeDocument/2006/relationships/slide" Target="slides/slide143.xml"/><Relationship Id="rId146" Type="http://schemas.openxmlformats.org/officeDocument/2006/relationships/slide" Target="slides/slide142.xml"/><Relationship Id="rId145" Type="http://schemas.openxmlformats.org/officeDocument/2006/relationships/slide" Target="slides/slide141.xml"/><Relationship Id="rId144" Type="http://schemas.openxmlformats.org/officeDocument/2006/relationships/slide" Target="slides/slide140.xml"/><Relationship Id="rId143" Type="http://schemas.openxmlformats.org/officeDocument/2006/relationships/slide" Target="slides/slide139.xml"/><Relationship Id="rId142" Type="http://schemas.openxmlformats.org/officeDocument/2006/relationships/slide" Target="slides/slide138.xml"/><Relationship Id="rId141" Type="http://schemas.openxmlformats.org/officeDocument/2006/relationships/slide" Target="slides/slide137.xml"/><Relationship Id="rId140" Type="http://schemas.openxmlformats.org/officeDocument/2006/relationships/slide" Target="slides/slide136.xml"/><Relationship Id="rId14" Type="http://schemas.openxmlformats.org/officeDocument/2006/relationships/slide" Target="slides/slide10.xml"/><Relationship Id="rId139" Type="http://schemas.openxmlformats.org/officeDocument/2006/relationships/slide" Target="slides/slide135.xml"/><Relationship Id="rId138" Type="http://schemas.openxmlformats.org/officeDocument/2006/relationships/slide" Target="slides/slide134.xml"/><Relationship Id="rId137" Type="http://schemas.openxmlformats.org/officeDocument/2006/relationships/slide" Target="slides/slide133.xml"/><Relationship Id="rId136" Type="http://schemas.openxmlformats.org/officeDocument/2006/relationships/slide" Target="slides/slide132.xml"/><Relationship Id="rId135" Type="http://schemas.openxmlformats.org/officeDocument/2006/relationships/slide" Target="slides/slide131.xml"/><Relationship Id="rId134" Type="http://schemas.openxmlformats.org/officeDocument/2006/relationships/slide" Target="slides/slide130.xml"/><Relationship Id="rId133" Type="http://schemas.openxmlformats.org/officeDocument/2006/relationships/slide" Target="slides/slide129.xml"/><Relationship Id="rId132" Type="http://schemas.openxmlformats.org/officeDocument/2006/relationships/slide" Target="slides/slide128.xml"/><Relationship Id="rId131" Type="http://schemas.openxmlformats.org/officeDocument/2006/relationships/slide" Target="slides/slide127.xml"/><Relationship Id="rId130" Type="http://schemas.openxmlformats.org/officeDocument/2006/relationships/slide" Target="slides/slide126.xml"/><Relationship Id="rId13" Type="http://schemas.openxmlformats.org/officeDocument/2006/relationships/slide" Target="slides/slide9.xml"/><Relationship Id="rId129" Type="http://schemas.openxmlformats.org/officeDocument/2006/relationships/slide" Target="slides/slide125.xml"/><Relationship Id="rId128" Type="http://schemas.openxmlformats.org/officeDocument/2006/relationships/slide" Target="slides/slide124.xml"/><Relationship Id="rId127" Type="http://schemas.openxmlformats.org/officeDocument/2006/relationships/slide" Target="slides/slide123.xml"/><Relationship Id="rId126" Type="http://schemas.openxmlformats.org/officeDocument/2006/relationships/slide" Target="slides/slide122.xml"/><Relationship Id="rId125" Type="http://schemas.openxmlformats.org/officeDocument/2006/relationships/slide" Target="slides/slide121.xml"/><Relationship Id="rId124" Type="http://schemas.openxmlformats.org/officeDocument/2006/relationships/slide" Target="slides/slide120.xml"/><Relationship Id="rId123" Type="http://schemas.openxmlformats.org/officeDocument/2006/relationships/slide" Target="slides/slide119.xml"/><Relationship Id="rId122" Type="http://schemas.openxmlformats.org/officeDocument/2006/relationships/slide" Target="slides/slide118.xml"/><Relationship Id="rId121" Type="http://schemas.openxmlformats.org/officeDocument/2006/relationships/slide" Target="slides/slide117.xml"/><Relationship Id="rId120" Type="http://schemas.openxmlformats.org/officeDocument/2006/relationships/slide" Target="slides/slide116.xml"/><Relationship Id="rId12" Type="http://schemas.openxmlformats.org/officeDocument/2006/relationships/slide" Target="slides/slide8.xml"/><Relationship Id="rId119" Type="http://schemas.openxmlformats.org/officeDocument/2006/relationships/slide" Target="slides/slide115.xml"/><Relationship Id="rId118" Type="http://schemas.openxmlformats.org/officeDocument/2006/relationships/slide" Target="slides/slide114.xml"/><Relationship Id="rId117" Type="http://schemas.openxmlformats.org/officeDocument/2006/relationships/slide" Target="slides/slide113.xml"/><Relationship Id="rId116" Type="http://schemas.openxmlformats.org/officeDocument/2006/relationships/slide" Target="slides/slide112.xml"/><Relationship Id="rId115" Type="http://schemas.openxmlformats.org/officeDocument/2006/relationships/slide" Target="slides/slide111.xml"/><Relationship Id="rId114" Type="http://schemas.openxmlformats.org/officeDocument/2006/relationships/slide" Target="slides/slide110.xml"/><Relationship Id="rId113" Type="http://schemas.openxmlformats.org/officeDocument/2006/relationships/slide" Target="slides/slide109.xml"/><Relationship Id="rId112" Type="http://schemas.openxmlformats.org/officeDocument/2006/relationships/slide" Target="slides/slide108.xml"/><Relationship Id="rId111" Type="http://schemas.openxmlformats.org/officeDocument/2006/relationships/slide" Target="slides/slide107.xml"/><Relationship Id="rId110" Type="http://schemas.openxmlformats.org/officeDocument/2006/relationships/slide" Target="slides/slide106.xml"/><Relationship Id="rId11" Type="http://schemas.openxmlformats.org/officeDocument/2006/relationships/slide" Target="slides/slide7.xml"/><Relationship Id="rId109" Type="http://schemas.openxmlformats.org/officeDocument/2006/relationships/slide" Target="slides/slide105.xml"/><Relationship Id="rId108" Type="http://schemas.openxmlformats.org/officeDocument/2006/relationships/slide" Target="slides/slide104.xml"/><Relationship Id="rId107" Type="http://schemas.openxmlformats.org/officeDocument/2006/relationships/slide" Target="slides/slide103.xml"/><Relationship Id="rId106" Type="http://schemas.openxmlformats.org/officeDocument/2006/relationships/slide" Target="slides/slide102.xml"/><Relationship Id="rId105" Type="http://schemas.openxmlformats.org/officeDocument/2006/relationships/slide" Target="slides/slide101.xml"/><Relationship Id="rId104" Type="http://schemas.openxmlformats.org/officeDocument/2006/relationships/slide" Target="slides/slide100.xml"/><Relationship Id="rId103" Type="http://schemas.openxmlformats.org/officeDocument/2006/relationships/slide" Target="slides/slide99.xml"/><Relationship Id="rId102" Type="http://schemas.openxmlformats.org/officeDocument/2006/relationships/slide" Target="slides/slide98.xml"/><Relationship Id="rId101" Type="http://schemas.openxmlformats.org/officeDocument/2006/relationships/slide" Target="slides/slide97.xml"/><Relationship Id="rId100" Type="http://schemas.openxmlformats.org/officeDocument/2006/relationships/slide" Target="slides/slide96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12-02T20:33:13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764.000 335.000,'2.000'0.000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12-02T20:33:13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764.000 335.000,'2.000'0.000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12-02T20:33:13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764.000 335.000,'2.000'0.000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12-02T20:33:13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764.000 335.000,'2.000'0.000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12-02T20:33:13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764.000 335.000,'2.000'0.000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12-02T20:33:13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764.000 335.000,'2.000'0.000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12-01T21:35:52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344.000 451.000,'2.000'0.000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12-01T21:35:52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417.000 489.000,'2.000'0.000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12-01T21:35:52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443.000 521.000,'2.000'0.000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12-01T21:35:52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558.000 311.000,'2.000'0.000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12-01T21:35:52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559.000 310.000,'2.000'0.000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12-01T21:35:52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592.000 271.000,'2.000'0.000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12-01T21:35:52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151.000 617.000,'2.000'0.000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12-01T21:35:52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859.000 562.000,'-3.000'3.000,"1.000"0.000,-1.000-2.000,0.000 1.000,0.000 0.000,0.000 0.000,0.000-1.000,0.000 1.000,6.000-1.000,0.000-1.000,0.000 0.000,0.000 0.000,0.000 0.000,2.000 0.000,-2.000 0.000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12-02T20:33:13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94.000 428.000,'2.000'0.000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2-12-02T20:33:13"/>
    </inkml:context>
    <inkml:brush xml:id="br0">
      <inkml:brushProperty name="width" value="0.09701" units="cm"/>
      <inkml:brushProperty name="height" value="0.09701" units="cm"/>
      <inkml:brushProperty name="color" value="#ff0000"/>
      <inkml:brushProperty name="ignorePressure" value="0"/>
    </inkml:brush>
  </inkml:definitions>
  <inkml:trace contextRef="#ctx0" brushRef="#br0">313.000 638.000,'2.000'0.000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defTabSz="7620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9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0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2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3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5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6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7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7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8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9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0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5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3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7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8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0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7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9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0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2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lvl="0" algn="r" defTabSz="990600"/>
            <a:fld id="{9A0DB2DC-4C9A-4742-B13C-FB6460FD3503}" type="slidenum">
              <a:rPr lang="en-US" altLang="zh-CN" sz="1300" b="0" dirty="0"/>
            </a:fld>
            <a:endParaRPr lang="en-US" altLang="zh-CN" sz="1300" b="0" dirty="0"/>
          </a:p>
        </p:txBody>
      </p:sp>
      <p:sp>
        <p:nvSpPr>
          <p:cNvPr id="512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>
          <a:xfrm>
            <a:off x="946150" y="4860925"/>
            <a:ext cx="5207000" cy="4605338"/>
          </a:xfrm>
        </p:spPr>
        <p:txBody>
          <a:bodyPr wrap="square" lIns="99048" tIns="49524" rIns="99048" bIns="49524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lvl="0" algn="r" defTabSz="990600"/>
            <a:fld id="{9A0DB2DC-4C9A-4742-B13C-FB6460FD3503}" type="slidenum">
              <a:rPr lang="en-US" altLang="zh-CN" sz="1300" b="0" dirty="0"/>
            </a:fld>
            <a:endParaRPr lang="en-US" altLang="zh-CN" sz="1300" b="0" dirty="0"/>
          </a:p>
        </p:txBody>
      </p:sp>
      <p:sp>
        <p:nvSpPr>
          <p:cNvPr id="512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>
          <a:xfrm>
            <a:off x="946150" y="4860925"/>
            <a:ext cx="5207000" cy="4605338"/>
          </a:xfrm>
        </p:spPr>
        <p:txBody>
          <a:bodyPr wrap="square" lIns="99048" tIns="49524" rIns="99048" bIns="49524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lvl="0" algn="r" defTabSz="990600"/>
            <a:fld id="{9A0DB2DC-4C9A-4742-B13C-FB6460FD3503}" type="slidenum">
              <a:rPr lang="en-US" altLang="zh-CN" sz="1300" b="0" dirty="0"/>
            </a:fld>
            <a:endParaRPr lang="en-US" altLang="zh-CN" sz="1300" b="0" dirty="0"/>
          </a:p>
        </p:txBody>
      </p:sp>
      <p:sp>
        <p:nvSpPr>
          <p:cNvPr id="512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>
          <a:xfrm>
            <a:off x="946150" y="4860925"/>
            <a:ext cx="5207000" cy="4605338"/>
          </a:xfrm>
        </p:spPr>
        <p:txBody>
          <a:bodyPr wrap="square" lIns="99048" tIns="49524" rIns="99048" bIns="49524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lvl="0" algn="r" defTabSz="990600"/>
            <a:fld id="{9A0DB2DC-4C9A-4742-B13C-FB6460FD3503}" type="slidenum">
              <a:rPr lang="en-US" altLang="zh-CN" sz="1300" b="0" dirty="0"/>
            </a:fld>
            <a:endParaRPr lang="en-US" altLang="zh-CN" sz="1300" b="0" dirty="0"/>
          </a:p>
        </p:txBody>
      </p:sp>
      <p:sp>
        <p:nvSpPr>
          <p:cNvPr id="512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>
          <a:xfrm>
            <a:off x="946150" y="4860925"/>
            <a:ext cx="5207000" cy="4605338"/>
          </a:xfrm>
        </p:spPr>
        <p:txBody>
          <a:bodyPr wrap="square" lIns="99048" tIns="49524" rIns="99048" bIns="49524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lvl="0" algn="r" defTabSz="990600"/>
            <a:fld id="{9A0DB2DC-4C9A-4742-B13C-FB6460FD3503}" type="slidenum">
              <a:rPr lang="en-US" altLang="zh-CN" sz="1300" b="0" dirty="0"/>
            </a:fld>
            <a:endParaRPr lang="en-US" altLang="zh-CN" sz="1300" b="0" dirty="0"/>
          </a:p>
        </p:txBody>
      </p:sp>
      <p:sp>
        <p:nvSpPr>
          <p:cNvPr id="512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>
          <a:xfrm>
            <a:off x="946150" y="4860925"/>
            <a:ext cx="5207000" cy="4605338"/>
          </a:xfrm>
        </p:spPr>
        <p:txBody>
          <a:bodyPr wrap="square" lIns="99048" tIns="49524" rIns="99048" bIns="49524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lvl="0" algn="r" defTabSz="990600"/>
            <a:fld id="{9A0DB2DC-4C9A-4742-B13C-FB6460FD3503}" type="slidenum">
              <a:rPr lang="en-US" altLang="zh-CN" sz="1300" b="0" dirty="0"/>
            </a:fld>
            <a:endParaRPr lang="en-US" altLang="zh-CN" sz="1300" b="0" dirty="0"/>
          </a:p>
        </p:txBody>
      </p:sp>
      <p:sp>
        <p:nvSpPr>
          <p:cNvPr id="512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>
          <a:xfrm>
            <a:off x="946150" y="4860925"/>
            <a:ext cx="5207000" cy="4605338"/>
          </a:xfrm>
        </p:spPr>
        <p:txBody>
          <a:bodyPr wrap="square" lIns="99048" tIns="49524" rIns="99048" bIns="49524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lvl="0" algn="r" defTabSz="990600"/>
            <a:fld id="{9A0DB2DC-4C9A-4742-B13C-FB6460FD3503}" type="slidenum">
              <a:rPr lang="en-US" altLang="zh-CN" sz="1300" b="0" dirty="0"/>
            </a:fld>
            <a:endParaRPr lang="en-US" altLang="zh-CN" sz="1300" b="0" dirty="0"/>
          </a:p>
        </p:txBody>
      </p:sp>
      <p:sp>
        <p:nvSpPr>
          <p:cNvPr id="512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>
          <a:xfrm>
            <a:off x="946150" y="4860925"/>
            <a:ext cx="5207000" cy="4605338"/>
          </a:xfrm>
        </p:spPr>
        <p:txBody>
          <a:bodyPr wrap="square" lIns="99048" tIns="49524" rIns="99048" bIns="49524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lvl="0" algn="r" defTabSz="990600"/>
            <a:fld id="{9A0DB2DC-4C9A-4742-B13C-FB6460FD3503}" type="slidenum">
              <a:rPr lang="en-US" altLang="zh-CN" sz="1300" b="0" dirty="0"/>
            </a:fld>
            <a:endParaRPr lang="en-US" altLang="zh-CN" sz="1300" b="0" dirty="0"/>
          </a:p>
        </p:txBody>
      </p:sp>
      <p:sp>
        <p:nvSpPr>
          <p:cNvPr id="512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>
          <a:xfrm>
            <a:off x="946150" y="4860925"/>
            <a:ext cx="5207000" cy="4605338"/>
          </a:xfrm>
        </p:spPr>
        <p:txBody>
          <a:bodyPr wrap="square" lIns="99048" tIns="49524" rIns="99048" bIns="49524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lvl="0" algn="r" defTabSz="990600"/>
            <a:fld id="{9A0DB2DC-4C9A-4742-B13C-FB6460FD3503}" type="slidenum">
              <a:rPr lang="en-US" altLang="zh-CN" sz="1300" b="0" dirty="0"/>
            </a:fld>
            <a:endParaRPr lang="en-US" altLang="zh-CN" sz="1300" b="0" dirty="0"/>
          </a:p>
        </p:txBody>
      </p:sp>
      <p:sp>
        <p:nvSpPr>
          <p:cNvPr id="512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>
          <a:xfrm>
            <a:off x="946150" y="4860925"/>
            <a:ext cx="5207000" cy="4605338"/>
          </a:xfrm>
        </p:spPr>
        <p:txBody>
          <a:bodyPr wrap="square" lIns="99048" tIns="49524" rIns="99048" bIns="49524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wrap="square" lIns="99048" tIns="49524" rIns="99048" bIns="49524" anchor="b"/>
          <a:lstStyle/>
          <a:p>
            <a:pPr lvl="0" algn="r" defTabSz="990600"/>
            <a:fld id="{9A0DB2DC-4C9A-4742-B13C-FB6460FD3503}" type="slidenum">
              <a:rPr lang="en-US" altLang="zh-CN" sz="1300" b="0" dirty="0"/>
            </a:fld>
            <a:endParaRPr lang="en-US" altLang="zh-CN" sz="1300" b="0" dirty="0"/>
          </a:p>
        </p:txBody>
      </p:sp>
      <p:sp>
        <p:nvSpPr>
          <p:cNvPr id="5122" name="Rectangle 2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5123" name="Rectangle 3"/>
          <p:cNvSpPr>
            <a:spLocks noGrp="1"/>
          </p:cNvSpPr>
          <p:nvPr>
            <p:ph type="body"/>
          </p:nvPr>
        </p:nvSpPr>
        <p:spPr>
          <a:xfrm>
            <a:off x="946150" y="4860925"/>
            <a:ext cx="5207000" cy="4605338"/>
          </a:xfrm>
        </p:spPr>
        <p:txBody>
          <a:bodyPr wrap="square" lIns="99048" tIns="49524" rIns="99048" bIns="49524" anchor="t"/>
          <a:lstStyle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/>
          </p:nvPr>
        </p:nvSpPr>
        <p:spPr>
          <a:xfrm>
            <a:off x="685310" y="4400550"/>
            <a:ext cx="5482477" cy="3600450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1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4021138" y="9721850"/>
            <a:ext cx="3076575" cy="511175"/>
          </a:xfrm>
          <a:prstGeom prst="rect">
            <a:avLst/>
          </a:prstGeom>
          <a:noFill/>
          <a:ln w="9525">
            <a:noFill/>
          </a:ln>
        </p:spPr>
        <p:txBody>
          <a:bodyPr lIns="99048" tIns="49524" rIns="99048" bIns="49524" anchor="b"/>
          <a:p>
            <a:pPr lvl="0" algn="r" defTabSz="990600" eaLnBrk="1" hangingPunct="1"/>
            <a:fld id="{9A0DB2DC-4C9A-4742-B13C-FB6460FD3503}" type="slidenum">
              <a:rPr lang="en-US" altLang="zh-CN" sz="1300" b="0" dirty="0"/>
            </a:fld>
            <a:endParaRPr lang="en-US" altLang="zh-CN" sz="1300" b="0" dirty="0"/>
          </a:p>
        </p:txBody>
      </p:sp>
      <p:sp>
        <p:nvSpPr>
          <p:cNvPr id="181251" name="Rectangle 2"/>
          <p:cNvSpPr>
            <a:spLocks noRot="1" noTextEdi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181252" name="Rectangle 3"/>
          <p:cNvSpPr>
            <a:spLocks noGrp="1"/>
          </p:cNvSpPr>
          <p:nvPr>
            <p:ph type="body" idx="1"/>
          </p:nvPr>
        </p:nvSpPr>
        <p:spPr>
          <a:xfrm>
            <a:off x="946150" y="4860925"/>
            <a:ext cx="5207000" cy="4605338"/>
          </a:xfrm>
        </p:spPr>
        <p:txBody>
          <a:bodyPr wrap="square" lIns="99048" tIns="49524" rIns="99048" bIns="49524" anchor="t"/>
          <a:p>
            <a:pPr lvl="0" eaLnBrk="1" hangingPunct="1"/>
            <a:endParaRPr lang="zh-CN" altLang="zh-CN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Line 2"/>
          <p:cNvSpPr/>
          <p:nvPr/>
        </p:nvSpPr>
        <p:spPr>
          <a:xfrm>
            <a:off x="900113" y="1052513"/>
            <a:ext cx="8026400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lvl="0" indent="0" algn="ctr" defTabSz="914400" eaLnBrk="0" hangingPunct="0"/>
            <a:endParaRPr lang="zh-CN" altLang="en-US">
              <a:latin typeface="Times New Roman" panose="02020603050405020304" pitchFamily="18" charset="0"/>
              <a:ea typeface="Arial" panose="020B0604020202090204" pitchFamily="34" charset="0"/>
            </a:endParaRP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ctrTitle" sz="quarter"/>
          </p:nvPr>
        </p:nvSpPr>
        <p:spPr>
          <a:xfrm>
            <a:off x="971550" y="188913"/>
            <a:ext cx="7772400" cy="782637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en-GB" altLang="zh-CN" strike="noStrike" noProof="1"/>
              <a:t>Click to edit Master title style</a:t>
            </a:r>
            <a:endParaRPr lang="en-GB" altLang="zh-CN" strike="noStrike" noProof="1"/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827088" y="1341438"/>
            <a:ext cx="7993062" cy="5256212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fontAlgn="base"/>
            <a:r>
              <a:rPr lang="en-GB" altLang="zh-CN" strike="noStrike" noProof="1"/>
              <a:t>Click to edit Master subtitle style</a:t>
            </a:r>
            <a:endParaRPr lang="en-GB" altLang="zh-CN" strike="noStrike" noProof="1"/>
          </a:p>
        </p:txBody>
      </p:sp>
      <p:sp>
        <p:nvSpPr>
          <p:cNvPr id="10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/>
          <a:p>
            <a:pPr algn="r" fontAlgn="base"/>
            <a:fld id="{9A0DB2DC-4C9A-4742-B13C-FB6460FD3503}" type="slidenum">
              <a:rPr lang="zh-CN" altLang="en-GB" sz="1400" strike="noStrike" noProof="1" dirty="0"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GB" altLang="zh-CN" sz="1400" strike="noStrike" noProof="1"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algn="r" fontAlgn="base"/>
            <a:fld id="{9A0DB2DC-4C9A-4742-B13C-FB6460FD3503}" type="slidenum">
              <a:rPr lang="zh-CN" altLang="en-GB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GB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algn="r" fontAlgn="base"/>
            <a:fld id="{9A0DB2DC-4C9A-4742-B13C-FB6460FD3503}" type="slidenum">
              <a:rPr lang="zh-CN" altLang="en-GB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GB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35050" y="1676400"/>
            <a:ext cx="378777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75225" y="1676400"/>
            <a:ext cx="3787775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algn="r" fontAlgn="base"/>
            <a:fld id="{9A0DB2DC-4C9A-4742-B13C-FB6460FD3503}" type="slidenum">
              <a:rPr lang="zh-CN" altLang="en-GB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GB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algn="r" fontAlgn="base"/>
            <a:fld id="{9A0DB2DC-4C9A-4742-B13C-FB6460FD3503}" type="slidenum">
              <a:rPr lang="zh-CN" altLang="en-GB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GB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algn="r" fontAlgn="base"/>
            <a:fld id="{9A0DB2DC-4C9A-4742-B13C-FB6460FD3503}" type="slidenum">
              <a:rPr lang="zh-CN" altLang="en-GB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GB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algn="r" fontAlgn="base"/>
            <a:fld id="{9A0DB2DC-4C9A-4742-B13C-FB6460FD3503}" type="slidenum">
              <a:rPr lang="zh-CN" altLang="en-GB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GB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algn="r" fontAlgn="base"/>
            <a:fld id="{9A0DB2DC-4C9A-4742-B13C-FB6460FD3503}" type="slidenum">
              <a:rPr lang="zh-CN" altLang="en-GB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GB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75000"/>
              <a:buFont typeface="Monotype Sorts" pitchFamily="2" charset="2"/>
              <a:buNone/>
              <a:defRPr/>
            </a:pPr>
            <a:endParaRPr kumimoji="0" lang="zh-CN" altLang="en-US" sz="3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algn="r" fontAlgn="base"/>
            <a:fld id="{9A0DB2DC-4C9A-4742-B13C-FB6460FD3503}" type="slidenum">
              <a:rPr lang="zh-CN" altLang="en-GB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GB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algn="r" fontAlgn="base"/>
            <a:fld id="{9A0DB2DC-4C9A-4742-B13C-FB6460FD3503}" type="slidenum">
              <a:rPr lang="zh-CN" altLang="en-GB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GB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983413" y="115888"/>
            <a:ext cx="1982787" cy="5675312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035050" y="115888"/>
            <a:ext cx="5795963" cy="567531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algn="r" fontAlgn="base"/>
            <a:fld id="{9A0DB2DC-4C9A-4742-B13C-FB6460FD3503}" type="slidenum">
              <a:rPr lang="zh-CN" altLang="en-GB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GB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标题，一项大型内容和两项小型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116013" y="115888"/>
            <a:ext cx="7850187" cy="858837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035050" y="1676400"/>
            <a:ext cx="3787775" cy="41148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975225" y="1676400"/>
            <a:ext cx="3787775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975225" y="3810000"/>
            <a:ext cx="3787775" cy="1981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 algn="r" fontAlgn="base"/>
            <a:fld id="{9A0DB2DC-4C9A-4742-B13C-FB6460FD3503}" type="slidenum">
              <a:rPr lang="zh-CN" altLang="en-GB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GB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23728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en-US" altLang="zh-CN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US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23728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en-US" altLang="zh-CN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US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23728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en-US" altLang="zh-CN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US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371600"/>
            <a:ext cx="39243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33900" y="1371600"/>
            <a:ext cx="39243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2" name="Rectangle 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23728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en-US" altLang="zh-CN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US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2" name="Rectangle 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3" name="Rectangle 5"/>
          <p:cNvSpPr>
            <a:spLocks noGrp="1" noChangeArrowheads="1"/>
          </p:cNvSpPr>
          <p:nvPr>
            <p:ph type="ftr" sz="quarter" idx="1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4" name="Rectangle 6"/>
          <p:cNvSpPr>
            <a:spLocks noGrp="1" noChangeArrowheads="1"/>
          </p:cNvSpPr>
          <p:nvPr>
            <p:ph type="sldNum" sz="quarter" idx="14"/>
          </p:nvPr>
        </p:nvSpPr>
        <p:spPr bwMode="auto">
          <a:xfrm>
            <a:off x="6732588" y="623728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en-US" altLang="zh-CN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US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23728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en-US" altLang="zh-CN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US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23728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en-US" altLang="zh-CN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US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32" name="Rectangle 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23728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en-US" altLang="zh-CN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US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32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32" name="Rectangle 4"/>
          <p:cNvSpPr>
            <a:spLocks noGrp="1" noChangeArrowheads="1"/>
          </p:cNvSpPr>
          <p:nvPr>
            <p:ph type="dt" sz="half" idx="1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23728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en-US" altLang="zh-CN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US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23728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en-US" altLang="zh-CN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US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43700" y="152400"/>
            <a:ext cx="2095500" cy="59436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52400"/>
            <a:ext cx="6134100" cy="59436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23728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en-US" altLang="zh-CN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US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152400"/>
            <a:ext cx="7772400" cy="914400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457200" y="1371600"/>
            <a:ext cx="8001000" cy="472440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0" fontAlgn="base" latinLnBrk="0" hangingPunct="0">
              <a:spcBef>
                <a:spcPct val="10000"/>
              </a:spcBef>
              <a:spcAft>
                <a:spcPct val="0"/>
              </a:spcAft>
              <a:buClrTx/>
              <a:buSzTx/>
              <a:buFontTx/>
              <a:buChar char="•"/>
              <a:defRPr/>
            </a:pPr>
            <a:endParaRPr kumimoji="1" lang="zh-CN" altLang="en-US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0" hangingPunct="0">
              <a:defRPr kumimoji="0"/>
            </a:lvl1pPr>
          </a:lstStyle>
          <a:p>
            <a:pPr marL="0" marR="0" indent="0" defTabSz="914400" rtl="0" fontAlgn="base" latinLnBrk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i="0" strike="noStrike" kern="1200" cap="none" spc="0" normalizeH="0" baseline="0" noProof="0"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3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23728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algn="r" fontAlgn="base"/>
            <a:fld id="{9A0DB2DC-4C9A-4742-B13C-FB6460FD3503}" type="slidenum">
              <a:rPr lang="en-US" altLang="zh-CN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US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1.xml"/><Relationship Id="rId8" Type="http://schemas.openxmlformats.org/officeDocument/2006/relationships/slideLayout" Target="../slideLayouts/slideLayout20.xml"/><Relationship Id="rId7" Type="http://schemas.openxmlformats.org/officeDocument/2006/relationships/slideLayout" Target="../slideLayouts/slideLayout19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4" Type="http://schemas.openxmlformats.org/officeDocument/2006/relationships/theme" Target="../theme/theme2.xml"/><Relationship Id="rId13" Type="http://schemas.openxmlformats.org/officeDocument/2006/relationships/image" Target="../media/image1.jpeg"/><Relationship Id="rId12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2.xml"/><Relationship Id="rId1" Type="http://schemas.openxmlformats.org/officeDocument/2006/relationships/slideLayout" Target="../slideLayouts/slideLayout1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Line 2"/>
          <p:cNvSpPr/>
          <p:nvPr/>
        </p:nvSpPr>
        <p:spPr>
          <a:xfrm>
            <a:off x="971550" y="1052513"/>
            <a:ext cx="8026400" cy="0"/>
          </a:xfrm>
          <a:prstGeom prst="line">
            <a:avLst/>
          </a:prstGeom>
          <a:ln w="190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wrap="none" anchor="ctr"/>
          <a:lstStyle/>
          <a:p>
            <a:pPr lvl="0" indent="0" algn="ctr" defTabSz="914400" eaLnBrk="0" hangingPunct="0"/>
            <a:endParaRPr lang="zh-CN" altLang="en-US">
              <a:latin typeface="Times New Roman" panose="02020603050405020304" pitchFamily="18" charset="0"/>
              <a:ea typeface="Arial" panose="020B0604020202090204" pitchFamily="34" charset="0"/>
            </a:endParaRPr>
          </a:p>
        </p:txBody>
      </p:sp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1116013" y="115888"/>
            <a:ext cx="7850187" cy="858837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 lvl="0"/>
            <a:r>
              <a:rPr lang="en-GB" altLang="zh-CN" dirty="0"/>
              <a:t>Click to edit Master title style</a:t>
            </a:r>
            <a:endParaRPr lang="en-GB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/>
          </p:nvPr>
        </p:nvSpPr>
        <p:spPr>
          <a:xfrm>
            <a:off x="1035050" y="1676400"/>
            <a:ext cx="772795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t"/>
          <a:lstStyle/>
          <a:p>
            <a:pPr lvl="0" indent="-342900"/>
            <a:r>
              <a:rPr lang="en-GB" altLang="zh-CN" dirty="0"/>
              <a:t>Click to edit Master text styles</a:t>
            </a:r>
            <a:endParaRPr lang="en-GB" altLang="zh-CN" dirty="0"/>
          </a:p>
          <a:p>
            <a:pPr lvl="1" indent="-285750"/>
            <a:r>
              <a:rPr lang="en-GB" altLang="zh-CN" dirty="0"/>
              <a:t>Second Level</a:t>
            </a:r>
            <a:endParaRPr lang="en-GB" altLang="zh-CN" dirty="0"/>
          </a:p>
          <a:p>
            <a:pPr lvl="2" indent="-228600"/>
            <a:r>
              <a:rPr lang="en-GB" altLang="zh-CN" dirty="0"/>
              <a:t>Third Level</a:t>
            </a:r>
            <a:endParaRPr lang="en-GB" altLang="zh-CN" dirty="0"/>
          </a:p>
          <a:p>
            <a:pPr lvl="3" indent="-228600"/>
            <a:r>
              <a:rPr lang="en-GB" altLang="zh-CN" dirty="0"/>
              <a:t>Fourth Level</a:t>
            </a:r>
            <a:endParaRPr lang="en-GB" altLang="zh-CN" dirty="0"/>
          </a:p>
          <a:p>
            <a:pPr lvl="4" indent="-228600"/>
            <a:r>
              <a:rPr lang="en-GB" altLang="zh-CN" dirty="0"/>
              <a:t>Fifth Level</a:t>
            </a:r>
            <a:endParaRPr lang="en-GB" altLang="zh-CN" dirty="0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172200"/>
            <a:ext cx="1905000" cy="45720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none" lIns="92075" tIns="46038" rIns="92075" bIns="46038" numCol="1" anchor="ctr" anchorCtr="0" compatLnSpc="1"/>
          <a:lstStyle/>
          <a:p>
            <a:pPr lvl="0" algn="r" fontAlgn="base"/>
            <a:fld id="{9A0DB2DC-4C9A-4742-B13C-FB6460FD3503}" type="slidenum">
              <a:rPr lang="zh-CN" altLang="en-GB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GB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  <p:sp>
        <p:nvSpPr>
          <p:cNvPr id="4103" name="Oval 1031"/>
          <p:cNvSpPr>
            <a:spLocks noChangeArrowheads="1"/>
          </p:cNvSpPr>
          <p:nvPr/>
        </p:nvSpPr>
        <p:spPr bwMode="ltGray">
          <a:xfrm>
            <a:off x="112713" y="304800"/>
            <a:ext cx="846138" cy="801688"/>
          </a:xfrm>
          <a:prstGeom prst="ellipse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tint val="70196"/>
                  <a:invGamma/>
                </a:schemeClr>
              </a:gs>
            </a:gsLst>
            <a:lin ang="5400000" scaled="1"/>
          </a:gradFill>
          <a:ln w="9525">
            <a:noFill/>
            <a:round/>
          </a:ln>
          <a:effectLst/>
        </p:spPr>
        <p:txBody>
          <a:bodyPr wrap="none" anchor="ctr"/>
          <a:lstStyle/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itchFamily="2" charset="-122"/>
              <a:cs typeface="+mn-cs"/>
            </a:endParaRPr>
          </a:p>
        </p:txBody>
      </p:sp>
      <p:sp>
        <p:nvSpPr>
          <p:cNvPr id="2" name="Freeform 1032"/>
          <p:cNvSpPr/>
          <p:nvPr/>
        </p:nvSpPr>
        <p:spPr>
          <a:xfrm>
            <a:off x="0" y="652463"/>
            <a:ext cx="395288" cy="152400"/>
          </a:xfrm>
          <a:custGeom>
            <a:avLst/>
            <a:gdLst/>
            <a:ahLst/>
            <a:cxnLst>
              <a:cxn ang="0">
                <a:pos x="11248" y="84306"/>
              </a:cxn>
              <a:cxn ang="0">
                <a:pos x="35350" y="77821"/>
              </a:cxn>
              <a:cxn ang="0">
                <a:pos x="61060" y="77821"/>
              </a:cxn>
              <a:cxn ang="0">
                <a:pos x="85163" y="81063"/>
              </a:cxn>
              <a:cxn ang="0">
                <a:pos x="110873" y="87548"/>
              </a:cxn>
              <a:cxn ang="0">
                <a:pos x="134976" y="95655"/>
              </a:cxn>
              <a:cxn ang="0">
                <a:pos x="159079" y="105382"/>
              </a:cxn>
              <a:cxn ang="0">
                <a:pos x="181575" y="116731"/>
              </a:cxn>
              <a:cxn ang="0">
                <a:pos x="199250" y="107004"/>
              </a:cxn>
              <a:cxn ang="0">
                <a:pos x="218532" y="77821"/>
              </a:cxn>
              <a:cxn ang="0">
                <a:pos x="241028" y="56744"/>
              </a:cxn>
              <a:cxn ang="0">
                <a:pos x="266738" y="38910"/>
              </a:cxn>
              <a:cxn ang="0">
                <a:pos x="294055" y="25940"/>
              </a:cxn>
              <a:cxn ang="0">
                <a:pos x="322978" y="14591"/>
              </a:cxn>
              <a:cxn ang="0">
                <a:pos x="351902" y="8106"/>
              </a:cxn>
              <a:cxn ang="0">
                <a:pos x="380825" y="1621"/>
              </a:cxn>
              <a:cxn ang="0">
                <a:pos x="380825" y="4863"/>
              </a:cxn>
              <a:cxn ang="0">
                <a:pos x="356722" y="17834"/>
              </a:cxn>
              <a:cxn ang="0">
                <a:pos x="332619" y="30804"/>
              </a:cxn>
              <a:cxn ang="0">
                <a:pos x="306910" y="45395"/>
              </a:cxn>
              <a:cxn ang="0">
                <a:pos x="284414" y="63229"/>
              </a:cxn>
              <a:cxn ang="0">
                <a:pos x="261918" y="82685"/>
              </a:cxn>
              <a:cxn ang="0">
                <a:pos x="244242" y="103761"/>
              </a:cxn>
              <a:cxn ang="0">
                <a:pos x="228174" y="128080"/>
              </a:cxn>
              <a:cxn ang="0">
                <a:pos x="216926" y="145914"/>
              </a:cxn>
              <a:cxn ang="0">
                <a:pos x="208891" y="150778"/>
              </a:cxn>
              <a:cxn ang="0">
                <a:pos x="197643" y="145914"/>
              </a:cxn>
              <a:cxn ang="0">
                <a:pos x="186395" y="141051"/>
              </a:cxn>
              <a:cxn ang="0">
                <a:pos x="171933" y="136187"/>
              </a:cxn>
              <a:cxn ang="0">
                <a:pos x="149437" y="126459"/>
              </a:cxn>
              <a:cxn ang="0">
                <a:pos x="126941" y="115110"/>
              </a:cxn>
              <a:cxn ang="0">
                <a:pos x="101232" y="103761"/>
              </a:cxn>
              <a:cxn ang="0">
                <a:pos x="75522" y="94034"/>
              </a:cxn>
              <a:cxn ang="0">
                <a:pos x="49812" y="87548"/>
              </a:cxn>
              <a:cxn ang="0">
                <a:pos x="27316" y="84306"/>
              </a:cxn>
              <a:cxn ang="0">
                <a:pos x="8034" y="85927"/>
              </a:cxn>
            </a:cxnLst>
            <a:rect l="0" t="0" r="0" b="0"/>
            <a:pathLst>
              <a:path w="246" h="94">
                <a:moveTo>
                  <a:pt x="0" y="55"/>
                </a:moveTo>
                <a:lnTo>
                  <a:pt x="7" y="52"/>
                </a:lnTo>
                <a:lnTo>
                  <a:pt x="14" y="50"/>
                </a:lnTo>
                <a:lnTo>
                  <a:pt x="22" y="48"/>
                </a:lnTo>
                <a:lnTo>
                  <a:pt x="30" y="48"/>
                </a:lnTo>
                <a:lnTo>
                  <a:pt x="38" y="48"/>
                </a:lnTo>
                <a:lnTo>
                  <a:pt x="45" y="48"/>
                </a:lnTo>
                <a:lnTo>
                  <a:pt x="53" y="50"/>
                </a:lnTo>
                <a:lnTo>
                  <a:pt x="61" y="51"/>
                </a:lnTo>
                <a:lnTo>
                  <a:pt x="69" y="54"/>
                </a:lnTo>
                <a:lnTo>
                  <a:pt x="76" y="56"/>
                </a:lnTo>
                <a:lnTo>
                  <a:pt x="84" y="59"/>
                </a:lnTo>
                <a:lnTo>
                  <a:pt x="92" y="62"/>
                </a:lnTo>
                <a:lnTo>
                  <a:pt x="99" y="65"/>
                </a:lnTo>
                <a:lnTo>
                  <a:pt x="106" y="68"/>
                </a:lnTo>
                <a:lnTo>
                  <a:pt x="113" y="72"/>
                </a:lnTo>
                <a:lnTo>
                  <a:pt x="119" y="75"/>
                </a:lnTo>
                <a:lnTo>
                  <a:pt x="124" y="66"/>
                </a:lnTo>
                <a:lnTo>
                  <a:pt x="130" y="56"/>
                </a:lnTo>
                <a:lnTo>
                  <a:pt x="136" y="48"/>
                </a:lnTo>
                <a:lnTo>
                  <a:pt x="143" y="42"/>
                </a:lnTo>
                <a:lnTo>
                  <a:pt x="150" y="35"/>
                </a:lnTo>
                <a:lnTo>
                  <a:pt x="158" y="29"/>
                </a:lnTo>
                <a:lnTo>
                  <a:pt x="166" y="24"/>
                </a:lnTo>
                <a:lnTo>
                  <a:pt x="175" y="20"/>
                </a:lnTo>
                <a:lnTo>
                  <a:pt x="183" y="16"/>
                </a:lnTo>
                <a:lnTo>
                  <a:pt x="193" y="13"/>
                </a:lnTo>
                <a:lnTo>
                  <a:pt x="201" y="9"/>
                </a:lnTo>
                <a:lnTo>
                  <a:pt x="210" y="7"/>
                </a:lnTo>
                <a:lnTo>
                  <a:pt x="219" y="5"/>
                </a:lnTo>
                <a:lnTo>
                  <a:pt x="228" y="3"/>
                </a:lnTo>
                <a:lnTo>
                  <a:pt x="237" y="1"/>
                </a:lnTo>
                <a:lnTo>
                  <a:pt x="245" y="0"/>
                </a:lnTo>
                <a:lnTo>
                  <a:pt x="237" y="3"/>
                </a:lnTo>
                <a:lnTo>
                  <a:pt x="230" y="7"/>
                </a:lnTo>
                <a:lnTo>
                  <a:pt x="222" y="11"/>
                </a:lnTo>
                <a:lnTo>
                  <a:pt x="214" y="15"/>
                </a:lnTo>
                <a:lnTo>
                  <a:pt x="207" y="19"/>
                </a:lnTo>
                <a:lnTo>
                  <a:pt x="199" y="24"/>
                </a:lnTo>
                <a:lnTo>
                  <a:pt x="191" y="28"/>
                </a:lnTo>
                <a:lnTo>
                  <a:pt x="185" y="33"/>
                </a:lnTo>
                <a:lnTo>
                  <a:pt x="177" y="39"/>
                </a:lnTo>
                <a:lnTo>
                  <a:pt x="170" y="44"/>
                </a:lnTo>
                <a:lnTo>
                  <a:pt x="163" y="51"/>
                </a:lnTo>
                <a:lnTo>
                  <a:pt x="158" y="57"/>
                </a:lnTo>
                <a:lnTo>
                  <a:pt x="152" y="64"/>
                </a:lnTo>
                <a:lnTo>
                  <a:pt x="146" y="71"/>
                </a:lnTo>
                <a:lnTo>
                  <a:pt x="142" y="79"/>
                </a:lnTo>
                <a:lnTo>
                  <a:pt x="138" y="87"/>
                </a:lnTo>
                <a:lnTo>
                  <a:pt x="135" y="90"/>
                </a:lnTo>
                <a:lnTo>
                  <a:pt x="133" y="92"/>
                </a:lnTo>
                <a:lnTo>
                  <a:pt x="130" y="93"/>
                </a:lnTo>
                <a:lnTo>
                  <a:pt x="127" y="91"/>
                </a:lnTo>
                <a:lnTo>
                  <a:pt x="123" y="90"/>
                </a:lnTo>
                <a:lnTo>
                  <a:pt x="120" y="89"/>
                </a:lnTo>
                <a:lnTo>
                  <a:pt x="116" y="87"/>
                </a:lnTo>
                <a:lnTo>
                  <a:pt x="113" y="86"/>
                </a:lnTo>
                <a:lnTo>
                  <a:pt x="107" y="84"/>
                </a:lnTo>
                <a:lnTo>
                  <a:pt x="101" y="80"/>
                </a:lnTo>
                <a:lnTo>
                  <a:pt x="93" y="78"/>
                </a:lnTo>
                <a:lnTo>
                  <a:pt x="87" y="74"/>
                </a:lnTo>
                <a:lnTo>
                  <a:pt x="79" y="71"/>
                </a:lnTo>
                <a:lnTo>
                  <a:pt x="71" y="67"/>
                </a:lnTo>
                <a:lnTo>
                  <a:pt x="63" y="64"/>
                </a:lnTo>
                <a:lnTo>
                  <a:pt x="55" y="61"/>
                </a:lnTo>
                <a:lnTo>
                  <a:pt x="47" y="58"/>
                </a:lnTo>
                <a:lnTo>
                  <a:pt x="39" y="55"/>
                </a:lnTo>
                <a:lnTo>
                  <a:pt x="31" y="54"/>
                </a:lnTo>
                <a:lnTo>
                  <a:pt x="24" y="52"/>
                </a:lnTo>
                <a:lnTo>
                  <a:pt x="17" y="52"/>
                </a:lnTo>
                <a:lnTo>
                  <a:pt x="10" y="52"/>
                </a:lnTo>
                <a:lnTo>
                  <a:pt x="5" y="53"/>
                </a:lnTo>
                <a:lnTo>
                  <a:pt x="0" y="55"/>
                </a:lnTo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32" name="Freeform 1033"/>
          <p:cNvSpPr/>
          <p:nvPr/>
        </p:nvSpPr>
        <p:spPr>
          <a:xfrm>
            <a:off x="431800" y="863600"/>
            <a:ext cx="473075" cy="182563"/>
          </a:xfrm>
          <a:custGeom>
            <a:avLst/>
            <a:gdLst/>
            <a:ahLst/>
            <a:cxnLst>
              <a:cxn ang="0">
                <a:pos x="12829" y="101061"/>
              </a:cxn>
              <a:cxn ang="0">
                <a:pos x="41694" y="92911"/>
              </a:cxn>
              <a:cxn ang="0">
                <a:pos x="72163" y="92911"/>
              </a:cxn>
              <a:cxn ang="0">
                <a:pos x="101029" y="96171"/>
              </a:cxn>
              <a:cxn ang="0">
                <a:pos x="131498" y="104321"/>
              </a:cxn>
              <a:cxn ang="0">
                <a:pos x="160364" y="114101"/>
              </a:cxn>
              <a:cxn ang="0">
                <a:pos x="189230" y="125511"/>
              </a:cxn>
              <a:cxn ang="0">
                <a:pos x="216491" y="138551"/>
              </a:cxn>
              <a:cxn ang="0">
                <a:pos x="237339" y="127141"/>
              </a:cxn>
              <a:cxn ang="0">
                <a:pos x="261393" y="92911"/>
              </a:cxn>
              <a:cxn ang="0">
                <a:pos x="288655" y="66830"/>
              </a:cxn>
              <a:cxn ang="0">
                <a:pos x="319125" y="45640"/>
              </a:cxn>
              <a:cxn ang="0">
                <a:pos x="351198" y="30970"/>
              </a:cxn>
              <a:cxn ang="0">
                <a:pos x="386478" y="16300"/>
              </a:cxn>
              <a:cxn ang="0">
                <a:pos x="420154" y="8150"/>
              </a:cxn>
              <a:cxn ang="0">
                <a:pos x="455434" y="1630"/>
              </a:cxn>
              <a:cxn ang="0">
                <a:pos x="455434" y="4890"/>
              </a:cxn>
              <a:cxn ang="0">
                <a:pos x="426569" y="21190"/>
              </a:cxn>
              <a:cxn ang="0">
                <a:pos x="397703" y="35860"/>
              </a:cxn>
              <a:cxn ang="0">
                <a:pos x="367234" y="53790"/>
              </a:cxn>
              <a:cxn ang="0">
                <a:pos x="339972" y="74981"/>
              </a:cxn>
              <a:cxn ang="0">
                <a:pos x="312710" y="97801"/>
              </a:cxn>
              <a:cxn ang="0">
                <a:pos x="291863" y="123881"/>
              </a:cxn>
              <a:cxn ang="0">
                <a:pos x="272619" y="153222"/>
              </a:cxn>
              <a:cxn ang="0">
                <a:pos x="259790" y="174412"/>
              </a:cxn>
              <a:cxn ang="0">
                <a:pos x="250168" y="180932"/>
              </a:cxn>
              <a:cxn ang="0">
                <a:pos x="235735" y="174412"/>
              </a:cxn>
              <a:cxn ang="0">
                <a:pos x="222906" y="167892"/>
              </a:cxn>
              <a:cxn ang="0">
                <a:pos x="205266" y="163002"/>
              </a:cxn>
              <a:cxn ang="0">
                <a:pos x="178004" y="151592"/>
              </a:cxn>
              <a:cxn ang="0">
                <a:pos x="150742" y="136921"/>
              </a:cxn>
              <a:cxn ang="0">
                <a:pos x="120273" y="123881"/>
              </a:cxn>
              <a:cxn ang="0">
                <a:pos x="89804" y="112471"/>
              </a:cxn>
              <a:cxn ang="0">
                <a:pos x="59334" y="104321"/>
              </a:cxn>
              <a:cxn ang="0">
                <a:pos x="32072" y="101061"/>
              </a:cxn>
              <a:cxn ang="0">
                <a:pos x="9621" y="102691"/>
              </a:cxn>
            </a:cxnLst>
            <a:rect l="0" t="0" r="0" b="0"/>
            <a:pathLst>
              <a:path w="295" h="112">
                <a:moveTo>
                  <a:pt x="0" y="65"/>
                </a:moveTo>
                <a:lnTo>
                  <a:pt x="8" y="62"/>
                </a:lnTo>
                <a:lnTo>
                  <a:pt x="16" y="59"/>
                </a:lnTo>
                <a:lnTo>
                  <a:pt x="26" y="57"/>
                </a:lnTo>
                <a:lnTo>
                  <a:pt x="36" y="57"/>
                </a:lnTo>
                <a:lnTo>
                  <a:pt x="45" y="57"/>
                </a:lnTo>
                <a:lnTo>
                  <a:pt x="54" y="57"/>
                </a:lnTo>
                <a:lnTo>
                  <a:pt x="63" y="59"/>
                </a:lnTo>
                <a:lnTo>
                  <a:pt x="73" y="60"/>
                </a:lnTo>
                <a:lnTo>
                  <a:pt x="82" y="64"/>
                </a:lnTo>
                <a:lnTo>
                  <a:pt x="91" y="66"/>
                </a:lnTo>
                <a:lnTo>
                  <a:pt x="100" y="70"/>
                </a:lnTo>
                <a:lnTo>
                  <a:pt x="110" y="74"/>
                </a:lnTo>
                <a:lnTo>
                  <a:pt x="118" y="77"/>
                </a:lnTo>
                <a:lnTo>
                  <a:pt x="127" y="81"/>
                </a:lnTo>
                <a:lnTo>
                  <a:pt x="135" y="85"/>
                </a:lnTo>
                <a:lnTo>
                  <a:pt x="142" y="89"/>
                </a:lnTo>
                <a:lnTo>
                  <a:pt x="148" y="78"/>
                </a:lnTo>
                <a:lnTo>
                  <a:pt x="156" y="66"/>
                </a:lnTo>
                <a:lnTo>
                  <a:pt x="163" y="57"/>
                </a:lnTo>
                <a:lnTo>
                  <a:pt x="171" y="50"/>
                </a:lnTo>
                <a:lnTo>
                  <a:pt x="180" y="41"/>
                </a:lnTo>
                <a:lnTo>
                  <a:pt x="189" y="34"/>
                </a:lnTo>
                <a:lnTo>
                  <a:pt x="199" y="28"/>
                </a:lnTo>
                <a:lnTo>
                  <a:pt x="210" y="23"/>
                </a:lnTo>
                <a:lnTo>
                  <a:pt x="219" y="19"/>
                </a:lnTo>
                <a:lnTo>
                  <a:pt x="231" y="15"/>
                </a:lnTo>
                <a:lnTo>
                  <a:pt x="241" y="10"/>
                </a:lnTo>
                <a:lnTo>
                  <a:pt x="252" y="8"/>
                </a:lnTo>
                <a:lnTo>
                  <a:pt x="262" y="5"/>
                </a:lnTo>
                <a:lnTo>
                  <a:pt x="273" y="3"/>
                </a:lnTo>
                <a:lnTo>
                  <a:pt x="284" y="1"/>
                </a:lnTo>
                <a:lnTo>
                  <a:pt x="294" y="0"/>
                </a:lnTo>
                <a:lnTo>
                  <a:pt x="284" y="3"/>
                </a:lnTo>
                <a:lnTo>
                  <a:pt x="276" y="8"/>
                </a:lnTo>
                <a:lnTo>
                  <a:pt x="266" y="13"/>
                </a:lnTo>
                <a:lnTo>
                  <a:pt x="256" y="17"/>
                </a:lnTo>
                <a:lnTo>
                  <a:pt x="248" y="22"/>
                </a:lnTo>
                <a:lnTo>
                  <a:pt x="238" y="28"/>
                </a:lnTo>
                <a:lnTo>
                  <a:pt x="229" y="33"/>
                </a:lnTo>
                <a:lnTo>
                  <a:pt x="222" y="39"/>
                </a:lnTo>
                <a:lnTo>
                  <a:pt x="212" y="46"/>
                </a:lnTo>
                <a:lnTo>
                  <a:pt x="204" y="52"/>
                </a:lnTo>
                <a:lnTo>
                  <a:pt x="195" y="60"/>
                </a:lnTo>
                <a:lnTo>
                  <a:pt x="189" y="68"/>
                </a:lnTo>
                <a:lnTo>
                  <a:pt x="182" y="76"/>
                </a:lnTo>
                <a:lnTo>
                  <a:pt x="175" y="84"/>
                </a:lnTo>
                <a:lnTo>
                  <a:pt x="170" y="94"/>
                </a:lnTo>
                <a:lnTo>
                  <a:pt x="165" y="103"/>
                </a:lnTo>
                <a:lnTo>
                  <a:pt x="162" y="107"/>
                </a:lnTo>
                <a:lnTo>
                  <a:pt x="159" y="109"/>
                </a:lnTo>
                <a:lnTo>
                  <a:pt x="156" y="111"/>
                </a:lnTo>
                <a:lnTo>
                  <a:pt x="152" y="108"/>
                </a:lnTo>
                <a:lnTo>
                  <a:pt x="147" y="107"/>
                </a:lnTo>
                <a:lnTo>
                  <a:pt x="144" y="106"/>
                </a:lnTo>
                <a:lnTo>
                  <a:pt x="139" y="103"/>
                </a:lnTo>
                <a:lnTo>
                  <a:pt x="135" y="102"/>
                </a:lnTo>
                <a:lnTo>
                  <a:pt x="128" y="100"/>
                </a:lnTo>
                <a:lnTo>
                  <a:pt x="121" y="95"/>
                </a:lnTo>
                <a:lnTo>
                  <a:pt x="111" y="93"/>
                </a:lnTo>
                <a:lnTo>
                  <a:pt x="104" y="88"/>
                </a:lnTo>
                <a:lnTo>
                  <a:pt x="94" y="84"/>
                </a:lnTo>
                <a:lnTo>
                  <a:pt x="85" y="79"/>
                </a:lnTo>
                <a:lnTo>
                  <a:pt x="75" y="76"/>
                </a:lnTo>
                <a:lnTo>
                  <a:pt x="66" y="72"/>
                </a:lnTo>
                <a:lnTo>
                  <a:pt x="56" y="69"/>
                </a:lnTo>
                <a:lnTo>
                  <a:pt x="46" y="65"/>
                </a:lnTo>
                <a:lnTo>
                  <a:pt x="37" y="64"/>
                </a:lnTo>
                <a:lnTo>
                  <a:pt x="28" y="62"/>
                </a:lnTo>
                <a:lnTo>
                  <a:pt x="20" y="62"/>
                </a:lnTo>
                <a:lnTo>
                  <a:pt x="12" y="62"/>
                </a:lnTo>
                <a:lnTo>
                  <a:pt x="6" y="63"/>
                </a:lnTo>
                <a:lnTo>
                  <a:pt x="0" y="65"/>
                </a:lnTo>
              </a:path>
            </a:pathLst>
          </a:custGeom>
          <a:solidFill>
            <a:schemeClr val="tx1"/>
          </a:solidFill>
          <a:ln w="9525">
            <a:noFill/>
          </a:ln>
        </p:spPr>
        <p:txBody>
          <a:bodyPr/>
          <a:lstStyle/>
          <a:p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1"/>
          </a:solidFill>
          <a:latin typeface="黑体" panose="02010609060101010101" pitchFamily="49" charset="-122"/>
          <a:ea typeface="黑体" panose="020106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lr>
          <a:schemeClr val="accent2"/>
        </a:buClr>
        <a:buSzPct val="75000"/>
        <a:buFont typeface="Monotype Sorts" pitchFamily="2" charset="2"/>
        <a:buChar char="u"/>
        <a:defRPr sz="28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lr>
          <a:schemeClr val="tx1"/>
        </a:buClr>
        <a:buChar char="–"/>
        <a:defRPr sz="2800">
          <a:solidFill>
            <a:srgbClr val="000000"/>
          </a:solidFill>
          <a:latin typeface="+mn-lt"/>
        </a:defRPr>
      </a:lvl2pPr>
      <a:lvl3pPr marL="11430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lr>
          <a:schemeClr val="tx1"/>
        </a:buClr>
        <a:buChar char="»"/>
        <a:defRPr sz="2000">
          <a:solidFill>
            <a:srgbClr val="000000"/>
          </a:solidFill>
          <a:latin typeface="+mn-lt"/>
        </a:defRPr>
      </a:lvl3pPr>
      <a:lvl4pPr marL="16002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lr>
          <a:schemeClr val="accent2"/>
        </a:buClr>
        <a:buSzPct val="65000"/>
        <a:buFont typeface="Monotype Sorts" pitchFamily="2" charset="2"/>
        <a:buChar char="u"/>
        <a:defRPr sz="2000">
          <a:solidFill>
            <a:srgbClr val="000000"/>
          </a:solidFill>
          <a:latin typeface="+mn-lt"/>
        </a:defRPr>
      </a:lvl4pPr>
      <a:lvl5pPr marL="20574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lr>
          <a:schemeClr val="tx1"/>
        </a:buClr>
        <a:buChar char="–"/>
        <a:defRPr sz="2000">
          <a:solidFill>
            <a:srgbClr val="000000"/>
          </a:solidFill>
          <a:latin typeface="+mn-lt"/>
        </a:defRPr>
      </a:lvl5pPr>
      <a:lvl6pPr marL="25146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lr>
          <a:schemeClr val="tx1"/>
        </a:buClr>
        <a:buChar char="–"/>
        <a:defRPr sz="2000">
          <a:solidFill>
            <a:srgbClr val="000000"/>
          </a:solidFill>
          <a:latin typeface="+mn-lt"/>
        </a:defRPr>
      </a:lvl6pPr>
      <a:lvl7pPr marL="29718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lr>
          <a:schemeClr val="tx1"/>
        </a:buClr>
        <a:buChar char="–"/>
        <a:defRPr sz="2000">
          <a:solidFill>
            <a:srgbClr val="000000"/>
          </a:solidFill>
          <a:latin typeface="+mn-lt"/>
        </a:defRPr>
      </a:lvl7pPr>
      <a:lvl8pPr marL="34290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lr>
          <a:schemeClr val="tx1"/>
        </a:buClr>
        <a:buChar char="–"/>
        <a:defRPr sz="2000">
          <a:solidFill>
            <a:srgbClr val="000000"/>
          </a:solidFill>
          <a:latin typeface="+mn-lt"/>
        </a:defRPr>
      </a:lvl8pPr>
      <a:lvl9pPr marL="3886200" indent="-228600" algn="l" rtl="0" eaLnBrk="0" fontAlgn="base" hangingPunct="0">
        <a:lnSpc>
          <a:spcPct val="120000"/>
        </a:lnSpc>
        <a:spcBef>
          <a:spcPct val="0"/>
        </a:spcBef>
        <a:spcAft>
          <a:spcPct val="0"/>
        </a:spcAft>
        <a:buClr>
          <a:schemeClr val="tx1"/>
        </a:buClr>
        <a:buChar char="–"/>
        <a:defRPr sz="2000">
          <a:solidFill>
            <a:srgbClr val="000000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/>
          </p:cNvSpPr>
          <p:nvPr>
            <p:ph type="title"/>
          </p:nvPr>
        </p:nvSpPr>
        <p:spPr>
          <a:xfrm>
            <a:off x="1066800" y="152400"/>
            <a:ext cx="7772400" cy="9144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2051" name="Rectangle 3"/>
          <p:cNvSpPr>
            <a:spLocks noGrp="1"/>
          </p:cNvSpPr>
          <p:nvPr>
            <p:ph type="body"/>
          </p:nvPr>
        </p:nvSpPr>
        <p:spPr>
          <a:xfrm>
            <a:off x="457200" y="1371600"/>
            <a:ext cx="8001000" cy="47244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-285750"/>
            <a:r>
              <a:rPr lang="zh-CN" altLang="en-US" dirty="0"/>
              <a:t>第二级</a:t>
            </a:r>
            <a:endParaRPr lang="zh-CN" altLang="en-US" dirty="0"/>
          </a:p>
          <a:p>
            <a:pPr lvl="2" indent="-228600"/>
            <a:r>
              <a:rPr lang="zh-CN" altLang="en-US" dirty="0"/>
              <a:t>第三级</a:t>
            </a:r>
            <a:endParaRPr lang="zh-CN" altLang="en-US" dirty="0"/>
          </a:p>
          <a:p>
            <a:pPr lvl="3" indent="-228600"/>
            <a:r>
              <a:rPr lang="zh-CN" altLang="en-US" dirty="0"/>
              <a:t>第四级</a:t>
            </a:r>
            <a:endParaRPr lang="zh-CN" altLang="en-US" dirty="0"/>
          </a:p>
          <a:p>
            <a:pPr lvl="4" indent="-22860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l" eaLnBrk="1" hangingPunct="1">
              <a:defRPr kumimoji="1" sz="1400" b="0">
                <a:solidFill>
                  <a:srgbClr val="000000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kumimoji="1" sz="1400" b="0">
                <a:solidFill>
                  <a:srgbClr val="000000"/>
                </a:solidFill>
              </a:defRPr>
            </a:lvl1pPr>
          </a:lstStyle>
          <a:p>
            <a:pPr marL="0" marR="0" lvl="0" indent="0" algn="ctr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732588" y="6237288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lvl="0" algn="r" eaLnBrk="1" fontAlgn="base" hangingPunct="1"/>
            <a:fld id="{9A0DB2DC-4C9A-4742-B13C-FB6460FD3503}" type="slidenum">
              <a:rPr lang="en-US" altLang="zh-CN" sz="1400" strike="noStrike" noProof="1" dirty="0">
                <a:solidFill>
                  <a:srgbClr val="000000"/>
                </a:solidFill>
                <a:latin typeface="Times New Roman" panose="02020603050405020304" pitchFamily="18" charset="0"/>
                <a:ea typeface="宋体" pitchFamily="2" charset="-122"/>
                <a:cs typeface="+mn-ea"/>
              </a:rPr>
            </a:fld>
            <a:endParaRPr lang="en-US" altLang="zh-CN" sz="1400" strike="noStrike" noProof="1">
              <a:solidFill>
                <a:srgbClr val="000000"/>
              </a:solidFill>
              <a:ea typeface="宋体" pitchFamily="2" charset="-122"/>
            </a:endParaRPr>
          </a:p>
        </p:txBody>
      </p:sp>
      <p:grpSp>
        <p:nvGrpSpPr>
          <p:cNvPr id="2055" name="Group 7"/>
          <p:cNvGrpSpPr/>
          <p:nvPr userDrawn="1"/>
        </p:nvGrpSpPr>
        <p:grpSpPr>
          <a:xfrm>
            <a:off x="7772400" y="5084763"/>
            <a:ext cx="1371600" cy="1600200"/>
            <a:chOff x="0" y="3182"/>
            <a:chExt cx="808" cy="998"/>
          </a:xfrm>
        </p:grpSpPr>
        <p:grpSp>
          <p:nvGrpSpPr>
            <p:cNvPr id="2056" name="Group 8"/>
            <p:cNvGrpSpPr/>
            <p:nvPr/>
          </p:nvGrpSpPr>
          <p:grpSpPr>
            <a:xfrm>
              <a:off x="0" y="3182"/>
              <a:ext cx="506" cy="927"/>
              <a:chOff x="1685" y="1023"/>
              <a:chExt cx="506" cy="927"/>
            </a:xfrm>
          </p:grpSpPr>
          <p:sp>
            <p:nvSpPr>
              <p:cNvPr id="2071" name="Freeform 9"/>
              <p:cNvSpPr/>
              <p:nvPr/>
            </p:nvSpPr>
            <p:spPr bwMode="ltGray">
              <a:xfrm>
                <a:off x="1733" y="1329"/>
                <a:ext cx="76" cy="621"/>
              </a:xfrm>
              <a:custGeom>
                <a:avLst/>
                <a:gdLst>
                  <a:gd name="T0" fmla="*/ 0 w 76"/>
                  <a:gd name="T1" fmla="*/ 54 h 621"/>
                  <a:gd name="T2" fmla="*/ 11 w 76"/>
                  <a:gd name="T3" fmla="*/ 269 h 621"/>
                  <a:gd name="T4" fmla="*/ 22 w 76"/>
                  <a:gd name="T5" fmla="*/ 442 h 621"/>
                  <a:gd name="T6" fmla="*/ 30 w 76"/>
                  <a:gd name="T7" fmla="*/ 570 h 621"/>
                  <a:gd name="T8" fmla="*/ 28 w 76"/>
                  <a:gd name="T9" fmla="*/ 620 h 621"/>
                  <a:gd name="T10" fmla="*/ 44 w 76"/>
                  <a:gd name="T11" fmla="*/ 620 h 621"/>
                  <a:gd name="T12" fmla="*/ 49 w 76"/>
                  <a:gd name="T13" fmla="*/ 546 h 621"/>
                  <a:gd name="T14" fmla="*/ 52 w 76"/>
                  <a:gd name="T15" fmla="*/ 434 h 621"/>
                  <a:gd name="T16" fmla="*/ 58 w 76"/>
                  <a:gd name="T17" fmla="*/ 329 h 621"/>
                  <a:gd name="T18" fmla="*/ 61 w 76"/>
                  <a:gd name="T19" fmla="*/ 250 h 621"/>
                  <a:gd name="T20" fmla="*/ 67 w 76"/>
                  <a:gd name="T21" fmla="*/ 135 h 621"/>
                  <a:gd name="T22" fmla="*/ 75 w 76"/>
                  <a:gd name="T23" fmla="*/ 36 h 621"/>
                  <a:gd name="T24" fmla="*/ 70 w 76"/>
                  <a:gd name="T25" fmla="*/ 11 h 621"/>
                  <a:gd name="T26" fmla="*/ 62 w 76"/>
                  <a:gd name="T27" fmla="*/ 0 h 621"/>
                  <a:gd name="T28" fmla="*/ 53 w 76"/>
                  <a:gd name="T29" fmla="*/ 121 h 621"/>
                  <a:gd name="T30" fmla="*/ 45 w 76"/>
                  <a:gd name="T31" fmla="*/ 224 h 621"/>
                  <a:gd name="T32" fmla="*/ 43 w 76"/>
                  <a:gd name="T33" fmla="*/ 305 h 621"/>
                  <a:gd name="T34" fmla="*/ 40 w 76"/>
                  <a:gd name="T35" fmla="*/ 390 h 621"/>
                  <a:gd name="T36" fmla="*/ 34 w 76"/>
                  <a:gd name="T37" fmla="*/ 475 h 621"/>
                  <a:gd name="T38" fmla="*/ 25 w 76"/>
                  <a:gd name="T39" fmla="*/ 327 h 621"/>
                  <a:gd name="T40" fmla="*/ 15 w 76"/>
                  <a:gd name="T41" fmla="*/ 187 h 621"/>
                  <a:gd name="T42" fmla="*/ 0 w 76"/>
                  <a:gd name="T43" fmla="*/ 54 h 621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76" h="621">
                    <a:moveTo>
                      <a:pt x="0" y="54"/>
                    </a:moveTo>
                    <a:lnTo>
                      <a:pt x="11" y="269"/>
                    </a:lnTo>
                    <a:lnTo>
                      <a:pt x="22" y="442"/>
                    </a:lnTo>
                    <a:lnTo>
                      <a:pt x="30" y="570"/>
                    </a:lnTo>
                    <a:lnTo>
                      <a:pt x="28" y="620"/>
                    </a:lnTo>
                    <a:lnTo>
                      <a:pt x="44" y="620"/>
                    </a:lnTo>
                    <a:lnTo>
                      <a:pt x="49" y="546"/>
                    </a:lnTo>
                    <a:lnTo>
                      <a:pt x="52" y="434"/>
                    </a:lnTo>
                    <a:lnTo>
                      <a:pt x="58" y="329"/>
                    </a:lnTo>
                    <a:lnTo>
                      <a:pt x="61" y="250"/>
                    </a:lnTo>
                    <a:lnTo>
                      <a:pt x="67" y="135"/>
                    </a:lnTo>
                    <a:lnTo>
                      <a:pt x="75" y="36"/>
                    </a:lnTo>
                    <a:lnTo>
                      <a:pt x="70" y="11"/>
                    </a:lnTo>
                    <a:lnTo>
                      <a:pt x="62" y="0"/>
                    </a:lnTo>
                    <a:lnTo>
                      <a:pt x="53" y="121"/>
                    </a:lnTo>
                    <a:lnTo>
                      <a:pt x="45" y="224"/>
                    </a:lnTo>
                    <a:lnTo>
                      <a:pt x="43" y="305"/>
                    </a:lnTo>
                    <a:lnTo>
                      <a:pt x="40" y="390"/>
                    </a:lnTo>
                    <a:lnTo>
                      <a:pt x="34" y="475"/>
                    </a:lnTo>
                    <a:lnTo>
                      <a:pt x="25" y="327"/>
                    </a:lnTo>
                    <a:lnTo>
                      <a:pt x="15" y="187"/>
                    </a:lnTo>
                    <a:lnTo>
                      <a:pt x="0" y="54"/>
                    </a:lnTo>
                  </a:path>
                </a:pathLst>
              </a:custGeom>
              <a:solidFill>
                <a:srgbClr val="3C0023">
                  <a:alpha val="50195"/>
                </a:srgbClr>
              </a:solidFill>
              <a:ln w="9525" cap="rnd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072" name="Freeform 10"/>
              <p:cNvSpPr/>
              <p:nvPr/>
            </p:nvSpPr>
            <p:spPr bwMode="ltGray">
              <a:xfrm>
                <a:off x="1790" y="1583"/>
                <a:ext cx="120" cy="349"/>
              </a:xfrm>
              <a:custGeom>
                <a:avLst/>
                <a:gdLst>
                  <a:gd name="T0" fmla="*/ 0 w 120"/>
                  <a:gd name="T1" fmla="*/ 161 h 349"/>
                  <a:gd name="T2" fmla="*/ 10 w 120"/>
                  <a:gd name="T3" fmla="*/ 232 h 349"/>
                  <a:gd name="T4" fmla="*/ 20 w 120"/>
                  <a:gd name="T5" fmla="*/ 289 h 349"/>
                  <a:gd name="T6" fmla="*/ 26 w 120"/>
                  <a:gd name="T7" fmla="*/ 331 h 349"/>
                  <a:gd name="T8" fmla="*/ 25 w 120"/>
                  <a:gd name="T9" fmla="*/ 348 h 349"/>
                  <a:gd name="T10" fmla="*/ 39 w 120"/>
                  <a:gd name="T11" fmla="*/ 348 h 349"/>
                  <a:gd name="T12" fmla="*/ 43 w 120"/>
                  <a:gd name="T13" fmla="*/ 323 h 349"/>
                  <a:gd name="T14" fmla="*/ 45 w 120"/>
                  <a:gd name="T15" fmla="*/ 286 h 349"/>
                  <a:gd name="T16" fmla="*/ 51 w 120"/>
                  <a:gd name="T17" fmla="*/ 252 h 349"/>
                  <a:gd name="T18" fmla="*/ 54 w 120"/>
                  <a:gd name="T19" fmla="*/ 226 h 349"/>
                  <a:gd name="T20" fmla="*/ 59 w 120"/>
                  <a:gd name="T21" fmla="*/ 188 h 349"/>
                  <a:gd name="T22" fmla="*/ 66 w 120"/>
                  <a:gd name="T23" fmla="*/ 156 h 349"/>
                  <a:gd name="T24" fmla="*/ 71 w 120"/>
                  <a:gd name="T25" fmla="*/ 127 h 349"/>
                  <a:gd name="T26" fmla="*/ 77 w 120"/>
                  <a:gd name="T27" fmla="*/ 96 h 349"/>
                  <a:gd name="T28" fmla="*/ 86 w 120"/>
                  <a:gd name="T29" fmla="*/ 66 h 349"/>
                  <a:gd name="T30" fmla="*/ 96 w 120"/>
                  <a:gd name="T31" fmla="*/ 40 h 349"/>
                  <a:gd name="T32" fmla="*/ 113 w 120"/>
                  <a:gd name="T33" fmla="*/ 15 h 349"/>
                  <a:gd name="T34" fmla="*/ 119 w 120"/>
                  <a:gd name="T35" fmla="*/ 5 h 349"/>
                  <a:gd name="T36" fmla="*/ 112 w 120"/>
                  <a:gd name="T37" fmla="*/ 0 h 349"/>
                  <a:gd name="T38" fmla="*/ 101 w 120"/>
                  <a:gd name="T39" fmla="*/ 10 h 349"/>
                  <a:gd name="T40" fmla="*/ 86 w 120"/>
                  <a:gd name="T41" fmla="*/ 33 h 349"/>
                  <a:gd name="T42" fmla="*/ 75 w 120"/>
                  <a:gd name="T43" fmla="*/ 57 h 349"/>
                  <a:gd name="T44" fmla="*/ 66 w 120"/>
                  <a:gd name="T45" fmla="*/ 81 h 349"/>
                  <a:gd name="T46" fmla="*/ 60 w 120"/>
                  <a:gd name="T47" fmla="*/ 113 h 349"/>
                  <a:gd name="T48" fmla="*/ 55 w 120"/>
                  <a:gd name="T49" fmla="*/ 144 h 349"/>
                  <a:gd name="T50" fmla="*/ 47 w 120"/>
                  <a:gd name="T51" fmla="*/ 184 h 349"/>
                  <a:gd name="T52" fmla="*/ 40 w 120"/>
                  <a:gd name="T53" fmla="*/ 217 h 349"/>
                  <a:gd name="T54" fmla="*/ 37 w 120"/>
                  <a:gd name="T55" fmla="*/ 244 h 349"/>
                  <a:gd name="T56" fmla="*/ 36 w 120"/>
                  <a:gd name="T57" fmla="*/ 272 h 349"/>
                  <a:gd name="T58" fmla="*/ 30 w 120"/>
                  <a:gd name="T59" fmla="*/ 300 h 349"/>
                  <a:gd name="T60" fmla="*/ 22 w 120"/>
                  <a:gd name="T61" fmla="*/ 251 h 349"/>
                  <a:gd name="T62" fmla="*/ 13 w 120"/>
                  <a:gd name="T63" fmla="*/ 205 h 349"/>
                  <a:gd name="T64" fmla="*/ 0 w 120"/>
                  <a:gd name="T65" fmla="*/ 161 h 349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0" h="349">
                    <a:moveTo>
                      <a:pt x="0" y="161"/>
                    </a:moveTo>
                    <a:lnTo>
                      <a:pt x="10" y="232"/>
                    </a:lnTo>
                    <a:lnTo>
                      <a:pt x="20" y="289"/>
                    </a:lnTo>
                    <a:lnTo>
                      <a:pt x="26" y="331"/>
                    </a:lnTo>
                    <a:lnTo>
                      <a:pt x="25" y="348"/>
                    </a:lnTo>
                    <a:lnTo>
                      <a:pt x="39" y="348"/>
                    </a:lnTo>
                    <a:lnTo>
                      <a:pt x="43" y="323"/>
                    </a:lnTo>
                    <a:lnTo>
                      <a:pt x="45" y="286"/>
                    </a:lnTo>
                    <a:lnTo>
                      <a:pt x="51" y="252"/>
                    </a:lnTo>
                    <a:lnTo>
                      <a:pt x="54" y="226"/>
                    </a:lnTo>
                    <a:lnTo>
                      <a:pt x="59" y="188"/>
                    </a:lnTo>
                    <a:lnTo>
                      <a:pt x="66" y="156"/>
                    </a:lnTo>
                    <a:lnTo>
                      <a:pt x="71" y="127"/>
                    </a:lnTo>
                    <a:lnTo>
                      <a:pt x="77" y="96"/>
                    </a:lnTo>
                    <a:lnTo>
                      <a:pt x="86" y="66"/>
                    </a:lnTo>
                    <a:lnTo>
                      <a:pt x="96" y="40"/>
                    </a:lnTo>
                    <a:lnTo>
                      <a:pt x="113" y="15"/>
                    </a:lnTo>
                    <a:lnTo>
                      <a:pt x="119" y="5"/>
                    </a:lnTo>
                    <a:lnTo>
                      <a:pt x="112" y="0"/>
                    </a:lnTo>
                    <a:lnTo>
                      <a:pt x="101" y="10"/>
                    </a:lnTo>
                    <a:lnTo>
                      <a:pt x="86" y="33"/>
                    </a:lnTo>
                    <a:lnTo>
                      <a:pt x="75" y="57"/>
                    </a:lnTo>
                    <a:lnTo>
                      <a:pt x="66" y="81"/>
                    </a:lnTo>
                    <a:lnTo>
                      <a:pt x="60" y="113"/>
                    </a:lnTo>
                    <a:lnTo>
                      <a:pt x="55" y="144"/>
                    </a:lnTo>
                    <a:lnTo>
                      <a:pt x="47" y="184"/>
                    </a:lnTo>
                    <a:lnTo>
                      <a:pt x="40" y="217"/>
                    </a:lnTo>
                    <a:lnTo>
                      <a:pt x="37" y="244"/>
                    </a:lnTo>
                    <a:lnTo>
                      <a:pt x="36" y="272"/>
                    </a:lnTo>
                    <a:lnTo>
                      <a:pt x="30" y="300"/>
                    </a:lnTo>
                    <a:lnTo>
                      <a:pt x="22" y="251"/>
                    </a:lnTo>
                    <a:lnTo>
                      <a:pt x="13" y="205"/>
                    </a:lnTo>
                    <a:lnTo>
                      <a:pt x="0" y="161"/>
                    </a:lnTo>
                  </a:path>
                </a:pathLst>
              </a:custGeom>
              <a:solidFill>
                <a:srgbClr val="3C0023">
                  <a:alpha val="50195"/>
                </a:srgbClr>
              </a:solidFill>
              <a:ln w="9525" cap="rnd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sp>
            <p:nvSpPr>
              <p:cNvPr id="2073" name="Freeform 11"/>
              <p:cNvSpPr/>
              <p:nvPr/>
            </p:nvSpPr>
            <p:spPr bwMode="ltGray">
              <a:xfrm>
                <a:off x="1685" y="1239"/>
                <a:ext cx="266" cy="391"/>
              </a:xfrm>
              <a:custGeom>
                <a:avLst/>
                <a:gdLst>
                  <a:gd name="T0" fmla="*/ 107 w 266"/>
                  <a:gd name="T1" fmla="*/ 123 h 391"/>
                  <a:gd name="T2" fmla="*/ 116 w 266"/>
                  <a:gd name="T3" fmla="*/ 135 h 391"/>
                  <a:gd name="T4" fmla="*/ 163 w 266"/>
                  <a:gd name="T5" fmla="*/ 114 h 391"/>
                  <a:gd name="T6" fmla="*/ 211 w 266"/>
                  <a:gd name="T7" fmla="*/ 81 h 391"/>
                  <a:gd name="T8" fmla="*/ 233 w 266"/>
                  <a:gd name="T9" fmla="*/ 46 h 391"/>
                  <a:gd name="T10" fmla="*/ 220 w 266"/>
                  <a:gd name="T11" fmla="*/ 76 h 391"/>
                  <a:gd name="T12" fmla="*/ 183 w 266"/>
                  <a:gd name="T13" fmla="*/ 109 h 391"/>
                  <a:gd name="T14" fmla="*/ 142 w 266"/>
                  <a:gd name="T15" fmla="*/ 138 h 391"/>
                  <a:gd name="T16" fmla="*/ 102 w 266"/>
                  <a:gd name="T17" fmla="*/ 159 h 391"/>
                  <a:gd name="T18" fmla="*/ 119 w 266"/>
                  <a:gd name="T19" fmla="*/ 178 h 391"/>
                  <a:gd name="T20" fmla="*/ 155 w 266"/>
                  <a:gd name="T21" fmla="*/ 180 h 391"/>
                  <a:gd name="T22" fmla="*/ 202 w 266"/>
                  <a:gd name="T23" fmla="*/ 187 h 391"/>
                  <a:gd name="T24" fmla="*/ 239 w 266"/>
                  <a:gd name="T25" fmla="*/ 204 h 391"/>
                  <a:gd name="T26" fmla="*/ 251 w 266"/>
                  <a:gd name="T27" fmla="*/ 215 h 391"/>
                  <a:gd name="T28" fmla="*/ 213 w 266"/>
                  <a:gd name="T29" fmla="*/ 204 h 391"/>
                  <a:gd name="T30" fmla="*/ 162 w 266"/>
                  <a:gd name="T31" fmla="*/ 198 h 391"/>
                  <a:gd name="T32" fmla="*/ 114 w 266"/>
                  <a:gd name="T33" fmla="*/ 195 h 391"/>
                  <a:gd name="T34" fmla="*/ 88 w 266"/>
                  <a:gd name="T35" fmla="*/ 203 h 391"/>
                  <a:gd name="T36" fmla="*/ 93 w 266"/>
                  <a:gd name="T37" fmla="*/ 248 h 391"/>
                  <a:gd name="T38" fmla="*/ 93 w 266"/>
                  <a:gd name="T39" fmla="*/ 307 h 391"/>
                  <a:gd name="T40" fmla="*/ 77 w 266"/>
                  <a:gd name="T41" fmla="*/ 354 h 391"/>
                  <a:gd name="T42" fmla="*/ 46 w 266"/>
                  <a:gd name="T43" fmla="*/ 390 h 391"/>
                  <a:gd name="T44" fmla="*/ 50 w 266"/>
                  <a:gd name="T45" fmla="*/ 346 h 391"/>
                  <a:gd name="T46" fmla="*/ 61 w 266"/>
                  <a:gd name="T47" fmla="*/ 299 h 391"/>
                  <a:gd name="T48" fmla="*/ 67 w 266"/>
                  <a:gd name="T49" fmla="*/ 238 h 391"/>
                  <a:gd name="T50" fmla="*/ 64 w 266"/>
                  <a:gd name="T51" fmla="*/ 198 h 391"/>
                  <a:gd name="T52" fmla="*/ 48 w 266"/>
                  <a:gd name="T53" fmla="*/ 221 h 391"/>
                  <a:gd name="T54" fmla="*/ 39 w 266"/>
                  <a:gd name="T55" fmla="*/ 273 h 391"/>
                  <a:gd name="T56" fmla="*/ 32 w 266"/>
                  <a:gd name="T57" fmla="*/ 325 h 391"/>
                  <a:gd name="T58" fmla="*/ 10 w 266"/>
                  <a:gd name="T59" fmla="*/ 364 h 391"/>
                  <a:gd name="T60" fmla="*/ 2 w 266"/>
                  <a:gd name="T61" fmla="*/ 364 h 391"/>
                  <a:gd name="T62" fmla="*/ 2 w 266"/>
                  <a:gd name="T63" fmla="*/ 324 h 391"/>
                  <a:gd name="T64" fmla="*/ 17 w 266"/>
                  <a:gd name="T65" fmla="*/ 287 h 391"/>
                  <a:gd name="T66" fmla="*/ 34 w 266"/>
                  <a:gd name="T67" fmla="*/ 239 h 391"/>
                  <a:gd name="T68" fmla="*/ 42 w 266"/>
                  <a:gd name="T69" fmla="*/ 204 h 391"/>
                  <a:gd name="T70" fmla="*/ 26 w 266"/>
                  <a:gd name="T71" fmla="*/ 182 h 391"/>
                  <a:gd name="T72" fmla="*/ 2 w 266"/>
                  <a:gd name="T73" fmla="*/ 184 h 391"/>
                  <a:gd name="T74" fmla="*/ 2 w 266"/>
                  <a:gd name="T75" fmla="*/ 184 h 391"/>
                  <a:gd name="T76" fmla="*/ 2 w 266"/>
                  <a:gd name="T77" fmla="*/ 184 h 391"/>
                  <a:gd name="T78" fmla="*/ 2 w 266"/>
                  <a:gd name="T79" fmla="*/ 184 h 391"/>
                  <a:gd name="T80" fmla="*/ 2 w 266"/>
                  <a:gd name="T81" fmla="*/ 184 h 391"/>
                  <a:gd name="T82" fmla="*/ 2 w 266"/>
                  <a:gd name="T83" fmla="*/ 184 h 391"/>
                  <a:gd name="T84" fmla="*/ 13 w 266"/>
                  <a:gd name="T85" fmla="*/ 161 h 391"/>
                  <a:gd name="T86" fmla="*/ 13 w 266"/>
                  <a:gd name="T87" fmla="*/ 138 h 391"/>
                  <a:gd name="T88" fmla="*/ 2 w 266"/>
                  <a:gd name="T89" fmla="*/ 105 h 391"/>
                  <a:gd name="T90" fmla="*/ 2 w 266"/>
                  <a:gd name="T91" fmla="*/ 105 h 391"/>
                  <a:gd name="T92" fmla="*/ 2 w 266"/>
                  <a:gd name="T93" fmla="*/ 105 h 391"/>
                  <a:gd name="T94" fmla="*/ 2 w 266"/>
                  <a:gd name="T95" fmla="*/ 105 h 391"/>
                  <a:gd name="T96" fmla="*/ 24 w 266"/>
                  <a:gd name="T97" fmla="*/ 122 h 391"/>
                  <a:gd name="T98" fmla="*/ 53 w 266"/>
                  <a:gd name="T99" fmla="*/ 157 h 391"/>
                  <a:gd name="T100" fmla="*/ 55 w 266"/>
                  <a:gd name="T101" fmla="*/ 130 h 391"/>
                  <a:gd name="T102" fmla="*/ 24 w 266"/>
                  <a:gd name="T103" fmla="*/ 91 h 391"/>
                  <a:gd name="T104" fmla="*/ 2 w 266"/>
                  <a:gd name="T105" fmla="*/ 65 h 391"/>
                  <a:gd name="T106" fmla="*/ 2 w 266"/>
                  <a:gd name="T107" fmla="*/ 65 h 391"/>
                  <a:gd name="T108" fmla="*/ 2 w 266"/>
                  <a:gd name="T109" fmla="*/ 48 h 391"/>
                  <a:gd name="T110" fmla="*/ 30 w 266"/>
                  <a:gd name="T111" fmla="*/ 87 h 391"/>
                  <a:gd name="T112" fmla="*/ 61 w 266"/>
                  <a:gd name="T113" fmla="*/ 138 h 391"/>
                  <a:gd name="T114" fmla="*/ 80 w 266"/>
                  <a:gd name="T115" fmla="*/ 127 h 391"/>
                  <a:gd name="T116" fmla="*/ 106 w 266"/>
                  <a:gd name="T117" fmla="*/ 87 h 391"/>
                  <a:gd name="T118" fmla="*/ 139 w 266"/>
                  <a:gd name="T119" fmla="*/ 39 h 391"/>
                  <a:gd name="T120" fmla="*/ 165 w 266"/>
                  <a:gd name="T121" fmla="*/ 6 h 391"/>
                  <a:gd name="T122" fmla="*/ 163 w 266"/>
                  <a:gd name="T123" fmla="*/ 29 h 391"/>
                  <a:gd name="T124" fmla="*/ 137 w 266"/>
                  <a:gd name="T125" fmla="*/ 76 h 391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  <a:gd name="T186" fmla="*/ 0 60000 65536"/>
                  <a:gd name="T187" fmla="*/ 0 60000 65536"/>
                  <a:gd name="T188" fmla="*/ 0 60000 65536"/>
                </a:gdLst>
                <a:ahLst/>
                <a:cxnLst>
                  <a:cxn ang="T126">
                    <a:pos x="T0" y="T1"/>
                  </a:cxn>
                  <a:cxn ang="T127">
                    <a:pos x="T2" y="T3"/>
                  </a:cxn>
                  <a:cxn ang="T128">
                    <a:pos x="T4" y="T5"/>
                  </a:cxn>
                  <a:cxn ang="T129">
                    <a:pos x="T6" y="T7"/>
                  </a:cxn>
                  <a:cxn ang="T130">
                    <a:pos x="T8" y="T9"/>
                  </a:cxn>
                  <a:cxn ang="T131">
                    <a:pos x="T10" y="T11"/>
                  </a:cxn>
                  <a:cxn ang="T132">
                    <a:pos x="T12" y="T13"/>
                  </a:cxn>
                  <a:cxn ang="T133">
                    <a:pos x="T14" y="T15"/>
                  </a:cxn>
                  <a:cxn ang="T134">
                    <a:pos x="T16" y="T17"/>
                  </a:cxn>
                  <a:cxn ang="T135">
                    <a:pos x="T18" y="T19"/>
                  </a:cxn>
                  <a:cxn ang="T136">
                    <a:pos x="T20" y="T21"/>
                  </a:cxn>
                  <a:cxn ang="T137">
                    <a:pos x="T22" y="T23"/>
                  </a:cxn>
                  <a:cxn ang="T138">
                    <a:pos x="T24" y="T25"/>
                  </a:cxn>
                  <a:cxn ang="T139">
                    <a:pos x="T26" y="T27"/>
                  </a:cxn>
                  <a:cxn ang="T140">
                    <a:pos x="T28" y="T29"/>
                  </a:cxn>
                  <a:cxn ang="T141">
                    <a:pos x="T30" y="T31"/>
                  </a:cxn>
                  <a:cxn ang="T142">
                    <a:pos x="T32" y="T33"/>
                  </a:cxn>
                  <a:cxn ang="T143">
                    <a:pos x="T34" y="T35"/>
                  </a:cxn>
                  <a:cxn ang="T144">
                    <a:pos x="T36" y="T37"/>
                  </a:cxn>
                  <a:cxn ang="T145">
                    <a:pos x="T38" y="T39"/>
                  </a:cxn>
                  <a:cxn ang="T146">
                    <a:pos x="T40" y="T41"/>
                  </a:cxn>
                  <a:cxn ang="T147">
                    <a:pos x="T42" y="T43"/>
                  </a:cxn>
                  <a:cxn ang="T148">
                    <a:pos x="T44" y="T45"/>
                  </a:cxn>
                  <a:cxn ang="T149">
                    <a:pos x="T46" y="T47"/>
                  </a:cxn>
                  <a:cxn ang="T150">
                    <a:pos x="T48" y="T49"/>
                  </a:cxn>
                  <a:cxn ang="T151">
                    <a:pos x="T50" y="T51"/>
                  </a:cxn>
                  <a:cxn ang="T152">
                    <a:pos x="T52" y="T53"/>
                  </a:cxn>
                  <a:cxn ang="T153">
                    <a:pos x="T54" y="T55"/>
                  </a:cxn>
                  <a:cxn ang="T154">
                    <a:pos x="T56" y="T57"/>
                  </a:cxn>
                  <a:cxn ang="T155">
                    <a:pos x="T58" y="T59"/>
                  </a:cxn>
                  <a:cxn ang="T156">
                    <a:pos x="T60" y="T61"/>
                  </a:cxn>
                  <a:cxn ang="T157">
                    <a:pos x="T62" y="T63"/>
                  </a:cxn>
                  <a:cxn ang="T158">
                    <a:pos x="T64" y="T65"/>
                  </a:cxn>
                  <a:cxn ang="T159">
                    <a:pos x="T66" y="T67"/>
                  </a:cxn>
                  <a:cxn ang="T160">
                    <a:pos x="T68" y="T69"/>
                  </a:cxn>
                  <a:cxn ang="T161">
                    <a:pos x="T70" y="T71"/>
                  </a:cxn>
                  <a:cxn ang="T162">
                    <a:pos x="T72" y="T73"/>
                  </a:cxn>
                  <a:cxn ang="T163">
                    <a:pos x="T74" y="T75"/>
                  </a:cxn>
                  <a:cxn ang="T164">
                    <a:pos x="T76" y="T77"/>
                  </a:cxn>
                  <a:cxn ang="T165">
                    <a:pos x="T78" y="T79"/>
                  </a:cxn>
                  <a:cxn ang="T166">
                    <a:pos x="T80" y="T81"/>
                  </a:cxn>
                  <a:cxn ang="T167">
                    <a:pos x="T82" y="T83"/>
                  </a:cxn>
                  <a:cxn ang="T168">
                    <a:pos x="T84" y="T85"/>
                  </a:cxn>
                  <a:cxn ang="T169">
                    <a:pos x="T86" y="T87"/>
                  </a:cxn>
                  <a:cxn ang="T170">
                    <a:pos x="T88" y="T89"/>
                  </a:cxn>
                  <a:cxn ang="T171">
                    <a:pos x="T90" y="T91"/>
                  </a:cxn>
                  <a:cxn ang="T172">
                    <a:pos x="T92" y="T93"/>
                  </a:cxn>
                  <a:cxn ang="T173">
                    <a:pos x="T94" y="T95"/>
                  </a:cxn>
                  <a:cxn ang="T174">
                    <a:pos x="T96" y="T97"/>
                  </a:cxn>
                  <a:cxn ang="T175">
                    <a:pos x="T98" y="T99"/>
                  </a:cxn>
                  <a:cxn ang="T176">
                    <a:pos x="T100" y="T101"/>
                  </a:cxn>
                  <a:cxn ang="T177">
                    <a:pos x="T102" y="T103"/>
                  </a:cxn>
                  <a:cxn ang="T178">
                    <a:pos x="T104" y="T105"/>
                  </a:cxn>
                  <a:cxn ang="T179">
                    <a:pos x="T106" y="T107"/>
                  </a:cxn>
                  <a:cxn ang="T180">
                    <a:pos x="T108" y="T109"/>
                  </a:cxn>
                  <a:cxn ang="T181">
                    <a:pos x="T110" y="T111"/>
                  </a:cxn>
                  <a:cxn ang="T182">
                    <a:pos x="T112" y="T113"/>
                  </a:cxn>
                  <a:cxn ang="T183">
                    <a:pos x="T114" y="T115"/>
                  </a:cxn>
                  <a:cxn ang="T184">
                    <a:pos x="T116" y="T117"/>
                  </a:cxn>
                  <a:cxn ang="T185">
                    <a:pos x="T118" y="T119"/>
                  </a:cxn>
                  <a:cxn ang="T186">
                    <a:pos x="T120" y="T121"/>
                  </a:cxn>
                  <a:cxn ang="T187">
                    <a:pos x="T122" y="T123"/>
                  </a:cxn>
                  <a:cxn ang="T188">
                    <a:pos x="T124" y="T125"/>
                  </a:cxn>
                </a:cxnLst>
                <a:rect l="0" t="0" r="r" b="b"/>
                <a:pathLst>
                  <a:path w="266" h="391">
                    <a:moveTo>
                      <a:pt x="124" y="95"/>
                    </a:moveTo>
                    <a:lnTo>
                      <a:pt x="119" y="101"/>
                    </a:lnTo>
                    <a:lnTo>
                      <a:pt x="115" y="108"/>
                    </a:lnTo>
                    <a:lnTo>
                      <a:pt x="111" y="115"/>
                    </a:lnTo>
                    <a:lnTo>
                      <a:pt x="107" y="123"/>
                    </a:lnTo>
                    <a:lnTo>
                      <a:pt x="104" y="129"/>
                    </a:lnTo>
                    <a:lnTo>
                      <a:pt x="102" y="136"/>
                    </a:lnTo>
                    <a:lnTo>
                      <a:pt x="100" y="142"/>
                    </a:lnTo>
                    <a:lnTo>
                      <a:pt x="107" y="138"/>
                    </a:lnTo>
                    <a:lnTo>
                      <a:pt x="116" y="135"/>
                    </a:lnTo>
                    <a:lnTo>
                      <a:pt x="125" y="131"/>
                    </a:lnTo>
                    <a:lnTo>
                      <a:pt x="134" y="127"/>
                    </a:lnTo>
                    <a:lnTo>
                      <a:pt x="144" y="124"/>
                    </a:lnTo>
                    <a:lnTo>
                      <a:pt x="154" y="119"/>
                    </a:lnTo>
                    <a:lnTo>
                      <a:pt x="163" y="114"/>
                    </a:lnTo>
                    <a:lnTo>
                      <a:pt x="175" y="107"/>
                    </a:lnTo>
                    <a:lnTo>
                      <a:pt x="184" y="101"/>
                    </a:lnTo>
                    <a:lnTo>
                      <a:pt x="195" y="93"/>
                    </a:lnTo>
                    <a:lnTo>
                      <a:pt x="203" y="89"/>
                    </a:lnTo>
                    <a:lnTo>
                      <a:pt x="211" y="81"/>
                    </a:lnTo>
                    <a:lnTo>
                      <a:pt x="218" y="75"/>
                    </a:lnTo>
                    <a:lnTo>
                      <a:pt x="224" y="66"/>
                    </a:lnTo>
                    <a:lnTo>
                      <a:pt x="227" y="59"/>
                    </a:lnTo>
                    <a:lnTo>
                      <a:pt x="230" y="51"/>
                    </a:lnTo>
                    <a:lnTo>
                      <a:pt x="233" y="46"/>
                    </a:lnTo>
                    <a:lnTo>
                      <a:pt x="233" y="52"/>
                    </a:lnTo>
                    <a:lnTo>
                      <a:pt x="233" y="56"/>
                    </a:lnTo>
                    <a:lnTo>
                      <a:pt x="231" y="61"/>
                    </a:lnTo>
                    <a:lnTo>
                      <a:pt x="227" y="67"/>
                    </a:lnTo>
                    <a:lnTo>
                      <a:pt x="220" y="76"/>
                    </a:lnTo>
                    <a:lnTo>
                      <a:pt x="217" y="83"/>
                    </a:lnTo>
                    <a:lnTo>
                      <a:pt x="210" y="88"/>
                    </a:lnTo>
                    <a:lnTo>
                      <a:pt x="202" y="94"/>
                    </a:lnTo>
                    <a:lnTo>
                      <a:pt x="192" y="101"/>
                    </a:lnTo>
                    <a:lnTo>
                      <a:pt x="183" y="109"/>
                    </a:lnTo>
                    <a:lnTo>
                      <a:pt x="173" y="116"/>
                    </a:lnTo>
                    <a:lnTo>
                      <a:pt x="167" y="122"/>
                    </a:lnTo>
                    <a:lnTo>
                      <a:pt x="159" y="129"/>
                    </a:lnTo>
                    <a:lnTo>
                      <a:pt x="151" y="133"/>
                    </a:lnTo>
                    <a:lnTo>
                      <a:pt x="142" y="138"/>
                    </a:lnTo>
                    <a:lnTo>
                      <a:pt x="133" y="143"/>
                    </a:lnTo>
                    <a:lnTo>
                      <a:pt x="125" y="148"/>
                    </a:lnTo>
                    <a:lnTo>
                      <a:pt x="118" y="152"/>
                    </a:lnTo>
                    <a:lnTo>
                      <a:pt x="109" y="156"/>
                    </a:lnTo>
                    <a:lnTo>
                      <a:pt x="102" y="159"/>
                    </a:lnTo>
                    <a:lnTo>
                      <a:pt x="100" y="161"/>
                    </a:lnTo>
                    <a:lnTo>
                      <a:pt x="102" y="165"/>
                    </a:lnTo>
                    <a:lnTo>
                      <a:pt x="106" y="170"/>
                    </a:lnTo>
                    <a:lnTo>
                      <a:pt x="110" y="176"/>
                    </a:lnTo>
                    <a:lnTo>
                      <a:pt x="119" y="178"/>
                    </a:lnTo>
                    <a:lnTo>
                      <a:pt x="125" y="178"/>
                    </a:lnTo>
                    <a:lnTo>
                      <a:pt x="135" y="180"/>
                    </a:lnTo>
                    <a:lnTo>
                      <a:pt x="144" y="180"/>
                    </a:lnTo>
                    <a:lnTo>
                      <a:pt x="155" y="180"/>
                    </a:lnTo>
                    <a:lnTo>
                      <a:pt x="165" y="182"/>
                    </a:lnTo>
                    <a:lnTo>
                      <a:pt x="175" y="182"/>
                    </a:lnTo>
                    <a:lnTo>
                      <a:pt x="185" y="184"/>
                    </a:lnTo>
                    <a:lnTo>
                      <a:pt x="193" y="185"/>
                    </a:lnTo>
                    <a:lnTo>
                      <a:pt x="202" y="187"/>
                    </a:lnTo>
                    <a:lnTo>
                      <a:pt x="208" y="189"/>
                    </a:lnTo>
                    <a:lnTo>
                      <a:pt x="215" y="193"/>
                    </a:lnTo>
                    <a:lnTo>
                      <a:pt x="221" y="196"/>
                    </a:lnTo>
                    <a:lnTo>
                      <a:pt x="229" y="200"/>
                    </a:lnTo>
                    <a:lnTo>
                      <a:pt x="239" y="204"/>
                    </a:lnTo>
                    <a:lnTo>
                      <a:pt x="249" y="208"/>
                    </a:lnTo>
                    <a:lnTo>
                      <a:pt x="256" y="211"/>
                    </a:lnTo>
                    <a:lnTo>
                      <a:pt x="265" y="214"/>
                    </a:lnTo>
                    <a:lnTo>
                      <a:pt x="258" y="215"/>
                    </a:lnTo>
                    <a:lnTo>
                      <a:pt x="251" y="215"/>
                    </a:lnTo>
                    <a:lnTo>
                      <a:pt x="244" y="213"/>
                    </a:lnTo>
                    <a:lnTo>
                      <a:pt x="236" y="211"/>
                    </a:lnTo>
                    <a:lnTo>
                      <a:pt x="226" y="207"/>
                    </a:lnTo>
                    <a:lnTo>
                      <a:pt x="219" y="206"/>
                    </a:lnTo>
                    <a:lnTo>
                      <a:pt x="213" y="204"/>
                    </a:lnTo>
                    <a:lnTo>
                      <a:pt x="204" y="202"/>
                    </a:lnTo>
                    <a:lnTo>
                      <a:pt x="195" y="201"/>
                    </a:lnTo>
                    <a:lnTo>
                      <a:pt x="184" y="200"/>
                    </a:lnTo>
                    <a:lnTo>
                      <a:pt x="173" y="199"/>
                    </a:lnTo>
                    <a:lnTo>
                      <a:pt x="162" y="198"/>
                    </a:lnTo>
                    <a:lnTo>
                      <a:pt x="152" y="198"/>
                    </a:lnTo>
                    <a:lnTo>
                      <a:pt x="142" y="198"/>
                    </a:lnTo>
                    <a:lnTo>
                      <a:pt x="134" y="197"/>
                    </a:lnTo>
                    <a:lnTo>
                      <a:pt x="124" y="197"/>
                    </a:lnTo>
                    <a:lnTo>
                      <a:pt x="114" y="195"/>
                    </a:lnTo>
                    <a:lnTo>
                      <a:pt x="102" y="192"/>
                    </a:lnTo>
                    <a:lnTo>
                      <a:pt x="92" y="189"/>
                    </a:lnTo>
                    <a:lnTo>
                      <a:pt x="80" y="188"/>
                    </a:lnTo>
                    <a:lnTo>
                      <a:pt x="84" y="195"/>
                    </a:lnTo>
                    <a:lnTo>
                      <a:pt x="88" y="203"/>
                    </a:lnTo>
                    <a:lnTo>
                      <a:pt x="93" y="215"/>
                    </a:lnTo>
                    <a:lnTo>
                      <a:pt x="94" y="223"/>
                    </a:lnTo>
                    <a:lnTo>
                      <a:pt x="95" y="233"/>
                    </a:lnTo>
                    <a:lnTo>
                      <a:pt x="94" y="241"/>
                    </a:lnTo>
                    <a:lnTo>
                      <a:pt x="93" y="248"/>
                    </a:lnTo>
                    <a:lnTo>
                      <a:pt x="93" y="259"/>
                    </a:lnTo>
                    <a:lnTo>
                      <a:pt x="92" y="273"/>
                    </a:lnTo>
                    <a:lnTo>
                      <a:pt x="92" y="285"/>
                    </a:lnTo>
                    <a:lnTo>
                      <a:pt x="93" y="297"/>
                    </a:lnTo>
                    <a:lnTo>
                      <a:pt x="93" y="307"/>
                    </a:lnTo>
                    <a:lnTo>
                      <a:pt x="92" y="316"/>
                    </a:lnTo>
                    <a:lnTo>
                      <a:pt x="89" y="326"/>
                    </a:lnTo>
                    <a:lnTo>
                      <a:pt x="85" y="338"/>
                    </a:lnTo>
                    <a:lnTo>
                      <a:pt x="82" y="346"/>
                    </a:lnTo>
                    <a:lnTo>
                      <a:pt x="77" y="354"/>
                    </a:lnTo>
                    <a:lnTo>
                      <a:pt x="73" y="363"/>
                    </a:lnTo>
                    <a:lnTo>
                      <a:pt x="69" y="369"/>
                    </a:lnTo>
                    <a:lnTo>
                      <a:pt x="62" y="376"/>
                    </a:lnTo>
                    <a:lnTo>
                      <a:pt x="53" y="382"/>
                    </a:lnTo>
                    <a:lnTo>
                      <a:pt x="46" y="390"/>
                    </a:lnTo>
                    <a:lnTo>
                      <a:pt x="45" y="382"/>
                    </a:lnTo>
                    <a:lnTo>
                      <a:pt x="46" y="372"/>
                    </a:lnTo>
                    <a:lnTo>
                      <a:pt x="47" y="362"/>
                    </a:lnTo>
                    <a:lnTo>
                      <a:pt x="48" y="353"/>
                    </a:lnTo>
                    <a:lnTo>
                      <a:pt x="50" y="346"/>
                    </a:lnTo>
                    <a:lnTo>
                      <a:pt x="53" y="337"/>
                    </a:lnTo>
                    <a:lnTo>
                      <a:pt x="56" y="328"/>
                    </a:lnTo>
                    <a:lnTo>
                      <a:pt x="58" y="320"/>
                    </a:lnTo>
                    <a:lnTo>
                      <a:pt x="59" y="313"/>
                    </a:lnTo>
                    <a:lnTo>
                      <a:pt x="61" y="299"/>
                    </a:lnTo>
                    <a:lnTo>
                      <a:pt x="62" y="285"/>
                    </a:lnTo>
                    <a:lnTo>
                      <a:pt x="63" y="273"/>
                    </a:lnTo>
                    <a:lnTo>
                      <a:pt x="65" y="260"/>
                    </a:lnTo>
                    <a:lnTo>
                      <a:pt x="67" y="247"/>
                    </a:lnTo>
                    <a:lnTo>
                      <a:pt x="67" y="238"/>
                    </a:lnTo>
                    <a:lnTo>
                      <a:pt x="67" y="231"/>
                    </a:lnTo>
                    <a:lnTo>
                      <a:pt x="68" y="222"/>
                    </a:lnTo>
                    <a:lnTo>
                      <a:pt x="67" y="212"/>
                    </a:lnTo>
                    <a:lnTo>
                      <a:pt x="66" y="206"/>
                    </a:lnTo>
                    <a:lnTo>
                      <a:pt x="64" y="198"/>
                    </a:lnTo>
                    <a:lnTo>
                      <a:pt x="62" y="187"/>
                    </a:lnTo>
                    <a:lnTo>
                      <a:pt x="58" y="195"/>
                    </a:lnTo>
                    <a:lnTo>
                      <a:pt x="54" y="203"/>
                    </a:lnTo>
                    <a:lnTo>
                      <a:pt x="50" y="212"/>
                    </a:lnTo>
                    <a:lnTo>
                      <a:pt x="48" y="221"/>
                    </a:lnTo>
                    <a:lnTo>
                      <a:pt x="46" y="232"/>
                    </a:lnTo>
                    <a:lnTo>
                      <a:pt x="44" y="239"/>
                    </a:lnTo>
                    <a:lnTo>
                      <a:pt x="43" y="249"/>
                    </a:lnTo>
                    <a:lnTo>
                      <a:pt x="41" y="260"/>
                    </a:lnTo>
                    <a:lnTo>
                      <a:pt x="39" y="273"/>
                    </a:lnTo>
                    <a:lnTo>
                      <a:pt x="38" y="283"/>
                    </a:lnTo>
                    <a:lnTo>
                      <a:pt x="37" y="295"/>
                    </a:lnTo>
                    <a:lnTo>
                      <a:pt x="36" y="305"/>
                    </a:lnTo>
                    <a:lnTo>
                      <a:pt x="33" y="315"/>
                    </a:lnTo>
                    <a:lnTo>
                      <a:pt x="32" y="325"/>
                    </a:lnTo>
                    <a:lnTo>
                      <a:pt x="30" y="333"/>
                    </a:lnTo>
                    <a:lnTo>
                      <a:pt x="26" y="340"/>
                    </a:lnTo>
                    <a:lnTo>
                      <a:pt x="21" y="348"/>
                    </a:lnTo>
                    <a:lnTo>
                      <a:pt x="15" y="356"/>
                    </a:lnTo>
                    <a:lnTo>
                      <a:pt x="10" y="364"/>
                    </a:lnTo>
                    <a:lnTo>
                      <a:pt x="5" y="368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64"/>
                    </a:lnTo>
                    <a:lnTo>
                      <a:pt x="2" y="344"/>
                    </a:lnTo>
                    <a:lnTo>
                      <a:pt x="2" y="324"/>
                    </a:lnTo>
                    <a:lnTo>
                      <a:pt x="5" y="316"/>
                    </a:lnTo>
                    <a:lnTo>
                      <a:pt x="9" y="306"/>
                    </a:lnTo>
                    <a:lnTo>
                      <a:pt x="13" y="297"/>
                    </a:lnTo>
                    <a:lnTo>
                      <a:pt x="17" y="287"/>
                    </a:lnTo>
                    <a:lnTo>
                      <a:pt x="21" y="278"/>
                    </a:lnTo>
                    <a:lnTo>
                      <a:pt x="25" y="268"/>
                    </a:lnTo>
                    <a:lnTo>
                      <a:pt x="28" y="259"/>
                    </a:lnTo>
                    <a:lnTo>
                      <a:pt x="31" y="249"/>
                    </a:lnTo>
                    <a:lnTo>
                      <a:pt x="34" y="239"/>
                    </a:lnTo>
                    <a:lnTo>
                      <a:pt x="36" y="233"/>
                    </a:lnTo>
                    <a:lnTo>
                      <a:pt x="38" y="225"/>
                    </a:lnTo>
                    <a:lnTo>
                      <a:pt x="41" y="216"/>
                    </a:lnTo>
                    <a:lnTo>
                      <a:pt x="44" y="210"/>
                    </a:lnTo>
                    <a:lnTo>
                      <a:pt x="42" y="204"/>
                    </a:lnTo>
                    <a:lnTo>
                      <a:pt x="41" y="197"/>
                    </a:lnTo>
                    <a:lnTo>
                      <a:pt x="42" y="192"/>
                    </a:lnTo>
                    <a:lnTo>
                      <a:pt x="43" y="185"/>
                    </a:lnTo>
                    <a:lnTo>
                      <a:pt x="36" y="184"/>
                    </a:lnTo>
                    <a:lnTo>
                      <a:pt x="26" y="182"/>
                    </a:lnTo>
                    <a:lnTo>
                      <a:pt x="18" y="187"/>
                    </a:lnTo>
                    <a:lnTo>
                      <a:pt x="11" y="191"/>
                    </a:lnTo>
                    <a:lnTo>
                      <a:pt x="3" y="195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2" y="184"/>
                    </a:lnTo>
                    <a:lnTo>
                      <a:pt x="2" y="164"/>
                    </a:lnTo>
                    <a:lnTo>
                      <a:pt x="5" y="164"/>
                    </a:lnTo>
                    <a:lnTo>
                      <a:pt x="13" y="161"/>
                    </a:lnTo>
                    <a:lnTo>
                      <a:pt x="15" y="156"/>
                    </a:lnTo>
                    <a:lnTo>
                      <a:pt x="17" y="151"/>
                    </a:lnTo>
                    <a:lnTo>
                      <a:pt x="19" y="146"/>
                    </a:lnTo>
                    <a:lnTo>
                      <a:pt x="18" y="144"/>
                    </a:lnTo>
                    <a:lnTo>
                      <a:pt x="13" y="138"/>
                    </a:lnTo>
                    <a:lnTo>
                      <a:pt x="6" y="132"/>
                    </a:lnTo>
                    <a:lnTo>
                      <a:pt x="0" y="125"/>
                    </a:lnTo>
                    <a:lnTo>
                      <a:pt x="2" y="124"/>
                    </a:lnTo>
                    <a:lnTo>
                      <a:pt x="2" y="105"/>
                    </a:lnTo>
                    <a:lnTo>
                      <a:pt x="1" y="103"/>
                    </a:lnTo>
                    <a:lnTo>
                      <a:pt x="11" y="110"/>
                    </a:lnTo>
                    <a:lnTo>
                      <a:pt x="19" y="117"/>
                    </a:lnTo>
                    <a:lnTo>
                      <a:pt x="24" y="122"/>
                    </a:lnTo>
                    <a:lnTo>
                      <a:pt x="28" y="128"/>
                    </a:lnTo>
                    <a:lnTo>
                      <a:pt x="35" y="137"/>
                    </a:lnTo>
                    <a:lnTo>
                      <a:pt x="40" y="143"/>
                    </a:lnTo>
                    <a:lnTo>
                      <a:pt x="46" y="150"/>
                    </a:lnTo>
                    <a:lnTo>
                      <a:pt x="53" y="157"/>
                    </a:lnTo>
                    <a:lnTo>
                      <a:pt x="55" y="155"/>
                    </a:lnTo>
                    <a:lnTo>
                      <a:pt x="59" y="148"/>
                    </a:lnTo>
                    <a:lnTo>
                      <a:pt x="62" y="143"/>
                    </a:lnTo>
                    <a:lnTo>
                      <a:pt x="60" y="138"/>
                    </a:lnTo>
                    <a:lnTo>
                      <a:pt x="55" y="130"/>
                    </a:lnTo>
                    <a:lnTo>
                      <a:pt x="51" y="123"/>
                    </a:lnTo>
                    <a:lnTo>
                      <a:pt x="46" y="115"/>
                    </a:lnTo>
                    <a:lnTo>
                      <a:pt x="40" y="109"/>
                    </a:lnTo>
                    <a:lnTo>
                      <a:pt x="31" y="100"/>
                    </a:lnTo>
                    <a:lnTo>
                      <a:pt x="24" y="91"/>
                    </a:lnTo>
                    <a:lnTo>
                      <a:pt x="17" y="84"/>
                    </a:lnTo>
                    <a:lnTo>
                      <a:pt x="12" y="78"/>
                    </a:lnTo>
                    <a:lnTo>
                      <a:pt x="6" y="70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65"/>
                    </a:lnTo>
                    <a:lnTo>
                      <a:pt x="2" y="44"/>
                    </a:lnTo>
                    <a:lnTo>
                      <a:pt x="2" y="53"/>
                    </a:lnTo>
                    <a:lnTo>
                      <a:pt x="2" y="48"/>
                    </a:lnTo>
                    <a:lnTo>
                      <a:pt x="4" y="55"/>
                    </a:lnTo>
                    <a:lnTo>
                      <a:pt x="11" y="63"/>
                    </a:lnTo>
                    <a:lnTo>
                      <a:pt x="17" y="70"/>
                    </a:lnTo>
                    <a:lnTo>
                      <a:pt x="25" y="80"/>
                    </a:lnTo>
                    <a:lnTo>
                      <a:pt x="30" y="87"/>
                    </a:lnTo>
                    <a:lnTo>
                      <a:pt x="37" y="95"/>
                    </a:lnTo>
                    <a:lnTo>
                      <a:pt x="43" y="106"/>
                    </a:lnTo>
                    <a:lnTo>
                      <a:pt x="48" y="115"/>
                    </a:lnTo>
                    <a:lnTo>
                      <a:pt x="54" y="124"/>
                    </a:lnTo>
                    <a:lnTo>
                      <a:pt x="61" y="138"/>
                    </a:lnTo>
                    <a:lnTo>
                      <a:pt x="64" y="146"/>
                    </a:lnTo>
                    <a:lnTo>
                      <a:pt x="66" y="151"/>
                    </a:lnTo>
                    <a:lnTo>
                      <a:pt x="70" y="143"/>
                    </a:lnTo>
                    <a:lnTo>
                      <a:pt x="75" y="135"/>
                    </a:lnTo>
                    <a:lnTo>
                      <a:pt x="80" y="127"/>
                    </a:lnTo>
                    <a:lnTo>
                      <a:pt x="85" y="118"/>
                    </a:lnTo>
                    <a:lnTo>
                      <a:pt x="90" y="110"/>
                    </a:lnTo>
                    <a:lnTo>
                      <a:pt x="94" y="103"/>
                    </a:lnTo>
                    <a:lnTo>
                      <a:pt x="100" y="96"/>
                    </a:lnTo>
                    <a:lnTo>
                      <a:pt x="106" y="87"/>
                    </a:lnTo>
                    <a:lnTo>
                      <a:pt x="113" y="78"/>
                    </a:lnTo>
                    <a:lnTo>
                      <a:pt x="120" y="68"/>
                    </a:lnTo>
                    <a:lnTo>
                      <a:pt x="127" y="58"/>
                    </a:lnTo>
                    <a:lnTo>
                      <a:pt x="132" y="50"/>
                    </a:lnTo>
                    <a:lnTo>
                      <a:pt x="139" y="39"/>
                    </a:lnTo>
                    <a:lnTo>
                      <a:pt x="144" y="33"/>
                    </a:lnTo>
                    <a:lnTo>
                      <a:pt x="150" y="26"/>
                    </a:lnTo>
                    <a:lnTo>
                      <a:pt x="156" y="21"/>
                    </a:lnTo>
                    <a:lnTo>
                      <a:pt x="161" y="15"/>
                    </a:lnTo>
                    <a:lnTo>
                      <a:pt x="165" y="6"/>
                    </a:lnTo>
                    <a:lnTo>
                      <a:pt x="170" y="0"/>
                    </a:lnTo>
                    <a:lnTo>
                      <a:pt x="169" y="5"/>
                    </a:lnTo>
                    <a:lnTo>
                      <a:pt x="168" y="13"/>
                    </a:lnTo>
                    <a:lnTo>
                      <a:pt x="166" y="21"/>
                    </a:lnTo>
                    <a:lnTo>
                      <a:pt x="163" y="29"/>
                    </a:lnTo>
                    <a:lnTo>
                      <a:pt x="159" y="37"/>
                    </a:lnTo>
                    <a:lnTo>
                      <a:pt x="153" y="47"/>
                    </a:lnTo>
                    <a:lnTo>
                      <a:pt x="148" y="56"/>
                    </a:lnTo>
                    <a:lnTo>
                      <a:pt x="143" y="67"/>
                    </a:lnTo>
                    <a:lnTo>
                      <a:pt x="137" y="76"/>
                    </a:lnTo>
                    <a:lnTo>
                      <a:pt x="130" y="87"/>
                    </a:lnTo>
                    <a:lnTo>
                      <a:pt x="124" y="95"/>
                    </a:lnTo>
                  </a:path>
                </a:pathLst>
              </a:custGeom>
              <a:solidFill>
                <a:srgbClr val="037C03">
                  <a:alpha val="50195"/>
                </a:srgbClr>
              </a:solidFill>
              <a:ln w="9525" cap="rnd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  <p:grpSp>
            <p:nvGrpSpPr>
              <p:cNvPr id="2060" name="Group 12"/>
              <p:cNvGrpSpPr/>
              <p:nvPr/>
            </p:nvGrpSpPr>
            <p:grpSpPr>
              <a:xfrm>
                <a:off x="1707" y="1466"/>
                <a:ext cx="484" cy="368"/>
                <a:chOff x="1707" y="1466"/>
                <a:chExt cx="484" cy="368"/>
              </a:xfrm>
            </p:grpSpPr>
            <p:sp>
              <p:nvSpPr>
                <p:cNvPr id="2076" name="Freeform 13"/>
                <p:cNvSpPr/>
                <p:nvPr/>
              </p:nvSpPr>
              <p:spPr bwMode="ltGray">
                <a:xfrm>
                  <a:off x="1751" y="1466"/>
                  <a:ext cx="440" cy="342"/>
                </a:xfrm>
                <a:custGeom>
                  <a:avLst/>
                  <a:gdLst>
                    <a:gd name="T0" fmla="*/ 167 w 440"/>
                    <a:gd name="T1" fmla="*/ 42 h 342"/>
                    <a:gd name="T2" fmla="*/ 202 w 440"/>
                    <a:gd name="T3" fmla="*/ 14 h 342"/>
                    <a:gd name="T4" fmla="*/ 245 w 440"/>
                    <a:gd name="T5" fmla="*/ 3 h 342"/>
                    <a:gd name="T6" fmla="*/ 292 w 440"/>
                    <a:gd name="T7" fmla="*/ 2 h 342"/>
                    <a:gd name="T8" fmla="*/ 304 w 440"/>
                    <a:gd name="T9" fmla="*/ 7 h 342"/>
                    <a:gd name="T10" fmla="*/ 272 w 440"/>
                    <a:gd name="T11" fmla="*/ 15 h 342"/>
                    <a:gd name="T12" fmla="*/ 236 w 440"/>
                    <a:gd name="T13" fmla="*/ 26 h 342"/>
                    <a:gd name="T14" fmla="*/ 195 w 440"/>
                    <a:gd name="T15" fmla="*/ 55 h 342"/>
                    <a:gd name="T16" fmla="*/ 191 w 440"/>
                    <a:gd name="T17" fmla="*/ 94 h 342"/>
                    <a:gd name="T18" fmla="*/ 252 w 440"/>
                    <a:gd name="T19" fmla="*/ 70 h 342"/>
                    <a:gd name="T20" fmla="*/ 301 w 440"/>
                    <a:gd name="T21" fmla="*/ 67 h 342"/>
                    <a:gd name="T22" fmla="*/ 354 w 440"/>
                    <a:gd name="T23" fmla="*/ 72 h 342"/>
                    <a:gd name="T24" fmla="*/ 416 w 440"/>
                    <a:gd name="T25" fmla="*/ 79 h 342"/>
                    <a:gd name="T26" fmla="*/ 417 w 440"/>
                    <a:gd name="T27" fmla="*/ 80 h 342"/>
                    <a:gd name="T28" fmla="*/ 357 w 440"/>
                    <a:gd name="T29" fmla="*/ 83 h 342"/>
                    <a:gd name="T30" fmla="*/ 302 w 440"/>
                    <a:gd name="T31" fmla="*/ 84 h 342"/>
                    <a:gd name="T32" fmla="*/ 254 w 440"/>
                    <a:gd name="T33" fmla="*/ 90 h 342"/>
                    <a:gd name="T34" fmla="*/ 200 w 440"/>
                    <a:gd name="T35" fmla="*/ 103 h 342"/>
                    <a:gd name="T36" fmla="*/ 222 w 440"/>
                    <a:gd name="T37" fmla="*/ 123 h 342"/>
                    <a:gd name="T38" fmla="*/ 238 w 440"/>
                    <a:gd name="T39" fmla="*/ 142 h 342"/>
                    <a:gd name="T40" fmla="*/ 184 w 440"/>
                    <a:gd name="T41" fmla="*/ 125 h 342"/>
                    <a:gd name="T42" fmla="*/ 173 w 440"/>
                    <a:gd name="T43" fmla="*/ 136 h 342"/>
                    <a:gd name="T44" fmla="*/ 232 w 440"/>
                    <a:gd name="T45" fmla="*/ 145 h 342"/>
                    <a:gd name="T46" fmla="*/ 282 w 440"/>
                    <a:gd name="T47" fmla="*/ 157 h 342"/>
                    <a:gd name="T48" fmla="*/ 321 w 440"/>
                    <a:gd name="T49" fmla="*/ 190 h 342"/>
                    <a:gd name="T50" fmla="*/ 351 w 440"/>
                    <a:gd name="T51" fmla="*/ 234 h 342"/>
                    <a:gd name="T52" fmla="*/ 344 w 440"/>
                    <a:gd name="T53" fmla="*/ 242 h 342"/>
                    <a:gd name="T54" fmla="*/ 304 w 440"/>
                    <a:gd name="T55" fmla="*/ 214 h 342"/>
                    <a:gd name="T56" fmla="*/ 259 w 440"/>
                    <a:gd name="T57" fmla="*/ 183 h 342"/>
                    <a:gd name="T58" fmla="*/ 211 w 440"/>
                    <a:gd name="T59" fmla="*/ 162 h 342"/>
                    <a:gd name="T60" fmla="*/ 180 w 440"/>
                    <a:gd name="T61" fmla="*/ 155 h 342"/>
                    <a:gd name="T62" fmla="*/ 206 w 440"/>
                    <a:gd name="T63" fmla="*/ 189 h 342"/>
                    <a:gd name="T64" fmla="*/ 238 w 440"/>
                    <a:gd name="T65" fmla="*/ 234 h 342"/>
                    <a:gd name="T66" fmla="*/ 256 w 440"/>
                    <a:gd name="T67" fmla="*/ 275 h 342"/>
                    <a:gd name="T68" fmla="*/ 255 w 440"/>
                    <a:gd name="T69" fmla="*/ 313 h 342"/>
                    <a:gd name="T70" fmla="*/ 232 w 440"/>
                    <a:gd name="T71" fmla="*/ 271 h 342"/>
                    <a:gd name="T72" fmla="*/ 208 w 440"/>
                    <a:gd name="T73" fmla="*/ 226 h 342"/>
                    <a:gd name="T74" fmla="*/ 181 w 440"/>
                    <a:gd name="T75" fmla="*/ 185 h 342"/>
                    <a:gd name="T76" fmla="*/ 157 w 440"/>
                    <a:gd name="T77" fmla="*/ 149 h 342"/>
                    <a:gd name="T78" fmla="*/ 115 w 440"/>
                    <a:gd name="T79" fmla="*/ 170 h 342"/>
                    <a:gd name="T80" fmla="*/ 80 w 440"/>
                    <a:gd name="T81" fmla="*/ 221 h 342"/>
                    <a:gd name="T82" fmla="*/ 51 w 440"/>
                    <a:gd name="T83" fmla="*/ 273 h 342"/>
                    <a:gd name="T84" fmla="*/ 18 w 440"/>
                    <a:gd name="T85" fmla="*/ 321 h 342"/>
                    <a:gd name="T86" fmla="*/ 8 w 440"/>
                    <a:gd name="T87" fmla="*/ 315 h 342"/>
                    <a:gd name="T88" fmla="*/ 47 w 440"/>
                    <a:gd name="T89" fmla="*/ 255 h 342"/>
                    <a:gd name="T90" fmla="*/ 82 w 440"/>
                    <a:gd name="T91" fmla="*/ 208 h 342"/>
                    <a:gd name="T92" fmla="*/ 112 w 440"/>
                    <a:gd name="T93" fmla="*/ 162 h 342"/>
                    <a:gd name="T94" fmla="*/ 139 w 440"/>
                    <a:gd name="T95" fmla="*/ 126 h 342"/>
                    <a:gd name="T96" fmla="*/ 99 w 440"/>
                    <a:gd name="T97" fmla="*/ 83 h 342"/>
                    <a:gd name="T98" fmla="*/ 43 w 440"/>
                    <a:gd name="T99" fmla="*/ 60 h 342"/>
                    <a:gd name="T100" fmla="*/ 20 w 440"/>
                    <a:gd name="T101" fmla="*/ 47 h 342"/>
                    <a:gd name="T102" fmla="*/ 63 w 440"/>
                    <a:gd name="T103" fmla="*/ 61 h 342"/>
                    <a:gd name="T104" fmla="*/ 122 w 440"/>
                    <a:gd name="T105" fmla="*/ 90 h 342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</a:gdLst>
                  <a:ahLst/>
                  <a:cxnLst>
                    <a:cxn ang="T106">
                      <a:pos x="T0" y="T1"/>
                    </a:cxn>
                    <a:cxn ang="T107">
                      <a:pos x="T2" y="T3"/>
                    </a:cxn>
                    <a:cxn ang="T108">
                      <a:pos x="T4" y="T5"/>
                    </a:cxn>
                    <a:cxn ang="T109">
                      <a:pos x="T6" y="T7"/>
                    </a:cxn>
                    <a:cxn ang="T110">
                      <a:pos x="T8" y="T9"/>
                    </a:cxn>
                    <a:cxn ang="T111">
                      <a:pos x="T10" y="T11"/>
                    </a:cxn>
                    <a:cxn ang="T112">
                      <a:pos x="T12" y="T13"/>
                    </a:cxn>
                    <a:cxn ang="T113">
                      <a:pos x="T14" y="T15"/>
                    </a:cxn>
                    <a:cxn ang="T114">
                      <a:pos x="T16" y="T17"/>
                    </a:cxn>
                    <a:cxn ang="T115">
                      <a:pos x="T18" y="T19"/>
                    </a:cxn>
                    <a:cxn ang="T116">
                      <a:pos x="T20" y="T21"/>
                    </a:cxn>
                    <a:cxn ang="T117">
                      <a:pos x="T22" y="T23"/>
                    </a:cxn>
                    <a:cxn ang="T118">
                      <a:pos x="T24" y="T25"/>
                    </a:cxn>
                    <a:cxn ang="T119">
                      <a:pos x="T26" y="T27"/>
                    </a:cxn>
                    <a:cxn ang="T120">
                      <a:pos x="T28" y="T29"/>
                    </a:cxn>
                    <a:cxn ang="T121">
                      <a:pos x="T30" y="T31"/>
                    </a:cxn>
                    <a:cxn ang="T122">
                      <a:pos x="T32" y="T33"/>
                    </a:cxn>
                    <a:cxn ang="T123">
                      <a:pos x="T34" y="T35"/>
                    </a:cxn>
                    <a:cxn ang="T124">
                      <a:pos x="T36" y="T37"/>
                    </a:cxn>
                    <a:cxn ang="T125">
                      <a:pos x="T38" y="T39"/>
                    </a:cxn>
                    <a:cxn ang="T126">
                      <a:pos x="T40" y="T41"/>
                    </a:cxn>
                    <a:cxn ang="T127">
                      <a:pos x="T42" y="T43"/>
                    </a:cxn>
                    <a:cxn ang="T128">
                      <a:pos x="T44" y="T45"/>
                    </a:cxn>
                    <a:cxn ang="T129">
                      <a:pos x="T46" y="T47"/>
                    </a:cxn>
                    <a:cxn ang="T130">
                      <a:pos x="T48" y="T49"/>
                    </a:cxn>
                    <a:cxn ang="T131">
                      <a:pos x="T50" y="T51"/>
                    </a:cxn>
                    <a:cxn ang="T132">
                      <a:pos x="T52" y="T53"/>
                    </a:cxn>
                    <a:cxn ang="T133">
                      <a:pos x="T54" y="T55"/>
                    </a:cxn>
                    <a:cxn ang="T134">
                      <a:pos x="T56" y="T57"/>
                    </a:cxn>
                    <a:cxn ang="T135">
                      <a:pos x="T58" y="T59"/>
                    </a:cxn>
                    <a:cxn ang="T136">
                      <a:pos x="T60" y="T61"/>
                    </a:cxn>
                    <a:cxn ang="T137">
                      <a:pos x="T62" y="T63"/>
                    </a:cxn>
                    <a:cxn ang="T138">
                      <a:pos x="T64" y="T65"/>
                    </a:cxn>
                    <a:cxn ang="T139">
                      <a:pos x="T66" y="T67"/>
                    </a:cxn>
                    <a:cxn ang="T140">
                      <a:pos x="T68" y="T69"/>
                    </a:cxn>
                    <a:cxn ang="T141">
                      <a:pos x="T70" y="T71"/>
                    </a:cxn>
                    <a:cxn ang="T142">
                      <a:pos x="T72" y="T73"/>
                    </a:cxn>
                    <a:cxn ang="T143">
                      <a:pos x="T74" y="T75"/>
                    </a:cxn>
                    <a:cxn ang="T144">
                      <a:pos x="T76" y="T77"/>
                    </a:cxn>
                    <a:cxn ang="T145">
                      <a:pos x="T78" y="T79"/>
                    </a:cxn>
                    <a:cxn ang="T146">
                      <a:pos x="T80" y="T81"/>
                    </a:cxn>
                    <a:cxn ang="T147">
                      <a:pos x="T82" y="T83"/>
                    </a:cxn>
                    <a:cxn ang="T148">
                      <a:pos x="T84" y="T85"/>
                    </a:cxn>
                    <a:cxn ang="T149">
                      <a:pos x="T86" y="T87"/>
                    </a:cxn>
                    <a:cxn ang="T150">
                      <a:pos x="T88" y="T89"/>
                    </a:cxn>
                    <a:cxn ang="T151">
                      <a:pos x="T90" y="T91"/>
                    </a:cxn>
                    <a:cxn ang="T152">
                      <a:pos x="T92" y="T93"/>
                    </a:cxn>
                    <a:cxn ang="T153">
                      <a:pos x="T94" y="T95"/>
                    </a:cxn>
                    <a:cxn ang="T154">
                      <a:pos x="T96" y="T97"/>
                    </a:cxn>
                    <a:cxn ang="T155">
                      <a:pos x="T98" y="T99"/>
                    </a:cxn>
                    <a:cxn ang="T156">
                      <a:pos x="T100" y="T101"/>
                    </a:cxn>
                    <a:cxn ang="T157">
                      <a:pos x="T102" y="T103"/>
                    </a:cxn>
                    <a:cxn ang="T158">
                      <a:pos x="T104" y="T105"/>
                    </a:cxn>
                  </a:cxnLst>
                  <a:rect l="0" t="0" r="r" b="b"/>
                  <a:pathLst>
                    <a:path w="440" h="342">
                      <a:moveTo>
                        <a:pt x="138" y="87"/>
                      </a:moveTo>
                      <a:lnTo>
                        <a:pt x="141" y="78"/>
                      </a:lnTo>
                      <a:lnTo>
                        <a:pt x="146" y="69"/>
                      </a:lnTo>
                      <a:lnTo>
                        <a:pt x="153" y="59"/>
                      </a:lnTo>
                      <a:lnTo>
                        <a:pt x="160" y="51"/>
                      </a:lnTo>
                      <a:lnTo>
                        <a:pt x="167" y="42"/>
                      </a:lnTo>
                      <a:lnTo>
                        <a:pt x="172" y="36"/>
                      </a:lnTo>
                      <a:lnTo>
                        <a:pt x="178" y="31"/>
                      </a:lnTo>
                      <a:lnTo>
                        <a:pt x="184" y="26"/>
                      </a:lnTo>
                      <a:lnTo>
                        <a:pt x="190" y="21"/>
                      </a:lnTo>
                      <a:lnTo>
                        <a:pt x="196" y="17"/>
                      </a:lnTo>
                      <a:lnTo>
                        <a:pt x="202" y="14"/>
                      </a:lnTo>
                      <a:lnTo>
                        <a:pt x="208" y="11"/>
                      </a:lnTo>
                      <a:lnTo>
                        <a:pt x="215" y="8"/>
                      </a:lnTo>
                      <a:lnTo>
                        <a:pt x="222" y="7"/>
                      </a:lnTo>
                      <a:lnTo>
                        <a:pt x="230" y="5"/>
                      </a:lnTo>
                      <a:lnTo>
                        <a:pt x="237" y="3"/>
                      </a:lnTo>
                      <a:lnTo>
                        <a:pt x="245" y="3"/>
                      </a:lnTo>
                      <a:lnTo>
                        <a:pt x="252" y="2"/>
                      </a:lnTo>
                      <a:lnTo>
                        <a:pt x="260" y="2"/>
                      </a:lnTo>
                      <a:lnTo>
                        <a:pt x="270" y="1"/>
                      </a:lnTo>
                      <a:lnTo>
                        <a:pt x="278" y="2"/>
                      </a:lnTo>
                      <a:lnTo>
                        <a:pt x="285" y="2"/>
                      </a:lnTo>
                      <a:lnTo>
                        <a:pt x="292" y="2"/>
                      </a:lnTo>
                      <a:lnTo>
                        <a:pt x="299" y="2"/>
                      </a:lnTo>
                      <a:lnTo>
                        <a:pt x="307" y="1"/>
                      </a:lnTo>
                      <a:lnTo>
                        <a:pt x="314" y="0"/>
                      </a:lnTo>
                      <a:lnTo>
                        <a:pt x="310" y="2"/>
                      </a:lnTo>
                      <a:lnTo>
                        <a:pt x="307" y="4"/>
                      </a:lnTo>
                      <a:lnTo>
                        <a:pt x="304" y="7"/>
                      </a:lnTo>
                      <a:lnTo>
                        <a:pt x="301" y="10"/>
                      </a:lnTo>
                      <a:lnTo>
                        <a:pt x="295" y="10"/>
                      </a:lnTo>
                      <a:lnTo>
                        <a:pt x="288" y="11"/>
                      </a:lnTo>
                      <a:lnTo>
                        <a:pt x="284" y="12"/>
                      </a:lnTo>
                      <a:lnTo>
                        <a:pt x="278" y="13"/>
                      </a:lnTo>
                      <a:lnTo>
                        <a:pt x="272" y="15"/>
                      </a:lnTo>
                      <a:lnTo>
                        <a:pt x="266" y="16"/>
                      </a:lnTo>
                      <a:lnTo>
                        <a:pt x="260" y="17"/>
                      </a:lnTo>
                      <a:lnTo>
                        <a:pt x="254" y="19"/>
                      </a:lnTo>
                      <a:lnTo>
                        <a:pt x="248" y="21"/>
                      </a:lnTo>
                      <a:lnTo>
                        <a:pt x="241" y="23"/>
                      </a:lnTo>
                      <a:lnTo>
                        <a:pt x="236" y="26"/>
                      </a:lnTo>
                      <a:lnTo>
                        <a:pt x="229" y="29"/>
                      </a:lnTo>
                      <a:lnTo>
                        <a:pt x="222" y="32"/>
                      </a:lnTo>
                      <a:lnTo>
                        <a:pt x="215" y="36"/>
                      </a:lnTo>
                      <a:lnTo>
                        <a:pt x="208" y="41"/>
                      </a:lnTo>
                      <a:lnTo>
                        <a:pt x="201" y="47"/>
                      </a:lnTo>
                      <a:lnTo>
                        <a:pt x="195" y="55"/>
                      </a:lnTo>
                      <a:lnTo>
                        <a:pt x="189" y="64"/>
                      </a:lnTo>
                      <a:lnTo>
                        <a:pt x="181" y="77"/>
                      </a:lnTo>
                      <a:lnTo>
                        <a:pt x="175" y="90"/>
                      </a:lnTo>
                      <a:lnTo>
                        <a:pt x="167" y="106"/>
                      </a:lnTo>
                      <a:lnTo>
                        <a:pt x="180" y="99"/>
                      </a:lnTo>
                      <a:lnTo>
                        <a:pt x="191" y="94"/>
                      </a:lnTo>
                      <a:lnTo>
                        <a:pt x="206" y="86"/>
                      </a:lnTo>
                      <a:lnTo>
                        <a:pt x="222" y="78"/>
                      </a:lnTo>
                      <a:lnTo>
                        <a:pt x="229" y="77"/>
                      </a:lnTo>
                      <a:lnTo>
                        <a:pt x="236" y="74"/>
                      </a:lnTo>
                      <a:lnTo>
                        <a:pt x="243" y="72"/>
                      </a:lnTo>
                      <a:lnTo>
                        <a:pt x="252" y="70"/>
                      </a:lnTo>
                      <a:lnTo>
                        <a:pt x="261" y="68"/>
                      </a:lnTo>
                      <a:lnTo>
                        <a:pt x="269" y="68"/>
                      </a:lnTo>
                      <a:lnTo>
                        <a:pt x="275" y="67"/>
                      </a:lnTo>
                      <a:lnTo>
                        <a:pt x="285" y="66"/>
                      </a:lnTo>
                      <a:lnTo>
                        <a:pt x="294" y="66"/>
                      </a:lnTo>
                      <a:lnTo>
                        <a:pt x="301" y="67"/>
                      </a:lnTo>
                      <a:lnTo>
                        <a:pt x="311" y="68"/>
                      </a:lnTo>
                      <a:lnTo>
                        <a:pt x="319" y="69"/>
                      </a:lnTo>
                      <a:lnTo>
                        <a:pt x="328" y="69"/>
                      </a:lnTo>
                      <a:lnTo>
                        <a:pt x="336" y="70"/>
                      </a:lnTo>
                      <a:lnTo>
                        <a:pt x="345" y="71"/>
                      </a:lnTo>
                      <a:lnTo>
                        <a:pt x="354" y="72"/>
                      </a:lnTo>
                      <a:lnTo>
                        <a:pt x="363" y="73"/>
                      </a:lnTo>
                      <a:lnTo>
                        <a:pt x="371" y="74"/>
                      </a:lnTo>
                      <a:lnTo>
                        <a:pt x="381" y="75"/>
                      </a:lnTo>
                      <a:lnTo>
                        <a:pt x="392" y="76"/>
                      </a:lnTo>
                      <a:lnTo>
                        <a:pt x="401" y="77"/>
                      </a:lnTo>
                      <a:lnTo>
                        <a:pt x="416" y="79"/>
                      </a:lnTo>
                      <a:lnTo>
                        <a:pt x="421" y="79"/>
                      </a:lnTo>
                      <a:lnTo>
                        <a:pt x="425" y="79"/>
                      </a:lnTo>
                      <a:lnTo>
                        <a:pt x="430" y="81"/>
                      </a:lnTo>
                      <a:lnTo>
                        <a:pt x="439" y="84"/>
                      </a:lnTo>
                      <a:lnTo>
                        <a:pt x="424" y="81"/>
                      </a:lnTo>
                      <a:lnTo>
                        <a:pt x="417" y="80"/>
                      </a:lnTo>
                      <a:lnTo>
                        <a:pt x="411" y="80"/>
                      </a:lnTo>
                      <a:lnTo>
                        <a:pt x="397" y="81"/>
                      </a:lnTo>
                      <a:lnTo>
                        <a:pt x="388" y="82"/>
                      </a:lnTo>
                      <a:lnTo>
                        <a:pt x="377" y="82"/>
                      </a:lnTo>
                      <a:lnTo>
                        <a:pt x="367" y="82"/>
                      </a:lnTo>
                      <a:lnTo>
                        <a:pt x="357" y="83"/>
                      </a:lnTo>
                      <a:lnTo>
                        <a:pt x="348" y="83"/>
                      </a:lnTo>
                      <a:lnTo>
                        <a:pt x="340" y="82"/>
                      </a:lnTo>
                      <a:lnTo>
                        <a:pt x="330" y="82"/>
                      </a:lnTo>
                      <a:lnTo>
                        <a:pt x="319" y="82"/>
                      </a:lnTo>
                      <a:lnTo>
                        <a:pt x="310" y="83"/>
                      </a:lnTo>
                      <a:lnTo>
                        <a:pt x="302" y="84"/>
                      </a:lnTo>
                      <a:lnTo>
                        <a:pt x="292" y="84"/>
                      </a:lnTo>
                      <a:lnTo>
                        <a:pt x="285" y="84"/>
                      </a:lnTo>
                      <a:lnTo>
                        <a:pt x="276" y="85"/>
                      </a:lnTo>
                      <a:lnTo>
                        <a:pt x="269" y="87"/>
                      </a:lnTo>
                      <a:lnTo>
                        <a:pt x="261" y="88"/>
                      </a:lnTo>
                      <a:lnTo>
                        <a:pt x="254" y="90"/>
                      </a:lnTo>
                      <a:lnTo>
                        <a:pt x="246" y="92"/>
                      </a:lnTo>
                      <a:lnTo>
                        <a:pt x="238" y="94"/>
                      </a:lnTo>
                      <a:lnTo>
                        <a:pt x="229" y="96"/>
                      </a:lnTo>
                      <a:lnTo>
                        <a:pt x="222" y="98"/>
                      </a:lnTo>
                      <a:lnTo>
                        <a:pt x="208" y="102"/>
                      </a:lnTo>
                      <a:lnTo>
                        <a:pt x="200" y="103"/>
                      </a:lnTo>
                      <a:lnTo>
                        <a:pt x="189" y="108"/>
                      </a:lnTo>
                      <a:lnTo>
                        <a:pt x="172" y="115"/>
                      </a:lnTo>
                      <a:lnTo>
                        <a:pt x="189" y="117"/>
                      </a:lnTo>
                      <a:lnTo>
                        <a:pt x="209" y="118"/>
                      </a:lnTo>
                      <a:lnTo>
                        <a:pt x="213" y="118"/>
                      </a:lnTo>
                      <a:lnTo>
                        <a:pt x="222" y="123"/>
                      </a:lnTo>
                      <a:lnTo>
                        <a:pt x="228" y="126"/>
                      </a:lnTo>
                      <a:lnTo>
                        <a:pt x="234" y="129"/>
                      </a:lnTo>
                      <a:lnTo>
                        <a:pt x="235" y="131"/>
                      </a:lnTo>
                      <a:lnTo>
                        <a:pt x="238" y="137"/>
                      </a:lnTo>
                      <a:lnTo>
                        <a:pt x="245" y="146"/>
                      </a:lnTo>
                      <a:lnTo>
                        <a:pt x="238" y="142"/>
                      </a:lnTo>
                      <a:lnTo>
                        <a:pt x="229" y="137"/>
                      </a:lnTo>
                      <a:lnTo>
                        <a:pt x="222" y="135"/>
                      </a:lnTo>
                      <a:lnTo>
                        <a:pt x="209" y="132"/>
                      </a:lnTo>
                      <a:lnTo>
                        <a:pt x="199" y="129"/>
                      </a:lnTo>
                      <a:lnTo>
                        <a:pt x="189" y="126"/>
                      </a:lnTo>
                      <a:lnTo>
                        <a:pt x="184" y="125"/>
                      </a:lnTo>
                      <a:lnTo>
                        <a:pt x="172" y="126"/>
                      </a:lnTo>
                      <a:lnTo>
                        <a:pt x="165" y="127"/>
                      </a:lnTo>
                      <a:lnTo>
                        <a:pt x="155" y="129"/>
                      </a:lnTo>
                      <a:lnTo>
                        <a:pt x="160" y="131"/>
                      </a:lnTo>
                      <a:lnTo>
                        <a:pt x="166" y="132"/>
                      </a:lnTo>
                      <a:lnTo>
                        <a:pt x="173" y="136"/>
                      </a:lnTo>
                      <a:lnTo>
                        <a:pt x="181" y="135"/>
                      </a:lnTo>
                      <a:lnTo>
                        <a:pt x="195" y="136"/>
                      </a:lnTo>
                      <a:lnTo>
                        <a:pt x="203" y="137"/>
                      </a:lnTo>
                      <a:lnTo>
                        <a:pt x="215" y="140"/>
                      </a:lnTo>
                      <a:lnTo>
                        <a:pt x="222" y="143"/>
                      </a:lnTo>
                      <a:lnTo>
                        <a:pt x="232" y="145"/>
                      </a:lnTo>
                      <a:lnTo>
                        <a:pt x="242" y="148"/>
                      </a:lnTo>
                      <a:lnTo>
                        <a:pt x="251" y="151"/>
                      </a:lnTo>
                      <a:lnTo>
                        <a:pt x="259" y="152"/>
                      </a:lnTo>
                      <a:lnTo>
                        <a:pt x="266" y="153"/>
                      </a:lnTo>
                      <a:lnTo>
                        <a:pt x="273" y="155"/>
                      </a:lnTo>
                      <a:lnTo>
                        <a:pt x="282" y="157"/>
                      </a:lnTo>
                      <a:lnTo>
                        <a:pt x="291" y="161"/>
                      </a:lnTo>
                      <a:lnTo>
                        <a:pt x="299" y="165"/>
                      </a:lnTo>
                      <a:lnTo>
                        <a:pt x="303" y="169"/>
                      </a:lnTo>
                      <a:lnTo>
                        <a:pt x="309" y="175"/>
                      </a:lnTo>
                      <a:lnTo>
                        <a:pt x="316" y="183"/>
                      </a:lnTo>
                      <a:lnTo>
                        <a:pt x="321" y="190"/>
                      </a:lnTo>
                      <a:lnTo>
                        <a:pt x="326" y="197"/>
                      </a:lnTo>
                      <a:lnTo>
                        <a:pt x="331" y="204"/>
                      </a:lnTo>
                      <a:lnTo>
                        <a:pt x="335" y="212"/>
                      </a:lnTo>
                      <a:lnTo>
                        <a:pt x="340" y="218"/>
                      </a:lnTo>
                      <a:lnTo>
                        <a:pt x="345" y="226"/>
                      </a:lnTo>
                      <a:lnTo>
                        <a:pt x="351" y="234"/>
                      </a:lnTo>
                      <a:lnTo>
                        <a:pt x="356" y="243"/>
                      </a:lnTo>
                      <a:lnTo>
                        <a:pt x="361" y="250"/>
                      </a:lnTo>
                      <a:lnTo>
                        <a:pt x="368" y="258"/>
                      </a:lnTo>
                      <a:lnTo>
                        <a:pt x="359" y="251"/>
                      </a:lnTo>
                      <a:lnTo>
                        <a:pt x="353" y="247"/>
                      </a:lnTo>
                      <a:lnTo>
                        <a:pt x="344" y="242"/>
                      </a:lnTo>
                      <a:lnTo>
                        <a:pt x="336" y="236"/>
                      </a:lnTo>
                      <a:lnTo>
                        <a:pt x="330" y="231"/>
                      </a:lnTo>
                      <a:lnTo>
                        <a:pt x="323" y="226"/>
                      </a:lnTo>
                      <a:lnTo>
                        <a:pt x="317" y="222"/>
                      </a:lnTo>
                      <a:lnTo>
                        <a:pt x="311" y="218"/>
                      </a:lnTo>
                      <a:lnTo>
                        <a:pt x="304" y="214"/>
                      </a:lnTo>
                      <a:lnTo>
                        <a:pt x="297" y="210"/>
                      </a:lnTo>
                      <a:lnTo>
                        <a:pt x="291" y="205"/>
                      </a:lnTo>
                      <a:lnTo>
                        <a:pt x="284" y="200"/>
                      </a:lnTo>
                      <a:lnTo>
                        <a:pt x="275" y="195"/>
                      </a:lnTo>
                      <a:lnTo>
                        <a:pt x="267" y="189"/>
                      </a:lnTo>
                      <a:lnTo>
                        <a:pt x="259" y="183"/>
                      </a:lnTo>
                      <a:lnTo>
                        <a:pt x="252" y="179"/>
                      </a:lnTo>
                      <a:lnTo>
                        <a:pt x="245" y="174"/>
                      </a:lnTo>
                      <a:lnTo>
                        <a:pt x="237" y="170"/>
                      </a:lnTo>
                      <a:lnTo>
                        <a:pt x="229" y="167"/>
                      </a:lnTo>
                      <a:lnTo>
                        <a:pt x="222" y="165"/>
                      </a:lnTo>
                      <a:lnTo>
                        <a:pt x="211" y="162"/>
                      </a:lnTo>
                      <a:lnTo>
                        <a:pt x="201" y="159"/>
                      </a:lnTo>
                      <a:lnTo>
                        <a:pt x="194" y="157"/>
                      </a:lnTo>
                      <a:lnTo>
                        <a:pt x="186" y="155"/>
                      </a:lnTo>
                      <a:lnTo>
                        <a:pt x="175" y="149"/>
                      </a:lnTo>
                      <a:lnTo>
                        <a:pt x="163" y="144"/>
                      </a:lnTo>
                      <a:lnTo>
                        <a:pt x="180" y="155"/>
                      </a:lnTo>
                      <a:lnTo>
                        <a:pt x="182" y="157"/>
                      </a:lnTo>
                      <a:lnTo>
                        <a:pt x="186" y="162"/>
                      </a:lnTo>
                      <a:lnTo>
                        <a:pt x="190" y="168"/>
                      </a:lnTo>
                      <a:lnTo>
                        <a:pt x="195" y="175"/>
                      </a:lnTo>
                      <a:lnTo>
                        <a:pt x="201" y="182"/>
                      </a:lnTo>
                      <a:lnTo>
                        <a:pt x="206" y="189"/>
                      </a:lnTo>
                      <a:lnTo>
                        <a:pt x="212" y="197"/>
                      </a:lnTo>
                      <a:lnTo>
                        <a:pt x="217" y="204"/>
                      </a:lnTo>
                      <a:lnTo>
                        <a:pt x="222" y="210"/>
                      </a:lnTo>
                      <a:lnTo>
                        <a:pt x="227" y="217"/>
                      </a:lnTo>
                      <a:lnTo>
                        <a:pt x="233" y="227"/>
                      </a:lnTo>
                      <a:lnTo>
                        <a:pt x="238" y="234"/>
                      </a:lnTo>
                      <a:lnTo>
                        <a:pt x="242" y="241"/>
                      </a:lnTo>
                      <a:lnTo>
                        <a:pt x="246" y="248"/>
                      </a:lnTo>
                      <a:lnTo>
                        <a:pt x="250" y="255"/>
                      </a:lnTo>
                      <a:lnTo>
                        <a:pt x="252" y="262"/>
                      </a:lnTo>
                      <a:lnTo>
                        <a:pt x="254" y="267"/>
                      </a:lnTo>
                      <a:lnTo>
                        <a:pt x="256" y="275"/>
                      </a:lnTo>
                      <a:lnTo>
                        <a:pt x="257" y="285"/>
                      </a:lnTo>
                      <a:lnTo>
                        <a:pt x="258" y="294"/>
                      </a:lnTo>
                      <a:lnTo>
                        <a:pt x="259" y="304"/>
                      </a:lnTo>
                      <a:lnTo>
                        <a:pt x="261" y="313"/>
                      </a:lnTo>
                      <a:lnTo>
                        <a:pt x="262" y="323"/>
                      </a:lnTo>
                      <a:lnTo>
                        <a:pt x="255" y="313"/>
                      </a:lnTo>
                      <a:lnTo>
                        <a:pt x="249" y="307"/>
                      </a:lnTo>
                      <a:lnTo>
                        <a:pt x="245" y="300"/>
                      </a:lnTo>
                      <a:lnTo>
                        <a:pt x="241" y="295"/>
                      </a:lnTo>
                      <a:lnTo>
                        <a:pt x="238" y="288"/>
                      </a:lnTo>
                      <a:lnTo>
                        <a:pt x="236" y="280"/>
                      </a:lnTo>
                      <a:lnTo>
                        <a:pt x="232" y="271"/>
                      </a:lnTo>
                      <a:lnTo>
                        <a:pt x="228" y="263"/>
                      </a:lnTo>
                      <a:lnTo>
                        <a:pt x="224" y="254"/>
                      </a:lnTo>
                      <a:lnTo>
                        <a:pt x="221" y="246"/>
                      </a:lnTo>
                      <a:lnTo>
                        <a:pt x="217" y="238"/>
                      </a:lnTo>
                      <a:lnTo>
                        <a:pt x="212" y="232"/>
                      </a:lnTo>
                      <a:lnTo>
                        <a:pt x="208" y="226"/>
                      </a:lnTo>
                      <a:lnTo>
                        <a:pt x="202" y="218"/>
                      </a:lnTo>
                      <a:lnTo>
                        <a:pt x="196" y="211"/>
                      </a:lnTo>
                      <a:lnTo>
                        <a:pt x="191" y="205"/>
                      </a:lnTo>
                      <a:lnTo>
                        <a:pt x="186" y="199"/>
                      </a:lnTo>
                      <a:lnTo>
                        <a:pt x="185" y="194"/>
                      </a:lnTo>
                      <a:lnTo>
                        <a:pt x="181" y="185"/>
                      </a:lnTo>
                      <a:lnTo>
                        <a:pt x="177" y="179"/>
                      </a:lnTo>
                      <a:lnTo>
                        <a:pt x="174" y="171"/>
                      </a:lnTo>
                      <a:lnTo>
                        <a:pt x="172" y="169"/>
                      </a:lnTo>
                      <a:lnTo>
                        <a:pt x="165" y="162"/>
                      </a:lnTo>
                      <a:lnTo>
                        <a:pt x="161" y="155"/>
                      </a:lnTo>
                      <a:lnTo>
                        <a:pt x="157" y="149"/>
                      </a:lnTo>
                      <a:lnTo>
                        <a:pt x="153" y="143"/>
                      </a:lnTo>
                      <a:lnTo>
                        <a:pt x="145" y="146"/>
                      </a:lnTo>
                      <a:lnTo>
                        <a:pt x="137" y="151"/>
                      </a:lnTo>
                      <a:lnTo>
                        <a:pt x="129" y="158"/>
                      </a:lnTo>
                      <a:lnTo>
                        <a:pt x="121" y="164"/>
                      </a:lnTo>
                      <a:lnTo>
                        <a:pt x="115" y="170"/>
                      </a:lnTo>
                      <a:lnTo>
                        <a:pt x="110" y="176"/>
                      </a:lnTo>
                      <a:lnTo>
                        <a:pt x="104" y="185"/>
                      </a:lnTo>
                      <a:lnTo>
                        <a:pt x="97" y="195"/>
                      </a:lnTo>
                      <a:lnTo>
                        <a:pt x="92" y="203"/>
                      </a:lnTo>
                      <a:lnTo>
                        <a:pt x="85" y="212"/>
                      </a:lnTo>
                      <a:lnTo>
                        <a:pt x="80" y="221"/>
                      </a:lnTo>
                      <a:lnTo>
                        <a:pt x="76" y="229"/>
                      </a:lnTo>
                      <a:lnTo>
                        <a:pt x="71" y="237"/>
                      </a:lnTo>
                      <a:lnTo>
                        <a:pt x="67" y="245"/>
                      </a:lnTo>
                      <a:lnTo>
                        <a:pt x="62" y="254"/>
                      </a:lnTo>
                      <a:lnTo>
                        <a:pt x="58" y="263"/>
                      </a:lnTo>
                      <a:lnTo>
                        <a:pt x="51" y="273"/>
                      </a:lnTo>
                      <a:lnTo>
                        <a:pt x="45" y="283"/>
                      </a:lnTo>
                      <a:lnTo>
                        <a:pt x="38" y="294"/>
                      </a:lnTo>
                      <a:lnTo>
                        <a:pt x="33" y="303"/>
                      </a:lnTo>
                      <a:lnTo>
                        <a:pt x="28" y="309"/>
                      </a:lnTo>
                      <a:lnTo>
                        <a:pt x="24" y="315"/>
                      </a:lnTo>
                      <a:lnTo>
                        <a:pt x="18" y="321"/>
                      </a:lnTo>
                      <a:lnTo>
                        <a:pt x="13" y="327"/>
                      </a:lnTo>
                      <a:lnTo>
                        <a:pt x="7" y="333"/>
                      </a:lnTo>
                      <a:lnTo>
                        <a:pt x="0" y="341"/>
                      </a:lnTo>
                      <a:lnTo>
                        <a:pt x="2" y="331"/>
                      </a:lnTo>
                      <a:lnTo>
                        <a:pt x="5" y="324"/>
                      </a:lnTo>
                      <a:lnTo>
                        <a:pt x="8" y="315"/>
                      </a:lnTo>
                      <a:lnTo>
                        <a:pt x="13" y="309"/>
                      </a:lnTo>
                      <a:lnTo>
                        <a:pt x="20" y="298"/>
                      </a:lnTo>
                      <a:lnTo>
                        <a:pt x="27" y="287"/>
                      </a:lnTo>
                      <a:lnTo>
                        <a:pt x="35" y="275"/>
                      </a:lnTo>
                      <a:lnTo>
                        <a:pt x="41" y="265"/>
                      </a:lnTo>
                      <a:lnTo>
                        <a:pt x="47" y="255"/>
                      </a:lnTo>
                      <a:lnTo>
                        <a:pt x="54" y="246"/>
                      </a:lnTo>
                      <a:lnTo>
                        <a:pt x="59" y="238"/>
                      </a:lnTo>
                      <a:lnTo>
                        <a:pt x="64" y="231"/>
                      </a:lnTo>
                      <a:lnTo>
                        <a:pt x="69" y="224"/>
                      </a:lnTo>
                      <a:lnTo>
                        <a:pt x="76" y="216"/>
                      </a:lnTo>
                      <a:lnTo>
                        <a:pt x="82" y="208"/>
                      </a:lnTo>
                      <a:lnTo>
                        <a:pt x="88" y="199"/>
                      </a:lnTo>
                      <a:lnTo>
                        <a:pt x="95" y="190"/>
                      </a:lnTo>
                      <a:lnTo>
                        <a:pt x="100" y="183"/>
                      </a:lnTo>
                      <a:lnTo>
                        <a:pt x="105" y="175"/>
                      </a:lnTo>
                      <a:lnTo>
                        <a:pt x="110" y="167"/>
                      </a:lnTo>
                      <a:lnTo>
                        <a:pt x="112" y="162"/>
                      </a:lnTo>
                      <a:lnTo>
                        <a:pt x="114" y="156"/>
                      </a:lnTo>
                      <a:lnTo>
                        <a:pt x="118" y="151"/>
                      </a:lnTo>
                      <a:lnTo>
                        <a:pt x="122" y="145"/>
                      </a:lnTo>
                      <a:lnTo>
                        <a:pt x="129" y="138"/>
                      </a:lnTo>
                      <a:lnTo>
                        <a:pt x="134" y="131"/>
                      </a:lnTo>
                      <a:lnTo>
                        <a:pt x="139" y="126"/>
                      </a:lnTo>
                      <a:lnTo>
                        <a:pt x="143" y="119"/>
                      </a:lnTo>
                      <a:lnTo>
                        <a:pt x="141" y="114"/>
                      </a:lnTo>
                      <a:lnTo>
                        <a:pt x="139" y="106"/>
                      </a:lnTo>
                      <a:lnTo>
                        <a:pt x="127" y="102"/>
                      </a:lnTo>
                      <a:lnTo>
                        <a:pt x="113" y="92"/>
                      </a:lnTo>
                      <a:lnTo>
                        <a:pt x="99" y="83"/>
                      </a:lnTo>
                      <a:lnTo>
                        <a:pt x="92" y="78"/>
                      </a:lnTo>
                      <a:lnTo>
                        <a:pt x="86" y="74"/>
                      </a:lnTo>
                      <a:lnTo>
                        <a:pt x="75" y="70"/>
                      </a:lnTo>
                      <a:lnTo>
                        <a:pt x="64" y="66"/>
                      </a:lnTo>
                      <a:lnTo>
                        <a:pt x="52" y="63"/>
                      </a:lnTo>
                      <a:lnTo>
                        <a:pt x="43" y="60"/>
                      </a:lnTo>
                      <a:lnTo>
                        <a:pt x="33" y="56"/>
                      </a:lnTo>
                      <a:lnTo>
                        <a:pt x="24" y="53"/>
                      </a:lnTo>
                      <a:lnTo>
                        <a:pt x="15" y="51"/>
                      </a:lnTo>
                      <a:lnTo>
                        <a:pt x="8" y="49"/>
                      </a:lnTo>
                      <a:lnTo>
                        <a:pt x="15" y="49"/>
                      </a:lnTo>
                      <a:lnTo>
                        <a:pt x="20" y="47"/>
                      </a:lnTo>
                      <a:lnTo>
                        <a:pt x="25" y="47"/>
                      </a:lnTo>
                      <a:lnTo>
                        <a:pt x="29" y="46"/>
                      </a:lnTo>
                      <a:lnTo>
                        <a:pt x="34" y="47"/>
                      </a:lnTo>
                      <a:lnTo>
                        <a:pt x="45" y="51"/>
                      </a:lnTo>
                      <a:lnTo>
                        <a:pt x="53" y="56"/>
                      </a:lnTo>
                      <a:lnTo>
                        <a:pt x="63" y="61"/>
                      </a:lnTo>
                      <a:lnTo>
                        <a:pt x="72" y="66"/>
                      </a:lnTo>
                      <a:lnTo>
                        <a:pt x="84" y="71"/>
                      </a:lnTo>
                      <a:lnTo>
                        <a:pt x="93" y="77"/>
                      </a:lnTo>
                      <a:lnTo>
                        <a:pt x="101" y="81"/>
                      </a:lnTo>
                      <a:lnTo>
                        <a:pt x="115" y="88"/>
                      </a:lnTo>
                      <a:lnTo>
                        <a:pt x="122" y="90"/>
                      </a:lnTo>
                      <a:lnTo>
                        <a:pt x="128" y="89"/>
                      </a:lnTo>
                      <a:lnTo>
                        <a:pt x="133" y="88"/>
                      </a:lnTo>
                      <a:lnTo>
                        <a:pt x="138" y="87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 w="9525" cap="rnd">
                  <a:noFill/>
                  <a:round/>
                </a:ln>
                <a:effectLst/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77" name="Freeform 14"/>
                <p:cNvSpPr/>
                <p:nvPr/>
              </p:nvSpPr>
              <p:spPr bwMode="ltGray">
                <a:xfrm>
                  <a:off x="1900" y="1641"/>
                  <a:ext cx="39" cy="193"/>
                </a:xfrm>
                <a:custGeom>
                  <a:avLst/>
                  <a:gdLst>
                    <a:gd name="T0" fmla="*/ 20 w 39"/>
                    <a:gd name="T1" fmla="*/ 0 h 193"/>
                    <a:gd name="T2" fmla="*/ 25 w 39"/>
                    <a:gd name="T3" fmla="*/ 9 h 193"/>
                    <a:gd name="T4" fmla="*/ 28 w 39"/>
                    <a:gd name="T5" fmla="*/ 15 h 193"/>
                    <a:gd name="T6" fmla="*/ 34 w 39"/>
                    <a:gd name="T7" fmla="*/ 24 h 193"/>
                    <a:gd name="T8" fmla="*/ 36 w 39"/>
                    <a:gd name="T9" fmla="*/ 33 h 193"/>
                    <a:gd name="T10" fmla="*/ 37 w 39"/>
                    <a:gd name="T11" fmla="*/ 43 h 193"/>
                    <a:gd name="T12" fmla="*/ 37 w 39"/>
                    <a:gd name="T13" fmla="*/ 56 h 193"/>
                    <a:gd name="T14" fmla="*/ 38 w 39"/>
                    <a:gd name="T15" fmla="*/ 64 h 193"/>
                    <a:gd name="T16" fmla="*/ 37 w 39"/>
                    <a:gd name="T17" fmla="*/ 75 h 193"/>
                    <a:gd name="T18" fmla="*/ 36 w 39"/>
                    <a:gd name="T19" fmla="*/ 86 h 193"/>
                    <a:gd name="T20" fmla="*/ 34 w 39"/>
                    <a:gd name="T21" fmla="*/ 97 h 193"/>
                    <a:gd name="T22" fmla="*/ 31 w 39"/>
                    <a:gd name="T23" fmla="*/ 113 h 193"/>
                    <a:gd name="T24" fmla="*/ 29 w 39"/>
                    <a:gd name="T25" fmla="*/ 122 h 193"/>
                    <a:gd name="T26" fmla="*/ 24 w 39"/>
                    <a:gd name="T27" fmla="*/ 132 h 193"/>
                    <a:gd name="T28" fmla="*/ 18 w 39"/>
                    <a:gd name="T29" fmla="*/ 144 h 193"/>
                    <a:gd name="T30" fmla="*/ 12 w 39"/>
                    <a:gd name="T31" fmla="*/ 155 h 193"/>
                    <a:gd name="T32" fmla="*/ 7 w 39"/>
                    <a:gd name="T33" fmla="*/ 165 h 193"/>
                    <a:gd name="T34" fmla="*/ 3 w 39"/>
                    <a:gd name="T35" fmla="*/ 174 h 193"/>
                    <a:gd name="T36" fmla="*/ 0 w 39"/>
                    <a:gd name="T37" fmla="*/ 192 h 193"/>
                    <a:gd name="T38" fmla="*/ 1 w 39"/>
                    <a:gd name="T39" fmla="*/ 174 h 193"/>
                    <a:gd name="T40" fmla="*/ 3 w 39"/>
                    <a:gd name="T41" fmla="*/ 162 h 193"/>
                    <a:gd name="T42" fmla="*/ 4 w 39"/>
                    <a:gd name="T43" fmla="*/ 151 h 193"/>
                    <a:gd name="T44" fmla="*/ 5 w 39"/>
                    <a:gd name="T45" fmla="*/ 139 h 193"/>
                    <a:gd name="T46" fmla="*/ 7 w 39"/>
                    <a:gd name="T47" fmla="*/ 124 h 193"/>
                    <a:gd name="T48" fmla="*/ 10 w 39"/>
                    <a:gd name="T49" fmla="*/ 113 h 193"/>
                    <a:gd name="T50" fmla="*/ 12 w 39"/>
                    <a:gd name="T51" fmla="*/ 102 h 193"/>
                    <a:gd name="T52" fmla="*/ 15 w 39"/>
                    <a:gd name="T53" fmla="*/ 93 h 193"/>
                    <a:gd name="T54" fmla="*/ 18 w 39"/>
                    <a:gd name="T55" fmla="*/ 82 h 193"/>
                    <a:gd name="T56" fmla="*/ 20 w 39"/>
                    <a:gd name="T57" fmla="*/ 72 h 193"/>
                    <a:gd name="T58" fmla="*/ 22 w 39"/>
                    <a:gd name="T59" fmla="*/ 61 h 193"/>
                    <a:gd name="T60" fmla="*/ 23 w 39"/>
                    <a:gd name="T61" fmla="*/ 52 h 193"/>
                    <a:gd name="T62" fmla="*/ 24 w 39"/>
                    <a:gd name="T63" fmla="*/ 41 h 193"/>
                    <a:gd name="T64" fmla="*/ 24 w 39"/>
                    <a:gd name="T65" fmla="*/ 30 h 193"/>
                    <a:gd name="T66" fmla="*/ 24 w 39"/>
                    <a:gd name="T67" fmla="*/ 15 h 193"/>
                    <a:gd name="T68" fmla="*/ 22 w 39"/>
                    <a:gd name="T69" fmla="*/ 8 h 193"/>
                    <a:gd name="T70" fmla="*/ 20 w 39"/>
                    <a:gd name="T71" fmla="*/ 0 h 193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</a:gdLst>
                  <a:ahLst/>
                  <a:cxnLst>
                    <a:cxn ang="T72">
                      <a:pos x="T0" y="T1"/>
                    </a:cxn>
                    <a:cxn ang="T73">
                      <a:pos x="T2" y="T3"/>
                    </a:cxn>
                    <a:cxn ang="T74">
                      <a:pos x="T4" y="T5"/>
                    </a:cxn>
                    <a:cxn ang="T75">
                      <a:pos x="T6" y="T7"/>
                    </a:cxn>
                    <a:cxn ang="T76">
                      <a:pos x="T8" y="T9"/>
                    </a:cxn>
                    <a:cxn ang="T77">
                      <a:pos x="T10" y="T11"/>
                    </a:cxn>
                    <a:cxn ang="T78">
                      <a:pos x="T12" y="T13"/>
                    </a:cxn>
                    <a:cxn ang="T79">
                      <a:pos x="T14" y="T15"/>
                    </a:cxn>
                    <a:cxn ang="T80">
                      <a:pos x="T16" y="T17"/>
                    </a:cxn>
                    <a:cxn ang="T81">
                      <a:pos x="T18" y="T19"/>
                    </a:cxn>
                    <a:cxn ang="T82">
                      <a:pos x="T20" y="T21"/>
                    </a:cxn>
                    <a:cxn ang="T83">
                      <a:pos x="T22" y="T23"/>
                    </a:cxn>
                    <a:cxn ang="T84">
                      <a:pos x="T24" y="T25"/>
                    </a:cxn>
                    <a:cxn ang="T85">
                      <a:pos x="T26" y="T27"/>
                    </a:cxn>
                    <a:cxn ang="T86">
                      <a:pos x="T28" y="T29"/>
                    </a:cxn>
                    <a:cxn ang="T87">
                      <a:pos x="T30" y="T31"/>
                    </a:cxn>
                    <a:cxn ang="T88">
                      <a:pos x="T32" y="T33"/>
                    </a:cxn>
                    <a:cxn ang="T89">
                      <a:pos x="T34" y="T35"/>
                    </a:cxn>
                    <a:cxn ang="T90">
                      <a:pos x="T36" y="T37"/>
                    </a:cxn>
                    <a:cxn ang="T91">
                      <a:pos x="T38" y="T39"/>
                    </a:cxn>
                    <a:cxn ang="T92">
                      <a:pos x="T40" y="T41"/>
                    </a:cxn>
                    <a:cxn ang="T93">
                      <a:pos x="T42" y="T43"/>
                    </a:cxn>
                    <a:cxn ang="T94">
                      <a:pos x="T44" y="T45"/>
                    </a:cxn>
                    <a:cxn ang="T95">
                      <a:pos x="T46" y="T47"/>
                    </a:cxn>
                    <a:cxn ang="T96">
                      <a:pos x="T48" y="T49"/>
                    </a:cxn>
                    <a:cxn ang="T97">
                      <a:pos x="T50" y="T51"/>
                    </a:cxn>
                    <a:cxn ang="T98">
                      <a:pos x="T52" y="T53"/>
                    </a:cxn>
                    <a:cxn ang="T99">
                      <a:pos x="T54" y="T55"/>
                    </a:cxn>
                    <a:cxn ang="T100">
                      <a:pos x="T56" y="T57"/>
                    </a:cxn>
                    <a:cxn ang="T101">
                      <a:pos x="T58" y="T59"/>
                    </a:cxn>
                    <a:cxn ang="T102">
                      <a:pos x="T60" y="T61"/>
                    </a:cxn>
                    <a:cxn ang="T103">
                      <a:pos x="T62" y="T63"/>
                    </a:cxn>
                    <a:cxn ang="T104">
                      <a:pos x="T64" y="T65"/>
                    </a:cxn>
                    <a:cxn ang="T105">
                      <a:pos x="T66" y="T67"/>
                    </a:cxn>
                    <a:cxn ang="T106">
                      <a:pos x="T68" y="T69"/>
                    </a:cxn>
                    <a:cxn ang="T107">
                      <a:pos x="T70" y="T71"/>
                    </a:cxn>
                  </a:cxnLst>
                  <a:rect l="0" t="0" r="r" b="b"/>
                  <a:pathLst>
                    <a:path w="39" h="193">
                      <a:moveTo>
                        <a:pt x="20" y="0"/>
                      </a:moveTo>
                      <a:lnTo>
                        <a:pt x="25" y="9"/>
                      </a:lnTo>
                      <a:lnTo>
                        <a:pt x="28" y="15"/>
                      </a:lnTo>
                      <a:lnTo>
                        <a:pt x="34" y="24"/>
                      </a:lnTo>
                      <a:lnTo>
                        <a:pt x="36" y="33"/>
                      </a:lnTo>
                      <a:lnTo>
                        <a:pt x="37" y="43"/>
                      </a:lnTo>
                      <a:lnTo>
                        <a:pt x="37" y="56"/>
                      </a:lnTo>
                      <a:lnTo>
                        <a:pt x="38" y="64"/>
                      </a:lnTo>
                      <a:lnTo>
                        <a:pt x="37" y="75"/>
                      </a:lnTo>
                      <a:lnTo>
                        <a:pt x="36" y="86"/>
                      </a:lnTo>
                      <a:lnTo>
                        <a:pt x="34" y="97"/>
                      </a:lnTo>
                      <a:lnTo>
                        <a:pt x="31" y="113"/>
                      </a:lnTo>
                      <a:lnTo>
                        <a:pt x="29" y="122"/>
                      </a:lnTo>
                      <a:lnTo>
                        <a:pt x="24" y="132"/>
                      </a:lnTo>
                      <a:lnTo>
                        <a:pt x="18" y="144"/>
                      </a:lnTo>
                      <a:lnTo>
                        <a:pt x="12" y="155"/>
                      </a:lnTo>
                      <a:lnTo>
                        <a:pt x="7" y="165"/>
                      </a:lnTo>
                      <a:lnTo>
                        <a:pt x="3" y="174"/>
                      </a:lnTo>
                      <a:lnTo>
                        <a:pt x="0" y="192"/>
                      </a:lnTo>
                      <a:lnTo>
                        <a:pt x="1" y="174"/>
                      </a:lnTo>
                      <a:lnTo>
                        <a:pt x="3" y="162"/>
                      </a:lnTo>
                      <a:lnTo>
                        <a:pt x="4" y="151"/>
                      </a:lnTo>
                      <a:lnTo>
                        <a:pt x="5" y="139"/>
                      </a:lnTo>
                      <a:lnTo>
                        <a:pt x="7" y="124"/>
                      </a:lnTo>
                      <a:lnTo>
                        <a:pt x="10" y="113"/>
                      </a:lnTo>
                      <a:lnTo>
                        <a:pt x="12" y="102"/>
                      </a:lnTo>
                      <a:lnTo>
                        <a:pt x="15" y="93"/>
                      </a:lnTo>
                      <a:lnTo>
                        <a:pt x="18" y="82"/>
                      </a:lnTo>
                      <a:lnTo>
                        <a:pt x="20" y="72"/>
                      </a:lnTo>
                      <a:lnTo>
                        <a:pt x="22" y="61"/>
                      </a:lnTo>
                      <a:lnTo>
                        <a:pt x="23" y="52"/>
                      </a:lnTo>
                      <a:lnTo>
                        <a:pt x="24" y="41"/>
                      </a:lnTo>
                      <a:lnTo>
                        <a:pt x="24" y="30"/>
                      </a:lnTo>
                      <a:lnTo>
                        <a:pt x="24" y="15"/>
                      </a:lnTo>
                      <a:lnTo>
                        <a:pt x="22" y="8"/>
                      </a:lnTo>
                      <a:lnTo>
                        <a:pt x="20" y="0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 w="9525" cap="rnd">
                  <a:noFill/>
                  <a:round/>
                </a:ln>
                <a:effectLst/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78" name="Freeform 15"/>
                <p:cNvSpPr/>
                <p:nvPr/>
              </p:nvSpPr>
              <p:spPr bwMode="ltGray">
                <a:xfrm>
                  <a:off x="1716" y="1535"/>
                  <a:ext cx="171" cy="50"/>
                </a:xfrm>
                <a:custGeom>
                  <a:avLst/>
                  <a:gdLst>
                    <a:gd name="T0" fmla="*/ 170 w 171"/>
                    <a:gd name="T1" fmla="*/ 49 h 50"/>
                    <a:gd name="T2" fmla="*/ 167 w 171"/>
                    <a:gd name="T3" fmla="*/ 40 h 50"/>
                    <a:gd name="T4" fmla="*/ 163 w 171"/>
                    <a:gd name="T5" fmla="*/ 33 h 50"/>
                    <a:gd name="T6" fmla="*/ 160 w 171"/>
                    <a:gd name="T7" fmla="*/ 31 h 50"/>
                    <a:gd name="T8" fmla="*/ 153 w 171"/>
                    <a:gd name="T9" fmla="*/ 29 h 50"/>
                    <a:gd name="T10" fmla="*/ 147 w 171"/>
                    <a:gd name="T11" fmla="*/ 27 h 50"/>
                    <a:gd name="T12" fmla="*/ 140 w 171"/>
                    <a:gd name="T13" fmla="*/ 29 h 50"/>
                    <a:gd name="T14" fmla="*/ 132 w 171"/>
                    <a:gd name="T15" fmla="*/ 30 h 50"/>
                    <a:gd name="T16" fmla="*/ 123 w 171"/>
                    <a:gd name="T17" fmla="*/ 27 h 50"/>
                    <a:gd name="T18" fmla="*/ 111 w 171"/>
                    <a:gd name="T19" fmla="*/ 22 h 50"/>
                    <a:gd name="T20" fmla="*/ 100 w 171"/>
                    <a:gd name="T21" fmla="*/ 18 h 50"/>
                    <a:gd name="T22" fmla="*/ 92 w 171"/>
                    <a:gd name="T23" fmla="*/ 16 h 50"/>
                    <a:gd name="T24" fmla="*/ 80 w 171"/>
                    <a:gd name="T25" fmla="*/ 12 h 50"/>
                    <a:gd name="T26" fmla="*/ 67 w 171"/>
                    <a:gd name="T27" fmla="*/ 8 h 50"/>
                    <a:gd name="T28" fmla="*/ 55 w 171"/>
                    <a:gd name="T29" fmla="*/ 5 h 50"/>
                    <a:gd name="T30" fmla="*/ 42 w 171"/>
                    <a:gd name="T31" fmla="*/ 1 h 50"/>
                    <a:gd name="T32" fmla="*/ 28 w 171"/>
                    <a:gd name="T33" fmla="*/ 1 h 50"/>
                    <a:gd name="T34" fmla="*/ 15 w 171"/>
                    <a:gd name="T35" fmla="*/ 0 h 50"/>
                    <a:gd name="T36" fmla="*/ 12 w 171"/>
                    <a:gd name="T37" fmla="*/ 1 h 50"/>
                    <a:gd name="T38" fmla="*/ 7 w 171"/>
                    <a:gd name="T39" fmla="*/ 4 h 50"/>
                    <a:gd name="T40" fmla="*/ 3 w 171"/>
                    <a:gd name="T41" fmla="*/ 7 h 50"/>
                    <a:gd name="T42" fmla="*/ 0 w 171"/>
                    <a:gd name="T43" fmla="*/ 11 h 50"/>
                    <a:gd name="T44" fmla="*/ 5 w 171"/>
                    <a:gd name="T45" fmla="*/ 11 h 50"/>
                    <a:gd name="T46" fmla="*/ 12 w 171"/>
                    <a:gd name="T47" fmla="*/ 12 h 50"/>
                    <a:gd name="T48" fmla="*/ 19 w 171"/>
                    <a:gd name="T49" fmla="*/ 12 h 50"/>
                    <a:gd name="T50" fmla="*/ 23 w 171"/>
                    <a:gd name="T51" fmla="*/ 11 h 50"/>
                    <a:gd name="T52" fmla="*/ 30 w 171"/>
                    <a:gd name="T53" fmla="*/ 11 h 50"/>
                    <a:gd name="T54" fmla="*/ 39 w 171"/>
                    <a:gd name="T55" fmla="*/ 11 h 50"/>
                    <a:gd name="T56" fmla="*/ 51 w 171"/>
                    <a:gd name="T57" fmla="*/ 11 h 50"/>
                    <a:gd name="T58" fmla="*/ 61 w 171"/>
                    <a:gd name="T59" fmla="*/ 12 h 50"/>
                    <a:gd name="T60" fmla="*/ 71 w 171"/>
                    <a:gd name="T61" fmla="*/ 14 h 50"/>
                    <a:gd name="T62" fmla="*/ 81 w 171"/>
                    <a:gd name="T63" fmla="*/ 15 h 50"/>
                    <a:gd name="T64" fmla="*/ 91 w 171"/>
                    <a:gd name="T65" fmla="*/ 16 h 50"/>
                    <a:gd name="T66" fmla="*/ 99 w 171"/>
                    <a:gd name="T67" fmla="*/ 19 h 50"/>
                    <a:gd name="T68" fmla="*/ 108 w 171"/>
                    <a:gd name="T69" fmla="*/ 23 h 50"/>
                    <a:gd name="T70" fmla="*/ 116 w 171"/>
                    <a:gd name="T71" fmla="*/ 27 h 50"/>
                    <a:gd name="T72" fmla="*/ 125 w 171"/>
                    <a:gd name="T73" fmla="*/ 31 h 50"/>
                    <a:gd name="T74" fmla="*/ 129 w 171"/>
                    <a:gd name="T75" fmla="*/ 32 h 50"/>
                    <a:gd name="T76" fmla="*/ 134 w 171"/>
                    <a:gd name="T77" fmla="*/ 31 h 50"/>
                    <a:gd name="T78" fmla="*/ 140 w 171"/>
                    <a:gd name="T79" fmla="*/ 34 h 50"/>
                    <a:gd name="T80" fmla="*/ 146 w 171"/>
                    <a:gd name="T81" fmla="*/ 37 h 50"/>
                    <a:gd name="T82" fmla="*/ 152 w 171"/>
                    <a:gd name="T83" fmla="*/ 40 h 50"/>
                    <a:gd name="T84" fmla="*/ 161 w 171"/>
                    <a:gd name="T85" fmla="*/ 44 h 50"/>
                    <a:gd name="T86" fmla="*/ 167 w 171"/>
                    <a:gd name="T87" fmla="*/ 46 h 50"/>
                    <a:gd name="T88" fmla="*/ 170 w 171"/>
                    <a:gd name="T89" fmla="*/ 49 h 50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</a:gdLst>
                  <a:ahLst/>
                  <a:cxnLst>
                    <a:cxn ang="T90">
                      <a:pos x="T0" y="T1"/>
                    </a:cxn>
                    <a:cxn ang="T91">
                      <a:pos x="T2" y="T3"/>
                    </a:cxn>
                    <a:cxn ang="T92">
                      <a:pos x="T4" y="T5"/>
                    </a:cxn>
                    <a:cxn ang="T93">
                      <a:pos x="T6" y="T7"/>
                    </a:cxn>
                    <a:cxn ang="T94">
                      <a:pos x="T8" y="T9"/>
                    </a:cxn>
                    <a:cxn ang="T95">
                      <a:pos x="T10" y="T11"/>
                    </a:cxn>
                    <a:cxn ang="T96">
                      <a:pos x="T12" y="T13"/>
                    </a:cxn>
                    <a:cxn ang="T97">
                      <a:pos x="T14" y="T15"/>
                    </a:cxn>
                    <a:cxn ang="T98">
                      <a:pos x="T16" y="T17"/>
                    </a:cxn>
                    <a:cxn ang="T99">
                      <a:pos x="T18" y="T19"/>
                    </a:cxn>
                    <a:cxn ang="T100">
                      <a:pos x="T20" y="T21"/>
                    </a:cxn>
                    <a:cxn ang="T101">
                      <a:pos x="T22" y="T23"/>
                    </a:cxn>
                    <a:cxn ang="T102">
                      <a:pos x="T24" y="T25"/>
                    </a:cxn>
                    <a:cxn ang="T103">
                      <a:pos x="T26" y="T27"/>
                    </a:cxn>
                    <a:cxn ang="T104">
                      <a:pos x="T28" y="T29"/>
                    </a:cxn>
                    <a:cxn ang="T105">
                      <a:pos x="T30" y="T31"/>
                    </a:cxn>
                    <a:cxn ang="T106">
                      <a:pos x="T32" y="T33"/>
                    </a:cxn>
                    <a:cxn ang="T107">
                      <a:pos x="T34" y="T35"/>
                    </a:cxn>
                    <a:cxn ang="T108">
                      <a:pos x="T36" y="T37"/>
                    </a:cxn>
                    <a:cxn ang="T109">
                      <a:pos x="T38" y="T39"/>
                    </a:cxn>
                    <a:cxn ang="T110">
                      <a:pos x="T40" y="T41"/>
                    </a:cxn>
                    <a:cxn ang="T111">
                      <a:pos x="T42" y="T43"/>
                    </a:cxn>
                    <a:cxn ang="T112">
                      <a:pos x="T44" y="T45"/>
                    </a:cxn>
                    <a:cxn ang="T113">
                      <a:pos x="T46" y="T47"/>
                    </a:cxn>
                    <a:cxn ang="T114">
                      <a:pos x="T48" y="T49"/>
                    </a:cxn>
                    <a:cxn ang="T115">
                      <a:pos x="T50" y="T51"/>
                    </a:cxn>
                    <a:cxn ang="T116">
                      <a:pos x="T52" y="T53"/>
                    </a:cxn>
                    <a:cxn ang="T117">
                      <a:pos x="T54" y="T55"/>
                    </a:cxn>
                    <a:cxn ang="T118">
                      <a:pos x="T56" y="T57"/>
                    </a:cxn>
                    <a:cxn ang="T119">
                      <a:pos x="T58" y="T59"/>
                    </a:cxn>
                    <a:cxn ang="T120">
                      <a:pos x="T60" y="T61"/>
                    </a:cxn>
                    <a:cxn ang="T121">
                      <a:pos x="T62" y="T63"/>
                    </a:cxn>
                    <a:cxn ang="T122">
                      <a:pos x="T64" y="T65"/>
                    </a:cxn>
                    <a:cxn ang="T123">
                      <a:pos x="T66" y="T67"/>
                    </a:cxn>
                    <a:cxn ang="T124">
                      <a:pos x="T68" y="T69"/>
                    </a:cxn>
                    <a:cxn ang="T125">
                      <a:pos x="T70" y="T71"/>
                    </a:cxn>
                    <a:cxn ang="T126">
                      <a:pos x="T72" y="T73"/>
                    </a:cxn>
                    <a:cxn ang="T127">
                      <a:pos x="T74" y="T75"/>
                    </a:cxn>
                    <a:cxn ang="T128">
                      <a:pos x="T76" y="T77"/>
                    </a:cxn>
                    <a:cxn ang="T129">
                      <a:pos x="T78" y="T79"/>
                    </a:cxn>
                    <a:cxn ang="T130">
                      <a:pos x="T80" y="T81"/>
                    </a:cxn>
                    <a:cxn ang="T131">
                      <a:pos x="T82" y="T83"/>
                    </a:cxn>
                    <a:cxn ang="T132">
                      <a:pos x="T84" y="T85"/>
                    </a:cxn>
                    <a:cxn ang="T133">
                      <a:pos x="T86" y="T87"/>
                    </a:cxn>
                    <a:cxn ang="T134">
                      <a:pos x="T88" y="T89"/>
                    </a:cxn>
                  </a:cxnLst>
                  <a:rect l="0" t="0" r="r" b="b"/>
                  <a:pathLst>
                    <a:path w="171" h="50">
                      <a:moveTo>
                        <a:pt x="170" y="49"/>
                      </a:moveTo>
                      <a:lnTo>
                        <a:pt x="167" y="40"/>
                      </a:lnTo>
                      <a:lnTo>
                        <a:pt x="163" y="33"/>
                      </a:lnTo>
                      <a:lnTo>
                        <a:pt x="160" y="31"/>
                      </a:lnTo>
                      <a:lnTo>
                        <a:pt x="153" y="29"/>
                      </a:lnTo>
                      <a:lnTo>
                        <a:pt x="147" y="27"/>
                      </a:lnTo>
                      <a:lnTo>
                        <a:pt x="140" y="29"/>
                      </a:lnTo>
                      <a:lnTo>
                        <a:pt x="132" y="30"/>
                      </a:lnTo>
                      <a:lnTo>
                        <a:pt x="123" y="27"/>
                      </a:lnTo>
                      <a:lnTo>
                        <a:pt x="111" y="22"/>
                      </a:lnTo>
                      <a:lnTo>
                        <a:pt x="100" y="18"/>
                      </a:lnTo>
                      <a:lnTo>
                        <a:pt x="92" y="16"/>
                      </a:lnTo>
                      <a:lnTo>
                        <a:pt x="80" y="12"/>
                      </a:lnTo>
                      <a:lnTo>
                        <a:pt x="67" y="8"/>
                      </a:lnTo>
                      <a:lnTo>
                        <a:pt x="55" y="5"/>
                      </a:lnTo>
                      <a:lnTo>
                        <a:pt x="42" y="1"/>
                      </a:lnTo>
                      <a:lnTo>
                        <a:pt x="28" y="1"/>
                      </a:lnTo>
                      <a:lnTo>
                        <a:pt x="15" y="0"/>
                      </a:lnTo>
                      <a:lnTo>
                        <a:pt x="12" y="1"/>
                      </a:lnTo>
                      <a:lnTo>
                        <a:pt x="7" y="4"/>
                      </a:lnTo>
                      <a:lnTo>
                        <a:pt x="3" y="7"/>
                      </a:lnTo>
                      <a:lnTo>
                        <a:pt x="0" y="11"/>
                      </a:lnTo>
                      <a:lnTo>
                        <a:pt x="5" y="11"/>
                      </a:lnTo>
                      <a:lnTo>
                        <a:pt x="12" y="12"/>
                      </a:lnTo>
                      <a:lnTo>
                        <a:pt x="19" y="12"/>
                      </a:lnTo>
                      <a:lnTo>
                        <a:pt x="23" y="11"/>
                      </a:lnTo>
                      <a:lnTo>
                        <a:pt x="30" y="11"/>
                      </a:lnTo>
                      <a:lnTo>
                        <a:pt x="39" y="11"/>
                      </a:lnTo>
                      <a:lnTo>
                        <a:pt x="51" y="11"/>
                      </a:lnTo>
                      <a:lnTo>
                        <a:pt x="61" y="12"/>
                      </a:lnTo>
                      <a:lnTo>
                        <a:pt x="71" y="14"/>
                      </a:lnTo>
                      <a:lnTo>
                        <a:pt x="81" y="15"/>
                      </a:lnTo>
                      <a:lnTo>
                        <a:pt x="91" y="16"/>
                      </a:lnTo>
                      <a:lnTo>
                        <a:pt x="99" y="19"/>
                      </a:lnTo>
                      <a:lnTo>
                        <a:pt x="108" y="23"/>
                      </a:lnTo>
                      <a:lnTo>
                        <a:pt x="116" y="27"/>
                      </a:lnTo>
                      <a:lnTo>
                        <a:pt x="125" y="31"/>
                      </a:lnTo>
                      <a:lnTo>
                        <a:pt x="129" y="32"/>
                      </a:lnTo>
                      <a:lnTo>
                        <a:pt x="134" y="31"/>
                      </a:lnTo>
                      <a:lnTo>
                        <a:pt x="140" y="34"/>
                      </a:lnTo>
                      <a:lnTo>
                        <a:pt x="146" y="37"/>
                      </a:lnTo>
                      <a:lnTo>
                        <a:pt x="152" y="40"/>
                      </a:lnTo>
                      <a:lnTo>
                        <a:pt x="161" y="44"/>
                      </a:lnTo>
                      <a:lnTo>
                        <a:pt x="167" y="46"/>
                      </a:lnTo>
                      <a:lnTo>
                        <a:pt x="170" y="49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 w="9525" cap="rnd">
                  <a:noFill/>
                  <a:round/>
                </a:ln>
                <a:effectLst/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79" name="Freeform 16"/>
                <p:cNvSpPr/>
                <p:nvPr/>
              </p:nvSpPr>
              <p:spPr bwMode="ltGray">
                <a:xfrm>
                  <a:off x="1707" y="1563"/>
                  <a:ext cx="177" cy="21"/>
                </a:xfrm>
                <a:custGeom>
                  <a:avLst/>
                  <a:gdLst>
                    <a:gd name="T0" fmla="*/ 176 w 177"/>
                    <a:gd name="T1" fmla="*/ 20 h 21"/>
                    <a:gd name="T2" fmla="*/ 171 w 177"/>
                    <a:gd name="T3" fmla="*/ 18 h 21"/>
                    <a:gd name="T4" fmla="*/ 166 w 177"/>
                    <a:gd name="T5" fmla="*/ 16 h 21"/>
                    <a:gd name="T6" fmla="*/ 161 w 177"/>
                    <a:gd name="T7" fmla="*/ 13 h 21"/>
                    <a:gd name="T8" fmla="*/ 155 w 177"/>
                    <a:gd name="T9" fmla="*/ 12 h 21"/>
                    <a:gd name="T10" fmla="*/ 149 w 177"/>
                    <a:gd name="T11" fmla="*/ 10 h 21"/>
                    <a:gd name="T12" fmla="*/ 141 w 177"/>
                    <a:gd name="T13" fmla="*/ 6 h 21"/>
                    <a:gd name="T14" fmla="*/ 134 w 177"/>
                    <a:gd name="T15" fmla="*/ 3 h 21"/>
                    <a:gd name="T16" fmla="*/ 128 w 177"/>
                    <a:gd name="T17" fmla="*/ 2 h 21"/>
                    <a:gd name="T18" fmla="*/ 120 w 177"/>
                    <a:gd name="T19" fmla="*/ 3 h 21"/>
                    <a:gd name="T20" fmla="*/ 110 w 177"/>
                    <a:gd name="T21" fmla="*/ 5 h 21"/>
                    <a:gd name="T22" fmla="*/ 106 w 177"/>
                    <a:gd name="T23" fmla="*/ 5 h 21"/>
                    <a:gd name="T24" fmla="*/ 93 w 177"/>
                    <a:gd name="T25" fmla="*/ 3 h 21"/>
                    <a:gd name="T26" fmla="*/ 78 w 177"/>
                    <a:gd name="T27" fmla="*/ 1 h 21"/>
                    <a:gd name="T28" fmla="*/ 69 w 177"/>
                    <a:gd name="T29" fmla="*/ 0 h 21"/>
                    <a:gd name="T30" fmla="*/ 57 w 177"/>
                    <a:gd name="T31" fmla="*/ 0 h 21"/>
                    <a:gd name="T32" fmla="*/ 44 w 177"/>
                    <a:gd name="T33" fmla="*/ 0 h 21"/>
                    <a:gd name="T34" fmla="*/ 36 w 177"/>
                    <a:gd name="T35" fmla="*/ 1 h 21"/>
                    <a:gd name="T36" fmla="*/ 27 w 177"/>
                    <a:gd name="T37" fmla="*/ 2 h 21"/>
                    <a:gd name="T38" fmla="*/ 18 w 177"/>
                    <a:gd name="T39" fmla="*/ 3 h 21"/>
                    <a:gd name="T40" fmla="*/ 9 w 177"/>
                    <a:gd name="T41" fmla="*/ 4 h 21"/>
                    <a:gd name="T42" fmla="*/ 8 w 177"/>
                    <a:gd name="T43" fmla="*/ 8 h 21"/>
                    <a:gd name="T44" fmla="*/ 7 w 177"/>
                    <a:gd name="T45" fmla="*/ 11 h 21"/>
                    <a:gd name="T46" fmla="*/ 4 w 177"/>
                    <a:gd name="T47" fmla="*/ 15 h 21"/>
                    <a:gd name="T48" fmla="*/ 0 w 177"/>
                    <a:gd name="T49" fmla="*/ 17 h 21"/>
                    <a:gd name="T50" fmla="*/ 7 w 177"/>
                    <a:gd name="T51" fmla="*/ 16 h 21"/>
                    <a:gd name="T52" fmla="*/ 15 w 177"/>
                    <a:gd name="T53" fmla="*/ 14 h 21"/>
                    <a:gd name="T54" fmla="*/ 22 w 177"/>
                    <a:gd name="T55" fmla="*/ 12 h 21"/>
                    <a:gd name="T56" fmla="*/ 29 w 177"/>
                    <a:gd name="T57" fmla="*/ 11 h 21"/>
                    <a:gd name="T58" fmla="*/ 37 w 177"/>
                    <a:gd name="T59" fmla="*/ 10 h 21"/>
                    <a:gd name="T60" fmla="*/ 50 w 177"/>
                    <a:gd name="T61" fmla="*/ 10 h 21"/>
                    <a:gd name="T62" fmla="*/ 63 w 177"/>
                    <a:gd name="T63" fmla="*/ 8 h 21"/>
                    <a:gd name="T64" fmla="*/ 79 w 177"/>
                    <a:gd name="T65" fmla="*/ 8 h 21"/>
                    <a:gd name="T66" fmla="*/ 94 w 177"/>
                    <a:gd name="T67" fmla="*/ 7 h 21"/>
                    <a:gd name="T68" fmla="*/ 108 w 177"/>
                    <a:gd name="T69" fmla="*/ 6 h 21"/>
                    <a:gd name="T70" fmla="*/ 120 w 177"/>
                    <a:gd name="T71" fmla="*/ 7 h 21"/>
                    <a:gd name="T72" fmla="*/ 129 w 177"/>
                    <a:gd name="T73" fmla="*/ 10 h 21"/>
                    <a:gd name="T74" fmla="*/ 138 w 177"/>
                    <a:gd name="T75" fmla="*/ 12 h 21"/>
                    <a:gd name="T76" fmla="*/ 148 w 177"/>
                    <a:gd name="T77" fmla="*/ 14 h 21"/>
                    <a:gd name="T78" fmla="*/ 159 w 177"/>
                    <a:gd name="T79" fmla="*/ 17 h 21"/>
                    <a:gd name="T80" fmla="*/ 167 w 177"/>
                    <a:gd name="T81" fmla="*/ 18 h 21"/>
                    <a:gd name="T82" fmla="*/ 176 w 177"/>
                    <a:gd name="T83" fmla="*/ 20 h 21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</a:gdLst>
                  <a:ahLst/>
                  <a:cxnLst>
                    <a:cxn ang="T84">
                      <a:pos x="T0" y="T1"/>
                    </a:cxn>
                    <a:cxn ang="T85">
                      <a:pos x="T2" y="T3"/>
                    </a:cxn>
                    <a:cxn ang="T86">
                      <a:pos x="T4" y="T5"/>
                    </a:cxn>
                    <a:cxn ang="T87">
                      <a:pos x="T6" y="T7"/>
                    </a:cxn>
                    <a:cxn ang="T88">
                      <a:pos x="T8" y="T9"/>
                    </a:cxn>
                    <a:cxn ang="T89">
                      <a:pos x="T10" y="T11"/>
                    </a:cxn>
                    <a:cxn ang="T90">
                      <a:pos x="T12" y="T13"/>
                    </a:cxn>
                    <a:cxn ang="T91">
                      <a:pos x="T14" y="T15"/>
                    </a:cxn>
                    <a:cxn ang="T92">
                      <a:pos x="T16" y="T17"/>
                    </a:cxn>
                    <a:cxn ang="T93">
                      <a:pos x="T18" y="T19"/>
                    </a:cxn>
                    <a:cxn ang="T94">
                      <a:pos x="T20" y="T21"/>
                    </a:cxn>
                    <a:cxn ang="T95">
                      <a:pos x="T22" y="T23"/>
                    </a:cxn>
                    <a:cxn ang="T96">
                      <a:pos x="T24" y="T25"/>
                    </a:cxn>
                    <a:cxn ang="T97">
                      <a:pos x="T26" y="T27"/>
                    </a:cxn>
                    <a:cxn ang="T98">
                      <a:pos x="T28" y="T29"/>
                    </a:cxn>
                    <a:cxn ang="T99">
                      <a:pos x="T30" y="T31"/>
                    </a:cxn>
                    <a:cxn ang="T100">
                      <a:pos x="T32" y="T33"/>
                    </a:cxn>
                    <a:cxn ang="T101">
                      <a:pos x="T34" y="T35"/>
                    </a:cxn>
                    <a:cxn ang="T102">
                      <a:pos x="T36" y="T37"/>
                    </a:cxn>
                    <a:cxn ang="T103">
                      <a:pos x="T38" y="T39"/>
                    </a:cxn>
                    <a:cxn ang="T104">
                      <a:pos x="T40" y="T41"/>
                    </a:cxn>
                    <a:cxn ang="T105">
                      <a:pos x="T42" y="T43"/>
                    </a:cxn>
                    <a:cxn ang="T106">
                      <a:pos x="T44" y="T45"/>
                    </a:cxn>
                    <a:cxn ang="T107">
                      <a:pos x="T46" y="T47"/>
                    </a:cxn>
                    <a:cxn ang="T108">
                      <a:pos x="T48" y="T49"/>
                    </a:cxn>
                    <a:cxn ang="T109">
                      <a:pos x="T50" y="T51"/>
                    </a:cxn>
                    <a:cxn ang="T110">
                      <a:pos x="T52" y="T53"/>
                    </a:cxn>
                    <a:cxn ang="T111">
                      <a:pos x="T54" y="T55"/>
                    </a:cxn>
                    <a:cxn ang="T112">
                      <a:pos x="T56" y="T57"/>
                    </a:cxn>
                    <a:cxn ang="T113">
                      <a:pos x="T58" y="T59"/>
                    </a:cxn>
                    <a:cxn ang="T114">
                      <a:pos x="T60" y="T61"/>
                    </a:cxn>
                    <a:cxn ang="T115">
                      <a:pos x="T62" y="T63"/>
                    </a:cxn>
                    <a:cxn ang="T116">
                      <a:pos x="T64" y="T65"/>
                    </a:cxn>
                    <a:cxn ang="T117">
                      <a:pos x="T66" y="T67"/>
                    </a:cxn>
                    <a:cxn ang="T118">
                      <a:pos x="T68" y="T69"/>
                    </a:cxn>
                    <a:cxn ang="T119">
                      <a:pos x="T70" y="T71"/>
                    </a:cxn>
                    <a:cxn ang="T120">
                      <a:pos x="T72" y="T73"/>
                    </a:cxn>
                    <a:cxn ang="T121">
                      <a:pos x="T74" y="T75"/>
                    </a:cxn>
                    <a:cxn ang="T122">
                      <a:pos x="T76" y="T77"/>
                    </a:cxn>
                    <a:cxn ang="T123">
                      <a:pos x="T78" y="T79"/>
                    </a:cxn>
                    <a:cxn ang="T124">
                      <a:pos x="T80" y="T81"/>
                    </a:cxn>
                    <a:cxn ang="T125">
                      <a:pos x="T82" y="T83"/>
                    </a:cxn>
                  </a:cxnLst>
                  <a:rect l="0" t="0" r="r" b="b"/>
                  <a:pathLst>
                    <a:path w="177" h="21">
                      <a:moveTo>
                        <a:pt x="176" y="20"/>
                      </a:moveTo>
                      <a:lnTo>
                        <a:pt x="171" y="18"/>
                      </a:lnTo>
                      <a:lnTo>
                        <a:pt x="166" y="16"/>
                      </a:lnTo>
                      <a:lnTo>
                        <a:pt x="161" y="13"/>
                      </a:lnTo>
                      <a:lnTo>
                        <a:pt x="155" y="12"/>
                      </a:lnTo>
                      <a:lnTo>
                        <a:pt x="149" y="10"/>
                      </a:lnTo>
                      <a:lnTo>
                        <a:pt x="141" y="6"/>
                      </a:lnTo>
                      <a:lnTo>
                        <a:pt x="134" y="3"/>
                      </a:lnTo>
                      <a:lnTo>
                        <a:pt x="128" y="2"/>
                      </a:lnTo>
                      <a:lnTo>
                        <a:pt x="120" y="3"/>
                      </a:lnTo>
                      <a:lnTo>
                        <a:pt x="110" y="5"/>
                      </a:lnTo>
                      <a:lnTo>
                        <a:pt x="106" y="5"/>
                      </a:lnTo>
                      <a:lnTo>
                        <a:pt x="93" y="3"/>
                      </a:lnTo>
                      <a:lnTo>
                        <a:pt x="78" y="1"/>
                      </a:lnTo>
                      <a:lnTo>
                        <a:pt x="69" y="0"/>
                      </a:lnTo>
                      <a:lnTo>
                        <a:pt x="57" y="0"/>
                      </a:lnTo>
                      <a:lnTo>
                        <a:pt x="44" y="0"/>
                      </a:lnTo>
                      <a:lnTo>
                        <a:pt x="36" y="1"/>
                      </a:lnTo>
                      <a:lnTo>
                        <a:pt x="27" y="2"/>
                      </a:lnTo>
                      <a:lnTo>
                        <a:pt x="18" y="3"/>
                      </a:lnTo>
                      <a:lnTo>
                        <a:pt x="9" y="4"/>
                      </a:lnTo>
                      <a:lnTo>
                        <a:pt x="8" y="8"/>
                      </a:lnTo>
                      <a:lnTo>
                        <a:pt x="7" y="11"/>
                      </a:lnTo>
                      <a:lnTo>
                        <a:pt x="4" y="15"/>
                      </a:lnTo>
                      <a:lnTo>
                        <a:pt x="0" y="17"/>
                      </a:lnTo>
                      <a:lnTo>
                        <a:pt x="7" y="16"/>
                      </a:lnTo>
                      <a:lnTo>
                        <a:pt x="15" y="14"/>
                      </a:lnTo>
                      <a:lnTo>
                        <a:pt x="22" y="12"/>
                      </a:lnTo>
                      <a:lnTo>
                        <a:pt x="29" y="11"/>
                      </a:lnTo>
                      <a:lnTo>
                        <a:pt x="37" y="10"/>
                      </a:lnTo>
                      <a:lnTo>
                        <a:pt x="50" y="10"/>
                      </a:lnTo>
                      <a:lnTo>
                        <a:pt x="63" y="8"/>
                      </a:lnTo>
                      <a:lnTo>
                        <a:pt x="79" y="8"/>
                      </a:lnTo>
                      <a:lnTo>
                        <a:pt x="94" y="7"/>
                      </a:lnTo>
                      <a:lnTo>
                        <a:pt x="108" y="6"/>
                      </a:lnTo>
                      <a:lnTo>
                        <a:pt x="120" y="7"/>
                      </a:lnTo>
                      <a:lnTo>
                        <a:pt x="129" y="10"/>
                      </a:lnTo>
                      <a:lnTo>
                        <a:pt x="138" y="12"/>
                      </a:lnTo>
                      <a:lnTo>
                        <a:pt x="148" y="14"/>
                      </a:lnTo>
                      <a:lnTo>
                        <a:pt x="159" y="17"/>
                      </a:lnTo>
                      <a:lnTo>
                        <a:pt x="167" y="18"/>
                      </a:lnTo>
                      <a:lnTo>
                        <a:pt x="176" y="20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 w="9525" cap="rnd">
                  <a:noFill/>
                  <a:round/>
                </a:ln>
                <a:effectLst/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075" name="Freeform 17"/>
              <p:cNvSpPr/>
              <p:nvPr/>
            </p:nvSpPr>
            <p:spPr bwMode="ltGray">
              <a:xfrm>
                <a:off x="1691" y="1023"/>
                <a:ext cx="261" cy="374"/>
              </a:xfrm>
              <a:custGeom>
                <a:avLst/>
                <a:gdLst>
                  <a:gd name="T0" fmla="*/ 82 w 261"/>
                  <a:gd name="T1" fmla="*/ 162 h 374"/>
                  <a:gd name="T2" fmla="*/ 90 w 261"/>
                  <a:gd name="T3" fmla="*/ 154 h 374"/>
                  <a:gd name="T4" fmla="*/ 76 w 261"/>
                  <a:gd name="T5" fmla="*/ 104 h 374"/>
                  <a:gd name="T6" fmla="*/ 54 w 261"/>
                  <a:gd name="T7" fmla="*/ 56 h 374"/>
                  <a:gd name="T8" fmla="*/ 31 w 261"/>
                  <a:gd name="T9" fmla="*/ 33 h 374"/>
                  <a:gd name="T10" fmla="*/ 51 w 261"/>
                  <a:gd name="T11" fmla="*/ 45 h 374"/>
                  <a:gd name="T12" fmla="*/ 72 w 261"/>
                  <a:gd name="T13" fmla="*/ 84 h 374"/>
                  <a:gd name="T14" fmla="*/ 92 w 261"/>
                  <a:gd name="T15" fmla="*/ 126 h 374"/>
                  <a:gd name="T16" fmla="*/ 106 w 261"/>
                  <a:gd name="T17" fmla="*/ 168 h 374"/>
                  <a:gd name="T18" fmla="*/ 118 w 261"/>
                  <a:gd name="T19" fmla="*/ 150 h 374"/>
                  <a:gd name="T20" fmla="*/ 121 w 261"/>
                  <a:gd name="T21" fmla="*/ 114 h 374"/>
                  <a:gd name="T22" fmla="*/ 125 w 261"/>
                  <a:gd name="T23" fmla="*/ 65 h 374"/>
                  <a:gd name="T24" fmla="*/ 136 w 261"/>
                  <a:gd name="T25" fmla="*/ 26 h 374"/>
                  <a:gd name="T26" fmla="*/ 143 w 261"/>
                  <a:gd name="T27" fmla="*/ 12 h 374"/>
                  <a:gd name="T28" fmla="*/ 136 w 261"/>
                  <a:gd name="T29" fmla="*/ 53 h 374"/>
                  <a:gd name="T30" fmla="*/ 132 w 261"/>
                  <a:gd name="T31" fmla="*/ 106 h 374"/>
                  <a:gd name="T32" fmla="*/ 130 w 261"/>
                  <a:gd name="T33" fmla="*/ 155 h 374"/>
                  <a:gd name="T34" fmla="*/ 136 w 261"/>
                  <a:gd name="T35" fmla="*/ 183 h 374"/>
                  <a:gd name="T36" fmla="*/ 166 w 261"/>
                  <a:gd name="T37" fmla="*/ 177 h 374"/>
                  <a:gd name="T38" fmla="*/ 205 w 261"/>
                  <a:gd name="T39" fmla="*/ 178 h 374"/>
                  <a:gd name="T40" fmla="*/ 236 w 261"/>
                  <a:gd name="T41" fmla="*/ 193 h 374"/>
                  <a:gd name="T42" fmla="*/ 260 w 261"/>
                  <a:gd name="T43" fmla="*/ 227 h 374"/>
                  <a:gd name="T44" fmla="*/ 231 w 261"/>
                  <a:gd name="T45" fmla="*/ 222 h 374"/>
                  <a:gd name="T46" fmla="*/ 200 w 261"/>
                  <a:gd name="T47" fmla="*/ 211 h 374"/>
                  <a:gd name="T48" fmla="*/ 159 w 261"/>
                  <a:gd name="T49" fmla="*/ 204 h 374"/>
                  <a:gd name="T50" fmla="*/ 132 w 261"/>
                  <a:gd name="T51" fmla="*/ 208 h 374"/>
                  <a:gd name="T52" fmla="*/ 147 w 261"/>
                  <a:gd name="T53" fmla="*/ 224 h 374"/>
                  <a:gd name="T54" fmla="*/ 182 w 261"/>
                  <a:gd name="T55" fmla="*/ 233 h 374"/>
                  <a:gd name="T56" fmla="*/ 217 w 261"/>
                  <a:gd name="T57" fmla="*/ 240 h 374"/>
                  <a:gd name="T58" fmla="*/ 243 w 261"/>
                  <a:gd name="T59" fmla="*/ 264 h 374"/>
                  <a:gd name="T60" fmla="*/ 256 w 261"/>
                  <a:gd name="T61" fmla="*/ 297 h 374"/>
                  <a:gd name="T62" fmla="*/ 224 w 261"/>
                  <a:gd name="T63" fmla="*/ 277 h 374"/>
                  <a:gd name="T64" fmla="*/ 191 w 261"/>
                  <a:gd name="T65" fmla="*/ 256 h 374"/>
                  <a:gd name="T66" fmla="*/ 160 w 261"/>
                  <a:gd name="T67" fmla="*/ 238 h 374"/>
                  <a:gd name="T68" fmla="*/ 136 w 261"/>
                  <a:gd name="T69" fmla="*/ 230 h 374"/>
                  <a:gd name="T70" fmla="*/ 121 w 261"/>
                  <a:gd name="T71" fmla="*/ 246 h 374"/>
                  <a:gd name="T72" fmla="*/ 135 w 261"/>
                  <a:gd name="T73" fmla="*/ 290 h 374"/>
                  <a:gd name="T74" fmla="*/ 145 w 261"/>
                  <a:gd name="T75" fmla="*/ 342 h 374"/>
                  <a:gd name="T76" fmla="*/ 127 w 261"/>
                  <a:gd name="T77" fmla="*/ 346 h 374"/>
                  <a:gd name="T78" fmla="*/ 116 w 261"/>
                  <a:gd name="T79" fmla="*/ 290 h 374"/>
                  <a:gd name="T80" fmla="*/ 101 w 261"/>
                  <a:gd name="T81" fmla="*/ 256 h 374"/>
                  <a:gd name="T82" fmla="*/ 83 w 261"/>
                  <a:gd name="T83" fmla="*/ 274 h 374"/>
                  <a:gd name="T84" fmla="*/ 64 w 261"/>
                  <a:gd name="T85" fmla="*/ 309 h 374"/>
                  <a:gd name="T86" fmla="*/ 44 w 261"/>
                  <a:gd name="T87" fmla="*/ 360 h 374"/>
                  <a:gd name="T88" fmla="*/ 51 w 261"/>
                  <a:gd name="T89" fmla="*/ 314 h 374"/>
                  <a:gd name="T90" fmla="*/ 69 w 261"/>
                  <a:gd name="T91" fmla="*/ 272 h 374"/>
                  <a:gd name="T92" fmla="*/ 91 w 261"/>
                  <a:gd name="T93" fmla="*/ 238 h 374"/>
                  <a:gd name="T94" fmla="*/ 99 w 261"/>
                  <a:gd name="T95" fmla="*/ 212 h 374"/>
                  <a:gd name="T96" fmla="*/ 77 w 261"/>
                  <a:gd name="T97" fmla="*/ 226 h 374"/>
                  <a:gd name="T98" fmla="*/ 52 w 261"/>
                  <a:gd name="T99" fmla="*/ 261 h 374"/>
                  <a:gd name="T100" fmla="*/ 28 w 261"/>
                  <a:gd name="T101" fmla="*/ 301 h 374"/>
                  <a:gd name="T102" fmla="*/ 24 w 261"/>
                  <a:gd name="T103" fmla="*/ 288 h 374"/>
                  <a:gd name="T104" fmla="*/ 42 w 261"/>
                  <a:gd name="T105" fmla="*/ 262 h 374"/>
                  <a:gd name="T106" fmla="*/ 71 w 261"/>
                  <a:gd name="T107" fmla="*/ 229 h 374"/>
                  <a:gd name="T108" fmla="*/ 101 w 261"/>
                  <a:gd name="T109" fmla="*/ 206 h 374"/>
                  <a:gd name="T110" fmla="*/ 73 w 261"/>
                  <a:gd name="T111" fmla="*/ 180 h 374"/>
                  <a:gd name="T112" fmla="*/ 46 w 261"/>
                  <a:gd name="T113" fmla="*/ 148 h 374"/>
                  <a:gd name="T114" fmla="*/ 17 w 261"/>
                  <a:gd name="T115" fmla="*/ 118 h 374"/>
                  <a:gd name="T116" fmla="*/ 3 w 261"/>
                  <a:gd name="T117" fmla="*/ 98 h 374"/>
                  <a:gd name="T118" fmla="*/ 32 w 261"/>
                  <a:gd name="T119" fmla="*/ 115 h 374"/>
                  <a:gd name="T120" fmla="*/ 64 w 261"/>
                  <a:gd name="T121" fmla="*/ 145 h 374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</a:gdLst>
                <a:ahLst/>
                <a:cxnLst>
                  <a:cxn ang="T122">
                    <a:pos x="T0" y="T1"/>
                  </a:cxn>
                  <a:cxn ang="T123">
                    <a:pos x="T2" y="T3"/>
                  </a:cxn>
                  <a:cxn ang="T124">
                    <a:pos x="T4" y="T5"/>
                  </a:cxn>
                  <a:cxn ang="T125">
                    <a:pos x="T6" y="T7"/>
                  </a:cxn>
                  <a:cxn ang="T126">
                    <a:pos x="T8" y="T9"/>
                  </a:cxn>
                  <a:cxn ang="T127">
                    <a:pos x="T10" y="T11"/>
                  </a:cxn>
                  <a:cxn ang="T128">
                    <a:pos x="T12" y="T13"/>
                  </a:cxn>
                  <a:cxn ang="T129">
                    <a:pos x="T14" y="T15"/>
                  </a:cxn>
                  <a:cxn ang="T130">
                    <a:pos x="T16" y="T17"/>
                  </a:cxn>
                  <a:cxn ang="T131">
                    <a:pos x="T18" y="T19"/>
                  </a:cxn>
                  <a:cxn ang="T132">
                    <a:pos x="T20" y="T21"/>
                  </a:cxn>
                  <a:cxn ang="T133">
                    <a:pos x="T22" y="T23"/>
                  </a:cxn>
                  <a:cxn ang="T134">
                    <a:pos x="T24" y="T25"/>
                  </a:cxn>
                  <a:cxn ang="T135">
                    <a:pos x="T26" y="T27"/>
                  </a:cxn>
                  <a:cxn ang="T136">
                    <a:pos x="T28" y="T29"/>
                  </a:cxn>
                  <a:cxn ang="T137">
                    <a:pos x="T30" y="T31"/>
                  </a:cxn>
                  <a:cxn ang="T138">
                    <a:pos x="T32" y="T33"/>
                  </a:cxn>
                  <a:cxn ang="T139">
                    <a:pos x="T34" y="T35"/>
                  </a:cxn>
                  <a:cxn ang="T140">
                    <a:pos x="T36" y="T37"/>
                  </a:cxn>
                  <a:cxn ang="T141">
                    <a:pos x="T38" y="T39"/>
                  </a:cxn>
                  <a:cxn ang="T142">
                    <a:pos x="T40" y="T41"/>
                  </a:cxn>
                  <a:cxn ang="T143">
                    <a:pos x="T42" y="T43"/>
                  </a:cxn>
                  <a:cxn ang="T144">
                    <a:pos x="T44" y="T45"/>
                  </a:cxn>
                  <a:cxn ang="T145">
                    <a:pos x="T46" y="T47"/>
                  </a:cxn>
                  <a:cxn ang="T146">
                    <a:pos x="T48" y="T49"/>
                  </a:cxn>
                  <a:cxn ang="T147">
                    <a:pos x="T50" y="T51"/>
                  </a:cxn>
                  <a:cxn ang="T148">
                    <a:pos x="T52" y="T53"/>
                  </a:cxn>
                  <a:cxn ang="T149">
                    <a:pos x="T54" y="T55"/>
                  </a:cxn>
                  <a:cxn ang="T150">
                    <a:pos x="T56" y="T57"/>
                  </a:cxn>
                  <a:cxn ang="T151">
                    <a:pos x="T58" y="T59"/>
                  </a:cxn>
                  <a:cxn ang="T152">
                    <a:pos x="T60" y="T61"/>
                  </a:cxn>
                  <a:cxn ang="T153">
                    <a:pos x="T62" y="T63"/>
                  </a:cxn>
                  <a:cxn ang="T154">
                    <a:pos x="T64" y="T65"/>
                  </a:cxn>
                  <a:cxn ang="T155">
                    <a:pos x="T66" y="T67"/>
                  </a:cxn>
                  <a:cxn ang="T156">
                    <a:pos x="T68" y="T69"/>
                  </a:cxn>
                  <a:cxn ang="T157">
                    <a:pos x="T70" y="T71"/>
                  </a:cxn>
                  <a:cxn ang="T158">
                    <a:pos x="T72" y="T73"/>
                  </a:cxn>
                  <a:cxn ang="T159">
                    <a:pos x="T74" y="T75"/>
                  </a:cxn>
                  <a:cxn ang="T160">
                    <a:pos x="T76" y="T77"/>
                  </a:cxn>
                  <a:cxn ang="T161">
                    <a:pos x="T78" y="T79"/>
                  </a:cxn>
                  <a:cxn ang="T162">
                    <a:pos x="T80" y="T81"/>
                  </a:cxn>
                  <a:cxn ang="T163">
                    <a:pos x="T82" y="T83"/>
                  </a:cxn>
                  <a:cxn ang="T164">
                    <a:pos x="T84" y="T85"/>
                  </a:cxn>
                  <a:cxn ang="T165">
                    <a:pos x="T86" y="T87"/>
                  </a:cxn>
                  <a:cxn ang="T166">
                    <a:pos x="T88" y="T89"/>
                  </a:cxn>
                  <a:cxn ang="T167">
                    <a:pos x="T90" y="T91"/>
                  </a:cxn>
                  <a:cxn ang="T168">
                    <a:pos x="T92" y="T93"/>
                  </a:cxn>
                  <a:cxn ang="T169">
                    <a:pos x="T94" y="T95"/>
                  </a:cxn>
                  <a:cxn ang="T170">
                    <a:pos x="T96" y="T97"/>
                  </a:cxn>
                  <a:cxn ang="T171">
                    <a:pos x="T98" y="T99"/>
                  </a:cxn>
                  <a:cxn ang="T172">
                    <a:pos x="T100" y="T101"/>
                  </a:cxn>
                  <a:cxn ang="T173">
                    <a:pos x="T102" y="T103"/>
                  </a:cxn>
                  <a:cxn ang="T174">
                    <a:pos x="T104" y="T105"/>
                  </a:cxn>
                  <a:cxn ang="T175">
                    <a:pos x="T106" y="T107"/>
                  </a:cxn>
                  <a:cxn ang="T176">
                    <a:pos x="T108" y="T109"/>
                  </a:cxn>
                  <a:cxn ang="T177">
                    <a:pos x="T110" y="T111"/>
                  </a:cxn>
                  <a:cxn ang="T178">
                    <a:pos x="T112" y="T113"/>
                  </a:cxn>
                  <a:cxn ang="T179">
                    <a:pos x="T114" y="T115"/>
                  </a:cxn>
                  <a:cxn ang="T180">
                    <a:pos x="T116" y="T117"/>
                  </a:cxn>
                  <a:cxn ang="T181">
                    <a:pos x="T118" y="T119"/>
                  </a:cxn>
                  <a:cxn ang="T182">
                    <a:pos x="T120" y="T121"/>
                  </a:cxn>
                </a:cxnLst>
                <a:rect l="0" t="0" r="r" b="b"/>
                <a:pathLst>
                  <a:path w="261" h="374">
                    <a:moveTo>
                      <a:pt x="64" y="145"/>
                    </a:moveTo>
                    <a:lnTo>
                      <a:pt x="68" y="150"/>
                    </a:lnTo>
                    <a:lnTo>
                      <a:pt x="72" y="154"/>
                    </a:lnTo>
                    <a:lnTo>
                      <a:pt x="77" y="157"/>
                    </a:lnTo>
                    <a:lnTo>
                      <a:pt x="82" y="162"/>
                    </a:lnTo>
                    <a:lnTo>
                      <a:pt x="86" y="165"/>
                    </a:lnTo>
                    <a:lnTo>
                      <a:pt x="91" y="168"/>
                    </a:lnTo>
                    <a:lnTo>
                      <a:pt x="94" y="170"/>
                    </a:lnTo>
                    <a:lnTo>
                      <a:pt x="92" y="162"/>
                    </a:lnTo>
                    <a:lnTo>
                      <a:pt x="90" y="154"/>
                    </a:lnTo>
                    <a:lnTo>
                      <a:pt x="87" y="143"/>
                    </a:lnTo>
                    <a:lnTo>
                      <a:pt x="85" y="134"/>
                    </a:lnTo>
                    <a:lnTo>
                      <a:pt x="82" y="124"/>
                    </a:lnTo>
                    <a:lnTo>
                      <a:pt x="80" y="114"/>
                    </a:lnTo>
                    <a:lnTo>
                      <a:pt x="76" y="104"/>
                    </a:lnTo>
                    <a:lnTo>
                      <a:pt x="72" y="93"/>
                    </a:lnTo>
                    <a:lnTo>
                      <a:pt x="68" y="84"/>
                    </a:lnTo>
                    <a:lnTo>
                      <a:pt x="63" y="71"/>
                    </a:lnTo>
                    <a:lnTo>
                      <a:pt x="59" y="63"/>
                    </a:lnTo>
                    <a:lnTo>
                      <a:pt x="54" y="56"/>
                    </a:lnTo>
                    <a:lnTo>
                      <a:pt x="50" y="48"/>
                    </a:lnTo>
                    <a:lnTo>
                      <a:pt x="44" y="42"/>
                    </a:lnTo>
                    <a:lnTo>
                      <a:pt x="39" y="38"/>
                    </a:lnTo>
                    <a:lnTo>
                      <a:pt x="34" y="35"/>
                    </a:lnTo>
                    <a:lnTo>
                      <a:pt x="31" y="33"/>
                    </a:lnTo>
                    <a:lnTo>
                      <a:pt x="35" y="32"/>
                    </a:lnTo>
                    <a:lnTo>
                      <a:pt x="37" y="33"/>
                    </a:lnTo>
                    <a:lnTo>
                      <a:pt x="41" y="34"/>
                    </a:lnTo>
                    <a:lnTo>
                      <a:pt x="45" y="39"/>
                    </a:lnTo>
                    <a:lnTo>
                      <a:pt x="51" y="45"/>
                    </a:lnTo>
                    <a:lnTo>
                      <a:pt x="55" y="50"/>
                    </a:lnTo>
                    <a:lnTo>
                      <a:pt x="58" y="56"/>
                    </a:lnTo>
                    <a:lnTo>
                      <a:pt x="63" y="64"/>
                    </a:lnTo>
                    <a:lnTo>
                      <a:pt x="68" y="75"/>
                    </a:lnTo>
                    <a:lnTo>
                      <a:pt x="72" y="84"/>
                    </a:lnTo>
                    <a:lnTo>
                      <a:pt x="77" y="94"/>
                    </a:lnTo>
                    <a:lnTo>
                      <a:pt x="81" y="101"/>
                    </a:lnTo>
                    <a:lnTo>
                      <a:pt x="86" y="109"/>
                    </a:lnTo>
                    <a:lnTo>
                      <a:pt x="89" y="117"/>
                    </a:lnTo>
                    <a:lnTo>
                      <a:pt x="92" y="126"/>
                    </a:lnTo>
                    <a:lnTo>
                      <a:pt x="95" y="135"/>
                    </a:lnTo>
                    <a:lnTo>
                      <a:pt x="99" y="143"/>
                    </a:lnTo>
                    <a:lnTo>
                      <a:pt x="101" y="151"/>
                    </a:lnTo>
                    <a:lnTo>
                      <a:pt x="104" y="161"/>
                    </a:lnTo>
                    <a:lnTo>
                      <a:pt x="106" y="168"/>
                    </a:lnTo>
                    <a:lnTo>
                      <a:pt x="107" y="171"/>
                    </a:lnTo>
                    <a:lnTo>
                      <a:pt x="110" y="168"/>
                    </a:lnTo>
                    <a:lnTo>
                      <a:pt x="113" y="164"/>
                    </a:lnTo>
                    <a:lnTo>
                      <a:pt x="117" y="159"/>
                    </a:lnTo>
                    <a:lnTo>
                      <a:pt x="118" y="150"/>
                    </a:lnTo>
                    <a:lnTo>
                      <a:pt x="119" y="143"/>
                    </a:lnTo>
                    <a:lnTo>
                      <a:pt x="120" y="133"/>
                    </a:lnTo>
                    <a:lnTo>
                      <a:pt x="121" y="124"/>
                    </a:lnTo>
                    <a:lnTo>
                      <a:pt x="120" y="124"/>
                    </a:lnTo>
                    <a:lnTo>
                      <a:pt x="121" y="114"/>
                    </a:lnTo>
                    <a:lnTo>
                      <a:pt x="121" y="103"/>
                    </a:lnTo>
                    <a:lnTo>
                      <a:pt x="122" y="92"/>
                    </a:lnTo>
                    <a:lnTo>
                      <a:pt x="122" y="82"/>
                    </a:lnTo>
                    <a:lnTo>
                      <a:pt x="123" y="75"/>
                    </a:lnTo>
                    <a:lnTo>
                      <a:pt x="125" y="65"/>
                    </a:lnTo>
                    <a:lnTo>
                      <a:pt x="127" y="58"/>
                    </a:lnTo>
                    <a:lnTo>
                      <a:pt x="128" y="50"/>
                    </a:lnTo>
                    <a:lnTo>
                      <a:pt x="131" y="44"/>
                    </a:lnTo>
                    <a:lnTo>
                      <a:pt x="133" y="36"/>
                    </a:lnTo>
                    <a:lnTo>
                      <a:pt x="136" y="26"/>
                    </a:lnTo>
                    <a:lnTo>
                      <a:pt x="139" y="16"/>
                    </a:lnTo>
                    <a:lnTo>
                      <a:pt x="140" y="7"/>
                    </a:lnTo>
                    <a:lnTo>
                      <a:pt x="143" y="0"/>
                    </a:lnTo>
                    <a:lnTo>
                      <a:pt x="144" y="6"/>
                    </a:lnTo>
                    <a:lnTo>
                      <a:pt x="143" y="12"/>
                    </a:lnTo>
                    <a:lnTo>
                      <a:pt x="142" y="21"/>
                    </a:lnTo>
                    <a:lnTo>
                      <a:pt x="140" y="28"/>
                    </a:lnTo>
                    <a:lnTo>
                      <a:pt x="138" y="40"/>
                    </a:lnTo>
                    <a:lnTo>
                      <a:pt x="137" y="47"/>
                    </a:lnTo>
                    <a:lnTo>
                      <a:pt x="136" y="53"/>
                    </a:lnTo>
                    <a:lnTo>
                      <a:pt x="135" y="62"/>
                    </a:lnTo>
                    <a:lnTo>
                      <a:pt x="134" y="72"/>
                    </a:lnTo>
                    <a:lnTo>
                      <a:pt x="134" y="83"/>
                    </a:lnTo>
                    <a:lnTo>
                      <a:pt x="133" y="94"/>
                    </a:lnTo>
                    <a:lnTo>
                      <a:pt x="132" y="106"/>
                    </a:lnTo>
                    <a:lnTo>
                      <a:pt x="132" y="116"/>
                    </a:lnTo>
                    <a:lnTo>
                      <a:pt x="132" y="126"/>
                    </a:lnTo>
                    <a:lnTo>
                      <a:pt x="131" y="134"/>
                    </a:lnTo>
                    <a:lnTo>
                      <a:pt x="131" y="145"/>
                    </a:lnTo>
                    <a:lnTo>
                      <a:pt x="130" y="155"/>
                    </a:lnTo>
                    <a:lnTo>
                      <a:pt x="128" y="168"/>
                    </a:lnTo>
                    <a:lnTo>
                      <a:pt x="127" y="178"/>
                    </a:lnTo>
                    <a:lnTo>
                      <a:pt x="125" y="190"/>
                    </a:lnTo>
                    <a:lnTo>
                      <a:pt x="130" y="187"/>
                    </a:lnTo>
                    <a:lnTo>
                      <a:pt x="136" y="183"/>
                    </a:lnTo>
                    <a:lnTo>
                      <a:pt x="143" y="178"/>
                    </a:lnTo>
                    <a:lnTo>
                      <a:pt x="149" y="176"/>
                    </a:lnTo>
                    <a:lnTo>
                      <a:pt x="156" y="176"/>
                    </a:lnTo>
                    <a:lnTo>
                      <a:pt x="160" y="176"/>
                    </a:lnTo>
                    <a:lnTo>
                      <a:pt x="166" y="177"/>
                    </a:lnTo>
                    <a:lnTo>
                      <a:pt x="173" y="178"/>
                    </a:lnTo>
                    <a:lnTo>
                      <a:pt x="182" y="179"/>
                    </a:lnTo>
                    <a:lnTo>
                      <a:pt x="190" y="178"/>
                    </a:lnTo>
                    <a:lnTo>
                      <a:pt x="198" y="178"/>
                    </a:lnTo>
                    <a:lnTo>
                      <a:pt x="205" y="178"/>
                    </a:lnTo>
                    <a:lnTo>
                      <a:pt x="211" y="179"/>
                    </a:lnTo>
                    <a:lnTo>
                      <a:pt x="217" y="182"/>
                    </a:lnTo>
                    <a:lnTo>
                      <a:pt x="225" y="185"/>
                    </a:lnTo>
                    <a:lnTo>
                      <a:pt x="231" y="189"/>
                    </a:lnTo>
                    <a:lnTo>
                      <a:pt x="236" y="193"/>
                    </a:lnTo>
                    <a:lnTo>
                      <a:pt x="242" y="199"/>
                    </a:lnTo>
                    <a:lnTo>
                      <a:pt x="245" y="202"/>
                    </a:lnTo>
                    <a:lnTo>
                      <a:pt x="251" y="210"/>
                    </a:lnTo>
                    <a:lnTo>
                      <a:pt x="255" y="218"/>
                    </a:lnTo>
                    <a:lnTo>
                      <a:pt x="260" y="227"/>
                    </a:lnTo>
                    <a:lnTo>
                      <a:pt x="254" y="227"/>
                    </a:lnTo>
                    <a:lnTo>
                      <a:pt x="248" y="226"/>
                    </a:lnTo>
                    <a:lnTo>
                      <a:pt x="241" y="224"/>
                    </a:lnTo>
                    <a:lnTo>
                      <a:pt x="235" y="224"/>
                    </a:lnTo>
                    <a:lnTo>
                      <a:pt x="231" y="222"/>
                    </a:lnTo>
                    <a:lnTo>
                      <a:pt x="224" y="218"/>
                    </a:lnTo>
                    <a:lnTo>
                      <a:pt x="218" y="216"/>
                    </a:lnTo>
                    <a:lnTo>
                      <a:pt x="213" y="213"/>
                    </a:lnTo>
                    <a:lnTo>
                      <a:pt x="209" y="212"/>
                    </a:lnTo>
                    <a:lnTo>
                      <a:pt x="200" y="211"/>
                    </a:lnTo>
                    <a:lnTo>
                      <a:pt x="190" y="210"/>
                    </a:lnTo>
                    <a:lnTo>
                      <a:pt x="182" y="208"/>
                    </a:lnTo>
                    <a:lnTo>
                      <a:pt x="173" y="206"/>
                    </a:lnTo>
                    <a:lnTo>
                      <a:pt x="165" y="205"/>
                    </a:lnTo>
                    <a:lnTo>
                      <a:pt x="159" y="204"/>
                    </a:lnTo>
                    <a:lnTo>
                      <a:pt x="154" y="204"/>
                    </a:lnTo>
                    <a:lnTo>
                      <a:pt x="148" y="203"/>
                    </a:lnTo>
                    <a:lnTo>
                      <a:pt x="142" y="204"/>
                    </a:lnTo>
                    <a:lnTo>
                      <a:pt x="137" y="205"/>
                    </a:lnTo>
                    <a:lnTo>
                      <a:pt x="132" y="208"/>
                    </a:lnTo>
                    <a:lnTo>
                      <a:pt x="125" y="210"/>
                    </a:lnTo>
                    <a:lnTo>
                      <a:pt x="130" y="213"/>
                    </a:lnTo>
                    <a:lnTo>
                      <a:pt x="136" y="217"/>
                    </a:lnTo>
                    <a:lnTo>
                      <a:pt x="141" y="222"/>
                    </a:lnTo>
                    <a:lnTo>
                      <a:pt x="147" y="224"/>
                    </a:lnTo>
                    <a:lnTo>
                      <a:pt x="154" y="227"/>
                    </a:lnTo>
                    <a:lnTo>
                      <a:pt x="160" y="229"/>
                    </a:lnTo>
                    <a:lnTo>
                      <a:pt x="166" y="229"/>
                    </a:lnTo>
                    <a:lnTo>
                      <a:pt x="173" y="231"/>
                    </a:lnTo>
                    <a:lnTo>
                      <a:pt x="182" y="233"/>
                    </a:lnTo>
                    <a:lnTo>
                      <a:pt x="189" y="235"/>
                    </a:lnTo>
                    <a:lnTo>
                      <a:pt x="197" y="235"/>
                    </a:lnTo>
                    <a:lnTo>
                      <a:pt x="203" y="237"/>
                    </a:lnTo>
                    <a:lnTo>
                      <a:pt x="210" y="239"/>
                    </a:lnTo>
                    <a:lnTo>
                      <a:pt x="217" y="240"/>
                    </a:lnTo>
                    <a:lnTo>
                      <a:pt x="222" y="243"/>
                    </a:lnTo>
                    <a:lnTo>
                      <a:pt x="227" y="247"/>
                    </a:lnTo>
                    <a:lnTo>
                      <a:pt x="232" y="252"/>
                    </a:lnTo>
                    <a:lnTo>
                      <a:pt x="238" y="257"/>
                    </a:lnTo>
                    <a:lnTo>
                      <a:pt x="243" y="264"/>
                    </a:lnTo>
                    <a:lnTo>
                      <a:pt x="245" y="268"/>
                    </a:lnTo>
                    <a:lnTo>
                      <a:pt x="248" y="275"/>
                    </a:lnTo>
                    <a:lnTo>
                      <a:pt x="250" y="283"/>
                    </a:lnTo>
                    <a:lnTo>
                      <a:pt x="253" y="291"/>
                    </a:lnTo>
                    <a:lnTo>
                      <a:pt x="256" y="297"/>
                    </a:lnTo>
                    <a:lnTo>
                      <a:pt x="250" y="293"/>
                    </a:lnTo>
                    <a:lnTo>
                      <a:pt x="243" y="289"/>
                    </a:lnTo>
                    <a:lnTo>
                      <a:pt x="238" y="286"/>
                    </a:lnTo>
                    <a:lnTo>
                      <a:pt x="231" y="281"/>
                    </a:lnTo>
                    <a:lnTo>
                      <a:pt x="224" y="277"/>
                    </a:lnTo>
                    <a:lnTo>
                      <a:pt x="218" y="273"/>
                    </a:lnTo>
                    <a:lnTo>
                      <a:pt x="211" y="269"/>
                    </a:lnTo>
                    <a:lnTo>
                      <a:pt x="204" y="264"/>
                    </a:lnTo>
                    <a:lnTo>
                      <a:pt x="198" y="260"/>
                    </a:lnTo>
                    <a:lnTo>
                      <a:pt x="191" y="256"/>
                    </a:lnTo>
                    <a:lnTo>
                      <a:pt x="186" y="252"/>
                    </a:lnTo>
                    <a:lnTo>
                      <a:pt x="179" y="248"/>
                    </a:lnTo>
                    <a:lnTo>
                      <a:pt x="173" y="245"/>
                    </a:lnTo>
                    <a:lnTo>
                      <a:pt x="166" y="241"/>
                    </a:lnTo>
                    <a:lnTo>
                      <a:pt x="160" y="238"/>
                    </a:lnTo>
                    <a:lnTo>
                      <a:pt x="155" y="237"/>
                    </a:lnTo>
                    <a:lnTo>
                      <a:pt x="150" y="234"/>
                    </a:lnTo>
                    <a:lnTo>
                      <a:pt x="144" y="231"/>
                    </a:lnTo>
                    <a:lnTo>
                      <a:pt x="140" y="229"/>
                    </a:lnTo>
                    <a:lnTo>
                      <a:pt x="136" y="230"/>
                    </a:lnTo>
                    <a:lnTo>
                      <a:pt x="131" y="231"/>
                    </a:lnTo>
                    <a:lnTo>
                      <a:pt x="128" y="231"/>
                    </a:lnTo>
                    <a:lnTo>
                      <a:pt x="123" y="229"/>
                    </a:lnTo>
                    <a:lnTo>
                      <a:pt x="123" y="237"/>
                    </a:lnTo>
                    <a:lnTo>
                      <a:pt x="121" y="246"/>
                    </a:lnTo>
                    <a:lnTo>
                      <a:pt x="124" y="254"/>
                    </a:lnTo>
                    <a:lnTo>
                      <a:pt x="127" y="263"/>
                    </a:lnTo>
                    <a:lnTo>
                      <a:pt x="130" y="271"/>
                    </a:lnTo>
                    <a:lnTo>
                      <a:pt x="132" y="280"/>
                    </a:lnTo>
                    <a:lnTo>
                      <a:pt x="135" y="290"/>
                    </a:lnTo>
                    <a:lnTo>
                      <a:pt x="138" y="302"/>
                    </a:lnTo>
                    <a:lnTo>
                      <a:pt x="139" y="311"/>
                    </a:lnTo>
                    <a:lnTo>
                      <a:pt x="142" y="321"/>
                    </a:lnTo>
                    <a:lnTo>
                      <a:pt x="143" y="330"/>
                    </a:lnTo>
                    <a:lnTo>
                      <a:pt x="145" y="342"/>
                    </a:lnTo>
                    <a:lnTo>
                      <a:pt x="148" y="355"/>
                    </a:lnTo>
                    <a:lnTo>
                      <a:pt x="150" y="373"/>
                    </a:lnTo>
                    <a:lnTo>
                      <a:pt x="130" y="373"/>
                    </a:lnTo>
                    <a:lnTo>
                      <a:pt x="128" y="357"/>
                    </a:lnTo>
                    <a:lnTo>
                      <a:pt x="127" y="346"/>
                    </a:lnTo>
                    <a:lnTo>
                      <a:pt x="124" y="332"/>
                    </a:lnTo>
                    <a:lnTo>
                      <a:pt x="122" y="319"/>
                    </a:lnTo>
                    <a:lnTo>
                      <a:pt x="120" y="308"/>
                    </a:lnTo>
                    <a:lnTo>
                      <a:pt x="118" y="298"/>
                    </a:lnTo>
                    <a:lnTo>
                      <a:pt x="116" y="290"/>
                    </a:lnTo>
                    <a:lnTo>
                      <a:pt x="113" y="279"/>
                    </a:lnTo>
                    <a:lnTo>
                      <a:pt x="109" y="269"/>
                    </a:lnTo>
                    <a:lnTo>
                      <a:pt x="107" y="260"/>
                    </a:lnTo>
                    <a:lnTo>
                      <a:pt x="104" y="258"/>
                    </a:lnTo>
                    <a:lnTo>
                      <a:pt x="101" y="256"/>
                    </a:lnTo>
                    <a:lnTo>
                      <a:pt x="98" y="254"/>
                    </a:lnTo>
                    <a:lnTo>
                      <a:pt x="96" y="255"/>
                    </a:lnTo>
                    <a:lnTo>
                      <a:pt x="93" y="260"/>
                    </a:lnTo>
                    <a:lnTo>
                      <a:pt x="87" y="268"/>
                    </a:lnTo>
                    <a:lnTo>
                      <a:pt x="83" y="274"/>
                    </a:lnTo>
                    <a:lnTo>
                      <a:pt x="79" y="280"/>
                    </a:lnTo>
                    <a:lnTo>
                      <a:pt x="76" y="288"/>
                    </a:lnTo>
                    <a:lnTo>
                      <a:pt x="72" y="293"/>
                    </a:lnTo>
                    <a:lnTo>
                      <a:pt x="68" y="301"/>
                    </a:lnTo>
                    <a:lnTo>
                      <a:pt x="64" y="309"/>
                    </a:lnTo>
                    <a:lnTo>
                      <a:pt x="61" y="318"/>
                    </a:lnTo>
                    <a:lnTo>
                      <a:pt x="57" y="327"/>
                    </a:lnTo>
                    <a:lnTo>
                      <a:pt x="53" y="337"/>
                    </a:lnTo>
                    <a:lnTo>
                      <a:pt x="49" y="348"/>
                    </a:lnTo>
                    <a:lnTo>
                      <a:pt x="44" y="360"/>
                    </a:lnTo>
                    <a:lnTo>
                      <a:pt x="46" y="346"/>
                    </a:lnTo>
                    <a:lnTo>
                      <a:pt x="47" y="336"/>
                    </a:lnTo>
                    <a:lnTo>
                      <a:pt x="48" y="325"/>
                    </a:lnTo>
                    <a:lnTo>
                      <a:pt x="50" y="319"/>
                    </a:lnTo>
                    <a:lnTo>
                      <a:pt x="51" y="314"/>
                    </a:lnTo>
                    <a:lnTo>
                      <a:pt x="54" y="305"/>
                    </a:lnTo>
                    <a:lnTo>
                      <a:pt x="57" y="295"/>
                    </a:lnTo>
                    <a:lnTo>
                      <a:pt x="59" y="288"/>
                    </a:lnTo>
                    <a:lnTo>
                      <a:pt x="64" y="280"/>
                    </a:lnTo>
                    <a:lnTo>
                      <a:pt x="69" y="272"/>
                    </a:lnTo>
                    <a:lnTo>
                      <a:pt x="73" y="263"/>
                    </a:lnTo>
                    <a:lnTo>
                      <a:pt x="78" y="254"/>
                    </a:lnTo>
                    <a:lnTo>
                      <a:pt x="81" y="249"/>
                    </a:lnTo>
                    <a:lnTo>
                      <a:pt x="86" y="244"/>
                    </a:lnTo>
                    <a:lnTo>
                      <a:pt x="91" y="238"/>
                    </a:lnTo>
                    <a:lnTo>
                      <a:pt x="95" y="232"/>
                    </a:lnTo>
                    <a:lnTo>
                      <a:pt x="100" y="226"/>
                    </a:lnTo>
                    <a:lnTo>
                      <a:pt x="105" y="218"/>
                    </a:lnTo>
                    <a:lnTo>
                      <a:pt x="103" y="216"/>
                    </a:lnTo>
                    <a:lnTo>
                      <a:pt x="99" y="212"/>
                    </a:lnTo>
                    <a:lnTo>
                      <a:pt x="96" y="210"/>
                    </a:lnTo>
                    <a:lnTo>
                      <a:pt x="93" y="211"/>
                    </a:lnTo>
                    <a:lnTo>
                      <a:pt x="87" y="216"/>
                    </a:lnTo>
                    <a:lnTo>
                      <a:pt x="82" y="221"/>
                    </a:lnTo>
                    <a:lnTo>
                      <a:pt x="77" y="226"/>
                    </a:lnTo>
                    <a:lnTo>
                      <a:pt x="72" y="232"/>
                    </a:lnTo>
                    <a:lnTo>
                      <a:pt x="67" y="241"/>
                    </a:lnTo>
                    <a:lnTo>
                      <a:pt x="61" y="249"/>
                    </a:lnTo>
                    <a:lnTo>
                      <a:pt x="56" y="255"/>
                    </a:lnTo>
                    <a:lnTo>
                      <a:pt x="52" y="261"/>
                    </a:lnTo>
                    <a:lnTo>
                      <a:pt x="47" y="268"/>
                    </a:lnTo>
                    <a:lnTo>
                      <a:pt x="42" y="276"/>
                    </a:lnTo>
                    <a:lnTo>
                      <a:pt x="38" y="284"/>
                    </a:lnTo>
                    <a:lnTo>
                      <a:pt x="33" y="293"/>
                    </a:lnTo>
                    <a:lnTo>
                      <a:pt x="28" y="301"/>
                    </a:lnTo>
                    <a:lnTo>
                      <a:pt x="24" y="310"/>
                    </a:lnTo>
                    <a:lnTo>
                      <a:pt x="18" y="321"/>
                    </a:lnTo>
                    <a:lnTo>
                      <a:pt x="21" y="307"/>
                    </a:lnTo>
                    <a:lnTo>
                      <a:pt x="22" y="297"/>
                    </a:lnTo>
                    <a:lnTo>
                      <a:pt x="24" y="288"/>
                    </a:lnTo>
                    <a:lnTo>
                      <a:pt x="25" y="286"/>
                    </a:lnTo>
                    <a:lnTo>
                      <a:pt x="28" y="281"/>
                    </a:lnTo>
                    <a:lnTo>
                      <a:pt x="32" y="275"/>
                    </a:lnTo>
                    <a:lnTo>
                      <a:pt x="37" y="269"/>
                    </a:lnTo>
                    <a:lnTo>
                      <a:pt x="42" y="262"/>
                    </a:lnTo>
                    <a:lnTo>
                      <a:pt x="47" y="256"/>
                    </a:lnTo>
                    <a:lnTo>
                      <a:pt x="54" y="248"/>
                    </a:lnTo>
                    <a:lnTo>
                      <a:pt x="58" y="243"/>
                    </a:lnTo>
                    <a:lnTo>
                      <a:pt x="64" y="236"/>
                    </a:lnTo>
                    <a:lnTo>
                      <a:pt x="71" y="229"/>
                    </a:lnTo>
                    <a:lnTo>
                      <a:pt x="77" y="224"/>
                    </a:lnTo>
                    <a:lnTo>
                      <a:pt x="83" y="218"/>
                    </a:lnTo>
                    <a:lnTo>
                      <a:pt x="93" y="210"/>
                    </a:lnTo>
                    <a:lnTo>
                      <a:pt x="98" y="208"/>
                    </a:lnTo>
                    <a:lnTo>
                      <a:pt x="101" y="206"/>
                    </a:lnTo>
                    <a:lnTo>
                      <a:pt x="95" y="202"/>
                    </a:lnTo>
                    <a:lnTo>
                      <a:pt x="90" y="196"/>
                    </a:lnTo>
                    <a:lnTo>
                      <a:pt x="84" y="190"/>
                    </a:lnTo>
                    <a:lnTo>
                      <a:pt x="79" y="185"/>
                    </a:lnTo>
                    <a:lnTo>
                      <a:pt x="73" y="180"/>
                    </a:lnTo>
                    <a:lnTo>
                      <a:pt x="69" y="176"/>
                    </a:lnTo>
                    <a:lnTo>
                      <a:pt x="65" y="170"/>
                    </a:lnTo>
                    <a:lnTo>
                      <a:pt x="58" y="163"/>
                    </a:lnTo>
                    <a:lnTo>
                      <a:pt x="52" y="156"/>
                    </a:lnTo>
                    <a:lnTo>
                      <a:pt x="46" y="148"/>
                    </a:lnTo>
                    <a:lnTo>
                      <a:pt x="39" y="141"/>
                    </a:lnTo>
                    <a:lnTo>
                      <a:pt x="33" y="136"/>
                    </a:lnTo>
                    <a:lnTo>
                      <a:pt x="26" y="129"/>
                    </a:lnTo>
                    <a:lnTo>
                      <a:pt x="22" y="125"/>
                    </a:lnTo>
                    <a:lnTo>
                      <a:pt x="17" y="118"/>
                    </a:lnTo>
                    <a:lnTo>
                      <a:pt x="14" y="112"/>
                    </a:lnTo>
                    <a:lnTo>
                      <a:pt x="10" y="108"/>
                    </a:lnTo>
                    <a:lnTo>
                      <a:pt x="4" y="102"/>
                    </a:lnTo>
                    <a:lnTo>
                      <a:pt x="0" y="98"/>
                    </a:lnTo>
                    <a:lnTo>
                      <a:pt x="3" y="98"/>
                    </a:lnTo>
                    <a:lnTo>
                      <a:pt x="9" y="100"/>
                    </a:lnTo>
                    <a:lnTo>
                      <a:pt x="14" y="101"/>
                    </a:lnTo>
                    <a:lnTo>
                      <a:pt x="20" y="104"/>
                    </a:lnTo>
                    <a:lnTo>
                      <a:pt x="25" y="109"/>
                    </a:lnTo>
                    <a:lnTo>
                      <a:pt x="32" y="115"/>
                    </a:lnTo>
                    <a:lnTo>
                      <a:pt x="38" y="120"/>
                    </a:lnTo>
                    <a:lnTo>
                      <a:pt x="45" y="125"/>
                    </a:lnTo>
                    <a:lnTo>
                      <a:pt x="51" y="132"/>
                    </a:lnTo>
                    <a:lnTo>
                      <a:pt x="58" y="139"/>
                    </a:lnTo>
                    <a:lnTo>
                      <a:pt x="64" y="145"/>
                    </a:lnTo>
                  </a:path>
                </a:pathLst>
              </a:custGeom>
              <a:solidFill>
                <a:srgbClr val="037C03">
                  <a:alpha val="50195"/>
                </a:srgbClr>
              </a:solidFill>
              <a:ln w="9525" cap="rnd">
                <a:noFill/>
                <a:round/>
              </a:ln>
              <a:effectLst/>
            </p:spPr>
            <p:txBody>
              <a:bodyPr/>
              <a:lstStyle/>
              <a:p>
                <a:pPr marL="0" marR="0" lvl="0" indent="0" algn="ctr" defTabSz="914400" rtl="0" eaLnBrk="0" fontAlgn="base" latinLnBrk="0" hangingPunct="0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2400" b="0" i="0" u="none" strike="noStrike" kern="1200" cap="none" spc="0" normalizeH="0" baseline="0" noProof="0">
                  <a:ln>
                    <a:noFill/>
                  </a:ln>
                  <a:solidFill>
                    <a:schemeClr val="tx1"/>
                  </a:solidFill>
                  <a:effectLst/>
                  <a:uLnTx/>
                  <a:uFillTx/>
                  <a:latin typeface="Times New Roman" panose="02020603050405020304" pitchFamily="18" charset="0"/>
                  <a:ea typeface="+mn-ea"/>
                  <a:cs typeface="+mn-cs"/>
                </a:endParaRPr>
              </a:p>
            </p:txBody>
          </p:sp>
        </p:grpSp>
        <p:grpSp>
          <p:nvGrpSpPr>
            <p:cNvPr id="2066" name="Group 18"/>
            <p:cNvGrpSpPr/>
            <p:nvPr/>
          </p:nvGrpSpPr>
          <p:grpSpPr>
            <a:xfrm>
              <a:off x="300" y="3360"/>
              <a:ext cx="508" cy="820"/>
              <a:chOff x="1985" y="1201"/>
              <a:chExt cx="508" cy="820"/>
            </a:xfrm>
          </p:grpSpPr>
          <p:grpSp>
            <p:nvGrpSpPr>
              <p:cNvPr id="2067" name="Group 19"/>
              <p:cNvGrpSpPr/>
              <p:nvPr/>
            </p:nvGrpSpPr>
            <p:grpSpPr>
              <a:xfrm>
                <a:off x="2247" y="1201"/>
                <a:ext cx="246" cy="810"/>
                <a:chOff x="2247" y="1201"/>
                <a:chExt cx="246" cy="810"/>
              </a:xfrm>
            </p:grpSpPr>
            <p:sp>
              <p:nvSpPr>
                <p:cNvPr id="2069" name="Freeform 20"/>
                <p:cNvSpPr/>
                <p:nvPr/>
              </p:nvSpPr>
              <p:spPr bwMode="ltGray">
                <a:xfrm>
                  <a:off x="2392" y="1373"/>
                  <a:ext cx="92" cy="638"/>
                </a:xfrm>
                <a:custGeom>
                  <a:avLst/>
                  <a:gdLst>
                    <a:gd name="T0" fmla="*/ 91 w 92"/>
                    <a:gd name="T1" fmla="*/ 296 h 638"/>
                    <a:gd name="T2" fmla="*/ 83 w 92"/>
                    <a:gd name="T3" fmla="*/ 425 h 638"/>
                    <a:gd name="T4" fmla="*/ 75 w 92"/>
                    <a:gd name="T5" fmla="*/ 529 h 638"/>
                    <a:gd name="T6" fmla="*/ 70 w 92"/>
                    <a:gd name="T7" fmla="*/ 606 h 638"/>
                    <a:gd name="T8" fmla="*/ 71 w 92"/>
                    <a:gd name="T9" fmla="*/ 637 h 638"/>
                    <a:gd name="T10" fmla="*/ 60 w 92"/>
                    <a:gd name="T11" fmla="*/ 637 h 638"/>
                    <a:gd name="T12" fmla="*/ 57 w 92"/>
                    <a:gd name="T13" fmla="*/ 592 h 638"/>
                    <a:gd name="T14" fmla="*/ 55 w 92"/>
                    <a:gd name="T15" fmla="*/ 524 h 638"/>
                    <a:gd name="T16" fmla="*/ 51 w 92"/>
                    <a:gd name="T17" fmla="*/ 461 h 638"/>
                    <a:gd name="T18" fmla="*/ 49 w 92"/>
                    <a:gd name="T19" fmla="*/ 414 h 638"/>
                    <a:gd name="T20" fmla="*/ 45 w 92"/>
                    <a:gd name="T21" fmla="*/ 345 h 638"/>
                    <a:gd name="T22" fmla="*/ 40 w 92"/>
                    <a:gd name="T23" fmla="*/ 285 h 638"/>
                    <a:gd name="T24" fmla="*/ 35 w 92"/>
                    <a:gd name="T25" fmla="*/ 233 h 638"/>
                    <a:gd name="T26" fmla="*/ 31 w 92"/>
                    <a:gd name="T27" fmla="*/ 177 h 638"/>
                    <a:gd name="T28" fmla="*/ 24 w 92"/>
                    <a:gd name="T29" fmla="*/ 121 h 638"/>
                    <a:gd name="T30" fmla="*/ 17 w 92"/>
                    <a:gd name="T31" fmla="*/ 74 h 638"/>
                    <a:gd name="T32" fmla="*/ 4 w 92"/>
                    <a:gd name="T33" fmla="*/ 28 h 638"/>
                    <a:gd name="T34" fmla="*/ 0 w 92"/>
                    <a:gd name="T35" fmla="*/ 10 h 638"/>
                    <a:gd name="T36" fmla="*/ 5 w 92"/>
                    <a:gd name="T37" fmla="*/ 0 h 638"/>
                    <a:gd name="T38" fmla="*/ 13 w 92"/>
                    <a:gd name="T39" fmla="*/ 18 h 638"/>
                    <a:gd name="T40" fmla="*/ 24 w 92"/>
                    <a:gd name="T41" fmla="*/ 61 h 638"/>
                    <a:gd name="T42" fmla="*/ 33 w 92"/>
                    <a:gd name="T43" fmla="*/ 104 h 638"/>
                    <a:gd name="T44" fmla="*/ 40 w 92"/>
                    <a:gd name="T45" fmla="*/ 150 h 638"/>
                    <a:gd name="T46" fmla="*/ 44 w 92"/>
                    <a:gd name="T47" fmla="*/ 208 h 638"/>
                    <a:gd name="T48" fmla="*/ 48 w 92"/>
                    <a:gd name="T49" fmla="*/ 263 h 638"/>
                    <a:gd name="T50" fmla="*/ 55 w 92"/>
                    <a:gd name="T51" fmla="*/ 337 h 638"/>
                    <a:gd name="T52" fmla="*/ 59 w 92"/>
                    <a:gd name="T53" fmla="*/ 398 h 638"/>
                    <a:gd name="T54" fmla="*/ 61 w 92"/>
                    <a:gd name="T55" fmla="*/ 447 h 638"/>
                    <a:gd name="T56" fmla="*/ 63 w 92"/>
                    <a:gd name="T57" fmla="*/ 498 h 638"/>
                    <a:gd name="T58" fmla="*/ 68 w 92"/>
                    <a:gd name="T59" fmla="*/ 550 h 638"/>
                    <a:gd name="T60" fmla="*/ 73 w 92"/>
                    <a:gd name="T61" fmla="*/ 460 h 638"/>
                    <a:gd name="T62" fmla="*/ 80 w 92"/>
                    <a:gd name="T63" fmla="*/ 376 h 638"/>
                    <a:gd name="T64" fmla="*/ 91 w 92"/>
                    <a:gd name="T65" fmla="*/ 296 h 638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92" h="638">
                      <a:moveTo>
                        <a:pt x="91" y="296"/>
                      </a:moveTo>
                      <a:lnTo>
                        <a:pt x="83" y="425"/>
                      </a:lnTo>
                      <a:lnTo>
                        <a:pt x="75" y="529"/>
                      </a:lnTo>
                      <a:lnTo>
                        <a:pt x="70" y="606"/>
                      </a:lnTo>
                      <a:lnTo>
                        <a:pt x="71" y="637"/>
                      </a:lnTo>
                      <a:lnTo>
                        <a:pt x="60" y="637"/>
                      </a:lnTo>
                      <a:lnTo>
                        <a:pt x="57" y="592"/>
                      </a:lnTo>
                      <a:lnTo>
                        <a:pt x="55" y="524"/>
                      </a:lnTo>
                      <a:lnTo>
                        <a:pt x="51" y="461"/>
                      </a:lnTo>
                      <a:lnTo>
                        <a:pt x="49" y="414"/>
                      </a:lnTo>
                      <a:lnTo>
                        <a:pt x="45" y="345"/>
                      </a:lnTo>
                      <a:lnTo>
                        <a:pt x="40" y="285"/>
                      </a:lnTo>
                      <a:lnTo>
                        <a:pt x="35" y="233"/>
                      </a:lnTo>
                      <a:lnTo>
                        <a:pt x="31" y="177"/>
                      </a:lnTo>
                      <a:lnTo>
                        <a:pt x="24" y="121"/>
                      </a:lnTo>
                      <a:lnTo>
                        <a:pt x="17" y="74"/>
                      </a:lnTo>
                      <a:lnTo>
                        <a:pt x="4" y="28"/>
                      </a:lnTo>
                      <a:lnTo>
                        <a:pt x="0" y="10"/>
                      </a:lnTo>
                      <a:lnTo>
                        <a:pt x="5" y="0"/>
                      </a:lnTo>
                      <a:lnTo>
                        <a:pt x="13" y="18"/>
                      </a:lnTo>
                      <a:lnTo>
                        <a:pt x="24" y="61"/>
                      </a:lnTo>
                      <a:lnTo>
                        <a:pt x="33" y="104"/>
                      </a:lnTo>
                      <a:lnTo>
                        <a:pt x="40" y="150"/>
                      </a:lnTo>
                      <a:lnTo>
                        <a:pt x="44" y="208"/>
                      </a:lnTo>
                      <a:lnTo>
                        <a:pt x="48" y="263"/>
                      </a:lnTo>
                      <a:lnTo>
                        <a:pt x="55" y="337"/>
                      </a:lnTo>
                      <a:lnTo>
                        <a:pt x="59" y="398"/>
                      </a:lnTo>
                      <a:lnTo>
                        <a:pt x="61" y="447"/>
                      </a:lnTo>
                      <a:lnTo>
                        <a:pt x="63" y="498"/>
                      </a:lnTo>
                      <a:lnTo>
                        <a:pt x="68" y="550"/>
                      </a:lnTo>
                      <a:lnTo>
                        <a:pt x="73" y="460"/>
                      </a:lnTo>
                      <a:lnTo>
                        <a:pt x="80" y="376"/>
                      </a:lnTo>
                      <a:lnTo>
                        <a:pt x="91" y="296"/>
                      </a:lnTo>
                    </a:path>
                  </a:pathLst>
                </a:custGeom>
                <a:solidFill>
                  <a:srgbClr val="3C0023">
                    <a:alpha val="50195"/>
                  </a:srgbClr>
                </a:solidFill>
                <a:ln w="9525" cap="rnd">
                  <a:noFill/>
                  <a:round/>
                </a:ln>
                <a:effectLst/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70" name="Freeform 21"/>
                <p:cNvSpPr/>
                <p:nvPr/>
              </p:nvSpPr>
              <p:spPr bwMode="ltGray">
                <a:xfrm>
                  <a:off x="2247" y="1201"/>
                  <a:ext cx="246" cy="466"/>
                </a:xfrm>
                <a:custGeom>
                  <a:avLst/>
                  <a:gdLst>
                    <a:gd name="T0" fmla="*/ 136 w 246"/>
                    <a:gd name="T1" fmla="*/ 67 h 466"/>
                    <a:gd name="T2" fmla="*/ 105 w 246"/>
                    <a:gd name="T3" fmla="*/ 12 h 466"/>
                    <a:gd name="T4" fmla="*/ 55 w 246"/>
                    <a:gd name="T5" fmla="*/ 1 h 466"/>
                    <a:gd name="T6" fmla="*/ 58 w 246"/>
                    <a:gd name="T7" fmla="*/ 12 h 466"/>
                    <a:gd name="T8" fmla="*/ 96 w 246"/>
                    <a:gd name="T9" fmla="*/ 39 h 466"/>
                    <a:gd name="T10" fmla="*/ 130 w 246"/>
                    <a:gd name="T11" fmla="*/ 134 h 466"/>
                    <a:gd name="T12" fmla="*/ 73 w 246"/>
                    <a:gd name="T13" fmla="*/ 85 h 466"/>
                    <a:gd name="T14" fmla="*/ 32 w 246"/>
                    <a:gd name="T15" fmla="*/ 75 h 466"/>
                    <a:gd name="T16" fmla="*/ 7 w 246"/>
                    <a:gd name="T17" fmla="*/ 103 h 466"/>
                    <a:gd name="T18" fmla="*/ 38 w 246"/>
                    <a:gd name="T19" fmla="*/ 103 h 466"/>
                    <a:gd name="T20" fmla="*/ 108 w 246"/>
                    <a:gd name="T21" fmla="*/ 129 h 466"/>
                    <a:gd name="T22" fmla="*/ 104 w 246"/>
                    <a:gd name="T23" fmla="*/ 146 h 466"/>
                    <a:gd name="T24" fmla="*/ 92 w 246"/>
                    <a:gd name="T25" fmla="*/ 171 h 466"/>
                    <a:gd name="T26" fmla="*/ 126 w 246"/>
                    <a:gd name="T27" fmla="*/ 170 h 466"/>
                    <a:gd name="T28" fmla="*/ 69 w 246"/>
                    <a:gd name="T29" fmla="*/ 193 h 466"/>
                    <a:gd name="T30" fmla="*/ 37 w 246"/>
                    <a:gd name="T31" fmla="*/ 233 h 466"/>
                    <a:gd name="T32" fmla="*/ 6 w 246"/>
                    <a:gd name="T33" fmla="*/ 325 h 466"/>
                    <a:gd name="T34" fmla="*/ 72 w 246"/>
                    <a:gd name="T35" fmla="*/ 231 h 466"/>
                    <a:gd name="T36" fmla="*/ 118 w 246"/>
                    <a:gd name="T37" fmla="*/ 194 h 466"/>
                    <a:gd name="T38" fmla="*/ 94 w 246"/>
                    <a:gd name="T39" fmla="*/ 269 h 466"/>
                    <a:gd name="T40" fmla="*/ 76 w 246"/>
                    <a:gd name="T41" fmla="*/ 338 h 466"/>
                    <a:gd name="T42" fmla="*/ 71 w 246"/>
                    <a:gd name="T43" fmla="*/ 408 h 466"/>
                    <a:gd name="T44" fmla="*/ 98 w 246"/>
                    <a:gd name="T45" fmla="*/ 303 h 466"/>
                    <a:gd name="T46" fmla="*/ 124 w 246"/>
                    <a:gd name="T47" fmla="*/ 236 h 466"/>
                    <a:gd name="T48" fmla="*/ 125 w 246"/>
                    <a:gd name="T49" fmla="*/ 214 h 466"/>
                    <a:gd name="T50" fmla="*/ 118 w 246"/>
                    <a:gd name="T51" fmla="*/ 323 h 466"/>
                    <a:gd name="T52" fmla="*/ 138 w 246"/>
                    <a:gd name="T53" fmla="*/ 439 h 466"/>
                    <a:gd name="T54" fmla="*/ 128 w 246"/>
                    <a:gd name="T55" fmla="*/ 313 h 466"/>
                    <a:gd name="T56" fmla="*/ 127 w 246"/>
                    <a:gd name="T57" fmla="*/ 223 h 466"/>
                    <a:gd name="T58" fmla="*/ 147 w 246"/>
                    <a:gd name="T59" fmla="*/ 189 h 466"/>
                    <a:gd name="T60" fmla="*/ 188 w 246"/>
                    <a:gd name="T61" fmla="*/ 298 h 466"/>
                    <a:gd name="T62" fmla="*/ 223 w 246"/>
                    <a:gd name="T63" fmla="*/ 411 h 466"/>
                    <a:gd name="T64" fmla="*/ 193 w 246"/>
                    <a:gd name="T65" fmla="*/ 292 h 466"/>
                    <a:gd name="T66" fmla="*/ 160 w 246"/>
                    <a:gd name="T67" fmla="*/ 190 h 466"/>
                    <a:gd name="T68" fmla="*/ 164 w 246"/>
                    <a:gd name="T69" fmla="*/ 121 h 466"/>
                    <a:gd name="T70" fmla="*/ 194 w 246"/>
                    <a:gd name="T71" fmla="*/ 130 h 466"/>
                    <a:gd name="T72" fmla="*/ 240 w 246"/>
                    <a:gd name="T73" fmla="*/ 125 h 466"/>
                    <a:gd name="T74" fmla="*/ 216 w 246"/>
                    <a:gd name="T75" fmla="*/ 122 h 466"/>
                    <a:gd name="T76" fmla="*/ 163 w 246"/>
                    <a:gd name="T77" fmla="*/ 144 h 466"/>
                    <a:gd name="T78" fmla="*/ 194 w 246"/>
                    <a:gd name="T79" fmla="*/ 109 h 466"/>
                    <a:gd name="T80" fmla="*/ 244 w 246"/>
                    <a:gd name="T81" fmla="*/ 101 h 466"/>
                    <a:gd name="T82" fmla="*/ 229 w 246"/>
                    <a:gd name="T83" fmla="*/ 88 h 466"/>
                    <a:gd name="T84" fmla="*/ 163 w 246"/>
                    <a:gd name="T85" fmla="*/ 138 h 466"/>
                    <a:gd name="T86" fmla="*/ 172 w 246"/>
                    <a:gd name="T87" fmla="*/ 99 h 466"/>
                    <a:gd name="T88" fmla="*/ 226 w 246"/>
                    <a:gd name="T89" fmla="*/ 61 h 466"/>
                    <a:gd name="T90" fmla="*/ 188 w 246"/>
                    <a:gd name="T91" fmla="*/ 82 h 466"/>
                    <a:gd name="T92" fmla="*/ 147 w 246"/>
                    <a:gd name="T93" fmla="*/ 109 h 46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  <a:gd name="T99" fmla="*/ 0 60000 65536"/>
                    <a:gd name="T100" fmla="*/ 0 60000 65536"/>
                    <a:gd name="T101" fmla="*/ 0 60000 65536"/>
                    <a:gd name="T102" fmla="*/ 0 60000 65536"/>
                    <a:gd name="T103" fmla="*/ 0 60000 65536"/>
                    <a:gd name="T104" fmla="*/ 0 60000 65536"/>
                    <a:gd name="T105" fmla="*/ 0 60000 65536"/>
                    <a:gd name="T106" fmla="*/ 0 60000 65536"/>
                    <a:gd name="T107" fmla="*/ 0 60000 65536"/>
                    <a:gd name="T108" fmla="*/ 0 60000 65536"/>
                    <a:gd name="T109" fmla="*/ 0 60000 65536"/>
                    <a:gd name="T110" fmla="*/ 0 60000 65536"/>
                    <a:gd name="T111" fmla="*/ 0 60000 65536"/>
                    <a:gd name="T112" fmla="*/ 0 60000 65536"/>
                    <a:gd name="T113" fmla="*/ 0 60000 65536"/>
                    <a:gd name="T114" fmla="*/ 0 60000 65536"/>
                    <a:gd name="T115" fmla="*/ 0 60000 65536"/>
                    <a:gd name="T116" fmla="*/ 0 60000 65536"/>
                    <a:gd name="T117" fmla="*/ 0 60000 65536"/>
                    <a:gd name="T118" fmla="*/ 0 60000 65536"/>
                    <a:gd name="T119" fmla="*/ 0 60000 65536"/>
                    <a:gd name="T120" fmla="*/ 0 60000 65536"/>
                    <a:gd name="T121" fmla="*/ 0 60000 65536"/>
                    <a:gd name="T122" fmla="*/ 0 60000 65536"/>
                    <a:gd name="T123" fmla="*/ 0 60000 65536"/>
                    <a:gd name="T124" fmla="*/ 0 60000 65536"/>
                    <a:gd name="T125" fmla="*/ 0 60000 65536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</a:gdLst>
                  <a:ahLst/>
                  <a:cxnLst>
                    <a:cxn ang="T94">
                      <a:pos x="T0" y="T1"/>
                    </a:cxn>
                    <a:cxn ang="T95">
                      <a:pos x="T2" y="T3"/>
                    </a:cxn>
                    <a:cxn ang="T96">
                      <a:pos x="T4" y="T5"/>
                    </a:cxn>
                    <a:cxn ang="T97">
                      <a:pos x="T6" y="T7"/>
                    </a:cxn>
                    <a:cxn ang="T98">
                      <a:pos x="T8" y="T9"/>
                    </a:cxn>
                    <a:cxn ang="T99">
                      <a:pos x="T10" y="T11"/>
                    </a:cxn>
                    <a:cxn ang="T100">
                      <a:pos x="T12" y="T13"/>
                    </a:cxn>
                    <a:cxn ang="T101">
                      <a:pos x="T14" y="T15"/>
                    </a:cxn>
                    <a:cxn ang="T102">
                      <a:pos x="T16" y="T17"/>
                    </a:cxn>
                    <a:cxn ang="T103">
                      <a:pos x="T18" y="T19"/>
                    </a:cxn>
                    <a:cxn ang="T104">
                      <a:pos x="T20" y="T21"/>
                    </a:cxn>
                    <a:cxn ang="T105">
                      <a:pos x="T22" y="T23"/>
                    </a:cxn>
                    <a:cxn ang="T106">
                      <a:pos x="T24" y="T25"/>
                    </a:cxn>
                    <a:cxn ang="T107">
                      <a:pos x="T26" y="T27"/>
                    </a:cxn>
                    <a:cxn ang="T108">
                      <a:pos x="T28" y="T29"/>
                    </a:cxn>
                    <a:cxn ang="T109">
                      <a:pos x="T30" y="T31"/>
                    </a:cxn>
                    <a:cxn ang="T110">
                      <a:pos x="T32" y="T33"/>
                    </a:cxn>
                    <a:cxn ang="T111">
                      <a:pos x="T34" y="T35"/>
                    </a:cxn>
                    <a:cxn ang="T112">
                      <a:pos x="T36" y="T37"/>
                    </a:cxn>
                    <a:cxn ang="T113">
                      <a:pos x="T38" y="T39"/>
                    </a:cxn>
                    <a:cxn ang="T114">
                      <a:pos x="T40" y="T41"/>
                    </a:cxn>
                    <a:cxn ang="T115">
                      <a:pos x="T42" y="T43"/>
                    </a:cxn>
                    <a:cxn ang="T116">
                      <a:pos x="T44" y="T45"/>
                    </a:cxn>
                    <a:cxn ang="T117">
                      <a:pos x="T46" y="T47"/>
                    </a:cxn>
                    <a:cxn ang="T118">
                      <a:pos x="T48" y="T49"/>
                    </a:cxn>
                    <a:cxn ang="T119">
                      <a:pos x="T50" y="T51"/>
                    </a:cxn>
                    <a:cxn ang="T120">
                      <a:pos x="T52" y="T53"/>
                    </a:cxn>
                    <a:cxn ang="T121">
                      <a:pos x="T54" y="T55"/>
                    </a:cxn>
                    <a:cxn ang="T122">
                      <a:pos x="T56" y="T57"/>
                    </a:cxn>
                    <a:cxn ang="T123">
                      <a:pos x="T58" y="T59"/>
                    </a:cxn>
                    <a:cxn ang="T124">
                      <a:pos x="T60" y="T61"/>
                    </a:cxn>
                    <a:cxn ang="T125">
                      <a:pos x="T62" y="T63"/>
                    </a:cxn>
                    <a:cxn ang="T126">
                      <a:pos x="T64" y="T65"/>
                    </a:cxn>
                    <a:cxn ang="T127">
                      <a:pos x="T66" y="T67"/>
                    </a:cxn>
                    <a:cxn ang="T128">
                      <a:pos x="T68" y="T69"/>
                    </a:cxn>
                    <a:cxn ang="T129">
                      <a:pos x="T70" y="T71"/>
                    </a:cxn>
                    <a:cxn ang="T130">
                      <a:pos x="T72" y="T73"/>
                    </a:cxn>
                    <a:cxn ang="T131">
                      <a:pos x="T74" y="T75"/>
                    </a:cxn>
                    <a:cxn ang="T132">
                      <a:pos x="T76" y="T77"/>
                    </a:cxn>
                    <a:cxn ang="T133">
                      <a:pos x="T78" y="T79"/>
                    </a:cxn>
                    <a:cxn ang="T134">
                      <a:pos x="T80" y="T81"/>
                    </a:cxn>
                    <a:cxn ang="T135">
                      <a:pos x="T82" y="T83"/>
                    </a:cxn>
                    <a:cxn ang="T136">
                      <a:pos x="T84" y="T85"/>
                    </a:cxn>
                    <a:cxn ang="T137">
                      <a:pos x="T86" y="T87"/>
                    </a:cxn>
                    <a:cxn ang="T138">
                      <a:pos x="T88" y="T89"/>
                    </a:cxn>
                    <a:cxn ang="T139">
                      <a:pos x="T90" y="T91"/>
                    </a:cxn>
                    <a:cxn ang="T140">
                      <a:pos x="T92" y="T93"/>
                    </a:cxn>
                  </a:cxnLst>
                  <a:rect l="0" t="0" r="r" b="b"/>
                  <a:pathLst>
                    <a:path w="246" h="466">
                      <a:moveTo>
                        <a:pt x="147" y="109"/>
                      </a:moveTo>
                      <a:lnTo>
                        <a:pt x="143" y="88"/>
                      </a:lnTo>
                      <a:lnTo>
                        <a:pt x="136" y="67"/>
                      </a:lnTo>
                      <a:lnTo>
                        <a:pt x="127" y="44"/>
                      </a:lnTo>
                      <a:lnTo>
                        <a:pt x="117" y="27"/>
                      </a:lnTo>
                      <a:lnTo>
                        <a:pt x="105" y="12"/>
                      </a:lnTo>
                      <a:lnTo>
                        <a:pt x="89" y="5"/>
                      </a:lnTo>
                      <a:lnTo>
                        <a:pt x="69" y="0"/>
                      </a:lnTo>
                      <a:lnTo>
                        <a:pt x="55" y="1"/>
                      </a:lnTo>
                      <a:lnTo>
                        <a:pt x="39" y="0"/>
                      </a:lnTo>
                      <a:lnTo>
                        <a:pt x="49" y="11"/>
                      </a:lnTo>
                      <a:lnTo>
                        <a:pt x="58" y="12"/>
                      </a:lnTo>
                      <a:lnTo>
                        <a:pt x="69" y="19"/>
                      </a:lnTo>
                      <a:lnTo>
                        <a:pt x="80" y="25"/>
                      </a:lnTo>
                      <a:lnTo>
                        <a:pt x="96" y="39"/>
                      </a:lnTo>
                      <a:lnTo>
                        <a:pt x="109" y="58"/>
                      </a:lnTo>
                      <a:lnTo>
                        <a:pt x="118" y="82"/>
                      </a:lnTo>
                      <a:lnTo>
                        <a:pt x="130" y="134"/>
                      </a:lnTo>
                      <a:lnTo>
                        <a:pt x="96" y="99"/>
                      </a:lnTo>
                      <a:lnTo>
                        <a:pt x="85" y="91"/>
                      </a:lnTo>
                      <a:lnTo>
                        <a:pt x="73" y="85"/>
                      </a:lnTo>
                      <a:lnTo>
                        <a:pt x="61" y="83"/>
                      </a:lnTo>
                      <a:lnTo>
                        <a:pt x="54" y="80"/>
                      </a:lnTo>
                      <a:lnTo>
                        <a:pt x="32" y="75"/>
                      </a:lnTo>
                      <a:lnTo>
                        <a:pt x="0" y="72"/>
                      </a:lnTo>
                      <a:lnTo>
                        <a:pt x="0" y="103"/>
                      </a:lnTo>
                      <a:lnTo>
                        <a:pt x="7" y="103"/>
                      </a:lnTo>
                      <a:lnTo>
                        <a:pt x="17" y="104"/>
                      </a:lnTo>
                      <a:lnTo>
                        <a:pt x="29" y="103"/>
                      </a:lnTo>
                      <a:lnTo>
                        <a:pt x="38" y="103"/>
                      </a:lnTo>
                      <a:lnTo>
                        <a:pt x="62" y="107"/>
                      </a:lnTo>
                      <a:lnTo>
                        <a:pt x="72" y="111"/>
                      </a:lnTo>
                      <a:lnTo>
                        <a:pt x="108" y="129"/>
                      </a:lnTo>
                      <a:lnTo>
                        <a:pt x="127" y="144"/>
                      </a:lnTo>
                      <a:lnTo>
                        <a:pt x="113" y="146"/>
                      </a:lnTo>
                      <a:lnTo>
                        <a:pt x="104" y="146"/>
                      </a:lnTo>
                      <a:lnTo>
                        <a:pt x="89" y="161"/>
                      </a:lnTo>
                      <a:lnTo>
                        <a:pt x="82" y="183"/>
                      </a:lnTo>
                      <a:lnTo>
                        <a:pt x="92" y="171"/>
                      </a:lnTo>
                      <a:lnTo>
                        <a:pt x="120" y="155"/>
                      </a:lnTo>
                      <a:lnTo>
                        <a:pt x="137" y="162"/>
                      </a:lnTo>
                      <a:lnTo>
                        <a:pt x="126" y="170"/>
                      </a:lnTo>
                      <a:lnTo>
                        <a:pt x="113" y="171"/>
                      </a:lnTo>
                      <a:lnTo>
                        <a:pt x="79" y="189"/>
                      </a:lnTo>
                      <a:lnTo>
                        <a:pt x="69" y="193"/>
                      </a:lnTo>
                      <a:lnTo>
                        <a:pt x="57" y="199"/>
                      </a:lnTo>
                      <a:lnTo>
                        <a:pt x="48" y="209"/>
                      </a:lnTo>
                      <a:lnTo>
                        <a:pt x="37" y="233"/>
                      </a:lnTo>
                      <a:lnTo>
                        <a:pt x="31" y="251"/>
                      </a:lnTo>
                      <a:lnTo>
                        <a:pt x="13" y="310"/>
                      </a:lnTo>
                      <a:lnTo>
                        <a:pt x="6" y="325"/>
                      </a:lnTo>
                      <a:lnTo>
                        <a:pt x="36" y="281"/>
                      </a:lnTo>
                      <a:lnTo>
                        <a:pt x="50" y="265"/>
                      </a:lnTo>
                      <a:lnTo>
                        <a:pt x="72" y="231"/>
                      </a:lnTo>
                      <a:lnTo>
                        <a:pt x="83" y="218"/>
                      </a:lnTo>
                      <a:lnTo>
                        <a:pt x="92" y="209"/>
                      </a:lnTo>
                      <a:lnTo>
                        <a:pt x="118" y="194"/>
                      </a:lnTo>
                      <a:lnTo>
                        <a:pt x="132" y="181"/>
                      </a:lnTo>
                      <a:lnTo>
                        <a:pt x="121" y="195"/>
                      </a:lnTo>
                      <a:lnTo>
                        <a:pt x="94" y="269"/>
                      </a:lnTo>
                      <a:lnTo>
                        <a:pt x="84" y="302"/>
                      </a:lnTo>
                      <a:lnTo>
                        <a:pt x="79" y="320"/>
                      </a:lnTo>
                      <a:lnTo>
                        <a:pt x="76" y="338"/>
                      </a:lnTo>
                      <a:lnTo>
                        <a:pt x="75" y="359"/>
                      </a:lnTo>
                      <a:lnTo>
                        <a:pt x="74" y="375"/>
                      </a:lnTo>
                      <a:lnTo>
                        <a:pt x="71" y="408"/>
                      </a:lnTo>
                      <a:lnTo>
                        <a:pt x="84" y="375"/>
                      </a:lnTo>
                      <a:lnTo>
                        <a:pt x="92" y="330"/>
                      </a:lnTo>
                      <a:lnTo>
                        <a:pt x="98" y="303"/>
                      </a:lnTo>
                      <a:lnTo>
                        <a:pt x="104" y="286"/>
                      </a:lnTo>
                      <a:lnTo>
                        <a:pt x="118" y="252"/>
                      </a:lnTo>
                      <a:lnTo>
                        <a:pt x="124" y="236"/>
                      </a:lnTo>
                      <a:lnTo>
                        <a:pt x="128" y="216"/>
                      </a:lnTo>
                      <a:lnTo>
                        <a:pt x="137" y="188"/>
                      </a:lnTo>
                      <a:lnTo>
                        <a:pt x="125" y="214"/>
                      </a:lnTo>
                      <a:lnTo>
                        <a:pt x="119" y="243"/>
                      </a:lnTo>
                      <a:lnTo>
                        <a:pt x="117" y="302"/>
                      </a:lnTo>
                      <a:lnTo>
                        <a:pt x="118" y="323"/>
                      </a:lnTo>
                      <a:lnTo>
                        <a:pt x="120" y="362"/>
                      </a:lnTo>
                      <a:lnTo>
                        <a:pt x="123" y="377"/>
                      </a:lnTo>
                      <a:lnTo>
                        <a:pt x="138" y="439"/>
                      </a:lnTo>
                      <a:lnTo>
                        <a:pt x="141" y="465"/>
                      </a:lnTo>
                      <a:lnTo>
                        <a:pt x="137" y="379"/>
                      </a:lnTo>
                      <a:lnTo>
                        <a:pt x="128" y="313"/>
                      </a:lnTo>
                      <a:lnTo>
                        <a:pt x="126" y="291"/>
                      </a:lnTo>
                      <a:lnTo>
                        <a:pt x="125" y="238"/>
                      </a:lnTo>
                      <a:lnTo>
                        <a:pt x="127" y="223"/>
                      </a:lnTo>
                      <a:lnTo>
                        <a:pt x="133" y="196"/>
                      </a:lnTo>
                      <a:lnTo>
                        <a:pt x="138" y="179"/>
                      </a:lnTo>
                      <a:lnTo>
                        <a:pt x="147" y="189"/>
                      </a:lnTo>
                      <a:lnTo>
                        <a:pt x="161" y="212"/>
                      </a:lnTo>
                      <a:lnTo>
                        <a:pt x="177" y="259"/>
                      </a:lnTo>
                      <a:lnTo>
                        <a:pt x="188" y="298"/>
                      </a:lnTo>
                      <a:lnTo>
                        <a:pt x="197" y="333"/>
                      </a:lnTo>
                      <a:lnTo>
                        <a:pt x="213" y="384"/>
                      </a:lnTo>
                      <a:lnTo>
                        <a:pt x="223" y="411"/>
                      </a:lnTo>
                      <a:lnTo>
                        <a:pt x="232" y="429"/>
                      </a:lnTo>
                      <a:lnTo>
                        <a:pt x="228" y="403"/>
                      </a:lnTo>
                      <a:lnTo>
                        <a:pt x="193" y="292"/>
                      </a:lnTo>
                      <a:lnTo>
                        <a:pt x="171" y="232"/>
                      </a:lnTo>
                      <a:lnTo>
                        <a:pt x="165" y="210"/>
                      </a:lnTo>
                      <a:lnTo>
                        <a:pt x="160" y="190"/>
                      </a:lnTo>
                      <a:lnTo>
                        <a:pt x="144" y="150"/>
                      </a:lnTo>
                      <a:lnTo>
                        <a:pt x="147" y="132"/>
                      </a:lnTo>
                      <a:lnTo>
                        <a:pt x="164" y="121"/>
                      </a:lnTo>
                      <a:lnTo>
                        <a:pt x="172" y="125"/>
                      </a:lnTo>
                      <a:lnTo>
                        <a:pt x="183" y="126"/>
                      </a:lnTo>
                      <a:lnTo>
                        <a:pt x="194" y="130"/>
                      </a:lnTo>
                      <a:lnTo>
                        <a:pt x="239" y="136"/>
                      </a:lnTo>
                      <a:lnTo>
                        <a:pt x="236" y="136"/>
                      </a:lnTo>
                      <a:lnTo>
                        <a:pt x="240" y="125"/>
                      </a:lnTo>
                      <a:lnTo>
                        <a:pt x="242" y="125"/>
                      </a:lnTo>
                      <a:lnTo>
                        <a:pt x="230" y="122"/>
                      </a:lnTo>
                      <a:lnTo>
                        <a:pt x="216" y="122"/>
                      </a:lnTo>
                      <a:lnTo>
                        <a:pt x="199" y="127"/>
                      </a:lnTo>
                      <a:lnTo>
                        <a:pt x="180" y="135"/>
                      </a:lnTo>
                      <a:lnTo>
                        <a:pt x="163" y="144"/>
                      </a:lnTo>
                      <a:lnTo>
                        <a:pt x="150" y="149"/>
                      </a:lnTo>
                      <a:lnTo>
                        <a:pt x="168" y="129"/>
                      </a:lnTo>
                      <a:lnTo>
                        <a:pt x="194" y="109"/>
                      </a:lnTo>
                      <a:lnTo>
                        <a:pt x="220" y="100"/>
                      </a:lnTo>
                      <a:lnTo>
                        <a:pt x="232" y="100"/>
                      </a:lnTo>
                      <a:lnTo>
                        <a:pt x="244" y="101"/>
                      </a:lnTo>
                      <a:lnTo>
                        <a:pt x="239" y="101"/>
                      </a:lnTo>
                      <a:lnTo>
                        <a:pt x="245" y="85"/>
                      </a:lnTo>
                      <a:lnTo>
                        <a:pt x="229" y="88"/>
                      </a:lnTo>
                      <a:lnTo>
                        <a:pt x="212" y="97"/>
                      </a:lnTo>
                      <a:lnTo>
                        <a:pt x="193" y="111"/>
                      </a:lnTo>
                      <a:lnTo>
                        <a:pt x="163" y="138"/>
                      </a:lnTo>
                      <a:lnTo>
                        <a:pt x="150" y="149"/>
                      </a:lnTo>
                      <a:lnTo>
                        <a:pt x="157" y="114"/>
                      </a:lnTo>
                      <a:lnTo>
                        <a:pt x="172" y="99"/>
                      </a:lnTo>
                      <a:lnTo>
                        <a:pt x="190" y="85"/>
                      </a:lnTo>
                      <a:lnTo>
                        <a:pt x="214" y="67"/>
                      </a:lnTo>
                      <a:lnTo>
                        <a:pt x="226" y="61"/>
                      </a:lnTo>
                      <a:lnTo>
                        <a:pt x="212" y="57"/>
                      </a:lnTo>
                      <a:lnTo>
                        <a:pt x="200" y="67"/>
                      </a:lnTo>
                      <a:lnTo>
                        <a:pt x="188" y="82"/>
                      </a:lnTo>
                      <a:lnTo>
                        <a:pt x="178" y="93"/>
                      </a:lnTo>
                      <a:lnTo>
                        <a:pt x="163" y="115"/>
                      </a:lnTo>
                      <a:lnTo>
                        <a:pt x="147" y="109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 w="9525" cap="rnd">
                  <a:noFill/>
                  <a:round/>
                </a:ln>
                <a:effectLst/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" name="Group 22"/>
              <p:cNvGrpSpPr/>
              <p:nvPr/>
            </p:nvGrpSpPr>
            <p:grpSpPr>
              <a:xfrm>
                <a:off x="1985" y="1419"/>
                <a:ext cx="465" cy="602"/>
                <a:chOff x="1985" y="1419"/>
                <a:chExt cx="465" cy="602"/>
              </a:xfrm>
            </p:grpSpPr>
            <p:sp>
              <p:nvSpPr>
                <p:cNvPr id="2062" name="Freeform 23"/>
                <p:cNvSpPr/>
                <p:nvPr/>
              </p:nvSpPr>
              <p:spPr bwMode="ltGray">
                <a:xfrm>
                  <a:off x="2164" y="1525"/>
                  <a:ext cx="130" cy="496"/>
                </a:xfrm>
                <a:custGeom>
                  <a:avLst/>
                  <a:gdLst>
                    <a:gd name="T0" fmla="*/ 129 w 130"/>
                    <a:gd name="T1" fmla="*/ 230 h 496"/>
                    <a:gd name="T2" fmla="*/ 118 w 130"/>
                    <a:gd name="T3" fmla="*/ 330 h 496"/>
                    <a:gd name="T4" fmla="*/ 107 w 130"/>
                    <a:gd name="T5" fmla="*/ 411 h 496"/>
                    <a:gd name="T6" fmla="*/ 100 w 130"/>
                    <a:gd name="T7" fmla="*/ 471 h 496"/>
                    <a:gd name="T8" fmla="*/ 101 w 130"/>
                    <a:gd name="T9" fmla="*/ 495 h 496"/>
                    <a:gd name="T10" fmla="*/ 86 w 130"/>
                    <a:gd name="T11" fmla="*/ 495 h 496"/>
                    <a:gd name="T12" fmla="*/ 81 w 130"/>
                    <a:gd name="T13" fmla="*/ 460 h 496"/>
                    <a:gd name="T14" fmla="*/ 79 w 130"/>
                    <a:gd name="T15" fmla="*/ 408 h 496"/>
                    <a:gd name="T16" fmla="*/ 73 w 130"/>
                    <a:gd name="T17" fmla="*/ 358 h 496"/>
                    <a:gd name="T18" fmla="*/ 70 w 130"/>
                    <a:gd name="T19" fmla="*/ 321 h 496"/>
                    <a:gd name="T20" fmla="*/ 64 w 130"/>
                    <a:gd name="T21" fmla="*/ 268 h 496"/>
                    <a:gd name="T22" fmla="*/ 56 w 130"/>
                    <a:gd name="T23" fmla="*/ 222 h 496"/>
                    <a:gd name="T24" fmla="*/ 51 w 130"/>
                    <a:gd name="T25" fmla="*/ 181 h 496"/>
                    <a:gd name="T26" fmla="*/ 45 w 130"/>
                    <a:gd name="T27" fmla="*/ 137 h 496"/>
                    <a:gd name="T28" fmla="*/ 35 w 130"/>
                    <a:gd name="T29" fmla="*/ 94 h 496"/>
                    <a:gd name="T30" fmla="*/ 24 w 130"/>
                    <a:gd name="T31" fmla="*/ 57 h 496"/>
                    <a:gd name="T32" fmla="*/ 6 w 130"/>
                    <a:gd name="T33" fmla="*/ 21 h 496"/>
                    <a:gd name="T34" fmla="*/ 0 w 130"/>
                    <a:gd name="T35" fmla="*/ 8 h 496"/>
                    <a:gd name="T36" fmla="*/ 7 w 130"/>
                    <a:gd name="T37" fmla="*/ 0 h 496"/>
                    <a:gd name="T38" fmla="*/ 19 w 130"/>
                    <a:gd name="T39" fmla="*/ 14 h 496"/>
                    <a:gd name="T40" fmla="*/ 35 w 130"/>
                    <a:gd name="T41" fmla="*/ 47 h 496"/>
                    <a:gd name="T42" fmla="*/ 47 w 130"/>
                    <a:gd name="T43" fmla="*/ 81 h 496"/>
                    <a:gd name="T44" fmla="*/ 56 w 130"/>
                    <a:gd name="T45" fmla="*/ 116 h 496"/>
                    <a:gd name="T46" fmla="*/ 63 w 130"/>
                    <a:gd name="T47" fmla="*/ 161 h 496"/>
                    <a:gd name="T48" fmla="*/ 69 w 130"/>
                    <a:gd name="T49" fmla="*/ 204 h 496"/>
                    <a:gd name="T50" fmla="*/ 77 w 130"/>
                    <a:gd name="T51" fmla="*/ 262 h 496"/>
                    <a:gd name="T52" fmla="*/ 84 w 130"/>
                    <a:gd name="T53" fmla="*/ 309 h 496"/>
                    <a:gd name="T54" fmla="*/ 87 w 130"/>
                    <a:gd name="T55" fmla="*/ 347 h 496"/>
                    <a:gd name="T56" fmla="*/ 90 w 130"/>
                    <a:gd name="T57" fmla="*/ 386 h 496"/>
                    <a:gd name="T58" fmla="*/ 96 w 130"/>
                    <a:gd name="T59" fmla="*/ 427 h 496"/>
                    <a:gd name="T60" fmla="*/ 104 w 130"/>
                    <a:gd name="T61" fmla="*/ 357 h 496"/>
                    <a:gd name="T62" fmla="*/ 114 w 130"/>
                    <a:gd name="T63" fmla="*/ 292 h 496"/>
                    <a:gd name="T64" fmla="*/ 129 w 130"/>
                    <a:gd name="T65" fmla="*/ 230 h 496"/>
                    <a:gd name="T66" fmla="*/ 0 60000 65536"/>
                    <a:gd name="T67" fmla="*/ 0 60000 65536"/>
                    <a:gd name="T68" fmla="*/ 0 60000 65536"/>
                    <a:gd name="T69" fmla="*/ 0 60000 65536"/>
                    <a:gd name="T70" fmla="*/ 0 60000 65536"/>
                    <a:gd name="T71" fmla="*/ 0 60000 65536"/>
                    <a:gd name="T72" fmla="*/ 0 60000 65536"/>
                    <a:gd name="T73" fmla="*/ 0 60000 65536"/>
                    <a:gd name="T74" fmla="*/ 0 60000 65536"/>
                    <a:gd name="T75" fmla="*/ 0 60000 65536"/>
                    <a:gd name="T76" fmla="*/ 0 60000 65536"/>
                    <a:gd name="T77" fmla="*/ 0 60000 65536"/>
                    <a:gd name="T78" fmla="*/ 0 60000 65536"/>
                    <a:gd name="T79" fmla="*/ 0 60000 65536"/>
                    <a:gd name="T80" fmla="*/ 0 60000 65536"/>
                    <a:gd name="T81" fmla="*/ 0 60000 65536"/>
                    <a:gd name="T82" fmla="*/ 0 60000 65536"/>
                    <a:gd name="T83" fmla="*/ 0 60000 65536"/>
                    <a:gd name="T84" fmla="*/ 0 60000 65536"/>
                    <a:gd name="T85" fmla="*/ 0 60000 65536"/>
                    <a:gd name="T86" fmla="*/ 0 60000 65536"/>
                    <a:gd name="T87" fmla="*/ 0 60000 65536"/>
                    <a:gd name="T88" fmla="*/ 0 60000 65536"/>
                    <a:gd name="T89" fmla="*/ 0 60000 65536"/>
                    <a:gd name="T90" fmla="*/ 0 60000 65536"/>
                    <a:gd name="T91" fmla="*/ 0 60000 65536"/>
                    <a:gd name="T92" fmla="*/ 0 60000 65536"/>
                    <a:gd name="T93" fmla="*/ 0 60000 65536"/>
                    <a:gd name="T94" fmla="*/ 0 60000 65536"/>
                    <a:gd name="T95" fmla="*/ 0 60000 65536"/>
                    <a:gd name="T96" fmla="*/ 0 60000 65536"/>
                    <a:gd name="T97" fmla="*/ 0 60000 65536"/>
                    <a:gd name="T98" fmla="*/ 0 60000 65536"/>
                  </a:gdLst>
                  <a:ahLst/>
                  <a:cxnLst>
                    <a:cxn ang="T66">
                      <a:pos x="T0" y="T1"/>
                    </a:cxn>
                    <a:cxn ang="T67">
                      <a:pos x="T2" y="T3"/>
                    </a:cxn>
                    <a:cxn ang="T68">
                      <a:pos x="T4" y="T5"/>
                    </a:cxn>
                    <a:cxn ang="T69">
                      <a:pos x="T6" y="T7"/>
                    </a:cxn>
                    <a:cxn ang="T70">
                      <a:pos x="T8" y="T9"/>
                    </a:cxn>
                    <a:cxn ang="T71">
                      <a:pos x="T10" y="T11"/>
                    </a:cxn>
                    <a:cxn ang="T72">
                      <a:pos x="T12" y="T13"/>
                    </a:cxn>
                    <a:cxn ang="T73">
                      <a:pos x="T14" y="T15"/>
                    </a:cxn>
                    <a:cxn ang="T74">
                      <a:pos x="T16" y="T17"/>
                    </a:cxn>
                    <a:cxn ang="T75">
                      <a:pos x="T18" y="T19"/>
                    </a:cxn>
                    <a:cxn ang="T76">
                      <a:pos x="T20" y="T21"/>
                    </a:cxn>
                    <a:cxn ang="T77">
                      <a:pos x="T22" y="T23"/>
                    </a:cxn>
                    <a:cxn ang="T78">
                      <a:pos x="T24" y="T25"/>
                    </a:cxn>
                    <a:cxn ang="T79">
                      <a:pos x="T26" y="T27"/>
                    </a:cxn>
                    <a:cxn ang="T80">
                      <a:pos x="T28" y="T29"/>
                    </a:cxn>
                    <a:cxn ang="T81">
                      <a:pos x="T30" y="T31"/>
                    </a:cxn>
                    <a:cxn ang="T82">
                      <a:pos x="T32" y="T33"/>
                    </a:cxn>
                    <a:cxn ang="T83">
                      <a:pos x="T34" y="T35"/>
                    </a:cxn>
                    <a:cxn ang="T84">
                      <a:pos x="T36" y="T37"/>
                    </a:cxn>
                    <a:cxn ang="T85">
                      <a:pos x="T38" y="T39"/>
                    </a:cxn>
                    <a:cxn ang="T86">
                      <a:pos x="T40" y="T41"/>
                    </a:cxn>
                    <a:cxn ang="T87">
                      <a:pos x="T42" y="T43"/>
                    </a:cxn>
                    <a:cxn ang="T88">
                      <a:pos x="T44" y="T45"/>
                    </a:cxn>
                    <a:cxn ang="T89">
                      <a:pos x="T46" y="T47"/>
                    </a:cxn>
                    <a:cxn ang="T90">
                      <a:pos x="T48" y="T49"/>
                    </a:cxn>
                    <a:cxn ang="T91">
                      <a:pos x="T50" y="T51"/>
                    </a:cxn>
                    <a:cxn ang="T92">
                      <a:pos x="T52" y="T53"/>
                    </a:cxn>
                    <a:cxn ang="T93">
                      <a:pos x="T54" y="T55"/>
                    </a:cxn>
                    <a:cxn ang="T94">
                      <a:pos x="T56" y="T57"/>
                    </a:cxn>
                    <a:cxn ang="T95">
                      <a:pos x="T58" y="T59"/>
                    </a:cxn>
                    <a:cxn ang="T96">
                      <a:pos x="T60" y="T61"/>
                    </a:cxn>
                    <a:cxn ang="T97">
                      <a:pos x="T62" y="T63"/>
                    </a:cxn>
                    <a:cxn ang="T98">
                      <a:pos x="T64" y="T65"/>
                    </a:cxn>
                  </a:cxnLst>
                  <a:rect l="0" t="0" r="r" b="b"/>
                  <a:pathLst>
                    <a:path w="130" h="496">
                      <a:moveTo>
                        <a:pt x="129" y="230"/>
                      </a:moveTo>
                      <a:lnTo>
                        <a:pt x="118" y="330"/>
                      </a:lnTo>
                      <a:lnTo>
                        <a:pt x="107" y="411"/>
                      </a:lnTo>
                      <a:lnTo>
                        <a:pt x="100" y="471"/>
                      </a:lnTo>
                      <a:lnTo>
                        <a:pt x="101" y="495"/>
                      </a:lnTo>
                      <a:lnTo>
                        <a:pt x="86" y="495"/>
                      </a:lnTo>
                      <a:lnTo>
                        <a:pt x="81" y="460"/>
                      </a:lnTo>
                      <a:lnTo>
                        <a:pt x="79" y="408"/>
                      </a:lnTo>
                      <a:lnTo>
                        <a:pt x="73" y="358"/>
                      </a:lnTo>
                      <a:lnTo>
                        <a:pt x="70" y="321"/>
                      </a:lnTo>
                      <a:lnTo>
                        <a:pt x="64" y="268"/>
                      </a:lnTo>
                      <a:lnTo>
                        <a:pt x="56" y="222"/>
                      </a:lnTo>
                      <a:lnTo>
                        <a:pt x="51" y="181"/>
                      </a:lnTo>
                      <a:lnTo>
                        <a:pt x="45" y="137"/>
                      </a:lnTo>
                      <a:lnTo>
                        <a:pt x="35" y="94"/>
                      </a:lnTo>
                      <a:lnTo>
                        <a:pt x="24" y="57"/>
                      </a:lnTo>
                      <a:lnTo>
                        <a:pt x="6" y="21"/>
                      </a:lnTo>
                      <a:lnTo>
                        <a:pt x="0" y="8"/>
                      </a:lnTo>
                      <a:lnTo>
                        <a:pt x="7" y="0"/>
                      </a:lnTo>
                      <a:lnTo>
                        <a:pt x="19" y="14"/>
                      </a:lnTo>
                      <a:lnTo>
                        <a:pt x="35" y="47"/>
                      </a:lnTo>
                      <a:lnTo>
                        <a:pt x="47" y="81"/>
                      </a:lnTo>
                      <a:lnTo>
                        <a:pt x="56" y="116"/>
                      </a:lnTo>
                      <a:lnTo>
                        <a:pt x="63" y="161"/>
                      </a:lnTo>
                      <a:lnTo>
                        <a:pt x="69" y="204"/>
                      </a:lnTo>
                      <a:lnTo>
                        <a:pt x="77" y="262"/>
                      </a:lnTo>
                      <a:lnTo>
                        <a:pt x="84" y="309"/>
                      </a:lnTo>
                      <a:lnTo>
                        <a:pt x="87" y="347"/>
                      </a:lnTo>
                      <a:lnTo>
                        <a:pt x="90" y="386"/>
                      </a:lnTo>
                      <a:lnTo>
                        <a:pt x="96" y="427"/>
                      </a:lnTo>
                      <a:lnTo>
                        <a:pt x="104" y="357"/>
                      </a:lnTo>
                      <a:lnTo>
                        <a:pt x="114" y="292"/>
                      </a:lnTo>
                      <a:lnTo>
                        <a:pt x="129" y="230"/>
                      </a:lnTo>
                    </a:path>
                  </a:pathLst>
                </a:custGeom>
                <a:solidFill>
                  <a:srgbClr val="3C0023">
                    <a:alpha val="50195"/>
                  </a:srgbClr>
                </a:solidFill>
                <a:ln w="9525" cap="rnd">
                  <a:noFill/>
                  <a:round/>
                </a:ln>
                <a:effectLst/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  <p:sp>
              <p:nvSpPr>
                <p:cNvPr id="2063" name="Freeform 24"/>
                <p:cNvSpPr/>
                <p:nvPr/>
              </p:nvSpPr>
              <p:spPr bwMode="ltGray">
                <a:xfrm>
                  <a:off x="2204" y="1606"/>
                  <a:ext cx="229" cy="358"/>
                </a:xfrm>
                <a:custGeom>
                  <a:avLst/>
                  <a:gdLst>
                    <a:gd name="T0" fmla="*/ 60 w 229"/>
                    <a:gd name="T1" fmla="*/ 58 h 358"/>
                    <a:gd name="T2" fmla="*/ 67 w 229"/>
                    <a:gd name="T3" fmla="*/ 44 h 358"/>
                    <a:gd name="T4" fmla="*/ 64 w 229"/>
                    <a:gd name="T5" fmla="*/ 5 h 358"/>
                    <a:gd name="T6" fmla="*/ 64 w 229"/>
                    <a:gd name="T7" fmla="*/ 5 h 358"/>
                    <a:gd name="T8" fmla="*/ 64 w 229"/>
                    <a:gd name="T9" fmla="*/ 5 h 358"/>
                    <a:gd name="T10" fmla="*/ 64 w 229"/>
                    <a:gd name="T11" fmla="*/ 5 h 358"/>
                    <a:gd name="T12" fmla="*/ 64 w 229"/>
                    <a:gd name="T13" fmla="*/ 5 h 358"/>
                    <a:gd name="T14" fmla="*/ 70 w 229"/>
                    <a:gd name="T15" fmla="*/ 2 h 358"/>
                    <a:gd name="T16" fmla="*/ 82 w 229"/>
                    <a:gd name="T17" fmla="*/ 66 h 358"/>
                    <a:gd name="T18" fmla="*/ 94 w 229"/>
                    <a:gd name="T19" fmla="*/ 39 h 358"/>
                    <a:gd name="T20" fmla="*/ 101 w 229"/>
                    <a:gd name="T21" fmla="*/ 5 h 358"/>
                    <a:gd name="T22" fmla="*/ 104 w 229"/>
                    <a:gd name="T23" fmla="*/ 5 h 358"/>
                    <a:gd name="T24" fmla="*/ 103 w 229"/>
                    <a:gd name="T25" fmla="*/ 5 h 358"/>
                    <a:gd name="T26" fmla="*/ 104 w 229"/>
                    <a:gd name="T27" fmla="*/ 5 h 358"/>
                    <a:gd name="T28" fmla="*/ 102 w 229"/>
                    <a:gd name="T29" fmla="*/ 5 h 358"/>
                    <a:gd name="T30" fmla="*/ 103 w 229"/>
                    <a:gd name="T31" fmla="*/ 5 h 358"/>
                    <a:gd name="T32" fmla="*/ 105 w 229"/>
                    <a:gd name="T33" fmla="*/ 47 h 358"/>
                    <a:gd name="T34" fmla="*/ 111 w 229"/>
                    <a:gd name="T35" fmla="*/ 88 h 358"/>
                    <a:gd name="T36" fmla="*/ 139 w 229"/>
                    <a:gd name="T37" fmla="*/ 79 h 358"/>
                    <a:gd name="T38" fmla="*/ 176 w 229"/>
                    <a:gd name="T39" fmla="*/ 81 h 358"/>
                    <a:gd name="T40" fmla="*/ 205 w 229"/>
                    <a:gd name="T41" fmla="*/ 104 h 358"/>
                    <a:gd name="T42" fmla="*/ 228 w 229"/>
                    <a:gd name="T43" fmla="*/ 155 h 358"/>
                    <a:gd name="T44" fmla="*/ 200 w 229"/>
                    <a:gd name="T45" fmla="*/ 147 h 358"/>
                    <a:gd name="T46" fmla="*/ 171 w 229"/>
                    <a:gd name="T47" fmla="*/ 131 h 358"/>
                    <a:gd name="T48" fmla="*/ 132 w 229"/>
                    <a:gd name="T49" fmla="*/ 121 h 358"/>
                    <a:gd name="T50" fmla="*/ 107 w 229"/>
                    <a:gd name="T51" fmla="*/ 125 h 358"/>
                    <a:gd name="T52" fmla="*/ 122 w 229"/>
                    <a:gd name="T53" fmla="*/ 150 h 358"/>
                    <a:gd name="T54" fmla="*/ 154 w 229"/>
                    <a:gd name="T55" fmla="*/ 165 h 358"/>
                    <a:gd name="T56" fmla="*/ 187 w 229"/>
                    <a:gd name="T57" fmla="*/ 175 h 358"/>
                    <a:gd name="T58" fmla="*/ 212 w 229"/>
                    <a:gd name="T59" fmla="*/ 212 h 358"/>
                    <a:gd name="T60" fmla="*/ 224 w 229"/>
                    <a:gd name="T61" fmla="*/ 262 h 358"/>
                    <a:gd name="T62" fmla="*/ 194 w 229"/>
                    <a:gd name="T63" fmla="*/ 231 h 358"/>
                    <a:gd name="T64" fmla="*/ 163 w 229"/>
                    <a:gd name="T65" fmla="*/ 199 h 358"/>
                    <a:gd name="T66" fmla="*/ 133 w 229"/>
                    <a:gd name="T67" fmla="*/ 172 h 358"/>
                    <a:gd name="T68" fmla="*/ 111 w 229"/>
                    <a:gd name="T69" fmla="*/ 159 h 358"/>
                    <a:gd name="T70" fmla="*/ 97 w 229"/>
                    <a:gd name="T71" fmla="*/ 185 h 358"/>
                    <a:gd name="T72" fmla="*/ 115 w 229"/>
                    <a:gd name="T73" fmla="*/ 245 h 358"/>
                    <a:gd name="T74" fmla="*/ 132 w 229"/>
                    <a:gd name="T75" fmla="*/ 312 h 358"/>
                    <a:gd name="T76" fmla="*/ 114 w 229"/>
                    <a:gd name="T77" fmla="*/ 328 h 358"/>
                    <a:gd name="T78" fmla="*/ 95 w 229"/>
                    <a:gd name="T79" fmla="*/ 236 h 358"/>
                    <a:gd name="T80" fmla="*/ 78 w 229"/>
                    <a:gd name="T81" fmla="*/ 179 h 358"/>
                    <a:gd name="T82" fmla="*/ 73 w 229"/>
                    <a:gd name="T83" fmla="*/ 197 h 358"/>
                    <a:gd name="T84" fmla="*/ 74 w 229"/>
                    <a:gd name="T85" fmla="*/ 186 h 358"/>
                    <a:gd name="T86" fmla="*/ 70 w 229"/>
                    <a:gd name="T87" fmla="*/ 206 h 358"/>
                    <a:gd name="T88" fmla="*/ 51 w 229"/>
                    <a:gd name="T89" fmla="*/ 257 h 358"/>
                    <a:gd name="T90" fmla="*/ 32 w 229"/>
                    <a:gd name="T91" fmla="*/ 322 h 358"/>
                    <a:gd name="T92" fmla="*/ 28 w 229"/>
                    <a:gd name="T93" fmla="*/ 304 h 358"/>
                    <a:gd name="T94" fmla="*/ 38 w 229"/>
                    <a:gd name="T95" fmla="*/ 249 h 358"/>
                    <a:gd name="T96" fmla="*/ 59 w 229"/>
                    <a:gd name="T97" fmla="*/ 189 h 358"/>
                    <a:gd name="T98" fmla="*/ 82 w 229"/>
                    <a:gd name="T99" fmla="*/ 143 h 358"/>
                    <a:gd name="T100" fmla="*/ 65 w 229"/>
                    <a:gd name="T101" fmla="*/ 139 h 358"/>
                    <a:gd name="T102" fmla="*/ 40 w 229"/>
                    <a:gd name="T103" fmla="*/ 189 h 358"/>
                    <a:gd name="T104" fmla="*/ 18 w 229"/>
                    <a:gd name="T105" fmla="*/ 243 h 358"/>
                    <a:gd name="T106" fmla="*/ 2 w 229"/>
                    <a:gd name="T107" fmla="*/ 278 h 358"/>
                    <a:gd name="T108" fmla="*/ 13 w 229"/>
                    <a:gd name="T109" fmla="*/ 229 h 358"/>
                    <a:gd name="T110" fmla="*/ 37 w 229"/>
                    <a:gd name="T111" fmla="*/ 179 h 358"/>
                    <a:gd name="T112" fmla="*/ 70 w 229"/>
                    <a:gd name="T113" fmla="*/ 130 h 358"/>
                    <a:gd name="T114" fmla="*/ 62 w 229"/>
                    <a:gd name="T115" fmla="*/ 99 h 358"/>
                    <a:gd name="T116" fmla="*/ 37 w 229"/>
                    <a:gd name="T117" fmla="*/ 59 h 358"/>
                    <a:gd name="T118" fmla="*/ 11 w 229"/>
                    <a:gd name="T119" fmla="*/ 12 h 358"/>
                    <a:gd name="T120" fmla="*/ 14 w 229"/>
                    <a:gd name="T121" fmla="*/ 5 h 358"/>
                    <a:gd name="T122" fmla="*/ 27 w 229"/>
                    <a:gd name="T123" fmla="*/ 5 h 358"/>
                    <a:gd name="T124" fmla="*/ 31 w 229"/>
                    <a:gd name="T125" fmla="*/ 10 h 358"/>
                    <a:gd name="T126" fmla="*/ 0 60000 65536"/>
                    <a:gd name="T127" fmla="*/ 0 60000 65536"/>
                    <a:gd name="T128" fmla="*/ 0 60000 65536"/>
                    <a:gd name="T129" fmla="*/ 0 60000 65536"/>
                    <a:gd name="T130" fmla="*/ 0 60000 65536"/>
                    <a:gd name="T131" fmla="*/ 0 60000 65536"/>
                    <a:gd name="T132" fmla="*/ 0 60000 65536"/>
                    <a:gd name="T133" fmla="*/ 0 60000 65536"/>
                    <a:gd name="T134" fmla="*/ 0 60000 65536"/>
                    <a:gd name="T135" fmla="*/ 0 60000 65536"/>
                    <a:gd name="T136" fmla="*/ 0 60000 65536"/>
                    <a:gd name="T137" fmla="*/ 0 60000 65536"/>
                    <a:gd name="T138" fmla="*/ 0 60000 65536"/>
                    <a:gd name="T139" fmla="*/ 0 60000 65536"/>
                    <a:gd name="T140" fmla="*/ 0 60000 65536"/>
                    <a:gd name="T141" fmla="*/ 0 60000 65536"/>
                    <a:gd name="T142" fmla="*/ 0 60000 65536"/>
                    <a:gd name="T143" fmla="*/ 0 60000 65536"/>
                    <a:gd name="T144" fmla="*/ 0 60000 65536"/>
                    <a:gd name="T145" fmla="*/ 0 60000 65536"/>
                    <a:gd name="T146" fmla="*/ 0 60000 65536"/>
                    <a:gd name="T147" fmla="*/ 0 60000 65536"/>
                    <a:gd name="T148" fmla="*/ 0 60000 65536"/>
                    <a:gd name="T149" fmla="*/ 0 60000 65536"/>
                    <a:gd name="T150" fmla="*/ 0 60000 65536"/>
                    <a:gd name="T151" fmla="*/ 0 60000 65536"/>
                    <a:gd name="T152" fmla="*/ 0 60000 65536"/>
                    <a:gd name="T153" fmla="*/ 0 60000 65536"/>
                    <a:gd name="T154" fmla="*/ 0 60000 65536"/>
                    <a:gd name="T155" fmla="*/ 0 60000 65536"/>
                    <a:gd name="T156" fmla="*/ 0 60000 65536"/>
                    <a:gd name="T157" fmla="*/ 0 60000 65536"/>
                    <a:gd name="T158" fmla="*/ 0 60000 65536"/>
                    <a:gd name="T159" fmla="*/ 0 60000 65536"/>
                    <a:gd name="T160" fmla="*/ 0 60000 65536"/>
                    <a:gd name="T161" fmla="*/ 0 60000 65536"/>
                    <a:gd name="T162" fmla="*/ 0 60000 65536"/>
                    <a:gd name="T163" fmla="*/ 0 60000 65536"/>
                    <a:gd name="T164" fmla="*/ 0 60000 65536"/>
                    <a:gd name="T165" fmla="*/ 0 60000 65536"/>
                    <a:gd name="T166" fmla="*/ 0 60000 65536"/>
                    <a:gd name="T167" fmla="*/ 0 60000 65536"/>
                    <a:gd name="T168" fmla="*/ 0 60000 65536"/>
                    <a:gd name="T169" fmla="*/ 0 60000 65536"/>
                    <a:gd name="T170" fmla="*/ 0 60000 65536"/>
                    <a:gd name="T171" fmla="*/ 0 60000 65536"/>
                    <a:gd name="T172" fmla="*/ 0 60000 65536"/>
                    <a:gd name="T173" fmla="*/ 0 60000 65536"/>
                    <a:gd name="T174" fmla="*/ 0 60000 65536"/>
                    <a:gd name="T175" fmla="*/ 0 60000 65536"/>
                    <a:gd name="T176" fmla="*/ 0 60000 65536"/>
                    <a:gd name="T177" fmla="*/ 0 60000 65536"/>
                    <a:gd name="T178" fmla="*/ 0 60000 65536"/>
                    <a:gd name="T179" fmla="*/ 0 60000 65536"/>
                    <a:gd name="T180" fmla="*/ 0 60000 65536"/>
                    <a:gd name="T181" fmla="*/ 0 60000 65536"/>
                    <a:gd name="T182" fmla="*/ 0 60000 65536"/>
                    <a:gd name="T183" fmla="*/ 0 60000 65536"/>
                    <a:gd name="T184" fmla="*/ 0 60000 65536"/>
                    <a:gd name="T185" fmla="*/ 0 60000 65536"/>
                    <a:gd name="T186" fmla="*/ 0 60000 65536"/>
                    <a:gd name="T187" fmla="*/ 0 60000 65536"/>
                    <a:gd name="T188" fmla="*/ 0 60000 65536"/>
                  </a:gdLst>
                  <a:ahLst/>
                  <a:cxnLst>
                    <a:cxn ang="T126">
                      <a:pos x="T0" y="T1"/>
                    </a:cxn>
                    <a:cxn ang="T127">
                      <a:pos x="T2" y="T3"/>
                    </a:cxn>
                    <a:cxn ang="T128">
                      <a:pos x="T4" y="T5"/>
                    </a:cxn>
                    <a:cxn ang="T129">
                      <a:pos x="T6" y="T7"/>
                    </a:cxn>
                    <a:cxn ang="T130">
                      <a:pos x="T8" y="T9"/>
                    </a:cxn>
                    <a:cxn ang="T131">
                      <a:pos x="T10" y="T11"/>
                    </a:cxn>
                    <a:cxn ang="T132">
                      <a:pos x="T12" y="T13"/>
                    </a:cxn>
                    <a:cxn ang="T133">
                      <a:pos x="T14" y="T15"/>
                    </a:cxn>
                    <a:cxn ang="T134">
                      <a:pos x="T16" y="T17"/>
                    </a:cxn>
                    <a:cxn ang="T135">
                      <a:pos x="T18" y="T19"/>
                    </a:cxn>
                    <a:cxn ang="T136">
                      <a:pos x="T20" y="T21"/>
                    </a:cxn>
                    <a:cxn ang="T137">
                      <a:pos x="T22" y="T23"/>
                    </a:cxn>
                    <a:cxn ang="T138">
                      <a:pos x="T24" y="T25"/>
                    </a:cxn>
                    <a:cxn ang="T139">
                      <a:pos x="T26" y="T27"/>
                    </a:cxn>
                    <a:cxn ang="T140">
                      <a:pos x="T28" y="T29"/>
                    </a:cxn>
                    <a:cxn ang="T141">
                      <a:pos x="T30" y="T31"/>
                    </a:cxn>
                    <a:cxn ang="T142">
                      <a:pos x="T32" y="T33"/>
                    </a:cxn>
                    <a:cxn ang="T143">
                      <a:pos x="T34" y="T35"/>
                    </a:cxn>
                    <a:cxn ang="T144">
                      <a:pos x="T36" y="T37"/>
                    </a:cxn>
                    <a:cxn ang="T145">
                      <a:pos x="T38" y="T39"/>
                    </a:cxn>
                    <a:cxn ang="T146">
                      <a:pos x="T40" y="T41"/>
                    </a:cxn>
                    <a:cxn ang="T147">
                      <a:pos x="T42" y="T43"/>
                    </a:cxn>
                    <a:cxn ang="T148">
                      <a:pos x="T44" y="T45"/>
                    </a:cxn>
                    <a:cxn ang="T149">
                      <a:pos x="T46" y="T47"/>
                    </a:cxn>
                    <a:cxn ang="T150">
                      <a:pos x="T48" y="T49"/>
                    </a:cxn>
                    <a:cxn ang="T151">
                      <a:pos x="T50" y="T51"/>
                    </a:cxn>
                    <a:cxn ang="T152">
                      <a:pos x="T52" y="T53"/>
                    </a:cxn>
                    <a:cxn ang="T153">
                      <a:pos x="T54" y="T55"/>
                    </a:cxn>
                    <a:cxn ang="T154">
                      <a:pos x="T56" y="T57"/>
                    </a:cxn>
                    <a:cxn ang="T155">
                      <a:pos x="T58" y="T59"/>
                    </a:cxn>
                    <a:cxn ang="T156">
                      <a:pos x="T60" y="T61"/>
                    </a:cxn>
                    <a:cxn ang="T157">
                      <a:pos x="T62" y="T63"/>
                    </a:cxn>
                    <a:cxn ang="T158">
                      <a:pos x="T64" y="T65"/>
                    </a:cxn>
                    <a:cxn ang="T159">
                      <a:pos x="T66" y="T67"/>
                    </a:cxn>
                    <a:cxn ang="T160">
                      <a:pos x="T68" y="T69"/>
                    </a:cxn>
                    <a:cxn ang="T161">
                      <a:pos x="T70" y="T71"/>
                    </a:cxn>
                    <a:cxn ang="T162">
                      <a:pos x="T72" y="T73"/>
                    </a:cxn>
                    <a:cxn ang="T163">
                      <a:pos x="T74" y="T75"/>
                    </a:cxn>
                    <a:cxn ang="T164">
                      <a:pos x="T76" y="T77"/>
                    </a:cxn>
                    <a:cxn ang="T165">
                      <a:pos x="T78" y="T79"/>
                    </a:cxn>
                    <a:cxn ang="T166">
                      <a:pos x="T80" y="T81"/>
                    </a:cxn>
                    <a:cxn ang="T167">
                      <a:pos x="T82" y="T83"/>
                    </a:cxn>
                    <a:cxn ang="T168">
                      <a:pos x="T84" y="T85"/>
                    </a:cxn>
                    <a:cxn ang="T169">
                      <a:pos x="T86" y="T87"/>
                    </a:cxn>
                    <a:cxn ang="T170">
                      <a:pos x="T88" y="T89"/>
                    </a:cxn>
                    <a:cxn ang="T171">
                      <a:pos x="T90" y="T91"/>
                    </a:cxn>
                    <a:cxn ang="T172">
                      <a:pos x="T92" y="T93"/>
                    </a:cxn>
                    <a:cxn ang="T173">
                      <a:pos x="T94" y="T95"/>
                    </a:cxn>
                    <a:cxn ang="T174">
                      <a:pos x="T96" y="T97"/>
                    </a:cxn>
                    <a:cxn ang="T175">
                      <a:pos x="T98" y="T99"/>
                    </a:cxn>
                    <a:cxn ang="T176">
                      <a:pos x="T100" y="T101"/>
                    </a:cxn>
                    <a:cxn ang="T177">
                      <a:pos x="T102" y="T103"/>
                    </a:cxn>
                    <a:cxn ang="T178">
                      <a:pos x="T104" y="T105"/>
                    </a:cxn>
                    <a:cxn ang="T179">
                      <a:pos x="T106" y="T107"/>
                    </a:cxn>
                    <a:cxn ang="T180">
                      <a:pos x="T108" y="T109"/>
                    </a:cxn>
                    <a:cxn ang="T181">
                      <a:pos x="T110" y="T111"/>
                    </a:cxn>
                    <a:cxn ang="T182">
                      <a:pos x="T112" y="T113"/>
                    </a:cxn>
                    <a:cxn ang="T183">
                      <a:pos x="T114" y="T115"/>
                    </a:cxn>
                    <a:cxn ang="T184">
                      <a:pos x="T116" y="T117"/>
                    </a:cxn>
                    <a:cxn ang="T185">
                      <a:pos x="T118" y="T119"/>
                    </a:cxn>
                    <a:cxn ang="T186">
                      <a:pos x="T120" y="T121"/>
                    </a:cxn>
                    <a:cxn ang="T187">
                      <a:pos x="T122" y="T123"/>
                    </a:cxn>
                    <a:cxn ang="T188">
                      <a:pos x="T124" y="T125"/>
                    </a:cxn>
                  </a:cxnLst>
                  <a:rect l="0" t="0" r="r" b="b"/>
                  <a:pathLst>
                    <a:path w="229" h="358">
                      <a:moveTo>
                        <a:pt x="43" y="31"/>
                      </a:moveTo>
                      <a:lnTo>
                        <a:pt x="47" y="39"/>
                      </a:lnTo>
                      <a:lnTo>
                        <a:pt x="51" y="44"/>
                      </a:lnTo>
                      <a:lnTo>
                        <a:pt x="55" y="51"/>
                      </a:lnTo>
                      <a:lnTo>
                        <a:pt x="60" y="58"/>
                      </a:lnTo>
                      <a:lnTo>
                        <a:pt x="64" y="63"/>
                      </a:lnTo>
                      <a:lnTo>
                        <a:pt x="68" y="66"/>
                      </a:lnTo>
                      <a:lnTo>
                        <a:pt x="72" y="69"/>
                      </a:lnTo>
                      <a:lnTo>
                        <a:pt x="70" y="58"/>
                      </a:lnTo>
                      <a:lnTo>
                        <a:pt x="67" y="44"/>
                      </a:lnTo>
                      <a:lnTo>
                        <a:pt x="65" y="30"/>
                      </a:lnTo>
                      <a:lnTo>
                        <a:pt x="63" y="15"/>
                      </a:lnTo>
                      <a:lnTo>
                        <a:pt x="64" y="5"/>
                      </a:lnTo>
                      <a:lnTo>
                        <a:pt x="69" y="5"/>
                      </a:lnTo>
                      <a:lnTo>
                        <a:pt x="70" y="5"/>
                      </a:lnTo>
                      <a:lnTo>
                        <a:pt x="70" y="2"/>
                      </a:lnTo>
                      <a:lnTo>
                        <a:pt x="73" y="16"/>
                      </a:lnTo>
                      <a:lnTo>
                        <a:pt x="76" y="30"/>
                      </a:lnTo>
                      <a:lnTo>
                        <a:pt x="78" y="41"/>
                      </a:lnTo>
                      <a:lnTo>
                        <a:pt x="81" y="56"/>
                      </a:lnTo>
                      <a:lnTo>
                        <a:pt x="82" y="66"/>
                      </a:lnTo>
                      <a:lnTo>
                        <a:pt x="84" y="71"/>
                      </a:lnTo>
                      <a:lnTo>
                        <a:pt x="87" y="66"/>
                      </a:lnTo>
                      <a:lnTo>
                        <a:pt x="89" y="59"/>
                      </a:lnTo>
                      <a:lnTo>
                        <a:pt x="93" y="52"/>
                      </a:lnTo>
                      <a:lnTo>
                        <a:pt x="94" y="39"/>
                      </a:lnTo>
                      <a:lnTo>
                        <a:pt x="95" y="30"/>
                      </a:lnTo>
                      <a:lnTo>
                        <a:pt x="96" y="14"/>
                      </a:lnTo>
                      <a:lnTo>
                        <a:pt x="96" y="0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5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3" y="5"/>
                      </a:lnTo>
                      <a:lnTo>
                        <a:pt x="105" y="5"/>
                      </a:lnTo>
                      <a:lnTo>
                        <a:pt x="103" y="5"/>
                      </a:lnTo>
                      <a:lnTo>
                        <a:pt x="101" y="5"/>
                      </a:lnTo>
                      <a:lnTo>
                        <a:pt x="102" y="5"/>
                      </a:lnTo>
                      <a:lnTo>
                        <a:pt x="101" y="5"/>
                      </a:lnTo>
                      <a:lnTo>
                        <a:pt x="104" y="5"/>
                      </a:lnTo>
                      <a:lnTo>
                        <a:pt x="103" y="5"/>
                      </a:lnTo>
                      <a:lnTo>
                        <a:pt x="100" y="5"/>
                      </a:lnTo>
                      <a:lnTo>
                        <a:pt x="101" y="5"/>
                      </a:lnTo>
                      <a:lnTo>
                        <a:pt x="103" y="5"/>
                      </a:lnTo>
                      <a:lnTo>
                        <a:pt x="102" y="5"/>
                      </a:lnTo>
                      <a:lnTo>
                        <a:pt x="104" y="5"/>
                      </a:lnTo>
                      <a:lnTo>
                        <a:pt x="102" y="5"/>
                      </a:lnTo>
                      <a:lnTo>
                        <a:pt x="107" y="5"/>
                      </a:lnTo>
                      <a:lnTo>
                        <a:pt x="103" y="5"/>
                      </a:lnTo>
                      <a:lnTo>
                        <a:pt x="104" y="5"/>
                      </a:lnTo>
                      <a:lnTo>
                        <a:pt x="107" y="2"/>
                      </a:lnTo>
                      <a:lnTo>
                        <a:pt x="107" y="15"/>
                      </a:lnTo>
                      <a:lnTo>
                        <a:pt x="106" y="31"/>
                      </a:lnTo>
                      <a:lnTo>
                        <a:pt x="105" y="47"/>
                      </a:lnTo>
                      <a:lnTo>
                        <a:pt x="103" y="66"/>
                      </a:lnTo>
                      <a:lnTo>
                        <a:pt x="102" y="83"/>
                      </a:lnTo>
                      <a:lnTo>
                        <a:pt x="101" y="100"/>
                      </a:lnTo>
                      <a:lnTo>
                        <a:pt x="105" y="95"/>
                      </a:lnTo>
                      <a:lnTo>
                        <a:pt x="111" y="88"/>
                      </a:lnTo>
                      <a:lnTo>
                        <a:pt x="118" y="80"/>
                      </a:lnTo>
                      <a:lnTo>
                        <a:pt x="123" y="78"/>
                      </a:lnTo>
                      <a:lnTo>
                        <a:pt x="129" y="76"/>
                      </a:lnTo>
                      <a:lnTo>
                        <a:pt x="134" y="79"/>
                      </a:lnTo>
                      <a:lnTo>
                        <a:pt x="139" y="79"/>
                      </a:lnTo>
                      <a:lnTo>
                        <a:pt x="146" y="81"/>
                      </a:lnTo>
                      <a:lnTo>
                        <a:pt x="154" y="83"/>
                      </a:lnTo>
                      <a:lnTo>
                        <a:pt x="162" y="83"/>
                      </a:lnTo>
                      <a:lnTo>
                        <a:pt x="169" y="81"/>
                      </a:lnTo>
                      <a:lnTo>
                        <a:pt x="176" y="81"/>
                      </a:lnTo>
                      <a:lnTo>
                        <a:pt x="182" y="83"/>
                      </a:lnTo>
                      <a:lnTo>
                        <a:pt x="188" y="88"/>
                      </a:lnTo>
                      <a:lnTo>
                        <a:pt x="195" y="93"/>
                      </a:lnTo>
                      <a:lnTo>
                        <a:pt x="200" y="98"/>
                      </a:lnTo>
                      <a:lnTo>
                        <a:pt x="205" y="104"/>
                      </a:lnTo>
                      <a:lnTo>
                        <a:pt x="211" y="112"/>
                      </a:lnTo>
                      <a:lnTo>
                        <a:pt x="214" y="117"/>
                      </a:lnTo>
                      <a:lnTo>
                        <a:pt x="220" y="129"/>
                      </a:lnTo>
                      <a:lnTo>
                        <a:pt x="223" y="142"/>
                      </a:lnTo>
                      <a:lnTo>
                        <a:pt x="228" y="155"/>
                      </a:lnTo>
                      <a:lnTo>
                        <a:pt x="223" y="156"/>
                      </a:lnTo>
                      <a:lnTo>
                        <a:pt x="217" y="154"/>
                      </a:lnTo>
                      <a:lnTo>
                        <a:pt x="210" y="152"/>
                      </a:lnTo>
                      <a:lnTo>
                        <a:pt x="205" y="150"/>
                      </a:lnTo>
                      <a:lnTo>
                        <a:pt x="200" y="147"/>
                      </a:lnTo>
                      <a:lnTo>
                        <a:pt x="195" y="143"/>
                      </a:lnTo>
                      <a:lnTo>
                        <a:pt x="189" y="138"/>
                      </a:lnTo>
                      <a:lnTo>
                        <a:pt x="184" y="135"/>
                      </a:lnTo>
                      <a:lnTo>
                        <a:pt x="179" y="133"/>
                      </a:lnTo>
                      <a:lnTo>
                        <a:pt x="171" y="131"/>
                      </a:lnTo>
                      <a:lnTo>
                        <a:pt x="162" y="129"/>
                      </a:lnTo>
                      <a:lnTo>
                        <a:pt x="154" y="126"/>
                      </a:lnTo>
                      <a:lnTo>
                        <a:pt x="146" y="124"/>
                      </a:lnTo>
                      <a:lnTo>
                        <a:pt x="138" y="122"/>
                      </a:lnTo>
                      <a:lnTo>
                        <a:pt x="132" y="121"/>
                      </a:lnTo>
                      <a:lnTo>
                        <a:pt x="128" y="120"/>
                      </a:lnTo>
                      <a:lnTo>
                        <a:pt x="122" y="120"/>
                      </a:lnTo>
                      <a:lnTo>
                        <a:pt x="116" y="121"/>
                      </a:lnTo>
                      <a:lnTo>
                        <a:pt x="112" y="122"/>
                      </a:lnTo>
                      <a:lnTo>
                        <a:pt x="107" y="125"/>
                      </a:lnTo>
                      <a:lnTo>
                        <a:pt x="100" y="129"/>
                      </a:lnTo>
                      <a:lnTo>
                        <a:pt x="105" y="135"/>
                      </a:lnTo>
                      <a:lnTo>
                        <a:pt x="111" y="140"/>
                      </a:lnTo>
                      <a:lnTo>
                        <a:pt x="116" y="147"/>
                      </a:lnTo>
                      <a:lnTo>
                        <a:pt x="122" y="150"/>
                      </a:lnTo>
                      <a:lnTo>
                        <a:pt x="129" y="155"/>
                      </a:lnTo>
                      <a:lnTo>
                        <a:pt x="133" y="158"/>
                      </a:lnTo>
                      <a:lnTo>
                        <a:pt x="139" y="159"/>
                      </a:lnTo>
                      <a:lnTo>
                        <a:pt x="147" y="162"/>
                      </a:lnTo>
                      <a:lnTo>
                        <a:pt x="154" y="165"/>
                      </a:lnTo>
                      <a:lnTo>
                        <a:pt x="161" y="167"/>
                      </a:lnTo>
                      <a:lnTo>
                        <a:pt x="168" y="169"/>
                      </a:lnTo>
                      <a:lnTo>
                        <a:pt x="174" y="170"/>
                      </a:lnTo>
                      <a:lnTo>
                        <a:pt x="181" y="174"/>
                      </a:lnTo>
                      <a:lnTo>
                        <a:pt x="187" y="175"/>
                      </a:lnTo>
                      <a:lnTo>
                        <a:pt x="191" y="179"/>
                      </a:lnTo>
                      <a:lnTo>
                        <a:pt x="197" y="186"/>
                      </a:lnTo>
                      <a:lnTo>
                        <a:pt x="202" y="193"/>
                      </a:lnTo>
                      <a:lnTo>
                        <a:pt x="206" y="202"/>
                      </a:lnTo>
                      <a:lnTo>
                        <a:pt x="212" y="212"/>
                      </a:lnTo>
                      <a:lnTo>
                        <a:pt x="214" y="218"/>
                      </a:lnTo>
                      <a:lnTo>
                        <a:pt x="217" y="229"/>
                      </a:lnTo>
                      <a:lnTo>
                        <a:pt x="219" y="240"/>
                      </a:lnTo>
                      <a:lnTo>
                        <a:pt x="221" y="253"/>
                      </a:lnTo>
                      <a:lnTo>
                        <a:pt x="224" y="262"/>
                      </a:lnTo>
                      <a:lnTo>
                        <a:pt x="219" y="257"/>
                      </a:lnTo>
                      <a:lnTo>
                        <a:pt x="212" y="250"/>
                      </a:lnTo>
                      <a:lnTo>
                        <a:pt x="206" y="245"/>
                      </a:lnTo>
                      <a:lnTo>
                        <a:pt x="200" y="238"/>
                      </a:lnTo>
                      <a:lnTo>
                        <a:pt x="194" y="231"/>
                      </a:lnTo>
                      <a:lnTo>
                        <a:pt x="188" y="226"/>
                      </a:lnTo>
                      <a:lnTo>
                        <a:pt x="182" y="219"/>
                      </a:lnTo>
                      <a:lnTo>
                        <a:pt x="176" y="213"/>
                      </a:lnTo>
                      <a:lnTo>
                        <a:pt x="169" y="206"/>
                      </a:lnTo>
                      <a:lnTo>
                        <a:pt x="163" y="199"/>
                      </a:lnTo>
                      <a:lnTo>
                        <a:pt x="158" y="194"/>
                      </a:lnTo>
                      <a:lnTo>
                        <a:pt x="151" y="187"/>
                      </a:lnTo>
                      <a:lnTo>
                        <a:pt x="145" y="182"/>
                      </a:lnTo>
                      <a:lnTo>
                        <a:pt x="139" y="177"/>
                      </a:lnTo>
                      <a:lnTo>
                        <a:pt x="133" y="172"/>
                      </a:lnTo>
                      <a:lnTo>
                        <a:pt x="129" y="170"/>
                      </a:lnTo>
                      <a:lnTo>
                        <a:pt x="125" y="166"/>
                      </a:lnTo>
                      <a:lnTo>
                        <a:pt x="119" y="162"/>
                      </a:lnTo>
                      <a:lnTo>
                        <a:pt x="115" y="158"/>
                      </a:lnTo>
                      <a:lnTo>
                        <a:pt x="111" y="159"/>
                      </a:lnTo>
                      <a:lnTo>
                        <a:pt x="107" y="162"/>
                      </a:lnTo>
                      <a:lnTo>
                        <a:pt x="103" y="161"/>
                      </a:lnTo>
                      <a:lnTo>
                        <a:pt x="99" y="158"/>
                      </a:lnTo>
                      <a:lnTo>
                        <a:pt x="98" y="170"/>
                      </a:lnTo>
                      <a:lnTo>
                        <a:pt x="97" y="185"/>
                      </a:lnTo>
                      <a:lnTo>
                        <a:pt x="100" y="197"/>
                      </a:lnTo>
                      <a:lnTo>
                        <a:pt x="102" y="211"/>
                      </a:lnTo>
                      <a:lnTo>
                        <a:pt x="107" y="220"/>
                      </a:lnTo>
                      <a:lnTo>
                        <a:pt x="111" y="231"/>
                      </a:lnTo>
                      <a:lnTo>
                        <a:pt x="115" y="245"/>
                      </a:lnTo>
                      <a:lnTo>
                        <a:pt x="119" y="259"/>
                      </a:lnTo>
                      <a:lnTo>
                        <a:pt x="123" y="268"/>
                      </a:lnTo>
                      <a:lnTo>
                        <a:pt x="127" y="278"/>
                      </a:lnTo>
                      <a:lnTo>
                        <a:pt x="131" y="297"/>
                      </a:lnTo>
                      <a:lnTo>
                        <a:pt x="132" y="312"/>
                      </a:lnTo>
                      <a:lnTo>
                        <a:pt x="135" y="331"/>
                      </a:lnTo>
                      <a:lnTo>
                        <a:pt x="138" y="349"/>
                      </a:lnTo>
                      <a:lnTo>
                        <a:pt x="125" y="349"/>
                      </a:lnTo>
                      <a:lnTo>
                        <a:pt x="122" y="349"/>
                      </a:lnTo>
                      <a:lnTo>
                        <a:pt x="114" y="328"/>
                      </a:lnTo>
                      <a:lnTo>
                        <a:pt x="108" y="307"/>
                      </a:lnTo>
                      <a:lnTo>
                        <a:pt x="103" y="290"/>
                      </a:lnTo>
                      <a:lnTo>
                        <a:pt x="100" y="273"/>
                      </a:lnTo>
                      <a:lnTo>
                        <a:pt x="98" y="255"/>
                      </a:lnTo>
                      <a:lnTo>
                        <a:pt x="95" y="236"/>
                      </a:lnTo>
                      <a:lnTo>
                        <a:pt x="90" y="209"/>
                      </a:lnTo>
                      <a:lnTo>
                        <a:pt x="87" y="200"/>
                      </a:lnTo>
                      <a:lnTo>
                        <a:pt x="84" y="184"/>
                      </a:lnTo>
                      <a:lnTo>
                        <a:pt x="81" y="177"/>
                      </a:lnTo>
                      <a:lnTo>
                        <a:pt x="78" y="179"/>
                      </a:lnTo>
                      <a:lnTo>
                        <a:pt x="75" y="181"/>
                      </a:lnTo>
                      <a:lnTo>
                        <a:pt x="74" y="191"/>
                      </a:lnTo>
                      <a:lnTo>
                        <a:pt x="74" y="186"/>
                      </a:lnTo>
                      <a:lnTo>
                        <a:pt x="74" y="192"/>
                      </a:lnTo>
                      <a:lnTo>
                        <a:pt x="73" y="197"/>
                      </a:lnTo>
                      <a:lnTo>
                        <a:pt x="72" y="198"/>
                      </a:lnTo>
                      <a:lnTo>
                        <a:pt x="74" y="197"/>
                      </a:lnTo>
                      <a:lnTo>
                        <a:pt x="73" y="194"/>
                      </a:lnTo>
                      <a:lnTo>
                        <a:pt x="74" y="189"/>
                      </a:lnTo>
                      <a:lnTo>
                        <a:pt x="74" y="186"/>
                      </a:lnTo>
                      <a:lnTo>
                        <a:pt x="74" y="187"/>
                      </a:lnTo>
                      <a:lnTo>
                        <a:pt x="74" y="192"/>
                      </a:lnTo>
                      <a:lnTo>
                        <a:pt x="75" y="197"/>
                      </a:lnTo>
                      <a:lnTo>
                        <a:pt x="73" y="198"/>
                      </a:lnTo>
                      <a:lnTo>
                        <a:pt x="70" y="206"/>
                      </a:lnTo>
                      <a:lnTo>
                        <a:pt x="65" y="218"/>
                      </a:lnTo>
                      <a:lnTo>
                        <a:pt x="61" y="227"/>
                      </a:lnTo>
                      <a:lnTo>
                        <a:pt x="58" y="236"/>
                      </a:lnTo>
                      <a:lnTo>
                        <a:pt x="54" y="248"/>
                      </a:lnTo>
                      <a:lnTo>
                        <a:pt x="51" y="257"/>
                      </a:lnTo>
                      <a:lnTo>
                        <a:pt x="47" y="268"/>
                      </a:lnTo>
                      <a:lnTo>
                        <a:pt x="43" y="280"/>
                      </a:lnTo>
                      <a:lnTo>
                        <a:pt x="40" y="293"/>
                      </a:lnTo>
                      <a:lnTo>
                        <a:pt x="36" y="307"/>
                      </a:lnTo>
                      <a:lnTo>
                        <a:pt x="32" y="322"/>
                      </a:lnTo>
                      <a:lnTo>
                        <a:pt x="29" y="339"/>
                      </a:lnTo>
                      <a:lnTo>
                        <a:pt x="24" y="357"/>
                      </a:lnTo>
                      <a:lnTo>
                        <a:pt x="26" y="335"/>
                      </a:lnTo>
                      <a:lnTo>
                        <a:pt x="27" y="321"/>
                      </a:lnTo>
                      <a:lnTo>
                        <a:pt x="28" y="304"/>
                      </a:lnTo>
                      <a:lnTo>
                        <a:pt x="29" y="295"/>
                      </a:lnTo>
                      <a:lnTo>
                        <a:pt x="31" y="287"/>
                      </a:lnTo>
                      <a:lnTo>
                        <a:pt x="33" y="273"/>
                      </a:lnTo>
                      <a:lnTo>
                        <a:pt x="36" y="260"/>
                      </a:lnTo>
                      <a:lnTo>
                        <a:pt x="38" y="249"/>
                      </a:lnTo>
                      <a:lnTo>
                        <a:pt x="43" y="236"/>
                      </a:lnTo>
                      <a:lnTo>
                        <a:pt x="47" y="224"/>
                      </a:lnTo>
                      <a:lnTo>
                        <a:pt x="52" y="211"/>
                      </a:lnTo>
                      <a:lnTo>
                        <a:pt x="56" y="197"/>
                      </a:lnTo>
                      <a:lnTo>
                        <a:pt x="59" y="189"/>
                      </a:lnTo>
                      <a:lnTo>
                        <a:pt x="63" y="181"/>
                      </a:lnTo>
                      <a:lnTo>
                        <a:pt x="68" y="172"/>
                      </a:lnTo>
                      <a:lnTo>
                        <a:pt x="73" y="164"/>
                      </a:lnTo>
                      <a:lnTo>
                        <a:pt x="77" y="154"/>
                      </a:lnTo>
                      <a:lnTo>
                        <a:pt x="82" y="143"/>
                      </a:lnTo>
                      <a:lnTo>
                        <a:pt x="80" y="139"/>
                      </a:lnTo>
                      <a:lnTo>
                        <a:pt x="76" y="133"/>
                      </a:lnTo>
                      <a:lnTo>
                        <a:pt x="73" y="129"/>
                      </a:lnTo>
                      <a:lnTo>
                        <a:pt x="70" y="132"/>
                      </a:lnTo>
                      <a:lnTo>
                        <a:pt x="65" y="139"/>
                      </a:lnTo>
                      <a:lnTo>
                        <a:pt x="60" y="147"/>
                      </a:lnTo>
                      <a:lnTo>
                        <a:pt x="55" y="154"/>
                      </a:lnTo>
                      <a:lnTo>
                        <a:pt x="51" y="164"/>
                      </a:lnTo>
                      <a:lnTo>
                        <a:pt x="45" y="177"/>
                      </a:lnTo>
                      <a:lnTo>
                        <a:pt x="40" y="189"/>
                      </a:lnTo>
                      <a:lnTo>
                        <a:pt x="36" y="199"/>
                      </a:lnTo>
                      <a:lnTo>
                        <a:pt x="31" y="207"/>
                      </a:lnTo>
                      <a:lnTo>
                        <a:pt x="27" y="218"/>
                      </a:lnTo>
                      <a:lnTo>
                        <a:pt x="22" y="230"/>
                      </a:lnTo>
                      <a:lnTo>
                        <a:pt x="18" y="243"/>
                      </a:lnTo>
                      <a:lnTo>
                        <a:pt x="14" y="255"/>
                      </a:lnTo>
                      <a:lnTo>
                        <a:pt x="9" y="268"/>
                      </a:lnTo>
                      <a:lnTo>
                        <a:pt x="5" y="282"/>
                      </a:lnTo>
                      <a:lnTo>
                        <a:pt x="0" y="298"/>
                      </a:lnTo>
                      <a:lnTo>
                        <a:pt x="2" y="278"/>
                      </a:lnTo>
                      <a:lnTo>
                        <a:pt x="4" y="262"/>
                      </a:lnTo>
                      <a:lnTo>
                        <a:pt x="5" y="248"/>
                      </a:lnTo>
                      <a:lnTo>
                        <a:pt x="6" y="244"/>
                      </a:lnTo>
                      <a:lnTo>
                        <a:pt x="9" y="238"/>
                      </a:lnTo>
                      <a:lnTo>
                        <a:pt x="13" y="229"/>
                      </a:lnTo>
                      <a:lnTo>
                        <a:pt x="17" y="219"/>
                      </a:lnTo>
                      <a:lnTo>
                        <a:pt x="22" y="209"/>
                      </a:lnTo>
                      <a:lnTo>
                        <a:pt x="27" y="199"/>
                      </a:lnTo>
                      <a:lnTo>
                        <a:pt x="33" y="187"/>
                      </a:lnTo>
                      <a:lnTo>
                        <a:pt x="37" y="179"/>
                      </a:lnTo>
                      <a:lnTo>
                        <a:pt x="43" y="170"/>
                      </a:lnTo>
                      <a:lnTo>
                        <a:pt x="49" y="159"/>
                      </a:lnTo>
                      <a:lnTo>
                        <a:pt x="55" y="149"/>
                      </a:lnTo>
                      <a:lnTo>
                        <a:pt x="60" y="142"/>
                      </a:lnTo>
                      <a:lnTo>
                        <a:pt x="70" y="130"/>
                      </a:lnTo>
                      <a:lnTo>
                        <a:pt x="75" y="125"/>
                      </a:lnTo>
                      <a:lnTo>
                        <a:pt x="78" y="123"/>
                      </a:lnTo>
                      <a:lnTo>
                        <a:pt x="73" y="117"/>
                      </a:lnTo>
                      <a:lnTo>
                        <a:pt x="67" y="108"/>
                      </a:lnTo>
                      <a:lnTo>
                        <a:pt x="62" y="99"/>
                      </a:lnTo>
                      <a:lnTo>
                        <a:pt x="57" y="92"/>
                      </a:lnTo>
                      <a:lnTo>
                        <a:pt x="52" y="85"/>
                      </a:lnTo>
                      <a:lnTo>
                        <a:pt x="47" y="78"/>
                      </a:lnTo>
                      <a:lnTo>
                        <a:pt x="43" y="71"/>
                      </a:lnTo>
                      <a:lnTo>
                        <a:pt x="37" y="59"/>
                      </a:lnTo>
                      <a:lnTo>
                        <a:pt x="32" y="48"/>
                      </a:lnTo>
                      <a:lnTo>
                        <a:pt x="26" y="38"/>
                      </a:lnTo>
                      <a:lnTo>
                        <a:pt x="19" y="26"/>
                      </a:lnTo>
                      <a:lnTo>
                        <a:pt x="14" y="19"/>
                      </a:lnTo>
                      <a:lnTo>
                        <a:pt x="11" y="12"/>
                      </a:lnTo>
                      <a:lnTo>
                        <a:pt x="7" y="4"/>
                      </a:lnTo>
                      <a:lnTo>
                        <a:pt x="14" y="5"/>
                      </a:lnTo>
                      <a:lnTo>
                        <a:pt x="27" y="5"/>
                      </a:lnTo>
                      <a:lnTo>
                        <a:pt x="31" y="10"/>
                      </a:lnTo>
                      <a:lnTo>
                        <a:pt x="37" y="22"/>
                      </a:lnTo>
                      <a:lnTo>
                        <a:pt x="43" y="31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 w="9525" cap="rnd">
                  <a:noFill/>
                  <a:round/>
                </a:ln>
                <a:effectLst/>
              </p:spPr>
              <p:txBody>
                <a:bodyPr/>
                <a:lstStyle/>
                <a:p>
                  <a:pPr marL="0" marR="0" lvl="0" indent="0" algn="ctr" defTabSz="914400" rtl="0" eaLnBrk="0" fontAlgn="base" latinLnBrk="0" hangingPunct="0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defRPr/>
                  </a:pPr>
                  <a:endParaRPr kumimoji="0" lang="zh-CN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+mn-ea"/>
                    <a:cs typeface="+mn-cs"/>
                  </a:endParaRPr>
                </a:p>
              </p:txBody>
            </p:sp>
            <p:grpSp>
              <p:nvGrpSpPr>
                <p:cNvPr id="3" name="Group 25"/>
                <p:cNvGrpSpPr/>
                <p:nvPr/>
              </p:nvGrpSpPr>
              <p:grpSpPr>
                <a:xfrm>
                  <a:off x="1985" y="1419"/>
                  <a:ext cx="465" cy="349"/>
                  <a:chOff x="1985" y="1419"/>
                  <a:chExt cx="465" cy="349"/>
                </a:xfrm>
              </p:grpSpPr>
              <p:sp>
                <p:nvSpPr>
                  <p:cNvPr id="2065" name="Freeform 26"/>
                  <p:cNvSpPr/>
                  <p:nvPr/>
                </p:nvSpPr>
                <p:spPr bwMode="ltGray">
                  <a:xfrm>
                    <a:off x="2030" y="1419"/>
                    <a:ext cx="420" cy="326"/>
                  </a:xfrm>
                  <a:custGeom>
                    <a:avLst/>
                    <a:gdLst>
                      <a:gd name="T0" fmla="*/ 159 w 420"/>
                      <a:gd name="T1" fmla="*/ 41 h 326"/>
                      <a:gd name="T2" fmla="*/ 193 w 420"/>
                      <a:gd name="T3" fmla="*/ 13 h 326"/>
                      <a:gd name="T4" fmla="*/ 233 w 420"/>
                      <a:gd name="T5" fmla="*/ 2 h 326"/>
                      <a:gd name="T6" fmla="*/ 279 w 420"/>
                      <a:gd name="T7" fmla="*/ 2 h 326"/>
                      <a:gd name="T8" fmla="*/ 290 w 420"/>
                      <a:gd name="T9" fmla="*/ 6 h 326"/>
                      <a:gd name="T10" fmla="*/ 260 w 420"/>
                      <a:gd name="T11" fmla="*/ 14 h 326"/>
                      <a:gd name="T12" fmla="*/ 225 w 420"/>
                      <a:gd name="T13" fmla="*/ 25 h 326"/>
                      <a:gd name="T14" fmla="*/ 186 w 420"/>
                      <a:gd name="T15" fmla="*/ 52 h 326"/>
                      <a:gd name="T16" fmla="*/ 183 w 420"/>
                      <a:gd name="T17" fmla="*/ 89 h 326"/>
                      <a:gd name="T18" fmla="*/ 240 w 420"/>
                      <a:gd name="T19" fmla="*/ 66 h 326"/>
                      <a:gd name="T20" fmla="*/ 288 w 420"/>
                      <a:gd name="T21" fmla="*/ 64 h 326"/>
                      <a:gd name="T22" fmla="*/ 338 w 420"/>
                      <a:gd name="T23" fmla="*/ 69 h 326"/>
                      <a:gd name="T24" fmla="*/ 397 w 420"/>
                      <a:gd name="T25" fmla="*/ 75 h 326"/>
                      <a:gd name="T26" fmla="*/ 398 w 420"/>
                      <a:gd name="T27" fmla="*/ 76 h 326"/>
                      <a:gd name="T28" fmla="*/ 341 w 420"/>
                      <a:gd name="T29" fmla="*/ 79 h 326"/>
                      <a:gd name="T30" fmla="*/ 288 w 420"/>
                      <a:gd name="T31" fmla="*/ 80 h 326"/>
                      <a:gd name="T32" fmla="*/ 242 w 420"/>
                      <a:gd name="T33" fmla="*/ 86 h 326"/>
                      <a:gd name="T34" fmla="*/ 191 w 420"/>
                      <a:gd name="T35" fmla="*/ 98 h 326"/>
                      <a:gd name="T36" fmla="*/ 212 w 420"/>
                      <a:gd name="T37" fmla="*/ 118 h 326"/>
                      <a:gd name="T38" fmla="*/ 227 w 420"/>
                      <a:gd name="T39" fmla="*/ 136 h 326"/>
                      <a:gd name="T40" fmla="*/ 175 w 420"/>
                      <a:gd name="T41" fmla="*/ 119 h 326"/>
                      <a:gd name="T42" fmla="*/ 165 w 420"/>
                      <a:gd name="T43" fmla="*/ 129 h 326"/>
                      <a:gd name="T44" fmla="*/ 221 w 420"/>
                      <a:gd name="T45" fmla="*/ 138 h 326"/>
                      <a:gd name="T46" fmla="*/ 269 w 420"/>
                      <a:gd name="T47" fmla="*/ 150 h 326"/>
                      <a:gd name="T48" fmla="*/ 306 w 420"/>
                      <a:gd name="T49" fmla="*/ 181 h 326"/>
                      <a:gd name="T50" fmla="*/ 335 w 420"/>
                      <a:gd name="T51" fmla="*/ 223 h 326"/>
                      <a:gd name="T52" fmla="*/ 329 w 420"/>
                      <a:gd name="T53" fmla="*/ 231 h 326"/>
                      <a:gd name="T54" fmla="*/ 290 w 420"/>
                      <a:gd name="T55" fmla="*/ 204 h 326"/>
                      <a:gd name="T56" fmla="*/ 248 w 420"/>
                      <a:gd name="T57" fmla="*/ 174 h 326"/>
                      <a:gd name="T58" fmla="*/ 202 w 420"/>
                      <a:gd name="T59" fmla="*/ 154 h 326"/>
                      <a:gd name="T60" fmla="*/ 173 w 420"/>
                      <a:gd name="T61" fmla="*/ 148 h 326"/>
                      <a:gd name="T62" fmla="*/ 196 w 420"/>
                      <a:gd name="T63" fmla="*/ 181 h 326"/>
                      <a:gd name="T64" fmla="*/ 227 w 420"/>
                      <a:gd name="T65" fmla="*/ 223 h 326"/>
                      <a:gd name="T66" fmla="*/ 244 w 420"/>
                      <a:gd name="T67" fmla="*/ 262 h 326"/>
                      <a:gd name="T68" fmla="*/ 243 w 420"/>
                      <a:gd name="T69" fmla="*/ 299 h 326"/>
                      <a:gd name="T70" fmla="*/ 222 w 420"/>
                      <a:gd name="T71" fmla="*/ 259 h 326"/>
                      <a:gd name="T72" fmla="*/ 199 w 420"/>
                      <a:gd name="T73" fmla="*/ 215 h 326"/>
                      <a:gd name="T74" fmla="*/ 173 w 420"/>
                      <a:gd name="T75" fmla="*/ 177 h 326"/>
                      <a:gd name="T76" fmla="*/ 150 w 420"/>
                      <a:gd name="T77" fmla="*/ 142 h 326"/>
                      <a:gd name="T78" fmla="*/ 109 w 420"/>
                      <a:gd name="T79" fmla="*/ 162 h 326"/>
                      <a:gd name="T80" fmla="*/ 77 w 420"/>
                      <a:gd name="T81" fmla="*/ 210 h 326"/>
                      <a:gd name="T82" fmla="*/ 49 w 420"/>
                      <a:gd name="T83" fmla="*/ 260 h 326"/>
                      <a:gd name="T84" fmla="*/ 18 w 420"/>
                      <a:gd name="T85" fmla="*/ 306 h 326"/>
                      <a:gd name="T86" fmla="*/ 8 w 420"/>
                      <a:gd name="T87" fmla="*/ 301 h 326"/>
                      <a:gd name="T88" fmla="*/ 45 w 420"/>
                      <a:gd name="T89" fmla="*/ 243 h 326"/>
                      <a:gd name="T90" fmla="*/ 78 w 420"/>
                      <a:gd name="T91" fmla="*/ 198 h 326"/>
                      <a:gd name="T92" fmla="*/ 107 w 420"/>
                      <a:gd name="T93" fmla="*/ 154 h 326"/>
                      <a:gd name="T94" fmla="*/ 132 w 420"/>
                      <a:gd name="T95" fmla="*/ 120 h 326"/>
                      <a:gd name="T96" fmla="*/ 95 w 420"/>
                      <a:gd name="T97" fmla="*/ 79 h 326"/>
                      <a:gd name="T98" fmla="*/ 42 w 420"/>
                      <a:gd name="T99" fmla="*/ 57 h 326"/>
                      <a:gd name="T100" fmla="*/ 19 w 420"/>
                      <a:gd name="T101" fmla="*/ 45 h 326"/>
                      <a:gd name="T102" fmla="*/ 60 w 420"/>
                      <a:gd name="T103" fmla="*/ 58 h 326"/>
                      <a:gd name="T104" fmla="*/ 116 w 420"/>
                      <a:gd name="T105" fmla="*/ 86 h 32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  <a:gd name="T135" fmla="*/ 0 60000 65536"/>
                      <a:gd name="T136" fmla="*/ 0 60000 65536"/>
                      <a:gd name="T137" fmla="*/ 0 60000 65536"/>
                      <a:gd name="T138" fmla="*/ 0 60000 65536"/>
                      <a:gd name="T139" fmla="*/ 0 60000 65536"/>
                      <a:gd name="T140" fmla="*/ 0 60000 65536"/>
                      <a:gd name="T141" fmla="*/ 0 60000 65536"/>
                      <a:gd name="T142" fmla="*/ 0 60000 65536"/>
                      <a:gd name="T143" fmla="*/ 0 60000 65536"/>
                      <a:gd name="T144" fmla="*/ 0 60000 65536"/>
                      <a:gd name="T145" fmla="*/ 0 60000 65536"/>
                      <a:gd name="T146" fmla="*/ 0 60000 65536"/>
                      <a:gd name="T147" fmla="*/ 0 60000 65536"/>
                      <a:gd name="T148" fmla="*/ 0 60000 65536"/>
                      <a:gd name="T149" fmla="*/ 0 60000 65536"/>
                      <a:gd name="T150" fmla="*/ 0 60000 65536"/>
                      <a:gd name="T151" fmla="*/ 0 60000 65536"/>
                      <a:gd name="T152" fmla="*/ 0 60000 65536"/>
                      <a:gd name="T153" fmla="*/ 0 60000 65536"/>
                      <a:gd name="T154" fmla="*/ 0 60000 65536"/>
                      <a:gd name="T155" fmla="*/ 0 60000 65536"/>
                      <a:gd name="T156" fmla="*/ 0 60000 65536"/>
                      <a:gd name="T157" fmla="*/ 0 60000 65536"/>
                      <a:gd name="T158" fmla="*/ 0 60000 65536"/>
                    </a:gdLst>
                    <a:ahLst/>
                    <a:cxnLst>
                      <a:cxn ang="T106">
                        <a:pos x="T0" y="T1"/>
                      </a:cxn>
                      <a:cxn ang="T107">
                        <a:pos x="T2" y="T3"/>
                      </a:cxn>
                      <a:cxn ang="T108">
                        <a:pos x="T4" y="T5"/>
                      </a:cxn>
                      <a:cxn ang="T109">
                        <a:pos x="T6" y="T7"/>
                      </a:cxn>
                      <a:cxn ang="T110">
                        <a:pos x="T8" y="T9"/>
                      </a:cxn>
                      <a:cxn ang="T111">
                        <a:pos x="T10" y="T11"/>
                      </a:cxn>
                      <a:cxn ang="T112">
                        <a:pos x="T12" y="T13"/>
                      </a:cxn>
                      <a:cxn ang="T113">
                        <a:pos x="T14" y="T15"/>
                      </a:cxn>
                      <a:cxn ang="T114">
                        <a:pos x="T16" y="T17"/>
                      </a:cxn>
                      <a:cxn ang="T115">
                        <a:pos x="T18" y="T19"/>
                      </a:cxn>
                      <a:cxn ang="T116">
                        <a:pos x="T20" y="T21"/>
                      </a:cxn>
                      <a:cxn ang="T117">
                        <a:pos x="T22" y="T23"/>
                      </a:cxn>
                      <a:cxn ang="T118">
                        <a:pos x="T24" y="T25"/>
                      </a:cxn>
                      <a:cxn ang="T119">
                        <a:pos x="T26" y="T27"/>
                      </a:cxn>
                      <a:cxn ang="T120">
                        <a:pos x="T28" y="T29"/>
                      </a:cxn>
                      <a:cxn ang="T121">
                        <a:pos x="T30" y="T31"/>
                      </a:cxn>
                      <a:cxn ang="T122">
                        <a:pos x="T32" y="T33"/>
                      </a:cxn>
                      <a:cxn ang="T123">
                        <a:pos x="T34" y="T35"/>
                      </a:cxn>
                      <a:cxn ang="T124">
                        <a:pos x="T36" y="T37"/>
                      </a:cxn>
                      <a:cxn ang="T125">
                        <a:pos x="T38" y="T39"/>
                      </a:cxn>
                      <a:cxn ang="T126">
                        <a:pos x="T40" y="T41"/>
                      </a:cxn>
                      <a:cxn ang="T127">
                        <a:pos x="T42" y="T43"/>
                      </a:cxn>
                      <a:cxn ang="T128">
                        <a:pos x="T44" y="T45"/>
                      </a:cxn>
                      <a:cxn ang="T129">
                        <a:pos x="T46" y="T47"/>
                      </a:cxn>
                      <a:cxn ang="T130">
                        <a:pos x="T48" y="T49"/>
                      </a:cxn>
                      <a:cxn ang="T131">
                        <a:pos x="T50" y="T51"/>
                      </a:cxn>
                      <a:cxn ang="T132">
                        <a:pos x="T52" y="T53"/>
                      </a:cxn>
                      <a:cxn ang="T133">
                        <a:pos x="T54" y="T55"/>
                      </a:cxn>
                      <a:cxn ang="T134">
                        <a:pos x="T56" y="T57"/>
                      </a:cxn>
                      <a:cxn ang="T135">
                        <a:pos x="T58" y="T59"/>
                      </a:cxn>
                      <a:cxn ang="T136">
                        <a:pos x="T60" y="T61"/>
                      </a:cxn>
                      <a:cxn ang="T137">
                        <a:pos x="T62" y="T63"/>
                      </a:cxn>
                      <a:cxn ang="T138">
                        <a:pos x="T64" y="T65"/>
                      </a:cxn>
                      <a:cxn ang="T139">
                        <a:pos x="T66" y="T67"/>
                      </a:cxn>
                      <a:cxn ang="T140">
                        <a:pos x="T68" y="T69"/>
                      </a:cxn>
                      <a:cxn ang="T141">
                        <a:pos x="T70" y="T71"/>
                      </a:cxn>
                      <a:cxn ang="T142">
                        <a:pos x="T72" y="T73"/>
                      </a:cxn>
                      <a:cxn ang="T143">
                        <a:pos x="T74" y="T75"/>
                      </a:cxn>
                      <a:cxn ang="T144">
                        <a:pos x="T76" y="T77"/>
                      </a:cxn>
                      <a:cxn ang="T145">
                        <a:pos x="T78" y="T79"/>
                      </a:cxn>
                      <a:cxn ang="T146">
                        <a:pos x="T80" y="T81"/>
                      </a:cxn>
                      <a:cxn ang="T147">
                        <a:pos x="T82" y="T83"/>
                      </a:cxn>
                      <a:cxn ang="T148">
                        <a:pos x="T84" y="T85"/>
                      </a:cxn>
                      <a:cxn ang="T149">
                        <a:pos x="T86" y="T87"/>
                      </a:cxn>
                      <a:cxn ang="T150">
                        <a:pos x="T88" y="T89"/>
                      </a:cxn>
                      <a:cxn ang="T151">
                        <a:pos x="T90" y="T91"/>
                      </a:cxn>
                      <a:cxn ang="T152">
                        <a:pos x="T92" y="T93"/>
                      </a:cxn>
                      <a:cxn ang="T153">
                        <a:pos x="T94" y="T95"/>
                      </a:cxn>
                      <a:cxn ang="T154">
                        <a:pos x="T96" y="T97"/>
                      </a:cxn>
                      <a:cxn ang="T155">
                        <a:pos x="T98" y="T99"/>
                      </a:cxn>
                      <a:cxn ang="T156">
                        <a:pos x="T100" y="T101"/>
                      </a:cxn>
                      <a:cxn ang="T157">
                        <a:pos x="T102" y="T103"/>
                      </a:cxn>
                      <a:cxn ang="T158">
                        <a:pos x="T104" y="T105"/>
                      </a:cxn>
                    </a:cxnLst>
                    <a:rect l="0" t="0" r="r" b="b"/>
                    <a:pathLst>
                      <a:path w="420" h="326">
                        <a:moveTo>
                          <a:pt x="132" y="83"/>
                        </a:moveTo>
                        <a:lnTo>
                          <a:pt x="135" y="74"/>
                        </a:lnTo>
                        <a:lnTo>
                          <a:pt x="140" y="65"/>
                        </a:lnTo>
                        <a:lnTo>
                          <a:pt x="146" y="57"/>
                        </a:lnTo>
                        <a:lnTo>
                          <a:pt x="152" y="48"/>
                        </a:lnTo>
                        <a:lnTo>
                          <a:pt x="159" y="41"/>
                        </a:lnTo>
                        <a:lnTo>
                          <a:pt x="164" y="34"/>
                        </a:lnTo>
                        <a:lnTo>
                          <a:pt x="170" y="29"/>
                        </a:lnTo>
                        <a:lnTo>
                          <a:pt x="176" y="25"/>
                        </a:lnTo>
                        <a:lnTo>
                          <a:pt x="181" y="20"/>
                        </a:lnTo>
                        <a:lnTo>
                          <a:pt x="187" y="17"/>
                        </a:lnTo>
                        <a:lnTo>
                          <a:pt x="193" y="13"/>
                        </a:lnTo>
                        <a:lnTo>
                          <a:pt x="199" y="10"/>
                        </a:lnTo>
                        <a:lnTo>
                          <a:pt x="204" y="8"/>
                        </a:lnTo>
                        <a:lnTo>
                          <a:pt x="212" y="6"/>
                        </a:lnTo>
                        <a:lnTo>
                          <a:pt x="220" y="5"/>
                        </a:lnTo>
                        <a:lnTo>
                          <a:pt x="226" y="3"/>
                        </a:lnTo>
                        <a:lnTo>
                          <a:pt x="233" y="2"/>
                        </a:lnTo>
                        <a:lnTo>
                          <a:pt x="241" y="2"/>
                        </a:lnTo>
                        <a:lnTo>
                          <a:pt x="248" y="1"/>
                        </a:lnTo>
                        <a:lnTo>
                          <a:pt x="258" y="1"/>
                        </a:lnTo>
                        <a:lnTo>
                          <a:pt x="265" y="1"/>
                        </a:lnTo>
                        <a:lnTo>
                          <a:pt x="272" y="2"/>
                        </a:lnTo>
                        <a:lnTo>
                          <a:pt x="279" y="2"/>
                        </a:lnTo>
                        <a:lnTo>
                          <a:pt x="285" y="1"/>
                        </a:lnTo>
                        <a:lnTo>
                          <a:pt x="293" y="1"/>
                        </a:lnTo>
                        <a:lnTo>
                          <a:pt x="300" y="0"/>
                        </a:lnTo>
                        <a:lnTo>
                          <a:pt x="296" y="2"/>
                        </a:lnTo>
                        <a:lnTo>
                          <a:pt x="293" y="3"/>
                        </a:lnTo>
                        <a:lnTo>
                          <a:pt x="290" y="6"/>
                        </a:lnTo>
                        <a:lnTo>
                          <a:pt x="287" y="10"/>
                        </a:lnTo>
                        <a:lnTo>
                          <a:pt x="281" y="10"/>
                        </a:lnTo>
                        <a:lnTo>
                          <a:pt x="275" y="10"/>
                        </a:lnTo>
                        <a:lnTo>
                          <a:pt x="270" y="11"/>
                        </a:lnTo>
                        <a:lnTo>
                          <a:pt x="265" y="12"/>
                        </a:lnTo>
                        <a:lnTo>
                          <a:pt x="260" y="14"/>
                        </a:lnTo>
                        <a:lnTo>
                          <a:pt x="254" y="15"/>
                        </a:lnTo>
                        <a:lnTo>
                          <a:pt x="248" y="17"/>
                        </a:lnTo>
                        <a:lnTo>
                          <a:pt x="242" y="19"/>
                        </a:lnTo>
                        <a:lnTo>
                          <a:pt x="236" y="20"/>
                        </a:lnTo>
                        <a:lnTo>
                          <a:pt x="231" y="22"/>
                        </a:lnTo>
                        <a:lnTo>
                          <a:pt x="225" y="25"/>
                        </a:lnTo>
                        <a:lnTo>
                          <a:pt x="218" y="28"/>
                        </a:lnTo>
                        <a:lnTo>
                          <a:pt x="212" y="31"/>
                        </a:lnTo>
                        <a:lnTo>
                          <a:pt x="205" y="35"/>
                        </a:lnTo>
                        <a:lnTo>
                          <a:pt x="199" y="39"/>
                        </a:lnTo>
                        <a:lnTo>
                          <a:pt x="192" y="45"/>
                        </a:lnTo>
                        <a:lnTo>
                          <a:pt x="186" y="52"/>
                        </a:lnTo>
                        <a:lnTo>
                          <a:pt x="180" y="61"/>
                        </a:lnTo>
                        <a:lnTo>
                          <a:pt x="173" y="73"/>
                        </a:lnTo>
                        <a:lnTo>
                          <a:pt x="167" y="86"/>
                        </a:lnTo>
                        <a:lnTo>
                          <a:pt x="159" y="101"/>
                        </a:lnTo>
                        <a:lnTo>
                          <a:pt x="172" y="95"/>
                        </a:lnTo>
                        <a:lnTo>
                          <a:pt x="183" y="89"/>
                        </a:lnTo>
                        <a:lnTo>
                          <a:pt x="197" y="82"/>
                        </a:lnTo>
                        <a:lnTo>
                          <a:pt x="212" y="75"/>
                        </a:lnTo>
                        <a:lnTo>
                          <a:pt x="218" y="73"/>
                        </a:lnTo>
                        <a:lnTo>
                          <a:pt x="225" y="70"/>
                        </a:lnTo>
                        <a:lnTo>
                          <a:pt x="232" y="69"/>
                        </a:lnTo>
                        <a:lnTo>
                          <a:pt x="240" y="66"/>
                        </a:lnTo>
                        <a:lnTo>
                          <a:pt x="249" y="65"/>
                        </a:lnTo>
                        <a:lnTo>
                          <a:pt x="256" y="64"/>
                        </a:lnTo>
                        <a:lnTo>
                          <a:pt x="263" y="64"/>
                        </a:lnTo>
                        <a:lnTo>
                          <a:pt x="272" y="63"/>
                        </a:lnTo>
                        <a:lnTo>
                          <a:pt x="281" y="64"/>
                        </a:lnTo>
                        <a:lnTo>
                          <a:pt x="288" y="64"/>
                        </a:lnTo>
                        <a:lnTo>
                          <a:pt x="297" y="65"/>
                        </a:lnTo>
                        <a:lnTo>
                          <a:pt x="305" y="65"/>
                        </a:lnTo>
                        <a:lnTo>
                          <a:pt x="313" y="66"/>
                        </a:lnTo>
                        <a:lnTo>
                          <a:pt x="321" y="67"/>
                        </a:lnTo>
                        <a:lnTo>
                          <a:pt x="329" y="68"/>
                        </a:lnTo>
                        <a:lnTo>
                          <a:pt x="338" y="69"/>
                        </a:lnTo>
                        <a:lnTo>
                          <a:pt x="346" y="69"/>
                        </a:lnTo>
                        <a:lnTo>
                          <a:pt x="354" y="70"/>
                        </a:lnTo>
                        <a:lnTo>
                          <a:pt x="364" y="71"/>
                        </a:lnTo>
                        <a:lnTo>
                          <a:pt x="374" y="72"/>
                        </a:lnTo>
                        <a:lnTo>
                          <a:pt x="383" y="74"/>
                        </a:lnTo>
                        <a:lnTo>
                          <a:pt x="397" y="75"/>
                        </a:lnTo>
                        <a:lnTo>
                          <a:pt x="402" y="75"/>
                        </a:lnTo>
                        <a:lnTo>
                          <a:pt x="406" y="75"/>
                        </a:lnTo>
                        <a:lnTo>
                          <a:pt x="411" y="77"/>
                        </a:lnTo>
                        <a:lnTo>
                          <a:pt x="419" y="80"/>
                        </a:lnTo>
                        <a:lnTo>
                          <a:pt x="404" y="77"/>
                        </a:lnTo>
                        <a:lnTo>
                          <a:pt x="398" y="76"/>
                        </a:lnTo>
                        <a:lnTo>
                          <a:pt x="392" y="76"/>
                        </a:lnTo>
                        <a:lnTo>
                          <a:pt x="379" y="77"/>
                        </a:lnTo>
                        <a:lnTo>
                          <a:pt x="370" y="78"/>
                        </a:lnTo>
                        <a:lnTo>
                          <a:pt x="360" y="78"/>
                        </a:lnTo>
                        <a:lnTo>
                          <a:pt x="350" y="78"/>
                        </a:lnTo>
                        <a:lnTo>
                          <a:pt x="341" y="79"/>
                        </a:lnTo>
                        <a:lnTo>
                          <a:pt x="332" y="79"/>
                        </a:lnTo>
                        <a:lnTo>
                          <a:pt x="325" y="78"/>
                        </a:lnTo>
                        <a:lnTo>
                          <a:pt x="315" y="78"/>
                        </a:lnTo>
                        <a:lnTo>
                          <a:pt x="305" y="78"/>
                        </a:lnTo>
                        <a:lnTo>
                          <a:pt x="296" y="79"/>
                        </a:lnTo>
                        <a:lnTo>
                          <a:pt x="288" y="80"/>
                        </a:lnTo>
                        <a:lnTo>
                          <a:pt x="279" y="80"/>
                        </a:lnTo>
                        <a:lnTo>
                          <a:pt x="272" y="80"/>
                        </a:lnTo>
                        <a:lnTo>
                          <a:pt x="264" y="81"/>
                        </a:lnTo>
                        <a:lnTo>
                          <a:pt x="256" y="83"/>
                        </a:lnTo>
                        <a:lnTo>
                          <a:pt x="249" y="84"/>
                        </a:lnTo>
                        <a:lnTo>
                          <a:pt x="242" y="86"/>
                        </a:lnTo>
                        <a:lnTo>
                          <a:pt x="235" y="87"/>
                        </a:lnTo>
                        <a:lnTo>
                          <a:pt x="227" y="89"/>
                        </a:lnTo>
                        <a:lnTo>
                          <a:pt x="219" y="92"/>
                        </a:lnTo>
                        <a:lnTo>
                          <a:pt x="212" y="93"/>
                        </a:lnTo>
                        <a:lnTo>
                          <a:pt x="199" y="97"/>
                        </a:lnTo>
                        <a:lnTo>
                          <a:pt x="191" y="98"/>
                        </a:lnTo>
                        <a:lnTo>
                          <a:pt x="180" y="104"/>
                        </a:lnTo>
                        <a:lnTo>
                          <a:pt x="164" y="109"/>
                        </a:lnTo>
                        <a:lnTo>
                          <a:pt x="180" y="111"/>
                        </a:lnTo>
                        <a:lnTo>
                          <a:pt x="199" y="112"/>
                        </a:lnTo>
                        <a:lnTo>
                          <a:pt x="203" y="113"/>
                        </a:lnTo>
                        <a:lnTo>
                          <a:pt x="212" y="118"/>
                        </a:lnTo>
                        <a:lnTo>
                          <a:pt x="217" y="120"/>
                        </a:lnTo>
                        <a:lnTo>
                          <a:pt x="223" y="123"/>
                        </a:lnTo>
                        <a:lnTo>
                          <a:pt x="224" y="125"/>
                        </a:lnTo>
                        <a:lnTo>
                          <a:pt x="227" y="130"/>
                        </a:lnTo>
                        <a:lnTo>
                          <a:pt x="233" y="140"/>
                        </a:lnTo>
                        <a:lnTo>
                          <a:pt x="227" y="136"/>
                        </a:lnTo>
                        <a:lnTo>
                          <a:pt x="219" y="131"/>
                        </a:lnTo>
                        <a:lnTo>
                          <a:pt x="212" y="129"/>
                        </a:lnTo>
                        <a:lnTo>
                          <a:pt x="199" y="125"/>
                        </a:lnTo>
                        <a:lnTo>
                          <a:pt x="190" y="123"/>
                        </a:lnTo>
                        <a:lnTo>
                          <a:pt x="180" y="120"/>
                        </a:lnTo>
                        <a:lnTo>
                          <a:pt x="175" y="119"/>
                        </a:lnTo>
                        <a:lnTo>
                          <a:pt x="165" y="120"/>
                        </a:lnTo>
                        <a:lnTo>
                          <a:pt x="158" y="122"/>
                        </a:lnTo>
                        <a:lnTo>
                          <a:pt x="148" y="123"/>
                        </a:lnTo>
                        <a:lnTo>
                          <a:pt x="153" y="125"/>
                        </a:lnTo>
                        <a:lnTo>
                          <a:pt x="158" y="127"/>
                        </a:lnTo>
                        <a:lnTo>
                          <a:pt x="165" y="129"/>
                        </a:lnTo>
                        <a:lnTo>
                          <a:pt x="173" y="129"/>
                        </a:lnTo>
                        <a:lnTo>
                          <a:pt x="186" y="129"/>
                        </a:lnTo>
                        <a:lnTo>
                          <a:pt x="194" y="131"/>
                        </a:lnTo>
                        <a:lnTo>
                          <a:pt x="204" y="133"/>
                        </a:lnTo>
                        <a:lnTo>
                          <a:pt x="212" y="136"/>
                        </a:lnTo>
                        <a:lnTo>
                          <a:pt x="221" y="138"/>
                        </a:lnTo>
                        <a:lnTo>
                          <a:pt x="231" y="141"/>
                        </a:lnTo>
                        <a:lnTo>
                          <a:pt x="240" y="143"/>
                        </a:lnTo>
                        <a:lnTo>
                          <a:pt x="248" y="145"/>
                        </a:lnTo>
                        <a:lnTo>
                          <a:pt x="254" y="146"/>
                        </a:lnTo>
                        <a:lnTo>
                          <a:pt x="261" y="148"/>
                        </a:lnTo>
                        <a:lnTo>
                          <a:pt x="269" y="150"/>
                        </a:lnTo>
                        <a:lnTo>
                          <a:pt x="277" y="154"/>
                        </a:lnTo>
                        <a:lnTo>
                          <a:pt x="285" y="158"/>
                        </a:lnTo>
                        <a:lnTo>
                          <a:pt x="289" y="160"/>
                        </a:lnTo>
                        <a:lnTo>
                          <a:pt x="295" y="167"/>
                        </a:lnTo>
                        <a:lnTo>
                          <a:pt x="302" y="174"/>
                        </a:lnTo>
                        <a:lnTo>
                          <a:pt x="306" y="181"/>
                        </a:lnTo>
                        <a:lnTo>
                          <a:pt x="311" y="188"/>
                        </a:lnTo>
                        <a:lnTo>
                          <a:pt x="316" y="195"/>
                        </a:lnTo>
                        <a:lnTo>
                          <a:pt x="320" y="202"/>
                        </a:lnTo>
                        <a:lnTo>
                          <a:pt x="325" y="208"/>
                        </a:lnTo>
                        <a:lnTo>
                          <a:pt x="329" y="215"/>
                        </a:lnTo>
                        <a:lnTo>
                          <a:pt x="335" y="223"/>
                        </a:lnTo>
                        <a:lnTo>
                          <a:pt x="339" y="232"/>
                        </a:lnTo>
                        <a:lnTo>
                          <a:pt x="345" y="238"/>
                        </a:lnTo>
                        <a:lnTo>
                          <a:pt x="351" y="246"/>
                        </a:lnTo>
                        <a:lnTo>
                          <a:pt x="343" y="240"/>
                        </a:lnTo>
                        <a:lnTo>
                          <a:pt x="337" y="236"/>
                        </a:lnTo>
                        <a:lnTo>
                          <a:pt x="329" y="231"/>
                        </a:lnTo>
                        <a:lnTo>
                          <a:pt x="321" y="225"/>
                        </a:lnTo>
                        <a:lnTo>
                          <a:pt x="315" y="220"/>
                        </a:lnTo>
                        <a:lnTo>
                          <a:pt x="309" y="215"/>
                        </a:lnTo>
                        <a:lnTo>
                          <a:pt x="303" y="212"/>
                        </a:lnTo>
                        <a:lnTo>
                          <a:pt x="297" y="208"/>
                        </a:lnTo>
                        <a:lnTo>
                          <a:pt x="290" y="204"/>
                        </a:lnTo>
                        <a:lnTo>
                          <a:pt x="284" y="200"/>
                        </a:lnTo>
                        <a:lnTo>
                          <a:pt x="278" y="196"/>
                        </a:lnTo>
                        <a:lnTo>
                          <a:pt x="271" y="191"/>
                        </a:lnTo>
                        <a:lnTo>
                          <a:pt x="263" y="186"/>
                        </a:lnTo>
                        <a:lnTo>
                          <a:pt x="255" y="179"/>
                        </a:lnTo>
                        <a:lnTo>
                          <a:pt x="248" y="174"/>
                        </a:lnTo>
                        <a:lnTo>
                          <a:pt x="241" y="170"/>
                        </a:lnTo>
                        <a:lnTo>
                          <a:pt x="234" y="166"/>
                        </a:lnTo>
                        <a:lnTo>
                          <a:pt x="226" y="162"/>
                        </a:lnTo>
                        <a:lnTo>
                          <a:pt x="219" y="159"/>
                        </a:lnTo>
                        <a:lnTo>
                          <a:pt x="212" y="157"/>
                        </a:lnTo>
                        <a:lnTo>
                          <a:pt x="202" y="154"/>
                        </a:lnTo>
                        <a:lnTo>
                          <a:pt x="192" y="151"/>
                        </a:lnTo>
                        <a:lnTo>
                          <a:pt x="185" y="150"/>
                        </a:lnTo>
                        <a:lnTo>
                          <a:pt x="178" y="147"/>
                        </a:lnTo>
                        <a:lnTo>
                          <a:pt x="167" y="142"/>
                        </a:lnTo>
                        <a:lnTo>
                          <a:pt x="156" y="137"/>
                        </a:lnTo>
                        <a:lnTo>
                          <a:pt x="173" y="148"/>
                        </a:lnTo>
                        <a:lnTo>
                          <a:pt x="174" y="150"/>
                        </a:lnTo>
                        <a:lnTo>
                          <a:pt x="178" y="155"/>
                        </a:lnTo>
                        <a:lnTo>
                          <a:pt x="182" y="160"/>
                        </a:lnTo>
                        <a:lnTo>
                          <a:pt x="187" y="167"/>
                        </a:lnTo>
                        <a:lnTo>
                          <a:pt x="192" y="173"/>
                        </a:lnTo>
                        <a:lnTo>
                          <a:pt x="196" y="181"/>
                        </a:lnTo>
                        <a:lnTo>
                          <a:pt x="202" y="188"/>
                        </a:lnTo>
                        <a:lnTo>
                          <a:pt x="207" y="194"/>
                        </a:lnTo>
                        <a:lnTo>
                          <a:pt x="212" y="200"/>
                        </a:lnTo>
                        <a:lnTo>
                          <a:pt x="216" y="207"/>
                        </a:lnTo>
                        <a:lnTo>
                          <a:pt x="223" y="216"/>
                        </a:lnTo>
                        <a:lnTo>
                          <a:pt x="227" y="223"/>
                        </a:lnTo>
                        <a:lnTo>
                          <a:pt x="231" y="229"/>
                        </a:lnTo>
                        <a:lnTo>
                          <a:pt x="235" y="236"/>
                        </a:lnTo>
                        <a:lnTo>
                          <a:pt x="238" y="243"/>
                        </a:lnTo>
                        <a:lnTo>
                          <a:pt x="241" y="250"/>
                        </a:lnTo>
                        <a:lnTo>
                          <a:pt x="243" y="255"/>
                        </a:lnTo>
                        <a:lnTo>
                          <a:pt x="244" y="262"/>
                        </a:lnTo>
                        <a:lnTo>
                          <a:pt x="245" y="272"/>
                        </a:lnTo>
                        <a:lnTo>
                          <a:pt x="246" y="281"/>
                        </a:lnTo>
                        <a:lnTo>
                          <a:pt x="247" y="290"/>
                        </a:lnTo>
                        <a:lnTo>
                          <a:pt x="249" y="299"/>
                        </a:lnTo>
                        <a:lnTo>
                          <a:pt x="250" y="308"/>
                        </a:lnTo>
                        <a:lnTo>
                          <a:pt x="243" y="299"/>
                        </a:lnTo>
                        <a:lnTo>
                          <a:pt x="238" y="292"/>
                        </a:lnTo>
                        <a:lnTo>
                          <a:pt x="233" y="286"/>
                        </a:lnTo>
                        <a:lnTo>
                          <a:pt x="231" y="281"/>
                        </a:lnTo>
                        <a:lnTo>
                          <a:pt x="227" y="274"/>
                        </a:lnTo>
                        <a:lnTo>
                          <a:pt x="225" y="267"/>
                        </a:lnTo>
                        <a:lnTo>
                          <a:pt x="222" y="259"/>
                        </a:lnTo>
                        <a:lnTo>
                          <a:pt x="218" y="251"/>
                        </a:lnTo>
                        <a:lnTo>
                          <a:pt x="214" y="242"/>
                        </a:lnTo>
                        <a:lnTo>
                          <a:pt x="211" y="235"/>
                        </a:lnTo>
                        <a:lnTo>
                          <a:pt x="207" y="227"/>
                        </a:lnTo>
                        <a:lnTo>
                          <a:pt x="202" y="220"/>
                        </a:lnTo>
                        <a:lnTo>
                          <a:pt x="199" y="215"/>
                        </a:lnTo>
                        <a:lnTo>
                          <a:pt x="193" y="208"/>
                        </a:lnTo>
                        <a:lnTo>
                          <a:pt x="187" y="201"/>
                        </a:lnTo>
                        <a:lnTo>
                          <a:pt x="182" y="196"/>
                        </a:lnTo>
                        <a:lnTo>
                          <a:pt x="177" y="190"/>
                        </a:lnTo>
                        <a:lnTo>
                          <a:pt x="176" y="184"/>
                        </a:lnTo>
                        <a:lnTo>
                          <a:pt x="173" y="177"/>
                        </a:lnTo>
                        <a:lnTo>
                          <a:pt x="169" y="170"/>
                        </a:lnTo>
                        <a:lnTo>
                          <a:pt x="166" y="163"/>
                        </a:lnTo>
                        <a:lnTo>
                          <a:pt x="164" y="161"/>
                        </a:lnTo>
                        <a:lnTo>
                          <a:pt x="158" y="154"/>
                        </a:lnTo>
                        <a:lnTo>
                          <a:pt x="154" y="148"/>
                        </a:lnTo>
                        <a:lnTo>
                          <a:pt x="150" y="142"/>
                        </a:lnTo>
                        <a:lnTo>
                          <a:pt x="145" y="136"/>
                        </a:lnTo>
                        <a:lnTo>
                          <a:pt x="138" y="140"/>
                        </a:lnTo>
                        <a:lnTo>
                          <a:pt x="131" y="144"/>
                        </a:lnTo>
                        <a:lnTo>
                          <a:pt x="123" y="151"/>
                        </a:lnTo>
                        <a:lnTo>
                          <a:pt x="115" y="156"/>
                        </a:lnTo>
                        <a:lnTo>
                          <a:pt x="109" y="162"/>
                        </a:lnTo>
                        <a:lnTo>
                          <a:pt x="105" y="168"/>
                        </a:lnTo>
                        <a:lnTo>
                          <a:pt x="99" y="176"/>
                        </a:lnTo>
                        <a:lnTo>
                          <a:pt x="93" y="186"/>
                        </a:lnTo>
                        <a:lnTo>
                          <a:pt x="87" y="193"/>
                        </a:lnTo>
                        <a:lnTo>
                          <a:pt x="81" y="202"/>
                        </a:lnTo>
                        <a:lnTo>
                          <a:pt x="77" y="210"/>
                        </a:lnTo>
                        <a:lnTo>
                          <a:pt x="72" y="218"/>
                        </a:lnTo>
                        <a:lnTo>
                          <a:pt x="67" y="226"/>
                        </a:lnTo>
                        <a:lnTo>
                          <a:pt x="64" y="233"/>
                        </a:lnTo>
                        <a:lnTo>
                          <a:pt x="59" y="242"/>
                        </a:lnTo>
                        <a:lnTo>
                          <a:pt x="55" y="250"/>
                        </a:lnTo>
                        <a:lnTo>
                          <a:pt x="49" y="260"/>
                        </a:lnTo>
                        <a:lnTo>
                          <a:pt x="43" y="269"/>
                        </a:lnTo>
                        <a:lnTo>
                          <a:pt x="37" y="280"/>
                        </a:lnTo>
                        <a:lnTo>
                          <a:pt x="31" y="289"/>
                        </a:lnTo>
                        <a:lnTo>
                          <a:pt x="27" y="294"/>
                        </a:lnTo>
                        <a:lnTo>
                          <a:pt x="22" y="300"/>
                        </a:lnTo>
                        <a:lnTo>
                          <a:pt x="18" y="306"/>
                        </a:lnTo>
                        <a:lnTo>
                          <a:pt x="12" y="312"/>
                        </a:lnTo>
                        <a:lnTo>
                          <a:pt x="7" y="317"/>
                        </a:lnTo>
                        <a:lnTo>
                          <a:pt x="0" y="325"/>
                        </a:lnTo>
                        <a:lnTo>
                          <a:pt x="2" y="316"/>
                        </a:lnTo>
                        <a:lnTo>
                          <a:pt x="4" y="309"/>
                        </a:lnTo>
                        <a:lnTo>
                          <a:pt x="8" y="301"/>
                        </a:lnTo>
                        <a:lnTo>
                          <a:pt x="12" y="294"/>
                        </a:lnTo>
                        <a:lnTo>
                          <a:pt x="19" y="284"/>
                        </a:lnTo>
                        <a:lnTo>
                          <a:pt x="26" y="274"/>
                        </a:lnTo>
                        <a:lnTo>
                          <a:pt x="33" y="262"/>
                        </a:lnTo>
                        <a:lnTo>
                          <a:pt x="39" y="253"/>
                        </a:lnTo>
                        <a:lnTo>
                          <a:pt x="45" y="243"/>
                        </a:lnTo>
                        <a:lnTo>
                          <a:pt x="51" y="235"/>
                        </a:lnTo>
                        <a:lnTo>
                          <a:pt x="56" y="227"/>
                        </a:lnTo>
                        <a:lnTo>
                          <a:pt x="61" y="220"/>
                        </a:lnTo>
                        <a:lnTo>
                          <a:pt x="66" y="214"/>
                        </a:lnTo>
                        <a:lnTo>
                          <a:pt x="72" y="206"/>
                        </a:lnTo>
                        <a:lnTo>
                          <a:pt x="78" y="198"/>
                        </a:lnTo>
                        <a:lnTo>
                          <a:pt x="84" y="190"/>
                        </a:lnTo>
                        <a:lnTo>
                          <a:pt x="90" y="181"/>
                        </a:lnTo>
                        <a:lnTo>
                          <a:pt x="95" y="174"/>
                        </a:lnTo>
                        <a:lnTo>
                          <a:pt x="101" y="166"/>
                        </a:lnTo>
                        <a:lnTo>
                          <a:pt x="104" y="160"/>
                        </a:lnTo>
                        <a:lnTo>
                          <a:pt x="107" y="154"/>
                        </a:lnTo>
                        <a:lnTo>
                          <a:pt x="109" y="149"/>
                        </a:lnTo>
                        <a:lnTo>
                          <a:pt x="112" y="143"/>
                        </a:lnTo>
                        <a:lnTo>
                          <a:pt x="116" y="138"/>
                        </a:lnTo>
                        <a:lnTo>
                          <a:pt x="122" y="131"/>
                        </a:lnTo>
                        <a:lnTo>
                          <a:pt x="128" y="125"/>
                        </a:lnTo>
                        <a:lnTo>
                          <a:pt x="132" y="120"/>
                        </a:lnTo>
                        <a:lnTo>
                          <a:pt x="137" y="114"/>
                        </a:lnTo>
                        <a:lnTo>
                          <a:pt x="135" y="109"/>
                        </a:lnTo>
                        <a:lnTo>
                          <a:pt x="133" y="101"/>
                        </a:lnTo>
                        <a:lnTo>
                          <a:pt x="121" y="97"/>
                        </a:lnTo>
                        <a:lnTo>
                          <a:pt x="108" y="88"/>
                        </a:lnTo>
                        <a:lnTo>
                          <a:pt x="95" y="79"/>
                        </a:lnTo>
                        <a:lnTo>
                          <a:pt x="87" y="74"/>
                        </a:lnTo>
                        <a:lnTo>
                          <a:pt x="81" y="71"/>
                        </a:lnTo>
                        <a:lnTo>
                          <a:pt x="71" y="66"/>
                        </a:lnTo>
                        <a:lnTo>
                          <a:pt x="61" y="63"/>
                        </a:lnTo>
                        <a:lnTo>
                          <a:pt x="50" y="60"/>
                        </a:lnTo>
                        <a:lnTo>
                          <a:pt x="42" y="57"/>
                        </a:lnTo>
                        <a:lnTo>
                          <a:pt x="32" y="53"/>
                        </a:lnTo>
                        <a:lnTo>
                          <a:pt x="23" y="51"/>
                        </a:lnTo>
                        <a:lnTo>
                          <a:pt x="14" y="49"/>
                        </a:lnTo>
                        <a:lnTo>
                          <a:pt x="7" y="47"/>
                        </a:lnTo>
                        <a:lnTo>
                          <a:pt x="14" y="46"/>
                        </a:lnTo>
                        <a:lnTo>
                          <a:pt x="19" y="45"/>
                        </a:lnTo>
                        <a:lnTo>
                          <a:pt x="23" y="44"/>
                        </a:lnTo>
                        <a:lnTo>
                          <a:pt x="28" y="44"/>
                        </a:lnTo>
                        <a:lnTo>
                          <a:pt x="33" y="44"/>
                        </a:lnTo>
                        <a:lnTo>
                          <a:pt x="43" y="49"/>
                        </a:lnTo>
                        <a:lnTo>
                          <a:pt x="51" y="53"/>
                        </a:lnTo>
                        <a:lnTo>
                          <a:pt x="60" y="58"/>
                        </a:lnTo>
                        <a:lnTo>
                          <a:pt x="69" y="63"/>
                        </a:lnTo>
                        <a:lnTo>
                          <a:pt x="79" y="68"/>
                        </a:lnTo>
                        <a:lnTo>
                          <a:pt x="89" y="74"/>
                        </a:lnTo>
                        <a:lnTo>
                          <a:pt x="96" y="77"/>
                        </a:lnTo>
                        <a:lnTo>
                          <a:pt x="109" y="84"/>
                        </a:lnTo>
                        <a:lnTo>
                          <a:pt x="116" y="86"/>
                        </a:lnTo>
                        <a:lnTo>
                          <a:pt x="122" y="85"/>
                        </a:lnTo>
                        <a:lnTo>
                          <a:pt x="127" y="84"/>
                        </a:lnTo>
                        <a:lnTo>
                          <a:pt x="132" y="83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 w="9525" cap="rnd">
                    <a:noFill/>
                    <a:round/>
                  </a:ln>
                  <a:effectLst/>
                </p:spPr>
                <p:txBody>
                  <a:bodyPr/>
                  <a:lstStyle/>
                  <a:p>
                    <a:pPr marL="0" marR="0" lvl="0" indent="0" algn="ctr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4" name="Freeform 27"/>
                  <p:cNvSpPr/>
                  <p:nvPr/>
                </p:nvSpPr>
                <p:spPr bwMode="ltGray">
                  <a:xfrm>
                    <a:off x="2175" y="1587"/>
                    <a:ext cx="38" cy="181"/>
                  </a:xfrm>
                  <a:custGeom>
                    <a:avLst/>
                    <a:gdLst>
                      <a:gd name="T0" fmla="*/ 20 w 38"/>
                      <a:gd name="T1" fmla="*/ 0 h 181"/>
                      <a:gd name="T2" fmla="*/ 24 w 38"/>
                      <a:gd name="T3" fmla="*/ 8 h 181"/>
                      <a:gd name="T4" fmla="*/ 27 w 38"/>
                      <a:gd name="T5" fmla="*/ 14 h 181"/>
                      <a:gd name="T6" fmla="*/ 33 w 38"/>
                      <a:gd name="T7" fmla="*/ 22 h 181"/>
                      <a:gd name="T8" fmla="*/ 35 w 38"/>
                      <a:gd name="T9" fmla="*/ 30 h 181"/>
                      <a:gd name="T10" fmla="*/ 36 w 38"/>
                      <a:gd name="T11" fmla="*/ 41 h 181"/>
                      <a:gd name="T12" fmla="*/ 36 w 38"/>
                      <a:gd name="T13" fmla="*/ 53 h 181"/>
                      <a:gd name="T14" fmla="*/ 37 w 38"/>
                      <a:gd name="T15" fmla="*/ 61 h 181"/>
                      <a:gd name="T16" fmla="*/ 36 w 38"/>
                      <a:gd name="T17" fmla="*/ 70 h 181"/>
                      <a:gd name="T18" fmla="*/ 35 w 38"/>
                      <a:gd name="T19" fmla="*/ 81 h 181"/>
                      <a:gd name="T20" fmla="*/ 33 w 38"/>
                      <a:gd name="T21" fmla="*/ 91 h 181"/>
                      <a:gd name="T22" fmla="*/ 30 w 38"/>
                      <a:gd name="T23" fmla="*/ 106 h 181"/>
                      <a:gd name="T24" fmla="*/ 28 w 38"/>
                      <a:gd name="T25" fmla="*/ 114 h 181"/>
                      <a:gd name="T26" fmla="*/ 23 w 38"/>
                      <a:gd name="T27" fmla="*/ 124 h 181"/>
                      <a:gd name="T28" fmla="*/ 17 w 38"/>
                      <a:gd name="T29" fmla="*/ 135 h 181"/>
                      <a:gd name="T30" fmla="*/ 12 w 38"/>
                      <a:gd name="T31" fmla="*/ 145 h 181"/>
                      <a:gd name="T32" fmla="*/ 7 w 38"/>
                      <a:gd name="T33" fmla="*/ 155 h 181"/>
                      <a:gd name="T34" fmla="*/ 3 w 38"/>
                      <a:gd name="T35" fmla="*/ 163 h 181"/>
                      <a:gd name="T36" fmla="*/ 0 w 38"/>
                      <a:gd name="T37" fmla="*/ 180 h 181"/>
                      <a:gd name="T38" fmla="*/ 1 w 38"/>
                      <a:gd name="T39" fmla="*/ 163 h 181"/>
                      <a:gd name="T40" fmla="*/ 3 w 38"/>
                      <a:gd name="T41" fmla="*/ 152 h 181"/>
                      <a:gd name="T42" fmla="*/ 4 w 38"/>
                      <a:gd name="T43" fmla="*/ 141 h 181"/>
                      <a:gd name="T44" fmla="*/ 5 w 38"/>
                      <a:gd name="T45" fmla="*/ 130 h 181"/>
                      <a:gd name="T46" fmla="*/ 7 w 38"/>
                      <a:gd name="T47" fmla="*/ 116 h 181"/>
                      <a:gd name="T48" fmla="*/ 9 w 38"/>
                      <a:gd name="T49" fmla="*/ 106 h 181"/>
                      <a:gd name="T50" fmla="*/ 12 w 38"/>
                      <a:gd name="T51" fmla="*/ 96 h 181"/>
                      <a:gd name="T52" fmla="*/ 15 w 38"/>
                      <a:gd name="T53" fmla="*/ 87 h 181"/>
                      <a:gd name="T54" fmla="*/ 17 w 38"/>
                      <a:gd name="T55" fmla="*/ 77 h 181"/>
                      <a:gd name="T56" fmla="*/ 20 w 38"/>
                      <a:gd name="T57" fmla="*/ 67 h 181"/>
                      <a:gd name="T58" fmla="*/ 21 w 38"/>
                      <a:gd name="T59" fmla="*/ 57 h 181"/>
                      <a:gd name="T60" fmla="*/ 22 w 38"/>
                      <a:gd name="T61" fmla="*/ 49 h 181"/>
                      <a:gd name="T62" fmla="*/ 23 w 38"/>
                      <a:gd name="T63" fmla="*/ 39 h 181"/>
                      <a:gd name="T64" fmla="*/ 23 w 38"/>
                      <a:gd name="T65" fmla="*/ 28 h 181"/>
                      <a:gd name="T66" fmla="*/ 23 w 38"/>
                      <a:gd name="T67" fmla="*/ 14 h 181"/>
                      <a:gd name="T68" fmla="*/ 22 w 38"/>
                      <a:gd name="T69" fmla="*/ 8 h 181"/>
                      <a:gd name="T70" fmla="*/ 20 w 38"/>
                      <a:gd name="T71" fmla="*/ 0 h 181"/>
                      <a:gd name="T72" fmla="*/ 0 60000 65536"/>
                      <a:gd name="T73" fmla="*/ 0 60000 65536"/>
                      <a:gd name="T74" fmla="*/ 0 60000 65536"/>
                      <a:gd name="T75" fmla="*/ 0 60000 65536"/>
                      <a:gd name="T76" fmla="*/ 0 60000 65536"/>
                      <a:gd name="T77" fmla="*/ 0 60000 65536"/>
                      <a:gd name="T78" fmla="*/ 0 60000 65536"/>
                      <a:gd name="T79" fmla="*/ 0 60000 65536"/>
                      <a:gd name="T80" fmla="*/ 0 60000 65536"/>
                      <a:gd name="T81" fmla="*/ 0 60000 65536"/>
                      <a:gd name="T82" fmla="*/ 0 60000 65536"/>
                      <a:gd name="T83" fmla="*/ 0 60000 65536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</a:gdLst>
                    <a:ahLst/>
                    <a:cxnLst>
                      <a:cxn ang="T72">
                        <a:pos x="T0" y="T1"/>
                      </a:cxn>
                      <a:cxn ang="T73">
                        <a:pos x="T2" y="T3"/>
                      </a:cxn>
                      <a:cxn ang="T74">
                        <a:pos x="T4" y="T5"/>
                      </a:cxn>
                      <a:cxn ang="T75">
                        <a:pos x="T6" y="T7"/>
                      </a:cxn>
                      <a:cxn ang="T76">
                        <a:pos x="T8" y="T9"/>
                      </a:cxn>
                      <a:cxn ang="T77">
                        <a:pos x="T10" y="T11"/>
                      </a:cxn>
                      <a:cxn ang="T78">
                        <a:pos x="T12" y="T13"/>
                      </a:cxn>
                      <a:cxn ang="T79">
                        <a:pos x="T14" y="T15"/>
                      </a:cxn>
                      <a:cxn ang="T80">
                        <a:pos x="T16" y="T17"/>
                      </a:cxn>
                      <a:cxn ang="T81">
                        <a:pos x="T18" y="T19"/>
                      </a:cxn>
                      <a:cxn ang="T82">
                        <a:pos x="T20" y="T21"/>
                      </a:cxn>
                      <a:cxn ang="T83">
                        <a:pos x="T22" y="T23"/>
                      </a:cxn>
                      <a:cxn ang="T84">
                        <a:pos x="T24" y="T25"/>
                      </a:cxn>
                      <a:cxn ang="T85">
                        <a:pos x="T26" y="T27"/>
                      </a:cxn>
                      <a:cxn ang="T86">
                        <a:pos x="T28" y="T29"/>
                      </a:cxn>
                      <a:cxn ang="T87">
                        <a:pos x="T30" y="T31"/>
                      </a:cxn>
                      <a:cxn ang="T88">
                        <a:pos x="T32" y="T33"/>
                      </a:cxn>
                      <a:cxn ang="T89">
                        <a:pos x="T34" y="T35"/>
                      </a:cxn>
                      <a:cxn ang="T90">
                        <a:pos x="T36" y="T37"/>
                      </a:cxn>
                      <a:cxn ang="T91">
                        <a:pos x="T38" y="T39"/>
                      </a:cxn>
                      <a:cxn ang="T92">
                        <a:pos x="T40" y="T41"/>
                      </a:cxn>
                      <a:cxn ang="T93">
                        <a:pos x="T42" y="T43"/>
                      </a:cxn>
                      <a:cxn ang="T94">
                        <a:pos x="T44" y="T45"/>
                      </a:cxn>
                      <a:cxn ang="T95">
                        <a:pos x="T46" y="T47"/>
                      </a:cxn>
                      <a:cxn ang="T96">
                        <a:pos x="T48" y="T49"/>
                      </a:cxn>
                      <a:cxn ang="T97">
                        <a:pos x="T50" y="T51"/>
                      </a:cxn>
                      <a:cxn ang="T98">
                        <a:pos x="T52" y="T53"/>
                      </a:cxn>
                      <a:cxn ang="T99">
                        <a:pos x="T54" y="T55"/>
                      </a:cxn>
                      <a:cxn ang="T100">
                        <a:pos x="T56" y="T57"/>
                      </a:cxn>
                      <a:cxn ang="T101">
                        <a:pos x="T58" y="T59"/>
                      </a:cxn>
                      <a:cxn ang="T102">
                        <a:pos x="T60" y="T61"/>
                      </a:cxn>
                      <a:cxn ang="T103">
                        <a:pos x="T62" y="T63"/>
                      </a:cxn>
                      <a:cxn ang="T104">
                        <a:pos x="T64" y="T65"/>
                      </a:cxn>
                      <a:cxn ang="T105">
                        <a:pos x="T66" y="T67"/>
                      </a:cxn>
                      <a:cxn ang="T106">
                        <a:pos x="T68" y="T69"/>
                      </a:cxn>
                      <a:cxn ang="T107">
                        <a:pos x="T70" y="T71"/>
                      </a:cxn>
                    </a:cxnLst>
                    <a:rect l="0" t="0" r="r" b="b"/>
                    <a:pathLst>
                      <a:path w="38" h="181">
                        <a:moveTo>
                          <a:pt x="20" y="0"/>
                        </a:moveTo>
                        <a:lnTo>
                          <a:pt x="24" y="8"/>
                        </a:lnTo>
                        <a:lnTo>
                          <a:pt x="27" y="14"/>
                        </a:lnTo>
                        <a:lnTo>
                          <a:pt x="33" y="22"/>
                        </a:lnTo>
                        <a:lnTo>
                          <a:pt x="35" y="30"/>
                        </a:lnTo>
                        <a:lnTo>
                          <a:pt x="36" y="41"/>
                        </a:lnTo>
                        <a:lnTo>
                          <a:pt x="36" y="53"/>
                        </a:lnTo>
                        <a:lnTo>
                          <a:pt x="37" y="61"/>
                        </a:lnTo>
                        <a:lnTo>
                          <a:pt x="36" y="70"/>
                        </a:lnTo>
                        <a:lnTo>
                          <a:pt x="35" y="81"/>
                        </a:lnTo>
                        <a:lnTo>
                          <a:pt x="33" y="91"/>
                        </a:lnTo>
                        <a:lnTo>
                          <a:pt x="30" y="106"/>
                        </a:lnTo>
                        <a:lnTo>
                          <a:pt x="28" y="114"/>
                        </a:lnTo>
                        <a:lnTo>
                          <a:pt x="23" y="124"/>
                        </a:lnTo>
                        <a:lnTo>
                          <a:pt x="17" y="135"/>
                        </a:lnTo>
                        <a:lnTo>
                          <a:pt x="12" y="145"/>
                        </a:lnTo>
                        <a:lnTo>
                          <a:pt x="7" y="155"/>
                        </a:lnTo>
                        <a:lnTo>
                          <a:pt x="3" y="163"/>
                        </a:lnTo>
                        <a:lnTo>
                          <a:pt x="0" y="180"/>
                        </a:lnTo>
                        <a:lnTo>
                          <a:pt x="1" y="163"/>
                        </a:lnTo>
                        <a:lnTo>
                          <a:pt x="3" y="152"/>
                        </a:lnTo>
                        <a:lnTo>
                          <a:pt x="4" y="141"/>
                        </a:lnTo>
                        <a:lnTo>
                          <a:pt x="5" y="130"/>
                        </a:lnTo>
                        <a:lnTo>
                          <a:pt x="7" y="116"/>
                        </a:lnTo>
                        <a:lnTo>
                          <a:pt x="9" y="106"/>
                        </a:lnTo>
                        <a:lnTo>
                          <a:pt x="12" y="96"/>
                        </a:lnTo>
                        <a:lnTo>
                          <a:pt x="15" y="87"/>
                        </a:lnTo>
                        <a:lnTo>
                          <a:pt x="17" y="77"/>
                        </a:lnTo>
                        <a:lnTo>
                          <a:pt x="20" y="67"/>
                        </a:lnTo>
                        <a:lnTo>
                          <a:pt x="21" y="57"/>
                        </a:lnTo>
                        <a:lnTo>
                          <a:pt x="22" y="49"/>
                        </a:lnTo>
                        <a:lnTo>
                          <a:pt x="23" y="39"/>
                        </a:lnTo>
                        <a:lnTo>
                          <a:pt x="23" y="28"/>
                        </a:lnTo>
                        <a:lnTo>
                          <a:pt x="23" y="14"/>
                        </a:lnTo>
                        <a:lnTo>
                          <a:pt x="22" y="8"/>
                        </a:lnTo>
                        <a:lnTo>
                          <a:pt x="20" y="0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 w="9525" cap="rnd">
                    <a:noFill/>
                    <a:round/>
                  </a:ln>
                  <a:effectLst/>
                </p:spPr>
                <p:txBody>
                  <a:bodyPr/>
                  <a:lstStyle/>
                  <a:p>
                    <a:pPr marL="0" marR="0" lvl="0" indent="0" algn="ctr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5" name="Freeform 28"/>
                  <p:cNvSpPr/>
                  <p:nvPr/>
                </p:nvSpPr>
                <p:spPr bwMode="ltGray">
                  <a:xfrm>
                    <a:off x="1991" y="1486"/>
                    <a:ext cx="168" cy="48"/>
                  </a:xfrm>
                  <a:custGeom>
                    <a:avLst/>
                    <a:gdLst>
                      <a:gd name="T0" fmla="*/ 167 w 168"/>
                      <a:gd name="T1" fmla="*/ 47 h 48"/>
                      <a:gd name="T2" fmla="*/ 164 w 168"/>
                      <a:gd name="T3" fmla="*/ 38 h 48"/>
                      <a:gd name="T4" fmla="*/ 160 w 168"/>
                      <a:gd name="T5" fmla="*/ 31 h 48"/>
                      <a:gd name="T6" fmla="*/ 157 w 168"/>
                      <a:gd name="T7" fmla="*/ 30 h 48"/>
                      <a:gd name="T8" fmla="*/ 150 w 168"/>
                      <a:gd name="T9" fmla="*/ 28 h 48"/>
                      <a:gd name="T10" fmla="*/ 144 w 168"/>
                      <a:gd name="T11" fmla="*/ 26 h 48"/>
                      <a:gd name="T12" fmla="*/ 137 w 168"/>
                      <a:gd name="T13" fmla="*/ 28 h 48"/>
                      <a:gd name="T14" fmla="*/ 130 w 168"/>
                      <a:gd name="T15" fmla="*/ 29 h 48"/>
                      <a:gd name="T16" fmla="*/ 121 w 168"/>
                      <a:gd name="T17" fmla="*/ 25 h 48"/>
                      <a:gd name="T18" fmla="*/ 109 w 168"/>
                      <a:gd name="T19" fmla="*/ 21 h 48"/>
                      <a:gd name="T20" fmla="*/ 98 w 168"/>
                      <a:gd name="T21" fmla="*/ 17 h 48"/>
                      <a:gd name="T22" fmla="*/ 91 w 168"/>
                      <a:gd name="T23" fmla="*/ 15 h 48"/>
                      <a:gd name="T24" fmla="*/ 78 w 168"/>
                      <a:gd name="T25" fmla="*/ 12 h 48"/>
                      <a:gd name="T26" fmla="*/ 66 w 168"/>
                      <a:gd name="T27" fmla="*/ 8 h 48"/>
                      <a:gd name="T28" fmla="*/ 54 w 168"/>
                      <a:gd name="T29" fmla="*/ 4 h 48"/>
                      <a:gd name="T30" fmla="*/ 41 w 168"/>
                      <a:gd name="T31" fmla="*/ 1 h 48"/>
                      <a:gd name="T32" fmla="*/ 28 w 168"/>
                      <a:gd name="T33" fmla="*/ 0 h 48"/>
                      <a:gd name="T34" fmla="*/ 15 w 168"/>
                      <a:gd name="T35" fmla="*/ 0 h 48"/>
                      <a:gd name="T36" fmla="*/ 12 w 168"/>
                      <a:gd name="T37" fmla="*/ 1 h 48"/>
                      <a:gd name="T38" fmla="*/ 7 w 168"/>
                      <a:gd name="T39" fmla="*/ 4 h 48"/>
                      <a:gd name="T40" fmla="*/ 3 w 168"/>
                      <a:gd name="T41" fmla="*/ 7 h 48"/>
                      <a:gd name="T42" fmla="*/ 0 w 168"/>
                      <a:gd name="T43" fmla="*/ 10 h 48"/>
                      <a:gd name="T44" fmla="*/ 5 w 168"/>
                      <a:gd name="T45" fmla="*/ 10 h 48"/>
                      <a:gd name="T46" fmla="*/ 12 w 168"/>
                      <a:gd name="T47" fmla="*/ 11 h 48"/>
                      <a:gd name="T48" fmla="*/ 18 w 168"/>
                      <a:gd name="T49" fmla="*/ 12 h 48"/>
                      <a:gd name="T50" fmla="*/ 23 w 168"/>
                      <a:gd name="T51" fmla="*/ 11 h 48"/>
                      <a:gd name="T52" fmla="*/ 29 w 168"/>
                      <a:gd name="T53" fmla="*/ 10 h 48"/>
                      <a:gd name="T54" fmla="*/ 38 w 168"/>
                      <a:gd name="T55" fmla="*/ 10 h 48"/>
                      <a:gd name="T56" fmla="*/ 50 w 168"/>
                      <a:gd name="T57" fmla="*/ 10 h 48"/>
                      <a:gd name="T58" fmla="*/ 60 w 168"/>
                      <a:gd name="T59" fmla="*/ 12 h 48"/>
                      <a:gd name="T60" fmla="*/ 70 w 168"/>
                      <a:gd name="T61" fmla="*/ 13 h 48"/>
                      <a:gd name="T62" fmla="*/ 79 w 168"/>
                      <a:gd name="T63" fmla="*/ 15 h 48"/>
                      <a:gd name="T64" fmla="*/ 89 w 168"/>
                      <a:gd name="T65" fmla="*/ 16 h 48"/>
                      <a:gd name="T66" fmla="*/ 98 w 168"/>
                      <a:gd name="T67" fmla="*/ 18 h 48"/>
                      <a:gd name="T68" fmla="*/ 106 w 168"/>
                      <a:gd name="T69" fmla="*/ 22 h 48"/>
                      <a:gd name="T70" fmla="*/ 114 w 168"/>
                      <a:gd name="T71" fmla="*/ 26 h 48"/>
                      <a:gd name="T72" fmla="*/ 123 w 168"/>
                      <a:gd name="T73" fmla="*/ 30 h 48"/>
                      <a:gd name="T74" fmla="*/ 127 w 168"/>
                      <a:gd name="T75" fmla="*/ 30 h 48"/>
                      <a:gd name="T76" fmla="*/ 131 w 168"/>
                      <a:gd name="T77" fmla="*/ 30 h 48"/>
                      <a:gd name="T78" fmla="*/ 137 w 168"/>
                      <a:gd name="T79" fmla="*/ 33 h 48"/>
                      <a:gd name="T80" fmla="*/ 144 w 168"/>
                      <a:gd name="T81" fmla="*/ 36 h 48"/>
                      <a:gd name="T82" fmla="*/ 150 w 168"/>
                      <a:gd name="T83" fmla="*/ 38 h 48"/>
                      <a:gd name="T84" fmla="*/ 158 w 168"/>
                      <a:gd name="T85" fmla="*/ 42 h 48"/>
                      <a:gd name="T86" fmla="*/ 164 w 168"/>
                      <a:gd name="T87" fmla="*/ 45 h 48"/>
                      <a:gd name="T88" fmla="*/ 167 w 168"/>
                      <a:gd name="T89" fmla="*/ 47 h 48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  <a:gd name="T126" fmla="*/ 0 60000 65536"/>
                      <a:gd name="T127" fmla="*/ 0 60000 65536"/>
                      <a:gd name="T128" fmla="*/ 0 60000 65536"/>
                      <a:gd name="T129" fmla="*/ 0 60000 65536"/>
                      <a:gd name="T130" fmla="*/ 0 60000 65536"/>
                      <a:gd name="T131" fmla="*/ 0 60000 65536"/>
                      <a:gd name="T132" fmla="*/ 0 60000 65536"/>
                      <a:gd name="T133" fmla="*/ 0 60000 65536"/>
                      <a:gd name="T134" fmla="*/ 0 60000 65536"/>
                    </a:gdLst>
                    <a:ahLst/>
                    <a:cxnLst>
                      <a:cxn ang="T90">
                        <a:pos x="T0" y="T1"/>
                      </a:cxn>
                      <a:cxn ang="T91">
                        <a:pos x="T2" y="T3"/>
                      </a:cxn>
                      <a:cxn ang="T92">
                        <a:pos x="T4" y="T5"/>
                      </a:cxn>
                      <a:cxn ang="T93">
                        <a:pos x="T6" y="T7"/>
                      </a:cxn>
                      <a:cxn ang="T94">
                        <a:pos x="T8" y="T9"/>
                      </a:cxn>
                      <a:cxn ang="T95">
                        <a:pos x="T10" y="T11"/>
                      </a:cxn>
                      <a:cxn ang="T96">
                        <a:pos x="T12" y="T13"/>
                      </a:cxn>
                      <a:cxn ang="T97">
                        <a:pos x="T14" y="T15"/>
                      </a:cxn>
                      <a:cxn ang="T98">
                        <a:pos x="T16" y="T17"/>
                      </a:cxn>
                      <a:cxn ang="T99">
                        <a:pos x="T18" y="T19"/>
                      </a:cxn>
                      <a:cxn ang="T100">
                        <a:pos x="T20" y="T21"/>
                      </a:cxn>
                      <a:cxn ang="T101">
                        <a:pos x="T22" y="T23"/>
                      </a:cxn>
                      <a:cxn ang="T102">
                        <a:pos x="T24" y="T25"/>
                      </a:cxn>
                      <a:cxn ang="T103">
                        <a:pos x="T26" y="T27"/>
                      </a:cxn>
                      <a:cxn ang="T104">
                        <a:pos x="T28" y="T29"/>
                      </a:cxn>
                      <a:cxn ang="T105">
                        <a:pos x="T30" y="T31"/>
                      </a:cxn>
                      <a:cxn ang="T106">
                        <a:pos x="T32" y="T33"/>
                      </a:cxn>
                      <a:cxn ang="T107">
                        <a:pos x="T34" y="T35"/>
                      </a:cxn>
                      <a:cxn ang="T108">
                        <a:pos x="T36" y="T37"/>
                      </a:cxn>
                      <a:cxn ang="T109">
                        <a:pos x="T38" y="T39"/>
                      </a:cxn>
                      <a:cxn ang="T110">
                        <a:pos x="T40" y="T41"/>
                      </a:cxn>
                      <a:cxn ang="T111">
                        <a:pos x="T42" y="T43"/>
                      </a:cxn>
                      <a:cxn ang="T112">
                        <a:pos x="T44" y="T45"/>
                      </a:cxn>
                      <a:cxn ang="T113">
                        <a:pos x="T46" y="T47"/>
                      </a:cxn>
                      <a:cxn ang="T114">
                        <a:pos x="T48" y="T49"/>
                      </a:cxn>
                      <a:cxn ang="T115">
                        <a:pos x="T50" y="T51"/>
                      </a:cxn>
                      <a:cxn ang="T116">
                        <a:pos x="T52" y="T53"/>
                      </a:cxn>
                      <a:cxn ang="T117">
                        <a:pos x="T54" y="T55"/>
                      </a:cxn>
                      <a:cxn ang="T118">
                        <a:pos x="T56" y="T57"/>
                      </a:cxn>
                      <a:cxn ang="T119">
                        <a:pos x="T58" y="T59"/>
                      </a:cxn>
                      <a:cxn ang="T120">
                        <a:pos x="T60" y="T61"/>
                      </a:cxn>
                      <a:cxn ang="T121">
                        <a:pos x="T62" y="T63"/>
                      </a:cxn>
                      <a:cxn ang="T122">
                        <a:pos x="T64" y="T65"/>
                      </a:cxn>
                      <a:cxn ang="T123">
                        <a:pos x="T66" y="T67"/>
                      </a:cxn>
                      <a:cxn ang="T124">
                        <a:pos x="T68" y="T69"/>
                      </a:cxn>
                      <a:cxn ang="T125">
                        <a:pos x="T70" y="T71"/>
                      </a:cxn>
                      <a:cxn ang="T126">
                        <a:pos x="T72" y="T73"/>
                      </a:cxn>
                      <a:cxn ang="T127">
                        <a:pos x="T74" y="T75"/>
                      </a:cxn>
                      <a:cxn ang="T128">
                        <a:pos x="T76" y="T77"/>
                      </a:cxn>
                      <a:cxn ang="T129">
                        <a:pos x="T78" y="T79"/>
                      </a:cxn>
                      <a:cxn ang="T130">
                        <a:pos x="T80" y="T81"/>
                      </a:cxn>
                      <a:cxn ang="T131">
                        <a:pos x="T82" y="T83"/>
                      </a:cxn>
                      <a:cxn ang="T132">
                        <a:pos x="T84" y="T85"/>
                      </a:cxn>
                      <a:cxn ang="T133">
                        <a:pos x="T86" y="T87"/>
                      </a:cxn>
                      <a:cxn ang="T134">
                        <a:pos x="T88" y="T89"/>
                      </a:cxn>
                    </a:cxnLst>
                    <a:rect l="0" t="0" r="r" b="b"/>
                    <a:pathLst>
                      <a:path w="168" h="48">
                        <a:moveTo>
                          <a:pt x="167" y="47"/>
                        </a:moveTo>
                        <a:lnTo>
                          <a:pt x="164" y="38"/>
                        </a:lnTo>
                        <a:lnTo>
                          <a:pt x="160" y="31"/>
                        </a:lnTo>
                        <a:lnTo>
                          <a:pt x="157" y="30"/>
                        </a:lnTo>
                        <a:lnTo>
                          <a:pt x="150" y="28"/>
                        </a:lnTo>
                        <a:lnTo>
                          <a:pt x="144" y="26"/>
                        </a:lnTo>
                        <a:lnTo>
                          <a:pt x="137" y="28"/>
                        </a:lnTo>
                        <a:lnTo>
                          <a:pt x="130" y="29"/>
                        </a:lnTo>
                        <a:lnTo>
                          <a:pt x="121" y="25"/>
                        </a:lnTo>
                        <a:lnTo>
                          <a:pt x="109" y="21"/>
                        </a:lnTo>
                        <a:lnTo>
                          <a:pt x="98" y="17"/>
                        </a:lnTo>
                        <a:lnTo>
                          <a:pt x="91" y="15"/>
                        </a:lnTo>
                        <a:lnTo>
                          <a:pt x="78" y="12"/>
                        </a:lnTo>
                        <a:lnTo>
                          <a:pt x="66" y="8"/>
                        </a:lnTo>
                        <a:lnTo>
                          <a:pt x="54" y="4"/>
                        </a:lnTo>
                        <a:lnTo>
                          <a:pt x="41" y="1"/>
                        </a:lnTo>
                        <a:lnTo>
                          <a:pt x="28" y="0"/>
                        </a:lnTo>
                        <a:lnTo>
                          <a:pt x="15" y="0"/>
                        </a:lnTo>
                        <a:lnTo>
                          <a:pt x="12" y="1"/>
                        </a:lnTo>
                        <a:lnTo>
                          <a:pt x="7" y="4"/>
                        </a:lnTo>
                        <a:lnTo>
                          <a:pt x="3" y="7"/>
                        </a:lnTo>
                        <a:lnTo>
                          <a:pt x="0" y="10"/>
                        </a:lnTo>
                        <a:lnTo>
                          <a:pt x="5" y="10"/>
                        </a:lnTo>
                        <a:lnTo>
                          <a:pt x="12" y="11"/>
                        </a:lnTo>
                        <a:lnTo>
                          <a:pt x="18" y="12"/>
                        </a:lnTo>
                        <a:lnTo>
                          <a:pt x="23" y="11"/>
                        </a:lnTo>
                        <a:lnTo>
                          <a:pt x="29" y="10"/>
                        </a:lnTo>
                        <a:lnTo>
                          <a:pt x="38" y="10"/>
                        </a:lnTo>
                        <a:lnTo>
                          <a:pt x="50" y="10"/>
                        </a:lnTo>
                        <a:lnTo>
                          <a:pt x="60" y="12"/>
                        </a:lnTo>
                        <a:lnTo>
                          <a:pt x="70" y="13"/>
                        </a:lnTo>
                        <a:lnTo>
                          <a:pt x="79" y="15"/>
                        </a:lnTo>
                        <a:lnTo>
                          <a:pt x="89" y="16"/>
                        </a:lnTo>
                        <a:lnTo>
                          <a:pt x="98" y="18"/>
                        </a:lnTo>
                        <a:lnTo>
                          <a:pt x="106" y="22"/>
                        </a:lnTo>
                        <a:lnTo>
                          <a:pt x="114" y="26"/>
                        </a:lnTo>
                        <a:lnTo>
                          <a:pt x="123" y="30"/>
                        </a:lnTo>
                        <a:lnTo>
                          <a:pt x="127" y="30"/>
                        </a:lnTo>
                        <a:lnTo>
                          <a:pt x="131" y="30"/>
                        </a:lnTo>
                        <a:lnTo>
                          <a:pt x="137" y="33"/>
                        </a:lnTo>
                        <a:lnTo>
                          <a:pt x="144" y="36"/>
                        </a:lnTo>
                        <a:lnTo>
                          <a:pt x="150" y="38"/>
                        </a:lnTo>
                        <a:lnTo>
                          <a:pt x="158" y="42"/>
                        </a:lnTo>
                        <a:lnTo>
                          <a:pt x="164" y="45"/>
                        </a:lnTo>
                        <a:lnTo>
                          <a:pt x="167" y="47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 w="9525" cap="rnd">
                    <a:noFill/>
                    <a:round/>
                  </a:ln>
                  <a:effectLst/>
                </p:spPr>
                <p:txBody>
                  <a:bodyPr/>
                  <a:lstStyle/>
                  <a:p>
                    <a:pPr marL="0" marR="0" lvl="0" indent="0" algn="ctr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068" name="Freeform 29"/>
                  <p:cNvSpPr/>
                  <p:nvPr/>
                </p:nvSpPr>
                <p:spPr bwMode="ltGray">
                  <a:xfrm>
                    <a:off x="1985" y="1514"/>
                    <a:ext cx="173" cy="20"/>
                  </a:xfrm>
                  <a:custGeom>
                    <a:avLst/>
                    <a:gdLst>
                      <a:gd name="T0" fmla="*/ 172 w 173"/>
                      <a:gd name="T1" fmla="*/ 19 h 20"/>
                      <a:gd name="T2" fmla="*/ 167 w 173"/>
                      <a:gd name="T3" fmla="*/ 17 h 20"/>
                      <a:gd name="T4" fmla="*/ 163 w 173"/>
                      <a:gd name="T5" fmla="*/ 15 h 20"/>
                      <a:gd name="T6" fmla="*/ 157 w 173"/>
                      <a:gd name="T7" fmla="*/ 13 h 20"/>
                      <a:gd name="T8" fmla="*/ 152 w 173"/>
                      <a:gd name="T9" fmla="*/ 11 h 20"/>
                      <a:gd name="T10" fmla="*/ 146 w 173"/>
                      <a:gd name="T11" fmla="*/ 9 h 20"/>
                      <a:gd name="T12" fmla="*/ 138 w 173"/>
                      <a:gd name="T13" fmla="*/ 6 h 20"/>
                      <a:gd name="T14" fmla="*/ 131 w 173"/>
                      <a:gd name="T15" fmla="*/ 2 h 20"/>
                      <a:gd name="T16" fmla="*/ 125 w 173"/>
                      <a:gd name="T17" fmla="*/ 2 h 20"/>
                      <a:gd name="T18" fmla="*/ 118 w 173"/>
                      <a:gd name="T19" fmla="*/ 3 h 20"/>
                      <a:gd name="T20" fmla="*/ 108 w 173"/>
                      <a:gd name="T21" fmla="*/ 5 h 20"/>
                      <a:gd name="T22" fmla="*/ 103 w 173"/>
                      <a:gd name="T23" fmla="*/ 5 h 20"/>
                      <a:gd name="T24" fmla="*/ 91 w 173"/>
                      <a:gd name="T25" fmla="*/ 3 h 20"/>
                      <a:gd name="T26" fmla="*/ 77 w 173"/>
                      <a:gd name="T27" fmla="*/ 1 h 20"/>
                      <a:gd name="T28" fmla="*/ 67 w 173"/>
                      <a:gd name="T29" fmla="*/ 0 h 20"/>
                      <a:gd name="T30" fmla="*/ 55 w 173"/>
                      <a:gd name="T31" fmla="*/ 0 h 20"/>
                      <a:gd name="T32" fmla="*/ 43 w 173"/>
                      <a:gd name="T33" fmla="*/ 0 h 20"/>
                      <a:gd name="T34" fmla="*/ 35 w 173"/>
                      <a:gd name="T35" fmla="*/ 1 h 20"/>
                      <a:gd name="T36" fmla="*/ 26 w 173"/>
                      <a:gd name="T37" fmla="*/ 2 h 20"/>
                      <a:gd name="T38" fmla="*/ 18 w 173"/>
                      <a:gd name="T39" fmla="*/ 3 h 20"/>
                      <a:gd name="T40" fmla="*/ 9 w 173"/>
                      <a:gd name="T41" fmla="*/ 4 h 20"/>
                      <a:gd name="T42" fmla="*/ 8 w 173"/>
                      <a:gd name="T43" fmla="*/ 8 h 20"/>
                      <a:gd name="T44" fmla="*/ 6 w 173"/>
                      <a:gd name="T45" fmla="*/ 11 h 20"/>
                      <a:gd name="T46" fmla="*/ 4 w 173"/>
                      <a:gd name="T47" fmla="*/ 14 h 20"/>
                      <a:gd name="T48" fmla="*/ 0 w 173"/>
                      <a:gd name="T49" fmla="*/ 16 h 20"/>
                      <a:gd name="T50" fmla="*/ 7 w 173"/>
                      <a:gd name="T51" fmla="*/ 15 h 20"/>
                      <a:gd name="T52" fmla="*/ 15 w 173"/>
                      <a:gd name="T53" fmla="*/ 13 h 20"/>
                      <a:gd name="T54" fmla="*/ 21 w 173"/>
                      <a:gd name="T55" fmla="*/ 12 h 20"/>
                      <a:gd name="T56" fmla="*/ 29 w 173"/>
                      <a:gd name="T57" fmla="*/ 11 h 20"/>
                      <a:gd name="T58" fmla="*/ 36 w 173"/>
                      <a:gd name="T59" fmla="*/ 10 h 20"/>
                      <a:gd name="T60" fmla="*/ 49 w 173"/>
                      <a:gd name="T61" fmla="*/ 9 h 20"/>
                      <a:gd name="T62" fmla="*/ 62 w 173"/>
                      <a:gd name="T63" fmla="*/ 8 h 20"/>
                      <a:gd name="T64" fmla="*/ 77 w 173"/>
                      <a:gd name="T65" fmla="*/ 7 h 20"/>
                      <a:gd name="T66" fmla="*/ 92 w 173"/>
                      <a:gd name="T67" fmla="*/ 6 h 20"/>
                      <a:gd name="T68" fmla="*/ 106 w 173"/>
                      <a:gd name="T69" fmla="*/ 6 h 20"/>
                      <a:gd name="T70" fmla="*/ 118 w 173"/>
                      <a:gd name="T71" fmla="*/ 7 h 20"/>
                      <a:gd name="T72" fmla="*/ 126 w 173"/>
                      <a:gd name="T73" fmla="*/ 9 h 20"/>
                      <a:gd name="T74" fmla="*/ 135 w 173"/>
                      <a:gd name="T75" fmla="*/ 11 h 20"/>
                      <a:gd name="T76" fmla="*/ 145 w 173"/>
                      <a:gd name="T77" fmla="*/ 13 h 20"/>
                      <a:gd name="T78" fmla="*/ 155 w 173"/>
                      <a:gd name="T79" fmla="*/ 16 h 20"/>
                      <a:gd name="T80" fmla="*/ 163 w 173"/>
                      <a:gd name="T81" fmla="*/ 17 h 20"/>
                      <a:gd name="T82" fmla="*/ 172 w 173"/>
                      <a:gd name="T83" fmla="*/ 19 h 20"/>
                      <a:gd name="T84" fmla="*/ 0 60000 65536"/>
                      <a:gd name="T85" fmla="*/ 0 60000 65536"/>
                      <a:gd name="T86" fmla="*/ 0 60000 65536"/>
                      <a:gd name="T87" fmla="*/ 0 60000 65536"/>
                      <a:gd name="T88" fmla="*/ 0 60000 65536"/>
                      <a:gd name="T89" fmla="*/ 0 60000 65536"/>
                      <a:gd name="T90" fmla="*/ 0 60000 65536"/>
                      <a:gd name="T91" fmla="*/ 0 60000 65536"/>
                      <a:gd name="T92" fmla="*/ 0 60000 65536"/>
                      <a:gd name="T93" fmla="*/ 0 60000 65536"/>
                      <a:gd name="T94" fmla="*/ 0 60000 65536"/>
                      <a:gd name="T95" fmla="*/ 0 60000 65536"/>
                      <a:gd name="T96" fmla="*/ 0 60000 65536"/>
                      <a:gd name="T97" fmla="*/ 0 60000 65536"/>
                      <a:gd name="T98" fmla="*/ 0 60000 65536"/>
                      <a:gd name="T99" fmla="*/ 0 60000 65536"/>
                      <a:gd name="T100" fmla="*/ 0 60000 65536"/>
                      <a:gd name="T101" fmla="*/ 0 60000 65536"/>
                      <a:gd name="T102" fmla="*/ 0 60000 65536"/>
                      <a:gd name="T103" fmla="*/ 0 60000 65536"/>
                      <a:gd name="T104" fmla="*/ 0 60000 65536"/>
                      <a:gd name="T105" fmla="*/ 0 60000 65536"/>
                      <a:gd name="T106" fmla="*/ 0 60000 65536"/>
                      <a:gd name="T107" fmla="*/ 0 60000 65536"/>
                      <a:gd name="T108" fmla="*/ 0 60000 65536"/>
                      <a:gd name="T109" fmla="*/ 0 60000 65536"/>
                      <a:gd name="T110" fmla="*/ 0 60000 65536"/>
                      <a:gd name="T111" fmla="*/ 0 60000 65536"/>
                      <a:gd name="T112" fmla="*/ 0 60000 65536"/>
                      <a:gd name="T113" fmla="*/ 0 60000 65536"/>
                      <a:gd name="T114" fmla="*/ 0 60000 65536"/>
                      <a:gd name="T115" fmla="*/ 0 60000 65536"/>
                      <a:gd name="T116" fmla="*/ 0 60000 65536"/>
                      <a:gd name="T117" fmla="*/ 0 60000 65536"/>
                      <a:gd name="T118" fmla="*/ 0 60000 65536"/>
                      <a:gd name="T119" fmla="*/ 0 60000 65536"/>
                      <a:gd name="T120" fmla="*/ 0 60000 65536"/>
                      <a:gd name="T121" fmla="*/ 0 60000 65536"/>
                      <a:gd name="T122" fmla="*/ 0 60000 65536"/>
                      <a:gd name="T123" fmla="*/ 0 60000 65536"/>
                      <a:gd name="T124" fmla="*/ 0 60000 65536"/>
                      <a:gd name="T125" fmla="*/ 0 60000 65536"/>
                    </a:gdLst>
                    <a:ahLst/>
                    <a:cxnLst>
                      <a:cxn ang="T84">
                        <a:pos x="T0" y="T1"/>
                      </a:cxn>
                      <a:cxn ang="T85">
                        <a:pos x="T2" y="T3"/>
                      </a:cxn>
                      <a:cxn ang="T86">
                        <a:pos x="T4" y="T5"/>
                      </a:cxn>
                      <a:cxn ang="T87">
                        <a:pos x="T6" y="T7"/>
                      </a:cxn>
                      <a:cxn ang="T88">
                        <a:pos x="T8" y="T9"/>
                      </a:cxn>
                      <a:cxn ang="T89">
                        <a:pos x="T10" y="T11"/>
                      </a:cxn>
                      <a:cxn ang="T90">
                        <a:pos x="T12" y="T13"/>
                      </a:cxn>
                      <a:cxn ang="T91">
                        <a:pos x="T14" y="T15"/>
                      </a:cxn>
                      <a:cxn ang="T92">
                        <a:pos x="T16" y="T17"/>
                      </a:cxn>
                      <a:cxn ang="T93">
                        <a:pos x="T18" y="T19"/>
                      </a:cxn>
                      <a:cxn ang="T94">
                        <a:pos x="T20" y="T21"/>
                      </a:cxn>
                      <a:cxn ang="T95">
                        <a:pos x="T22" y="T23"/>
                      </a:cxn>
                      <a:cxn ang="T96">
                        <a:pos x="T24" y="T25"/>
                      </a:cxn>
                      <a:cxn ang="T97">
                        <a:pos x="T26" y="T27"/>
                      </a:cxn>
                      <a:cxn ang="T98">
                        <a:pos x="T28" y="T29"/>
                      </a:cxn>
                      <a:cxn ang="T99">
                        <a:pos x="T30" y="T31"/>
                      </a:cxn>
                      <a:cxn ang="T100">
                        <a:pos x="T32" y="T33"/>
                      </a:cxn>
                      <a:cxn ang="T101">
                        <a:pos x="T34" y="T35"/>
                      </a:cxn>
                      <a:cxn ang="T102">
                        <a:pos x="T36" y="T37"/>
                      </a:cxn>
                      <a:cxn ang="T103">
                        <a:pos x="T38" y="T39"/>
                      </a:cxn>
                      <a:cxn ang="T104">
                        <a:pos x="T40" y="T41"/>
                      </a:cxn>
                      <a:cxn ang="T105">
                        <a:pos x="T42" y="T43"/>
                      </a:cxn>
                      <a:cxn ang="T106">
                        <a:pos x="T44" y="T45"/>
                      </a:cxn>
                      <a:cxn ang="T107">
                        <a:pos x="T46" y="T47"/>
                      </a:cxn>
                      <a:cxn ang="T108">
                        <a:pos x="T48" y="T49"/>
                      </a:cxn>
                      <a:cxn ang="T109">
                        <a:pos x="T50" y="T51"/>
                      </a:cxn>
                      <a:cxn ang="T110">
                        <a:pos x="T52" y="T53"/>
                      </a:cxn>
                      <a:cxn ang="T111">
                        <a:pos x="T54" y="T55"/>
                      </a:cxn>
                      <a:cxn ang="T112">
                        <a:pos x="T56" y="T57"/>
                      </a:cxn>
                      <a:cxn ang="T113">
                        <a:pos x="T58" y="T59"/>
                      </a:cxn>
                      <a:cxn ang="T114">
                        <a:pos x="T60" y="T61"/>
                      </a:cxn>
                      <a:cxn ang="T115">
                        <a:pos x="T62" y="T63"/>
                      </a:cxn>
                      <a:cxn ang="T116">
                        <a:pos x="T64" y="T65"/>
                      </a:cxn>
                      <a:cxn ang="T117">
                        <a:pos x="T66" y="T67"/>
                      </a:cxn>
                      <a:cxn ang="T118">
                        <a:pos x="T68" y="T69"/>
                      </a:cxn>
                      <a:cxn ang="T119">
                        <a:pos x="T70" y="T71"/>
                      </a:cxn>
                      <a:cxn ang="T120">
                        <a:pos x="T72" y="T73"/>
                      </a:cxn>
                      <a:cxn ang="T121">
                        <a:pos x="T74" y="T75"/>
                      </a:cxn>
                      <a:cxn ang="T122">
                        <a:pos x="T76" y="T77"/>
                      </a:cxn>
                      <a:cxn ang="T123">
                        <a:pos x="T78" y="T79"/>
                      </a:cxn>
                      <a:cxn ang="T124">
                        <a:pos x="T80" y="T81"/>
                      </a:cxn>
                      <a:cxn ang="T125">
                        <a:pos x="T82" y="T83"/>
                      </a:cxn>
                    </a:cxnLst>
                    <a:rect l="0" t="0" r="r" b="b"/>
                    <a:pathLst>
                      <a:path w="173" h="20">
                        <a:moveTo>
                          <a:pt x="172" y="19"/>
                        </a:moveTo>
                        <a:lnTo>
                          <a:pt x="167" y="17"/>
                        </a:lnTo>
                        <a:lnTo>
                          <a:pt x="163" y="15"/>
                        </a:lnTo>
                        <a:lnTo>
                          <a:pt x="157" y="13"/>
                        </a:lnTo>
                        <a:lnTo>
                          <a:pt x="152" y="11"/>
                        </a:lnTo>
                        <a:lnTo>
                          <a:pt x="146" y="9"/>
                        </a:lnTo>
                        <a:lnTo>
                          <a:pt x="138" y="6"/>
                        </a:lnTo>
                        <a:lnTo>
                          <a:pt x="131" y="2"/>
                        </a:lnTo>
                        <a:lnTo>
                          <a:pt x="125" y="2"/>
                        </a:lnTo>
                        <a:lnTo>
                          <a:pt x="118" y="3"/>
                        </a:lnTo>
                        <a:lnTo>
                          <a:pt x="108" y="5"/>
                        </a:lnTo>
                        <a:lnTo>
                          <a:pt x="103" y="5"/>
                        </a:lnTo>
                        <a:lnTo>
                          <a:pt x="91" y="3"/>
                        </a:lnTo>
                        <a:lnTo>
                          <a:pt x="77" y="1"/>
                        </a:lnTo>
                        <a:lnTo>
                          <a:pt x="67" y="0"/>
                        </a:lnTo>
                        <a:lnTo>
                          <a:pt x="55" y="0"/>
                        </a:lnTo>
                        <a:lnTo>
                          <a:pt x="43" y="0"/>
                        </a:lnTo>
                        <a:lnTo>
                          <a:pt x="35" y="1"/>
                        </a:lnTo>
                        <a:lnTo>
                          <a:pt x="26" y="2"/>
                        </a:lnTo>
                        <a:lnTo>
                          <a:pt x="18" y="3"/>
                        </a:lnTo>
                        <a:lnTo>
                          <a:pt x="9" y="4"/>
                        </a:lnTo>
                        <a:lnTo>
                          <a:pt x="8" y="8"/>
                        </a:lnTo>
                        <a:lnTo>
                          <a:pt x="6" y="11"/>
                        </a:lnTo>
                        <a:lnTo>
                          <a:pt x="4" y="14"/>
                        </a:lnTo>
                        <a:lnTo>
                          <a:pt x="0" y="16"/>
                        </a:lnTo>
                        <a:lnTo>
                          <a:pt x="7" y="15"/>
                        </a:lnTo>
                        <a:lnTo>
                          <a:pt x="15" y="13"/>
                        </a:lnTo>
                        <a:lnTo>
                          <a:pt x="21" y="12"/>
                        </a:lnTo>
                        <a:lnTo>
                          <a:pt x="29" y="11"/>
                        </a:lnTo>
                        <a:lnTo>
                          <a:pt x="36" y="10"/>
                        </a:lnTo>
                        <a:lnTo>
                          <a:pt x="49" y="9"/>
                        </a:lnTo>
                        <a:lnTo>
                          <a:pt x="62" y="8"/>
                        </a:lnTo>
                        <a:lnTo>
                          <a:pt x="77" y="7"/>
                        </a:lnTo>
                        <a:lnTo>
                          <a:pt x="92" y="6"/>
                        </a:lnTo>
                        <a:lnTo>
                          <a:pt x="106" y="6"/>
                        </a:lnTo>
                        <a:lnTo>
                          <a:pt x="118" y="7"/>
                        </a:lnTo>
                        <a:lnTo>
                          <a:pt x="126" y="9"/>
                        </a:lnTo>
                        <a:lnTo>
                          <a:pt x="135" y="11"/>
                        </a:lnTo>
                        <a:lnTo>
                          <a:pt x="145" y="13"/>
                        </a:lnTo>
                        <a:lnTo>
                          <a:pt x="155" y="16"/>
                        </a:lnTo>
                        <a:lnTo>
                          <a:pt x="163" y="17"/>
                        </a:lnTo>
                        <a:lnTo>
                          <a:pt x="172" y="19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 w="9525" cap="rnd">
                    <a:noFill/>
                    <a:round/>
                  </a:ln>
                  <a:effectLst/>
                </p:spPr>
                <p:txBody>
                  <a:bodyPr/>
                  <a:lstStyle/>
                  <a:p>
                    <a:pPr marL="0" marR="0" lvl="0" indent="0" algn="ctr" defTabSz="914400" rtl="0" eaLnBrk="0" fontAlgn="base" latinLnBrk="0" hangingPunct="0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defRPr/>
                    </a:pPr>
                    <a:endParaRPr kumimoji="0" lang="zh-CN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uLnTx/>
                      <a:uFillTx/>
                      <a:latin typeface="Times New Roman" panose="02020603050405020304" pitchFamily="18" charset="0"/>
                      <a:ea typeface="+mn-ea"/>
                      <a:cs typeface="+mn-cs"/>
                    </a:endParaRPr>
                  </a:p>
                </p:txBody>
              </p:sp>
            </p:grpSp>
          </p:grpSp>
        </p:grpSp>
      </p:grpSp>
      <p:pic>
        <p:nvPicPr>
          <p:cNvPr id="6" name="Picture 30" descr="index1_G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76200" y="92075"/>
            <a:ext cx="1079500" cy="10668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7" name="Line 31"/>
          <p:cNvSpPr>
            <a:spLocks noChangeShapeType="1"/>
          </p:cNvSpPr>
          <p:nvPr/>
        </p:nvSpPr>
        <p:spPr bwMode="auto">
          <a:xfrm>
            <a:off x="762000" y="1155700"/>
            <a:ext cx="8229600" cy="0"/>
          </a:xfrm>
          <a:prstGeom prst="line">
            <a:avLst/>
          </a:prstGeom>
          <a:noFill/>
          <a:ln w="76200" cmpd="tri">
            <a:solidFill>
              <a:schemeClr val="accent1"/>
            </a:solidFill>
            <a:round/>
          </a:ln>
          <a:effectLst/>
        </p:spPr>
        <p:txBody>
          <a:bodyPr/>
          <a:lstStyle/>
          <a:p>
            <a:pPr marL="0" marR="0" lvl="0" indent="0" algn="ctr" defTabSz="914400" rtl="0" eaLnBrk="0" fontAlgn="base" latinLnBrk="0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accent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accent2"/>
          </a:solidFill>
          <a:latin typeface="Comic Sans MS" panose="030F0902030302020204" pitchFamily="66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accent2"/>
          </a:solidFill>
          <a:latin typeface="Comic Sans MS" panose="030F0902030302020204" pitchFamily="66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accent2"/>
          </a:solidFill>
          <a:latin typeface="Comic Sans MS" panose="030F0902030302020204" pitchFamily="66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3600" b="1">
          <a:solidFill>
            <a:schemeClr val="accent2"/>
          </a:solidFill>
          <a:latin typeface="Comic Sans MS" panose="030F0902030302020204" pitchFamily="66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3600" b="1">
          <a:solidFill>
            <a:schemeClr val="accent2"/>
          </a:solidFill>
          <a:latin typeface="Comic Sans MS" panose="030F0902030302020204" pitchFamily="66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3600" b="1">
          <a:solidFill>
            <a:schemeClr val="accent2"/>
          </a:solidFill>
          <a:latin typeface="Comic Sans MS" panose="030F0902030302020204" pitchFamily="66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3600" b="1">
          <a:solidFill>
            <a:schemeClr val="accent2"/>
          </a:solidFill>
          <a:latin typeface="Comic Sans MS" panose="030F0902030302020204" pitchFamily="66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3600" b="1">
          <a:solidFill>
            <a:schemeClr val="accent2"/>
          </a:solidFill>
          <a:latin typeface="Comic Sans MS" panose="030F0902030302020204" pitchFamily="66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1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10000"/>
        </a:spcBef>
        <a:spcAft>
          <a:spcPct val="0"/>
        </a:spcAft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1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1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1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1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1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1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1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.png"/><Relationship Id="rId1" Type="http://schemas.openxmlformats.org/officeDocument/2006/relationships/customXml" Target="../ink/ink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.png"/><Relationship Id="rId1" Type="http://schemas.openxmlformats.org/officeDocument/2006/relationships/customXml" Target="../ink/ink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6.xml"/><Relationship Id="rId1" Type="http://schemas.openxmlformats.org/officeDocument/2006/relationships/tags" Target="../tags/tag5.xml"/></Relationships>
</file>

<file path=ppt/slides/_rels/slide3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9.xml"/><Relationship Id="rId2" Type="http://schemas.openxmlformats.org/officeDocument/2006/relationships/tags" Target="../tags/tag8.xml"/><Relationship Id="rId1" Type="http://schemas.openxmlformats.org/officeDocument/2006/relationships/tags" Target="../tags/tag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11.xml"/><Relationship Id="rId1" Type="http://schemas.openxmlformats.org/officeDocument/2006/relationships/tags" Target="../tags/tag10.xml"/></Relationships>
</file>

<file path=ppt/slides/_rels/slide5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tags" Target="../tags/tag14.xml"/><Relationship Id="rId2" Type="http://schemas.openxmlformats.org/officeDocument/2006/relationships/tags" Target="../tags/tag13.xml"/><Relationship Id="rId1" Type="http://schemas.openxmlformats.org/officeDocument/2006/relationships/tags" Target="../tags/tag12.xml"/></Relationships>
</file>

<file path=ppt/slides/_rels/slide55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7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tags" Target="../tags/tag15.xml"/></Relationships>
</file>

<file path=ppt/slides/_rels/slide56.xml.rels><?xml version="1.0" encoding="UTF-8" standalone="yes"?>
<Relationships xmlns="http://schemas.openxmlformats.org/package/2006/relationships"><Relationship Id="rId9" Type="http://schemas.openxmlformats.org/officeDocument/2006/relationships/tags" Target="../tags/tag27.xml"/><Relationship Id="rId8" Type="http://schemas.openxmlformats.org/officeDocument/2006/relationships/tags" Target="../tags/tag26.xml"/><Relationship Id="rId7" Type="http://schemas.openxmlformats.org/officeDocument/2006/relationships/tags" Target="../tags/tag25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6" Type="http://schemas.openxmlformats.org/officeDocument/2006/relationships/slideLayout" Target="../slideLayouts/slideLayout7.xml"/><Relationship Id="rId45" Type="http://schemas.openxmlformats.org/officeDocument/2006/relationships/tags" Target="../tags/tag63.xml"/><Relationship Id="rId44" Type="http://schemas.openxmlformats.org/officeDocument/2006/relationships/tags" Target="../tags/tag62.xml"/><Relationship Id="rId43" Type="http://schemas.openxmlformats.org/officeDocument/2006/relationships/tags" Target="../tags/tag61.xml"/><Relationship Id="rId42" Type="http://schemas.openxmlformats.org/officeDocument/2006/relationships/tags" Target="../tags/tag60.xml"/><Relationship Id="rId41" Type="http://schemas.openxmlformats.org/officeDocument/2006/relationships/tags" Target="../tags/tag59.xml"/><Relationship Id="rId40" Type="http://schemas.openxmlformats.org/officeDocument/2006/relationships/tags" Target="../tags/tag58.xml"/><Relationship Id="rId4" Type="http://schemas.openxmlformats.org/officeDocument/2006/relationships/tags" Target="../tags/tag22.xml"/><Relationship Id="rId39" Type="http://schemas.openxmlformats.org/officeDocument/2006/relationships/tags" Target="../tags/tag57.xml"/><Relationship Id="rId38" Type="http://schemas.openxmlformats.org/officeDocument/2006/relationships/tags" Target="../tags/tag56.xml"/><Relationship Id="rId37" Type="http://schemas.openxmlformats.org/officeDocument/2006/relationships/tags" Target="../tags/tag55.xml"/><Relationship Id="rId36" Type="http://schemas.openxmlformats.org/officeDocument/2006/relationships/tags" Target="../tags/tag54.xml"/><Relationship Id="rId35" Type="http://schemas.openxmlformats.org/officeDocument/2006/relationships/tags" Target="../tags/tag53.xml"/><Relationship Id="rId34" Type="http://schemas.openxmlformats.org/officeDocument/2006/relationships/tags" Target="../tags/tag52.xml"/><Relationship Id="rId33" Type="http://schemas.openxmlformats.org/officeDocument/2006/relationships/tags" Target="../tags/tag51.xml"/><Relationship Id="rId32" Type="http://schemas.openxmlformats.org/officeDocument/2006/relationships/tags" Target="../tags/tag50.xml"/><Relationship Id="rId31" Type="http://schemas.openxmlformats.org/officeDocument/2006/relationships/tags" Target="../tags/tag49.xml"/><Relationship Id="rId30" Type="http://schemas.openxmlformats.org/officeDocument/2006/relationships/tags" Target="../tags/tag48.xml"/><Relationship Id="rId3" Type="http://schemas.openxmlformats.org/officeDocument/2006/relationships/tags" Target="../tags/tag21.xml"/><Relationship Id="rId29" Type="http://schemas.openxmlformats.org/officeDocument/2006/relationships/tags" Target="../tags/tag47.xml"/><Relationship Id="rId28" Type="http://schemas.openxmlformats.org/officeDocument/2006/relationships/tags" Target="../tags/tag46.xml"/><Relationship Id="rId27" Type="http://schemas.openxmlformats.org/officeDocument/2006/relationships/tags" Target="../tags/tag45.xml"/><Relationship Id="rId26" Type="http://schemas.openxmlformats.org/officeDocument/2006/relationships/tags" Target="../tags/tag44.xml"/><Relationship Id="rId25" Type="http://schemas.openxmlformats.org/officeDocument/2006/relationships/tags" Target="../tags/tag43.xml"/><Relationship Id="rId24" Type="http://schemas.openxmlformats.org/officeDocument/2006/relationships/tags" Target="../tags/tag42.xml"/><Relationship Id="rId23" Type="http://schemas.openxmlformats.org/officeDocument/2006/relationships/tags" Target="../tags/tag41.xml"/><Relationship Id="rId22" Type="http://schemas.openxmlformats.org/officeDocument/2006/relationships/tags" Target="../tags/tag40.xml"/><Relationship Id="rId21" Type="http://schemas.openxmlformats.org/officeDocument/2006/relationships/tags" Target="../tags/tag39.xml"/><Relationship Id="rId20" Type="http://schemas.openxmlformats.org/officeDocument/2006/relationships/tags" Target="../tags/tag38.xml"/><Relationship Id="rId2" Type="http://schemas.openxmlformats.org/officeDocument/2006/relationships/image" Target="../media/image3.jpeg"/><Relationship Id="rId19" Type="http://schemas.openxmlformats.org/officeDocument/2006/relationships/tags" Target="../tags/tag37.xml"/><Relationship Id="rId18" Type="http://schemas.openxmlformats.org/officeDocument/2006/relationships/tags" Target="../tags/tag36.xml"/><Relationship Id="rId17" Type="http://schemas.openxmlformats.org/officeDocument/2006/relationships/tags" Target="../tags/tag35.xml"/><Relationship Id="rId16" Type="http://schemas.openxmlformats.org/officeDocument/2006/relationships/tags" Target="../tags/tag34.xml"/><Relationship Id="rId15" Type="http://schemas.openxmlformats.org/officeDocument/2006/relationships/tags" Target="../tags/tag33.xml"/><Relationship Id="rId14" Type="http://schemas.openxmlformats.org/officeDocument/2006/relationships/tags" Target="../tags/tag32.xml"/><Relationship Id="rId13" Type="http://schemas.openxmlformats.org/officeDocument/2006/relationships/tags" Target="../tags/tag31.xml"/><Relationship Id="rId12" Type="http://schemas.openxmlformats.org/officeDocument/2006/relationships/tags" Target="../tags/tag30.xml"/><Relationship Id="rId11" Type="http://schemas.openxmlformats.org/officeDocument/2006/relationships/tags" Target="../tags/tag29.xml"/><Relationship Id="rId10" Type="http://schemas.openxmlformats.org/officeDocument/2006/relationships/tags" Target="../tags/tag28.xml"/><Relationship Id="rId1" Type="http://schemas.openxmlformats.org/officeDocument/2006/relationships/tags" Target="../tags/tag2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64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.png"/><Relationship Id="rId1" Type="http://schemas.openxmlformats.org/officeDocument/2006/relationships/customXml" Target="../ink/ink3.xml"/></Relationships>
</file>

<file path=ppt/slides/_rels/slide6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.png"/><Relationship Id="rId1" Type="http://schemas.openxmlformats.org/officeDocument/2006/relationships/customXml" Target="../ink/ink4.xml"/></Relationships>
</file>

<file path=ppt/slides/_rels/slide6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.png"/><Relationship Id="rId1" Type="http://schemas.openxmlformats.org/officeDocument/2006/relationships/customXml" Target="../ink/ink5.xml"/></Relationships>
</file>

<file path=ppt/slides/_rels/slide6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4.xml"/><Relationship Id="rId7" Type="http://schemas.openxmlformats.org/officeDocument/2006/relationships/tags" Target="../tags/tag71.xml"/><Relationship Id="rId6" Type="http://schemas.openxmlformats.org/officeDocument/2006/relationships/tags" Target="../tags/tag70.xml"/><Relationship Id="rId5" Type="http://schemas.openxmlformats.org/officeDocument/2006/relationships/tags" Target="../tags/tag69.xml"/><Relationship Id="rId4" Type="http://schemas.openxmlformats.org/officeDocument/2006/relationships/tags" Target="../tags/tag68.xml"/><Relationship Id="rId3" Type="http://schemas.openxmlformats.org/officeDocument/2006/relationships/tags" Target="../tags/tag67.xml"/><Relationship Id="rId2" Type="http://schemas.openxmlformats.org/officeDocument/2006/relationships/tags" Target="../tags/tag66.xml"/><Relationship Id="rId1" Type="http://schemas.openxmlformats.org/officeDocument/2006/relationships/tags" Target="../tags/tag65.xml"/></Relationships>
</file>

<file path=ppt/slides/_rels/slide63.xml.rels><?xml version="1.0" encoding="UTF-8" standalone="yes"?>
<Relationships xmlns="http://schemas.openxmlformats.org/package/2006/relationships"><Relationship Id="rId9" Type="http://schemas.openxmlformats.org/officeDocument/2006/relationships/tags" Target="../tags/tag80.xml"/><Relationship Id="rId8" Type="http://schemas.openxmlformats.org/officeDocument/2006/relationships/tags" Target="../tags/tag79.xml"/><Relationship Id="rId7" Type="http://schemas.openxmlformats.org/officeDocument/2006/relationships/tags" Target="../tags/tag78.xml"/><Relationship Id="rId6" Type="http://schemas.openxmlformats.org/officeDocument/2006/relationships/tags" Target="../tags/tag77.xml"/><Relationship Id="rId5" Type="http://schemas.openxmlformats.org/officeDocument/2006/relationships/tags" Target="../tags/tag76.xml"/><Relationship Id="rId45" Type="http://schemas.openxmlformats.org/officeDocument/2006/relationships/notesSlide" Target="../notesSlides/notesSlide7.xml"/><Relationship Id="rId44" Type="http://schemas.openxmlformats.org/officeDocument/2006/relationships/slideLayout" Target="../slideLayouts/slideLayout14.xml"/><Relationship Id="rId43" Type="http://schemas.openxmlformats.org/officeDocument/2006/relationships/tags" Target="../tags/tag114.xml"/><Relationship Id="rId42" Type="http://schemas.openxmlformats.org/officeDocument/2006/relationships/tags" Target="../tags/tag113.xml"/><Relationship Id="rId41" Type="http://schemas.openxmlformats.org/officeDocument/2006/relationships/tags" Target="../tags/tag112.xml"/><Relationship Id="rId40" Type="http://schemas.openxmlformats.org/officeDocument/2006/relationships/tags" Target="../tags/tag111.xml"/><Relationship Id="rId4" Type="http://schemas.openxmlformats.org/officeDocument/2006/relationships/tags" Target="../tags/tag75.xml"/><Relationship Id="rId39" Type="http://schemas.openxmlformats.org/officeDocument/2006/relationships/tags" Target="../tags/tag110.xml"/><Relationship Id="rId38" Type="http://schemas.openxmlformats.org/officeDocument/2006/relationships/tags" Target="../tags/tag109.xml"/><Relationship Id="rId37" Type="http://schemas.openxmlformats.org/officeDocument/2006/relationships/tags" Target="../tags/tag108.xml"/><Relationship Id="rId36" Type="http://schemas.openxmlformats.org/officeDocument/2006/relationships/tags" Target="../tags/tag107.xml"/><Relationship Id="rId35" Type="http://schemas.openxmlformats.org/officeDocument/2006/relationships/tags" Target="../tags/tag106.xml"/><Relationship Id="rId34" Type="http://schemas.openxmlformats.org/officeDocument/2006/relationships/tags" Target="../tags/tag105.xml"/><Relationship Id="rId33" Type="http://schemas.openxmlformats.org/officeDocument/2006/relationships/tags" Target="../tags/tag104.xml"/><Relationship Id="rId32" Type="http://schemas.openxmlformats.org/officeDocument/2006/relationships/tags" Target="../tags/tag103.xml"/><Relationship Id="rId31" Type="http://schemas.openxmlformats.org/officeDocument/2006/relationships/tags" Target="../tags/tag102.xml"/><Relationship Id="rId30" Type="http://schemas.openxmlformats.org/officeDocument/2006/relationships/tags" Target="../tags/tag101.xml"/><Relationship Id="rId3" Type="http://schemas.openxmlformats.org/officeDocument/2006/relationships/tags" Target="../tags/tag74.xml"/><Relationship Id="rId29" Type="http://schemas.openxmlformats.org/officeDocument/2006/relationships/tags" Target="../tags/tag100.xml"/><Relationship Id="rId28" Type="http://schemas.openxmlformats.org/officeDocument/2006/relationships/tags" Target="../tags/tag99.xml"/><Relationship Id="rId27" Type="http://schemas.openxmlformats.org/officeDocument/2006/relationships/tags" Target="../tags/tag98.xml"/><Relationship Id="rId26" Type="http://schemas.openxmlformats.org/officeDocument/2006/relationships/tags" Target="../tags/tag97.xml"/><Relationship Id="rId25" Type="http://schemas.openxmlformats.org/officeDocument/2006/relationships/tags" Target="../tags/tag96.xml"/><Relationship Id="rId24" Type="http://schemas.openxmlformats.org/officeDocument/2006/relationships/tags" Target="../tags/tag95.xml"/><Relationship Id="rId23" Type="http://schemas.openxmlformats.org/officeDocument/2006/relationships/tags" Target="../tags/tag94.xml"/><Relationship Id="rId22" Type="http://schemas.openxmlformats.org/officeDocument/2006/relationships/tags" Target="../tags/tag93.xml"/><Relationship Id="rId21" Type="http://schemas.openxmlformats.org/officeDocument/2006/relationships/tags" Target="../tags/tag92.xml"/><Relationship Id="rId20" Type="http://schemas.openxmlformats.org/officeDocument/2006/relationships/tags" Target="../tags/tag91.xml"/><Relationship Id="rId2" Type="http://schemas.openxmlformats.org/officeDocument/2006/relationships/tags" Target="../tags/tag73.xml"/><Relationship Id="rId19" Type="http://schemas.openxmlformats.org/officeDocument/2006/relationships/tags" Target="../tags/tag90.xml"/><Relationship Id="rId18" Type="http://schemas.openxmlformats.org/officeDocument/2006/relationships/tags" Target="../tags/tag89.xml"/><Relationship Id="rId17" Type="http://schemas.openxmlformats.org/officeDocument/2006/relationships/tags" Target="../tags/tag88.xml"/><Relationship Id="rId16" Type="http://schemas.openxmlformats.org/officeDocument/2006/relationships/tags" Target="../tags/tag87.xml"/><Relationship Id="rId15" Type="http://schemas.openxmlformats.org/officeDocument/2006/relationships/tags" Target="../tags/tag86.xml"/><Relationship Id="rId14" Type="http://schemas.openxmlformats.org/officeDocument/2006/relationships/tags" Target="../tags/tag85.xml"/><Relationship Id="rId13" Type="http://schemas.openxmlformats.org/officeDocument/2006/relationships/tags" Target="../tags/tag84.xml"/><Relationship Id="rId12" Type="http://schemas.openxmlformats.org/officeDocument/2006/relationships/tags" Target="../tags/tag83.xml"/><Relationship Id="rId11" Type="http://schemas.openxmlformats.org/officeDocument/2006/relationships/tags" Target="../tags/tag82.xml"/><Relationship Id="rId10" Type="http://schemas.openxmlformats.org/officeDocument/2006/relationships/tags" Target="../tags/tag81.xml"/><Relationship Id="rId1" Type="http://schemas.openxmlformats.org/officeDocument/2006/relationships/tags" Target="../tags/tag72.xml"/></Relationships>
</file>

<file path=ppt/slides/_rels/slide64.xml.rels><?xml version="1.0" encoding="UTF-8" standalone="yes"?>
<Relationships xmlns="http://schemas.openxmlformats.org/package/2006/relationships"><Relationship Id="rId9" Type="http://schemas.openxmlformats.org/officeDocument/2006/relationships/tags" Target="../tags/tag123.xml"/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5" Type="http://schemas.openxmlformats.org/officeDocument/2006/relationships/notesSlide" Target="../notesSlides/notesSlide8.xml"/><Relationship Id="rId14" Type="http://schemas.openxmlformats.org/officeDocument/2006/relationships/slideLayout" Target="../slideLayouts/slideLayout14.xml"/><Relationship Id="rId13" Type="http://schemas.openxmlformats.org/officeDocument/2006/relationships/tags" Target="../tags/tag127.xml"/><Relationship Id="rId12" Type="http://schemas.openxmlformats.org/officeDocument/2006/relationships/tags" Target="../tags/tag126.xml"/><Relationship Id="rId11" Type="http://schemas.openxmlformats.org/officeDocument/2006/relationships/tags" Target="../tags/tag125.xml"/><Relationship Id="rId10" Type="http://schemas.openxmlformats.org/officeDocument/2006/relationships/tags" Target="../tags/tag124.xml"/><Relationship Id="rId1" Type="http://schemas.openxmlformats.org/officeDocument/2006/relationships/tags" Target="../tags/tag115.xml"/></Relationships>
</file>

<file path=ppt/slides/_rels/slide6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9.xml"/><Relationship Id="rId4" Type="http://schemas.openxmlformats.org/officeDocument/2006/relationships/slideLayout" Target="../slideLayouts/slideLayout14.xml"/><Relationship Id="rId3" Type="http://schemas.openxmlformats.org/officeDocument/2006/relationships/image" Target="../media/image4.webp"/><Relationship Id="rId2" Type="http://schemas.openxmlformats.org/officeDocument/2006/relationships/tags" Target="../tags/tag129.xml"/><Relationship Id="rId1" Type="http://schemas.openxmlformats.org/officeDocument/2006/relationships/tags" Target="../tags/tag128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30.xml"/></Relationships>
</file>

<file path=ppt/slides/_rels/slide67.xml.rels><?xml version="1.0" encoding="UTF-8" standalone="yes"?>
<Relationships xmlns="http://schemas.openxmlformats.org/package/2006/relationships"><Relationship Id="rId9" Type="http://schemas.openxmlformats.org/officeDocument/2006/relationships/tags" Target="../tags/tag139.xml"/><Relationship Id="rId8" Type="http://schemas.openxmlformats.org/officeDocument/2006/relationships/tags" Target="../tags/tag138.xml"/><Relationship Id="rId7" Type="http://schemas.openxmlformats.org/officeDocument/2006/relationships/tags" Target="../tags/tag137.xml"/><Relationship Id="rId6" Type="http://schemas.openxmlformats.org/officeDocument/2006/relationships/tags" Target="../tags/tag136.xml"/><Relationship Id="rId5" Type="http://schemas.openxmlformats.org/officeDocument/2006/relationships/tags" Target="../tags/tag135.xml"/><Relationship Id="rId4" Type="http://schemas.openxmlformats.org/officeDocument/2006/relationships/tags" Target="../tags/tag134.xml"/><Relationship Id="rId3" Type="http://schemas.openxmlformats.org/officeDocument/2006/relationships/tags" Target="../tags/tag133.xml"/><Relationship Id="rId23" Type="http://schemas.openxmlformats.org/officeDocument/2006/relationships/notesSlide" Target="../notesSlides/notesSlide11.xml"/><Relationship Id="rId22" Type="http://schemas.openxmlformats.org/officeDocument/2006/relationships/slideLayout" Target="../slideLayouts/slideLayout14.xml"/><Relationship Id="rId21" Type="http://schemas.openxmlformats.org/officeDocument/2006/relationships/tags" Target="../tags/tag151.xml"/><Relationship Id="rId20" Type="http://schemas.openxmlformats.org/officeDocument/2006/relationships/tags" Target="../tags/tag150.xml"/><Relationship Id="rId2" Type="http://schemas.openxmlformats.org/officeDocument/2006/relationships/tags" Target="../tags/tag132.xml"/><Relationship Id="rId19" Type="http://schemas.openxmlformats.org/officeDocument/2006/relationships/tags" Target="../tags/tag149.xml"/><Relationship Id="rId18" Type="http://schemas.openxmlformats.org/officeDocument/2006/relationships/tags" Target="../tags/tag148.xml"/><Relationship Id="rId17" Type="http://schemas.openxmlformats.org/officeDocument/2006/relationships/tags" Target="../tags/tag147.xml"/><Relationship Id="rId16" Type="http://schemas.openxmlformats.org/officeDocument/2006/relationships/tags" Target="../tags/tag146.xml"/><Relationship Id="rId15" Type="http://schemas.openxmlformats.org/officeDocument/2006/relationships/tags" Target="../tags/tag145.xml"/><Relationship Id="rId14" Type="http://schemas.openxmlformats.org/officeDocument/2006/relationships/tags" Target="../tags/tag144.xml"/><Relationship Id="rId13" Type="http://schemas.openxmlformats.org/officeDocument/2006/relationships/tags" Target="../tags/tag143.xml"/><Relationship Id="rId12" Type="http://schemas.openxmlformats.org/officeDocument/2006/relationships/tags" Target="../tags/tag142.xml"/><Relationship Id="rId11" Type="http://schemas.openxmlformats.org/officeDocument/2006/relationships/tags" Target="../tags/tag141.xml"/><Relationship Id="rId10" Type="http://schemas.openxmlformats.org/officeDocument/2006/relationships/tags" Target="../tags/tag140.xml"/><Relationship Id="rId1" Type="http://schemas.openxmlformats.org/officeDocument/2006/relationships/tags" Target="../tags/tag131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0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54.xml"/><Relationship Id="rId2" Type="http://schemas.openxmlformats.org/officeDocument/2006/relationships/tags" Target="../tags/tag153.xml"/><Relationship Id="rId1" Type="http://schemas.openxmlformats.org/officeDocument/2006/relationships/tags" Target="../tags/tag15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55.xml"/></Relationships>
</file>

<file path=ppt/slides/_rels/slide7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" Type="http://schemas.openxmlformats.org/officeDocument/2006/relationships/tags" Target="../tags/tag15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59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60.xml"/></Relationships>
</file>

<file path=ppt/slides/_rels/slide7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.png"/><Relationship Id="rId1" Type="http://schemas.openxmlformats.org/officeDocument/2006/relationships/customXml" Target="../ink/ink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9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.png"/><Relationship Id="rId1" Type="http://schemas.openxmlformats.org/officeDocument/2006/relationships/customXml" Target="../ink/ink7.xml"/></Relationships>
</file>

<file path=ppt/slides/_rels/slide87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customXml" Target="../ink/ink9.xml"/><Relationship Id="rId2" Type="http://schemas.openxmlformats.org/officeDocument/2006/relationships/image" Target="../media/image2.png"/><Relationship Id="rId1" Type="http://schemas.openxmlformats.org/officeDocument/2006/relationships/customXml" Target="../ink/ink8.xml"/></Relationships>
</file>

<file path=ppt/slides/_rels/slide8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4.xml"/><Relationship Id="rId3" Type="http://schemas.openxmlformats.org/officeDocument/2006/relationships/customXml" Target="../ink/ink11.xml"/><Relationship Id="rId2" Type="http://schemas.openxmlformats.org/officeDocument/2006/relationships/image" Target="../media/image5.png"/><Relationship Id="rId1" Type="http://schemas.openxmlformats.org/officeDocument/2006/relationships/customXml" Target="../ink/ink10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.png"/><Relationship Id="rId1" Type="http://schemas.openxmlformats.org/officeDocument/2006/relationships/customXml" Target="../ink/ink12.xml"/></Relationships>
</file>

<file path=ppt/slides/_rels/slide9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4.xml"/><Relationship Id="rId6" Type="http://schemas.openxmlformats.org/officeDocument/2006/relationships/image" Target="../media/image5.png"/><Relationship Id="rId5" Type="http://schemas.openxmlformats.org/officeDocument/2006/relationships/customXml" Target="../ink/ink15.xml"/><Relationship Id="rId4" Type="http://schemas.openxmlformats.org/officeDocument/2006/relationships/image" Target="../media/image6.png"/><Relationship Id="rId3" Type="http://schemas.openxmlformats.org/officeDocument/2006/relationships/customXml" Target="../ink/ink14.xml"/><Relationship Id="rId2" Type="http://schemas.openxmlformats.org/officeDocument/2006/relationships/image" Target="../media/image2.png"/><Relationship Id="rId1" Type="http://schemas.openxmlformats.org/officeDocument/2006/relationships/customXml" Target="../ink/ink1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image" Target="../media/image2.png"/><Relationship Id="rId1" Type="http://schemas.openxmlformats.org/officeDocument/2006/relationships/customXml" Target="../ink/ink16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4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6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4.xml"/><Relationship Id="rId1" Type="http://schemas.openxmlformats.org/officeDocument/2006/relationships/tags" Target="../tags/tag162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4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4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tags" Target="../tags/tag163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wmf"/><Relationship Id="rId1" Type="http://schemas.openxmlformats.org/officeDocument/2006/relationships/image" Target="../media/image7.png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9.xml"/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9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37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2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wmf"/><Relationship Id="rId1" Type="http://schemas.openxmlformats.org/officeDocument/2006/relationships/image" Target="../media/image7.png"/></Relationships>
</file>

<file path=ppt/slides/_rels/slide13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9.xml"/><Relationship Id="rId6" Type="http://schemas.openxmlformats.org/officeDocument/2006/relationships/image" Target="../media/image11.png"/><Relationship Id="rId5" Type="http://schemas.openxmlformats.org/officeDocument/2006/relationships/image" Target="../media/image16.png"/><Relationship Id="rId4" Type="http://schemas.openxmlformats.org/officeDocument/2006/relationships/image" Target="../media/image15.GIF"/><Relationship Id="rId3" Type="http://schemas.openxmlformats.org/officeDocument/2006/relationships/image" Target="../media/image9.png"/><Relationship Id="rId2" Type="http://schemas.openxmlformats.org/officeDocument/2006/relationships/image" Target="../media/image8.wmf"/><Relationship Id="rId1" Type="http://schemas.openxmlformats.org/officeDocument/2006/relationships/image" Target="../media/image7.png"/></Relationships>
</file>

<file path=ppt/slides/_rels/slide139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11.png"/><Relationship Id="rId4" Type="http://schemas.openxmlformats.org/officeDocument/2006/relationships/image" Target="../media/image16.png"/><Relationship Id="rId3" Type="http://schemas.openxmlformats.org/officeDocument/2006/relationships/image" Target="../media/image9.png"/><Relationship Id="rId2" Type="http://schemas.openxmlformats.org/officeDocument/2006/relationships/image" Target="../media/image8.wmf"/><Relationship Id="rId1" Type="http://schemas.openxmlformats.org/officeDocument/2006/relationships/image" Target="../media/image7.png"/></Relationships>
</file>

<file path=ppt/slides/_rels/slide140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11.png"/><Relationship Id="rId4" Type="http://schemas.openxmlformats.org/officeDocument/2006/relationships/image" Target="../media/image16.png"/><Relationship Id="rId3" Type="http://schemas.openxmlformats.org/officeDocument/2006/relationships/image" Target="../media/image9.png"/><Relationship Id="rId2" Type="http://schemas.openxmlformats.org/officeDocument/2006/relationships/image" Target="../media/image8.wmf"/><Relationship Id="rId1" Type="http://schemas.openxmlformats.org/officeDocument/2006/relationships/image" Target="../media/image7.png"/></Relationships>
</file>

<file path=ppt/slides/_rels/slide141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11.png"/><Relationship Id="rId4" Type="http://schemas.openxmlformats.org/officeDocument/2006/relationships/image" Target="../media/image16.png"/><Relationship Id="rId3" Type="http://schemas.openxmlformats.org/officeDocument/2006/relationships/image" Target="../media/image9.png"/><Relationship Id="rId2" Type="http://schemas.openxmlformats.org/officeDocument/2006/relationships/image" Target="../media/image8.wmf"/><Relationship Id="rId1" Type="http://schemas.openxmlformats.org/officeDocument/2006/relationships/image" Target="../media/image7.png"/></Relationships>
</file>

<file path=ppt/slides/_rels/slide14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19.xml"/><Relationship Id="rId5" Type="http://schemas.openxmlformats.org/officeDocument/2006/relationships/image" Target="../media/image11.png"/><Relationship Id="rId4" Type="http://schemas.openxmlformats.org/officeDocument/2006/relationships/image" Target="../media/image16.png"/><Relationship Id="rId3" Type="http://schemas.openxmlformats.org/officeDocument/2006/relationships/image" Target="../media/image9.png"/><Relationship Id="rId2" Type="http://schemas.openxmlformats.org/officeDocument/2006/relationships/image" Target="../media/image8.wmf"/><Relationship Id="rId1" Type="http://schemas.openxmlformats.org/officeDocument/2006/relationships/image" Target="../media/image7.png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4.xml"/></Relationships>
</file>

<file path=ppt/slides/_rels/slide1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2" Type="http://schemas.openxmlformats.org/officeDocument/2006/relationships/image" Target="../media/image17.png"/><Relationship Id="rId1" Type="http://schemas.openxmlformats.org/officeDocument/2006/relationships/tags" Target="../tags/tag164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9.xml"/><Relationship Id="rId1" Type="http://schemas.openxmlformats.org/officeDocument/2006/relationships/image" Target="../media/image18.png"/></Relationships>
</file>

<file path=ppt/slides/_rels/slide1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4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4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4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4.xml"/></Relationships>
</file>

<file path=ppt/slides/_rels/slide1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/>
          </p:cNvSpPr>
          <p:nvPr>
            <p:ph type="sldNum" sz="quarter" idx="4"/>
          </p:nvPr>
        </p:nvSpPr>
        <p:spPr/>
        <p:txBody>
          <a:bodyPr wrap="none" lIns="92075" tIns="46038" rIns="92075" bIns="46038" anchor="ctr"/>
          <a:lstStyle/>
          <a:p>
            <a:pPr algn="r"/>
            <a:fld id="{9A0DB2DC-4C9A-4742-B13C-FB6460FD3503}" type="slidenum">
              <a:rPr lang="zh-CN" altLang="en-GB" sz="1400" dirty="0">
                <a:latin typeface="Comic Sans MS" panose="030F0902030302020204" pitchFamily="66" charset="0"/>
                <a:ea typeface="宋体" pitchFamily="2" charset="-122"/>
              </a:rPr>
            </a:fld>
            <a:endParaRPr lang="zh-CN" altLang="en-GB" sz="1400" dirty="0">
              <a:latin typeface="Comic Sans MS" panose="030F0902030302020204" pitchFamily="66" charset="0"/>
              <a:ea typeface="宋体" pitchFamily="2" charset="-122"/>
            </a:endParaRPr>
          </a:p>
        </p:txBody>
      </p:sp>
      <p:sp>
        <p:nvSpPr>
          <p:cNvPr id="31746" name="Rectangle 1026"/>
          <p:cNvSpPr>
            <a:spLocks noGrp="1"/>
          </p:cNvSpPr>
          <p:nvPr>
            <p:ph type="ctrTitle" sz="quarter"/>
          </p:nvPr>
        </p:nvSpPr>
        <p:spPr>
          <a:xfrm>
            <a:off x="125730" y="882015"/>
            <a:ext cx="9017635" cy="5823585"/>
          </a:xfrm>
        </p:spPr>
        <p:txBody>
          <a:bodyPr wrap="square" lIns="92075" tIns="46038" rIns="92075" bIns="46038" anchor="b"/>
          <a:lstStyle/>
          <a:p>
            <a:pPr>
              <a:lnSpc>
                <a:spcPct val="150000"/>
              </a:lnSpc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+mj-cs"/>
              </a:rPr>
              <a:t>MicroService and Cloud Computing  </a:t>
            </a:r>
            <a:r>
              <a:rPr lang="en-US" altLang="zh-TW" sz="4400" dirty="0">
                <a:latin typeface="+mj-lt"/>
                <a:ea typeface="PMingLiU" pitchFamily="18" charset="-120"/>
                <a:cs typeface="+mj-cs"/>
              </a:rPr>
              <a:t> </a:t>
            </a:r>
            <a:br>
              <a:rPr lang="en-US" altLang="zh-TW" sz="4400" dirty="0">
                <a:latin typeface="+mj-lt"/>
                <a:ea typeface="PMingLiU" pitchFamily="18" charset="-120"/>
                <a:cs typeface="+mj-cs"/>
              </a:rPr>
            </a:br>
            <a:br>
              <a:rPr lang="zh-CN" altLang="en-US" sz="1000" dirty="0">
                <a:latin typeface="+mj-lt"/>
                <a:ea typeface="华文新魏" panose="02010800040101010101" pitchFamily="2" charset="-122"/>
                <a:cs typeface="+mj-cs"/>
              </a:rPr>
            </a:br>
            <a:r>
              <a:rPr lang="zh-CN" altLang="zh-TW" sz="4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微服务与云计算</a:t>
            </a:r>
            <a:br>
              <a:rPr lang="zh-CN" altLang="zh-TW" sz="4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zh-TW" sz="4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复习</a:t>
            </a:r>
            <a:br>
              <a:rPr lang="zh-TW" altLang="en-US" sz="4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zh-TW" altLang="en-US" sz="1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TW" altLang="en-US" sz="2400" dirty="0">
                <a:latin typeface="+mj-lt"/>
                <a:ea typeface="PMingLiU" pitchFamily="18" charset="-120"/>
                <a:cs typeface="+mj-cs"/>
              </a:rPr>
              <a:t>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信息科学与工程学院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软件工程系</a:t>
            </a:r>
            <a:b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br>
              <a:rPr lang="en-US" altLang="zh-TW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杨金民</a:t>
            </a:r>
            <a:b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</a:br>
            <a:r>
              <a:rPr lang="en-US" altLang="zh-CN" sz="2400" dirty="0">
                <a:latin typeface="+mj-lt"/>
                <a:ea typeface="PMingLiU" pitchFamily="18" charset="-120"/>
                <a:cs typeface="+mj-cs"/>
              </a:rPr>
              <a:t>2025/05</a:t>
            </a:r>
            <a:endParaRPr lang="en-US" altLang="zh-TW" sz="2400" dirty="0">
              <a:solidFill>
                <a:srgbClr val="FF3300"/>
              </a:solidFill>
              <a:latin typeface="+mj-lt"/>
              <a:ea typeface="PMingLiU" pitchFamily="18" charset="-120"/>
              <a:cs typeface="+mj-cs"/>
            </a:endParaRPr>
          </a:p>
        </p:txBody>
      </p:sp>
      <p:grpSp>
        <p:nvGrpSpPr>
          <p:cNvPr id="31747" name="Group 1027"/>
          <p:cNvGrpSpPr/>
          <p:nvPr/>
        </p:nvGrpSpPr>
        <p:grpSpPr>
          <a:xfrm>
            <a:off x="6629400" y="4876800"/>
            <a:ext cx="1524000" cy="1714500"/>
            <a:chOff x="4734" y="3198"/>
            <a:chExt cx="960" cy="1080"/>
          </a:xfrm>
        </p:grpSpPr>
        <p:sp>
          <p:nvSpPr>
            <p:cNvPr id="31748" name="Freeform 1028"/>
            <p:cNvSpPr/>
            <p:nvPr/>
          </p:nvSpPr>
          <p:spPr>
            <a:xfrm>
              <a:off x="4734" y="3942"/>
              <a:ext cx="960" cy="336"/>
            </a:xfrm>
            <a:custGeom>
              <a:avLst/>
              <a:gdLst/>
              <a:ahLst/>
              <a:cxnLst>
                <a:cxn ang="0">
                  <a:pos x="82" y="4"/>
                </a:cxn>
                <a:cxn ang="0">
                  <a:pos x="67" y="11"/>
                </a:cxn>
                <a:cxn ang="0">
                  <a:pos x="54" y="38"/>
                </a:cxn>
                <a:cxn ang="0">
                  <a:pos x="38" y="59"/>
                </a:cxn>
                <a:cxn ang="0">
                  <a:pos x="24" y="65"/>
                </a:cxn>
                <a:cxn ang="0">
                  <a:pos x="10" y="75"/>
                </a:cxn>
                <a:cxn ang="0">
                  <a:pos x="0" y="102"/>
                </a:cxn>
                <a:cxn ang="0">
                  <a:pos x="0" y="135"/>
                </a:cxn>
                <a:cxn ang="0">
                  <a:pos x="5" y="168"/>
                </a:cxn>
                <a:cxn ang="0">
                  <a:pos x="19" y="172"/>
                </a:cxn>
                <a:cxn ang="0">
                  <a:pos x="34" y="162"/>
                </a:cxn>
                <a:cxn ang="0">
                  <a:pos x="46" y="172"/>
                </a:cxn>
                <a:cxn ang="0">
                  <a:pos x="58" y="205"/>
                </a:cxn>
                <a:cxn ang="0">
                  <a:pos x="73" y="226"/>
                </a:cxn>
                <a:cxn ang="0">
                  <a:pos x="89" y="226"/>
                </a:cxn>
                <a:cxn ang="0">
                  <a:pos x="104" y="221"/>
                </a:cxn>
                <a:cxn ang="0">
                  <a:pos x="119" y="238"/>
                </a:cxn>
                <a:cxn ang="0">
                  <a:pos x="133" y="259"/>
                </a:cxn>
                <a:cxn ang="0">
                  <a:pos x="155" y="265"/>
                </a:cxn>
                <a:cxn ang="0">
                  <a:pos x="188" y="265"/>
                </a:cxn>
                <a:cxn ang="0">
                  <a:pos x="203" y="259"/>
                </a:cxn>
                <a:cxn ang="0">
                  <a:pos x="218" y="253"/>
                </a:cxn>
                <a:cxn ang="0">
                  <a:pos x="232" y="243"/>
                </a:cxn>
                <a:cxn ang="0">
                  <a:pos x="246" y="238"/>
                </a:cxn>
                <a:cxn ang="0">
                  <a:pos x="262" y="243"/>
                </a:cxn>
                <a:cxn ang="0">
                  <a:pos x="276" y="253"/>
                </a:cxn>
                <a:cxn ang="0">
                  <a:pos x="300" y="265"/>
                </a:cxn>
                <a:cxn ang="0">
                  <a:pos x="327" y="265"/>
                </a:cxn>
                <a:cxn ang="0">
                  <a:pos x="351" y="259"/>
                </a:cxn>
                <a:cxn ang="0">
                  <a:pos x="365" y="238"/>
                </a:cxn>
                <a:cxn ang="0">
                  <a:pos x="382" y="217"/>
                </a:cxn>
                <a:cxn ang="0">
                  <a:pos x="397" y="205"/>
                </a:cxn>
                <a:cxn ang="0">
                  <a:pos x="411" y="199"/>
                </a:cxn>
                <a:cxn ang="0">
                  <a:pos x="416" y="184"/>
                </a:cxn>
                <a:cxn ang="0">
                  <a:pos x="408" y="151"/>
                </a:cxn>
                <a:cxn ang="0">
                  <a:pos x="416" y="119"/>
                </a:cxn>
                <a:cxn ang="0">
                  <a:pos x="416" y="86"/>
                </a:cxn>
                <a:cxn ang="0">
                  <a:pos x="404" y="59"/>
                </a:cxn>
                <a:cxn ang="0">
                  <a:pos x="390" y="59"/>
                </a:cxn>
                <a:cxn ang="0">
                  <a:pos x="375" y="59"/>
                </a:cxn>
                <a:cxn ang="0">
                  <a:pos x="361" y="53"/>
                </a:cxn>
                <a:cxn ang="0">
                  <a:pos x="346" y="49"/>
                </a:cxn>
                <a:cxn ang="0">
                  <a:pos x="332" y="53"/>
                </a:cxn>
                <a:cxn ang="0">
                  <a:pos x="319" y="43"/>
                </a:cxn>
                <a:cxn ang="0">
                  <a:pos x="305" y="22"/>
                </a:cxn>
                <a:cxn ang="0">
                  <a:pos x="290" y="16"/>
                </a:cxn>
                <a:cxn ang="0">
                  <a:pos x="274" y="4"/>
                </a:cxn>
                <a:cxn ang="0">
                  <a:pos x="259" y="16"/>
                </a:cxn>
                <a:cxn ang="0">
                  <a:pos x="244" y="22"/>
                </a:cxn>
                <a:cxn ang="0">
                  <a:pos x="230" y="22"/>
                </a:cxn>
                <a:cxn ang="0">
                  <a:pos x="215" y="16"/>
                </a:cxn>
                <a:cxn ang="0">
                  <a:pos x="201" y="4"/>
                </a:cxn>
                <a:cxn ang="0">
                  <a:pos x="186" y="4"/>
                </a:cxn>
                <a:cxn ang="0">
                  <a:pos x="172" y="16"/>
                </a:cxn>
                <a:cxn ang="0">
                  <a:pos x="157" y="22"/>
                </a:cxn>
                <a:cxn ang="0">
                  <a:pos x="140" y="4"/>
                </a:cxn>
                <a:cxn ang="0">
                  <a:pos x="126" y="0"/>
                </a:cxn>
                <a:cxn ang="0">
                  <a:pos x="111" y="0"/>
                </a:cxn>
                <a:cxn ang="0">
                  <a:pos x="92" y="9"/>
                </a:cxn>
                <a:cxn ang="0">
                  <a:pos x="77" y="43"/>
                </a:cxn>
                <a:cxn ang="0">
                  <a:pos x="67" y="53"/>
                </a:cxn>
                <a:cxn ang="0">
                  <a:pos x="62" y="41"/>
                </a:cxn>
              </a:cxnLst>
              <a:rect l="0" t="0" r="0" b="0"/>
              <a:pathLst>
                <a:path w="1453" h="374">
                  <a:moveTo>
                    <a:pt x="319" y="12"/>
                  </a:moveTo>
                  <a:lnTo>
                    <a:pt x="285" y="7"/>
                  </a:lnTo>
                  <a:lnTo>
                    <a:pt x="260" y="7"/>
                  </a:lnTo>
                  <a:lnTo>
                    <a:pt x="234" y="15"/>
                  </a:lnTo>
                  <a:lnTo>
                    <a:pt x="209" y="37"/>
                  </a:lnTo>
                  <a:lnTo>
                    <a:pt x="184" y="52"/>
                  </a:lnTo>
                  <a:lnTo>
                    <a:pt x="159" y="67"/>
                  </a:lnTo>
                  <a:lnTo>
                    <a:pt x="133" y="82"/>
                  </a:lnTo>
                  <a:lnTo>
                    <a:pt x="109" y="89"/>
                  </a:lnTo>
                  <a:lnTo>
                    <a:pt x="83" y="89"/>
                  </a:lnTo>
                  <a:lnTo>
                    <a:pt x="58" y="89"/>
                  </a:lnTo>
                  <a:lnTo>
                    <a:pt x="34" y="104"/>
                  </a:lnTo>
                  <a:lnTo>
                    <a:pt x="8" y="119"/>
                  </a:lnTo>
                  <a:lnTo>
                    <a:pt x="0" y="141"/>
                  </a:lnTo>
                  <a:lnTo>
                    <a:pt x="0" y="164"/>
                  </a:lnTo>
                  <a:lnTo>
                    <a:pt x="0" y="186"/>
                  </a:lnTo>
                  <a:lnTo>
                    <a:pt x="8" y="208"/>
                  </a:lnTo>
                  <a:lnTo>
                    <a:pt x="17" y="231"/>
                  </a:lnTo>
                  <a:lnTo>
                    <a:pt x="42" y="231"/>
                  </a:lnTo>
                  <a:lnTo>
                    <a:pt x="66" y="238"/>
                  </a:lnTo>
                  <a:lnTo>
                    <a:pt x="92" y="238"/>
                  </a:lnTo>
                  <a:lnTo>
                    <a:pt x="117" y="223"/>
                  </a:lnTo>
                  <a:lnTo>
                    <a:pt x="142" y="216"/>
                  </a:lnTo>
                  <a:lnTo>
                    <a:pt x="159" y="238"/>
                  </a:lnTo>
                  <a:lnTo>
                    <a:pt x="176" y="261"/>
                  </a:lnTo>
                  <a:lnTo>
                    <a:pt x="201" y="283"/>
                  </a:lnTo>
                  <a:lnTo>
                    <a:pt x="226" y="298"/>
                  </a:lnTo>
                  <a:lnTo>
                    <a:pt x="251" y="313"/>
                  </a:lnTo>
                  <a:lnTo>
                    <a:pt x="285" y="321"/>
                  </a:lnTo>
                  <a:lnTo>
                    <a:pt x="310" y="313"/>
                  </a:lnTo>
                  <a:lnTo>
                    <a:pt x="335" y="305"/>
                  </a:lnTo>
                  <a:lnTo>
                    <a:pt x="361" y="305"/>
                  </a:lnTo>
                  <a:lnTo>
                    <a:pt x="385" y="313"/>
                  </a:lnTo>
                  <a:lnTo>
                    <a:pt x="411" y="328"/>
                  </a:lnTo>
                  <a:lnTo>
                    <a:pt x="436" y="335"/>
                  </a:lnTo>
                  <a:lnTo>
                    <a:pt x="461" y="357"/>
                  </a:lnTo>
                  <a:lnTo>
                    <a:pt x="486" y="365"/>
                  </a:lnTo>
                  <a:lnTo>
                    <a:pt x="536" y="365"/>
                  </a:lnTo>
                  <a:lnTo>
                    <a:pt x="587" y="365"/>
                  </a:lnTo>
                  <a:lnTo>
                    <a:pt x="654" y="365"/>
                  </a:lnTo>
                  <a:lnTo>
                    <a:pt x="680" y="365"/>
                  </a:lnTo>
                  <a:lnTo>
                    <a:pt x="704" y="357"/>
                  </a:lnTo>
                  <a:lnTo>
                    <a:pt x="730" y="357"/>
                  </a:lnTo>
                  <a:lnTo>
                    <a:pt x="755" y="350"/>
                  </a:lnTo>
                  <a:lnTo>
                    <a:pt x="780" y="342"/>
                  </a:lnTo>
                  <a:lnTo>
                    <a:pt x="805" y="335"/>
                  </a:lnTo>
                  <a:lnTo>
                    <a:pt x="831" y="328"/>
                  </a:lnTo>
                  <a:lnTo>
                    <a:pt x="855" y="328"/>
                  </a:lnTo>
                  <a:lnTo>
                    <a:pt x="881" y="335"/>
                  </a:lnTo>
                  <a:lnTo>
                    <a:pt x="906" y="335"/>
                  </a:lnTo>
                  <a:lnTo>
                    <a:pt x="931" y="342"/>
                  </a:lnTo>
                  <a:lnTo>
                    <a:pt x="956" y="350"/>
                  </a:lnTo>
                  <a:lnTo>
                    <a:pt x="990" y="365"/>
                  </a:lnTo>
                  <a:lnTo>
                    <a:pt x="1040" y="365"/>
                  </a:lnTo>
                  <a:lnTo>
                    <a:pt x="1107" y="373"/>
                  </a:lnTo>
                  <a:lnTo>
                    <a:pt x="1133" y="365"/>
                  </a:lnTo>
                  <a:lnTo>
                    <a:pt x="1183" y="365"/>
                  </a:lnTo>
                  <a:lnTo>
                    <a:pt x="1217" y="357"/>
                  </a:lnTo>
                  <a:lnTo>
                    <a:pt x="1241" y="335"/>
                  </a:lnTo>
                  <a:lnTo>
                    <a:pt x="1267" y="328"/>
                  </a:lnTo>
                  <a:lnTo>
                    <a:pt x="1301" y="313"/>
                  </a:lnTo>
                  <a:lnTo>
                    <a:pt x="1325" y="298"/>
                  </a:lnTo>
                  <a:lnTo>
                    <a:pt x="1351" y="290"/>
                  </a:lnTo>
                  <a:lnTo>
                    <a:pt x="1376" y="283"/>
                  </a:lnTo>
                  <a:lnTo>
                    <a:pt x="1400" y="275"/>
                  </a:lnTo>
                  <a:lnTo>
                    <a:pt x="1426" y="275"/>
                  </a:lnTo>
                  <a:lnTo>
                    <a:pt x="1452" y="275"/>
                  </a:lnTo>
                  <a:lnTo>
                    <a:pt x="1443" y="254"/>
                  </a:lnTo>
                  <a:lnTo>
                    <a:pt x="1426" y="231"/>
                  </a:lnTo>
                  <a:lnTo>
                    <a:pt x="1417" y="208"/>
                  </a:lnTo>
                  <a:lnTo>
                    <a:pt x="1426" y="186"/>
                  </a:lnTo>
                  <a:lnTo>
                    <a:pt x="1443" y="164"/>
                  </a:lnTo>
                  <a:lnTo>
                    <a:pt x="1452" y="141"/>
                  </a:lnTo>
                  <a:lnTo>
                    <a:pt x="1443" y="119"/>
                  </a:lnTo>
                  <a:lnTo>
                    <a:pt x="1426" y="97"/>
                  </a:lnTo>
                  <a:lnTo>
                    <a:pt x="1400" y="82"/>
                  </a:lnTo>
                  <a:lnTo>
                    <a:pt x="1376" y="82"/>
                  </a:lnTo>
                  <a:lnTo>
                    <a:pt x="1351" y="82"/>
                  </a:lnTo>
                  <a:lnTo>
                    <a:pt x="1325" y="82"/>
                  </a:lnTo>
                  <a:lnTo>
                    <a:pt x="1301" y="82"/>
                  </a:lnTo>
                  <a:lnTo>
                    <a:pt x="1275" y="82"/>
                  </a:lnTo>
                  <a:lnTo>
                    <a:pt x="1250" y="74"/>
                  </a:lnTo>
                  <a:lnTo>
                    <a:pt x="1225" y="67"/>
                  </a:lnTo>
                  <a:lnTo>
                    <a:pt x="1200" y="67"/>
                  </a:lnTo>
                  <a:lnTo>
                    <a:pt x="1174" y="67"/>
                  </a:lnTo>
                  <a:lnTo>
                    <a:pt x="1150" y="74"/>
                  </a:lnTo>
                  <a:lnTo>
                    <a:pt x="1124" y="82"/>
                  </a:lnTo>
                  <a:lnTo>
                    <a:pt x="1107" y="59"/>
                  </a:lnTo>
                  <a:lnTo>
                    <a:pt x="1082" y="45"/>
                  </a:lnTo>
                  <a:lnTo>
                    <a:pt x="1057" y="30"/>
                  </a:lnTo>
                  <a:lnTo>
                    <a:pt x="1032" y="30"/>
                  </a:lnTo>
                  <a:lnTo>
                    <a:pt x="1006" y="22"/>
                  </a:lnTo>
                  <a:lnTo>
                    <a:pt x="973" y="15"/>
                  </a:lnTo>
                  <a:lnTo>
                    <a:pt x="948" y="7"/>
                  </a:lnTo>
                  <a:lnTo>
                    <a:pt x="922" y="7"/>
                  </a:lnTo>
                  <a:lnTo>
                    <a:pt x="898" y="22"/>
                  </a:lnTo>
                  <a:lnTo>
                    <a:pt x="872" y="30"/>
                  </a:lnTo>
                  <a:lnTo>
                    <a:pt x="847" y="30"/>
                  </a:lnTo>
                  <a:lnTo>
                    <a:pt x="822" y="30"/>
                  </a:lnTo>
                  <a:lnTo>
                    <a:pt x="797" y="30"/>
                  </a:lnTo>
                  <a:lnTo>
                    <a:pt x="771" y="30"/>
                  </a:lnTo>
                  <a:lnTo>
                    <a:pt x="747" y="22"/>
                  </a:lnTo>
                  <a:lnTo>
                    <a:pt x="721" y="15"/>
                  </a:lnTo>
                  <a:lnTo>
                    <a:pt x="696" y="7"/>
                  </a:lnTo>
                  <a:lnTo>
                    <a:pt x="671" y="7"/>
                  </a:lnTo>
                  <a:lnTo>
                    <a:pt x="646" y="7"/>
                  </a:lnTo>
                  <a:lnTo>
                    <a:pt x="620" y="7"/>
                  </a:lnTo>
                  <a:lnTo>
                    <a:pt x="596" y="22"/>
                  </a:lnTo>
                  <a:lnTo>
                    <a:pt x="570" y="30"/>
                  </a:lnTo>
                  <a:lnTo>
                    <a:pt x="545" y="30"/>
                  </a:lnTo>
                  <a:lnTo>
                    <a:pt x="520" y="22"/>
                  </a:lnTo>
                  <a:lnTo>
                    <a:pt x="486" y="7"/>
                  </a:lnTo>
                  <a:lnTo>
                    <a:pt x="461" y="7"/>
                  </a:lnTo>
                  <a:lnTo>
                    <a:pt x="436" y="0"/>
                  </a:lnTo>
                  <a:lnTo>
                    <a:pt x="411" y="0"/>
                  </a:lnTo>
                  <a:lnTo>
                    <a:pt x="385" y="0"/>
                  </a:lnTo>
                  <a:lnTo>
                    <a:pt x="361" y="7"/>
                  </a:lnTo>
                  <a:lnTo>
                    <a:pt x="319" y="12"/>
                  </a:lnTo>
                  <a:lnTo>
                    <a:pt x="293" y="45"/>
                  </a:lnTo>
                  <a:lnTo>
                    <a:pt x="268" y="59"/>
                  </a:lnTo>
                  <a:lnTo>
                    <a:pt x="260" y="82"/>
                  </a:lnTo>
                  <a:lnTo>
                    <a:pt x="234" y="74"/>
                  </a:lnTo>
                  <a:lnTo>
                    <a:pt x="209" y="67"/>
                  </a:lnTo>
                  <a:lnTo>
                    <a:pt x="217" y="57"/>
                  </a:lnTo>
                </a:path>
              </a:pathLst>
            </a:custGeom>
            <a:gradFill rotWithShape="0">
              <a:gsLst>
                <a:gs pos="0">
                  <a:srgbClr val="F5EACB"/>
                </a:gs>
                <a:gs pos="100000">
                  <a:srgbClr val="CC9900"/>
                </a:gs>
              </a:gsLst>
              <a:lin ang="5400000" scaled="1"/>
              <a:tileRect/>
            </a:gradFill>
            <a:ln w="12700" cap="rnd" cmpd="sng">
              <a:solidFill>
                <a:srgbClr val="99663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31749" name="Group 1029"/>
            <p:cNvGrpSpPr/>
            <p:nvPr/>
          </p:nvGrpSpPr>
          <p:grpSpPr>
            <a:xfrm>
              <a:off x="4800" y="3198"/>
              <a:ext cx="864" cy="1008"/>
              <a:chOff x="0" y="3182"/>
              <a:chExt cx="808" cy="998"/>
            </a:xfrm>
          </p:grpSpPr>
          <p:grpSp>
            <p:nvGrpSpPr>
              <p:cNvPr id="31750" name="Group 1030"/>
              <p:cNvGrpSpPr/>
              <p:nvPr/>
            </p:nvGrpSpPr>
            <p:grpSpPr>
              <a:xfrm>
                <a:off x="0" y="3182"/>
                <a:ext cx="506" cy="927"/>
                <a:chOff x="1685" y="1023"/>
                <a:chExt cx="506" cy="927"/>
              </a:xfrm>
            </p:grpSpPr>
            <p:sp>
              <p:nvSpPr>
                <p:cNvPr id="31751" name="Freeform 1031"/>
                <p:cNvSpPr/>
                <p:nvPr/>
              </p:nvSpPr>
              <p:spPr>
                <a:xfrm>
                  <a:off x="1733" y="1329"/>
                  <a:ext cx="76" cy="621"/>
                </a:xfrm>
                <a:custGeom>
                  <a:avLst/>
                  <a:gdLst/>
                  <a:ahLst/>
                  <a:cxnLst>
                    <a:cxn ang="0">
                      <a:pos x="0" y="54"/>
                    </a:cxn>
                    <a:cxn ang="0">
                      <a:pos x="11" y="269"/>
                    </a:cxn>
                    <a:cxn ang="0">
                      <a:pos x="22" y="442"/>
                    </a:cxn>
                    <a:cxn ang="0">
                      <a:pos x="30" y="570"/>
                    </a:cxn>
                    <a:cxn ang="0">
                      <a:pos x="28" y="620"/>
                    </a:cxn>
                    <a:cxn ang="0">
                      <a:pos x="44" y="620"/>
                    </a:cxn>
                    <a:cxn ang="0">
                      <a:pos x="49" y="546"/>
                    </a:cxn>
                    <a:cxn ang="0">
                      <a:pos x="52" y="434"/>
                    </a:cxn>
                    <a:cxn ang="0">
                      <a:pos x="58" y="329"/>
                    </a:cxn>
                    <a:cxn ang="0">
                      <a:pos x="61" y="250"/>
                    </a:cxn>
                    <a:cxn ang="0">
                      <a:pos x="67" y="135"/>
                    </a:cxn>
                    <a:cxn ang="0">
                      <a:pos x="75" y="36"/>
                    </a:cxn>
                    <a:cxn ang="0">
                      <a:pos x="70" y="11"/>
                    </a:cxn>
                    <a:cxn ang="0">
                      <a:pos x="62" y="0"/>
                    </a:cxn>
                    <a:cxn ang="0">
                      <a:pos x="53" y="121"/>
                    </a:cxn>
                    <a:cxn ang="0">
                      <a:pos x="45" y="224"/>
                    </a:cxn>
                    <a:cxn ang="0">
                      <a:pos x="43" y="305"/>
                    </a:cxn>
                    <a:cxn ang="0">
                      <a:pos x="40" y="390"/>
                    </a:cxn>
                    <a:cxn ang="0">
                      <a:pos x="34" y="475"/>
                    </a:cxn>
                    <a:cxn ang="0">
                      <a:pos x="25" y="327"/>
                    </a:cxn>
                    <a:cxn ang="0">
                      <a:pos x="15" y="187"/>
                    </a:cxn>
                    <a:cxn ang="0">
                      <a:pos x="0" y="54"/>
                    </a:cxn>
                  </a:cxnLst>
                  <a:rect l="0" t="0" r="0" b="0"/>
                  <a:pathLst>
                    <a:path w="76" h="621">
                      <a:moveTo>
                        <a:pt x="0" y="54"/>
                      </a:moveTo>
                      <a:lnTo>
                        <a:pt x="11" y="269"/>
                      </a:lnTo>
                      <a:lnTo>
                        <a:pt x="22" y="442"/>
                      </a:lnTo>
                      <a:lnTo>
                        <a:pt x="30" y="570"/>
                      </a:lnTo>
                      <a:lnTo>
                        <a:pt x="28" y="620"/>
                      </a:lnTo>
                      <a:lnTo>
                        <a:pt x="44" y="620"/>
                      </a:lnTo>
                      <a:lnTo>
                        <a:pt x="49" y="546"/>
                      </a:lnTo>
                      <a:lnTo>
                        <a:pt x="52" y="434"/>
                      </a:lnTo>
                      <a:lnTo>
                        <a:pt x="58" y="329"/>
                      </a:lnTo>
                      <a:lnTo>
                        <a:pt x="61" y="250"/>
                      </a:lnTo>
                      <a:lnTo>
                        <a:pt x="67" y="135"/>
                      </a:lnTo>
                      <a:lnTo>
                        <a:pt x="75" y="36"/>
                      </a:lnTo>
                      <a:lnTo>
                        <a:pt x="70" y="11"/>
                      </a:lnTo>
                      <a:lnTo>
                        <a:pt x="62" y="0"/>
                      </a:lnTo>
                      <a:lnTo>
                        <a:pt x="53" y="121"/>
                      </a:lnTo>
                      <a:lnTo>
                        <a:pt x="45" y="224"/>
                      </a:lnTo>
                      <a:lnTo>
                        <a:pt x="43" y="305"/>
                      </a:lnTo>
                      <a:lnTo>
                        <a:pt x="40" y="390"/>
                      </a:lnTo>
                      <a:lnTo>
                        <a:pt x="34" y="475"/>
                      </a:lnTo>
                      <a:lnTo>
                        <a:pt x="25" y="327"/>
                      </a:lnTo>
                      <a:lnTo>
                        <a:pt x="15" y="187"/>
                      </a:lnTo>
                      <a:lnTo>
                        <a:pt x="0" y="54"/>
                      </a:lnTo>
                    </a:path>
                  </a:pathLst>
                </a:custGeom>
                <a:solidFill>
                  <a:srgbClr val="3C0023">
                    <a:alpha val="50195"/>
                  </a:srgb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52" name="Freeform 1032"/>
                <p:cNvSpPr/>
                <p:nvPr/>
              </p:nvSpPr>
              <p:spPr>
                <a:xfrm>
                  <a:off x="1790" y="1583"/>
                  <a:ext cx="120" cy="349"/>
                </a:xfrm>
                <a:custGeom>
                  <a:avLst/>
                  <a:gdLst/>
                  <a:ahLst/>
                  <a:cxnLst>
                    <a:cxn ang="0">
                      <a:pos x="0" y="161"/>
                    </a:cxn>
                    <a:cxn ang="0">
                      <a:pos x="10" y="232"/>
                    </a:cxn>
                    <a:cxn ang="0">
                      <a:pos x="20" y="289"/>
                    </a:cxn>
                    <a:cxn ang="0">
                      <a:pos x="26" y="331"/>
                    </a:cxn>
                    <a:cxn ang="0">
                      <a:pos x="25" y="348"/>
                    </a:cxn>
                    <a:cxn ang="0">
                      <a:pos x="39" y="348"/>
                    </a:cxn>
                    <a:cxn ang="0">
                      <a:pos x="43" y="323"/>
                    </a:cxn>
                    <a:cxn ang="0">
                      <a:pos x="45" y="286"/>
                    </a:cxn>
                    <a:cxn ang="0">
                      <a:pos x="51" y="252"/>
                    </a:cxn>
                    <a:cxn ang="0">
                      <a:pos x="54" y="226"/>
                    </a:cxn>
                    <a:cxn ang="0">
                      <a:pos x="59" y="188"/>
                    </a:cxn>
                    <a:cxn ang="0">
                      <a:pos x="66" y="156"/>
                    </a:cxn>
                    <a:cxn ang="0">
                      <a:pos x="71" y="127"/>
                    </a:cxn>
                    <a:cxn ang="0">
                      <a:pos x="77" y="96"/>
                    </a:cxn>
                    <a:cxn ang="0">
                      <a:pos x="86" y="66"/>
                    </a:cxn>
                    <a:cxn ang="0">
                      <a:pos x="96" y="40"/>
                    </a:cxn>
                    <a:cxn ang="0">
                      <a:pos x="113" y="15"/>
                    </a:cxn>
                    <a:cxn ang="0">
                      <a:pos x="119" y="5"/>
                    </a:cxn>
                    <a:cxn ang="0">
                      <a:pos x="112" y="0"/>
                    </a:cxn>
                    <a:cxn ang="0">
                      <a:pos x="101" y="10"/>
                    </a:cxn>
                    <a:cxn ang="0">
                      <a:pos x="86" y="33"/>
                    </a:cxn>
                    <a:cxn ang="0">
                      <a:pos x="75" y="57"/>
                    </a:cxn>
                    <a:cxn ang="0">
                      <a:pos x="66" y="81"/>
                    </a:cxn>
                    <a:cxn ang="0">
                      <a:pos x="60" y="113"/>
                    </a:cxn>
                    <a:cxn ang="0">
                      <a:pos x="55" y="144"/>
                    </a:cxn>
                    <a:cxn ang="0">
                      <a:pos x="47" y="184"/>
                    </a:cxn>
                    <a:cxn ang="0">
                      <a:pos x="40" y="217"/>
                    </a:cxn>
                    <a:cxn ang="0">
                      <a:pos x="37" y="244"/>
                    </a:cxn>
                    <a:cxn ang="0">
                      <a:pos x="36" y="272"/>
                    </a:cxn>
                    <a:cxn ang="0">
                      <a:pos x="30" y="300"/>
                    </a:cxn>
                    <a:cxn ang="0">
                      <a:pos x="22" y="251"/>
                    </a:cxn>
                    <a:cxn ang="0">
                      <a:pos x="13" y="205"/>
                    </a:cxn>
                    <a:cxn ang="0">
                      <a:pos x="0" y="161"/>
                    </a:cxn>
                  </a:cxnLst>
                  <a:rect l="0" t="0" r="0" b="0"/>
                  <a:pathLst>
                    <a:path w="120" h="349">
                      <a:moveTo>
                        <a:pt x="0" y="161"/>
                      </a:moveTo>
                      <a:lnTo>
                        <a:pt x="10" y="232"/>
                      </a:lnTo>
                      <a:lnTo>
                        <a:pt x="20" y="289"/>
                      </a:lnTo>
                      <a:lnTo>
                        <a:pt x="26" y="331"/>
                      </a:lnTo>
                      <a:lnTo>
                        <a:pt x="25" y="348"/>
                      </a:lnTo>
                      <a:lnTo>
                        <a:pt x="39" y="348"/>
                      </a:lnTo>
                      <a:lnTo>
                        <a:pt x="43" y="323"/>
                      </a:lnTo>
                      <a:lnTo>
                        <a:pt x="45" y="286"/>
                      </a:lnTo>
                      <a:lnTo>
                        <a:pt x="51" y="252"/>
                      </a:lnTo>
                      <a:lnTo>
                        <a:pt x="54" y="226"/>
                      </a:lnTo>
                      <a:lnTo>
                        <a:pt x="59" y="188"/>
                      </a:lnTo>
                      <a:lnTo>
                        <a:pt x="66" y="156"/>
                      </a:lnTo>
                      <a:lnTo>
                        <a:pt x="71" y="127"/>
                      </a:lnTo>
                      <a:lnTo>
                        <a:pt x="77" y="96"/>
                      </a:lnTo>
                      <a:lnTo>
                        <a:pt x="86" y="66"/>
                      </a:lnTo>
                      <a:lnTo>
                        <a:pt x="96" y="40"/>
                      </a:lnTo>
                      <a:lnTo>
                        <a:pt x="113" y="15"/>
                      </a:lnTo>
                      <a:lnTo>
                        <a:pt x="119" y="5"/>
                      </a:lnTo>
                      <a:lnTo>
                        <a:pt x="112" y="0"/>
                      </a:lnTo>
                      <a:lnTo>
                        <a:pt x="101" y="10"/>
                      </a:lnTo>
                      <a:lnTo>
                        <a:pt x="86" y="33"/>
                      </a:lnTo>
                      <a:lnTo>
                        <a:pt x="75" y="57"/>
                      </a:lnTo>
                      <a:lnTo>
                        <a:pt x="66" y="81"/>
                      </a:lnTo>
                      <a:lnTo>
                        <a:pt x="60" y="113"/>
                      </a:lnTo>
                      <a:lnTo>
                        <a:pt x="55" y="144"/>
                      </a:lnTo>
                      <a:lnTo>
                        <a:pt x="47" y="184"/>
                      </a:lnTo>
                      <a:lnTo>
                        <a:pt x="40" y="217"/>
                      </a:lnTo>
                      <a:lnTo>
                        <a:pt x="37" y="244"/>
                      </a:lnTo>
                      <a:lnTo>
                        <a:pt x="36" y="272"/>
                      </a:lnTo>
                      <a:lnTo>
                        <a:pt x="30" y="300"/>
                      </a:lnTo>
                      <a:lnTo>
                        <a:pt x="22" y="251"/>
                      </a:lnTo>
                      <a:lnTo>
                        <a:pt x="13" y="205"/>
                      </a:lnTo>
                      <a:lnTo>
                        <a:pt x="0" y="161"/>
                      </a:lnTo>
                    </a:path>
                  </a:pathLst>
                </a:custGeom>
                <a:solidFill>
                  <a:srgbClr val="3C0023">
                    <a:alpha val="50195"/>
                  </a:srgb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53" name="Freeform 1033"/>
                <p:cNvSpPr/>
                <p:nvPr/>
              </p:nvSpPr>
              <p:spPr>
                <a:xfrm>
                  <a:off x="1685" y="1239"/>
                  <a:ext cx="266" cy="391"/>
                </a:xfrm>
                <a:custGeom>
                  <a:avLst/>
                  <a:gdLst/>
                  <a:ahLst/>
                  <a:cxnLst>
                    <a:cxn ang="0">
                      <a:pos x="107" y="123"/>
                    </a:cxn>
                    <a:cxn ang="0">
                      <a:pos x="116" y="135"/>
                    </a:cxn>
                    <a:cxn ang="0">
                      <a:pos x="163" y="114"/>
                    </a:cxn>
                    <a:cxn ang="0">
                      <a:pos x="211" y="81"/>
                    </a:cxn>
                    <a:cxn ang="0">
                      <a:pos x="233" y="46"/>
                    </a:cxn>
                    <a:cxn ang="0">
                      <a:pos x="220" y="76"/>
                    </a:cxn>
                    <a:cxn ang="0">
                      <a:pos x="183" y="109"/>
                    </a:cxn>
                    <a:cxn ang="0">
                      <a:pos x="142" y="138"/>
                    </a:cxn>
                    <a:cxn ang="0">
                      <a:pos x="102" y="159"/>
                    </a:cxn>
                    <a:cxn ang="0">
                      <a:pos x="119" y="178"/>
                    </a:cxn>
                    <a:cxn ang="0">
                      <a:pos x="155" y="180"/>
                    </a:cxn>
                    <a:cxn ang="0">
                      <a:pos x="202" y="187"/>
                    </a:cxn>
                    <a:cxn ang="0">
                      <a:pos x="239" y="204"/>
                    </a:cxn>
                    <a:cxn ang="0">
                      <a:pos x="251" y="215"/>
                    </a:cxn>
                    <a:cxn ang="0">
                      <a:pos x="213" y="204"/>
                    </a:cxn>
                    <a:cxn ang="0">
                      <a:pos x="162" y="198"/>
                    </a:cxn>
                    <a:cxn ang="0">
                      <a:pos x="114" y="195"/>
                    </a:cxn>
                    <a:cxn ang="0">
                      <a:pos x="88" y="203"/>
                    </a:cxn>
                    <a:cxn ang="0">
                      <a:pos x="93" y="248"/>
                    </a:cxn>
                    <a:cxn ang="0">
                      <a:pos x="93" y="307"/>
                    </a:cxn>
                    <a:cxn ang="0">
                      <a:pos x="77" y="354"/>
                    </a:cxn>
                    <a:cxn ang="0">
                      <a:pos x="46" y="390"/>
                    </a:cxn>
                    <a:cxn ang="0">
                      <a:pos x="50" y="346"/>
                    </a:cxn>
                    <a:cxn ang="0">
                      <a:pos x="61" y="299"/>
                    </a:cxn>
                    <a:cxn ang="0">
                      <a:pos x="67" y="238"/>
                    </a:cxn>
                    <a:cxn ang="0">
                      <a:pos x="64" y="198"/>
                    </a:cxn>
                    <a:cxn ang="0">
                      <a:pos x="48" y="221"/>
                    </a:cxn>
                    <a:cxn ang="0">
                      <a:pos x="39" y="273"/>
                    </a:cxn>
                    <a:cxn ang="0">
                      <a:pos x="32" y="325"/>
                    </a:cxn>
                    <a:cxn ang="0">
                      <a:pos x="10" y="364"/>
                    </a:cxn>
                    <a:cxn ang="0">
                      <a:pos x="2" y="364"/>
                    </a:cxn>
                    <a:cxn ang="0">
                      <a:pos x="2" y="324"/>
                    </a:cxn>
                    <a:cxn ang="0">
                      <a:pos x="17" y="287"/>
                    </a:cxn>
                    <a:cxn ang="0">
                      <a:pos x="34" y="239"/>
                    </a:cxn>
                    <a:cxn ang="0">
                      <a:pos x="42" y="204"/>
                    </a:cxn>
                    <a:cxn ang="0">
                      <a:pos x="26" y="182"/>
                    </a:cxn>
                    <a:cxn ang="0">
                      <a:pos x="2" y="184"/>
                    </a:cxn>
                    <a:cxn ang="0">
                      <a:pos x="2" y="184"/>
                    </a:cxn>
                    <a:cxn ang="0">
                      <a:pos x="2" y="184"/>
                    </a:cxn>
                    <a:cxn ang="0">
                      <a:pos x="2" y="184"/>
                    </a:cxn>
                    <a:cxn ang="0">
                      <a:pos x="2" y="184"/>
                    </a:cxn>
                    <a:cxn ang="0">
                      <a:pos x="2" y="184"/>
                    </a:cxn>
                    <a:cxn ang="0">
                      <a:pos x="13" y="161"/>
                    </a:cxn>
                    <a:cxn ang="0">
                      <a:pos x="13" y="138"/>
                    </a:cxn>
                    <a:cxn ang="0">
                      <a:pos x="2" y="105"/>
                    </a:cxn>
                    <a:cxn ang="0">
                      <a:pos x="2" y="105"/>
                    </a:cxn>
                    <a:cxn ang="0">
                      <a:pos x="2" y="105"/>
                    </a:cxn>
                    <a:cxn ang="0">
                      <a:pos x="2" y="105"/>
                    </a:cxn>
                    <a:cxn ang="0">
                      <a:pos x="24" y="122"/>
                    </a:cxn>
                    <a:cxn ang="0">
                      <a:pos x="53" y="157"/>
                    </a:cxn>
                    <a:cxn ang="0">
                      <a:pos x="55" y="130"/>
                    </a:cxn>
                    <a:cxn ang="0">
                      <a:pos x="24" y="91"/>
                    </a:cxn>
                    <a:cxn ang="0">
                      <a:pos x="2" y="65"/>
                    </a:cxn>
                    <a:cxn ang="0">
                      <a:pos x="2" y="65"/>
                    </a:cxn>
                    <a:cxn ang="0">
                      <a:pos x="2" y="48"/>
                    </a:cxn>
                    <a:cxn ang="0">
                      <a:pos x="30" y="87"/>
                    </a:cxn>
                    <a:cxn ang="0">
                      <a:pos x="61" y="138"/>
                    </a:cxn>
                    <a:cxn ang="0">
                      <a:pos x="80" y="127"/>
                    </a:cxn>
                    <a:cxn ang="0">
                      <a:pos x="106" y="87"/>
                    </a:cxn>
                    <a:cxn ang="0">
                      <a:pos x="139" y="39"/>
                    </a:cxn>
                    <a:cxn ang="0">
                      <a:pos x="165" y="6"/>
                    </a:cxn>
                    <a:cxn ang="0">
                      <a:pos x="163" y="29"/>
                    </a:cxn>
                    <a:cxn ang="0">
                      <a:pos x="137" y="76"/>
                    </a:cxn>
                  </a:cxnLst>
                  <a:rect l="0" t="0" r="0" b="0"/>
                  <a:pathLst>
                    <a:path w="266" h="391">
                      <a:moveTo>
                        <a:pt x="124" y="95"/>
                      </a:moveTo>
                      <a:lnTo>
                        <a:pt x="119" y="101"/>
                      </a:lnTo>
                      <a:lnTo>
                        <a:pt x="115" y="108"/>
                      </a:lnTo>
                      <a:lnTo>
                        <a:pt x="111" y="115"/>
                      </a:lnTo>
                      <a:lnTo>
                        <a:pt x="107" y="123"/>
                      </a:lnTo>
                      <a:lnTo>
                        <a:pt x="104" y="129"/>
                      </a:lnTo>
                      <a:lnTo>
                        <a:pt x="102" y="136"/>
                      </a:lnTo>
                      <a:lnTo>
                        <a:pt x="100" y="142"/>
                      </a:lnTo>
                      <a:lnTo>
                        <a:pt x="107" y="138"/>
                      </a:lnTo>
                      <a:lnTo>
                        <a:pt x="116" y="135"/>
                      </a:lnTo>
                      <a:lnTo>
                        <a:pt x="125" y="131"/>
                      </a:lnTo>
                      <a:lnTo>
                        <a:pt x="134" y="127"/>
                      </a:lnTo>
                      <a:lnTo>
                        <a:pt x="144" y="124"/>
                      </a:lnTo>
                      <a:lnTo>
                        <a:pt x="154" y="119"/>
                      </a:lnTo>
                      <a:lnTo>
                        <a:pt x="163" y="114"/>
                      </a:lnTo>
                      <a:lnTo>
                        <a:pt x="175" y="107"/>
                      </a:lnTo>
                      <a:lnTo>
                        <a:pt x="184" y="101"/>
                      </a:lnTo>
                      <a:lnTo>
                        <a:pt x="195" y="93"/>
                      </a:lnTo>
                      <a:lnTo>
                        <a:pt x="203" y="89"/>
                      </a:lnTo>
                      <a:lnTo>
                        <a:pt x="211" y="81"/>
                      </a:lnTo>
                      <a:lnTo>
                        <a:pt x="218" y="75"/>
                      </a:lnTo>
                      <a:lnTo>
                        <a:pt x="224" y="66"/>
                      </a:lnTo>
                      <a:lnTo>
                        <a:pt x="227" y="59"/>
                      </a:lnTo>
                      <a:lnTo>
                        <a:pt x="230" y="51"/>
                      </a:lnTo>
                      <a:lnTo>
                        <a:pt x="233" y="46"/>
                      </a:lnTo>
                      <a:lnTo>
                        <a:pt x="233" y="52"/>
                      </a:lnTo>
                      <a:lnTo>
                        <a:pt x="233" y="56"/>
                      </a:lnTo>
                      <a:lnTo>
                        <a:pt x="231" y="61"/>
                      </a:lnTo>
                      <a:lnTo>
                        <a:pt x="227" y="67"/>
                      </a:lnTo>
                      <a:lnTo>
                        <a:pt x="220" y="76"/>
                      </a:lnTo>
                      <a:lnTo>
                        <a:pt x="217" y="83"/>
                      </a:lnTo>
                      <a:lnTo>
                        <a:pt x="210" y="88"/>
                      </a:lnTo>
                      <a:lnTo>
                        <a:pt x="202" y="94"/>
                      </a:lnTo>
                      <a:lnTo>
                        <a:pt x="192" y="101"/>
                      </a:lnTo>
                      <a:lnTo>
                        <a:pt x="183" y="109"/>
                      </a:lnTo>
                      <a:lnTo>
                        <a:pt x="173" y="116"/>
                      </a:lnTo>
                      <a:lnTo>
                        <a:pt x="167" y="122"/>
                      </a:lnTo>
                      <a:lnTo>
                        <a:pt x="159" y="129"/>
                      </a:lnTo>
                      <a:lnTo>
                        <a:pt x="151" y="133"/>
                      </a:lnTo>
                      <a:lnTo>
                        <a:pt x="142" y="138"/>
                      </a:lnTo>
                      <a:lnTo>
                        <a:pt x="133" y="143"/>
                      </a:lnTo>
                      <a:lnTo>
                        <a:pt x="125" y="148"/>
                      </a:lnTo>
                      <a:lnTo>
                        <a:pt x="118" y="152"/>
                      </a:lnTo>
                      <a:lnTo>
                        <a:pt x="109" y="156"/>
                      </a:lnTo>
                      <a:lnTo>
                        <a:pt x="102" y="159"/>
                      </a:lnTo>
                      <a:lnTo>
                        <a:pt x="100" y="161"/>
                      </a:lnTo>
                      <a:lnTo>
                        <a:pt x="102" y="165"/>
                      </a:lnTo>
                      <a:lnTo>
                        <a:pt x="106" y="170"/>
                      </a:lnTo>
                      <a:lnTo>
                        <a:pt x="110" y="176"/>
                      </a:lnTo>
                      <a:lnTo>
                        <a:pt x="119" y="178"/>
                      </a:lnTo>
                      <a:lnTo>
                        <a:pt x="125" y="178"/>
                      </a:lnTo>
                      <a:lnTo>
                        <a:pt x="135" y="180"/>
                      </a:lnTo>
                      <a:lnTo>
                        <a:pt x="144" y="180"/>
                      </a:lnTo>
                      <a:lnTo>
                        <a:pt x="155" y="180"/>
                      </a:lnTo>
                      <a:lnTo>
                        <a:pt x="165" y="182"/>
                      </a:lnTo>
                      <a:lnTo>
                        <a:pt x="175" y="182"/>
                      </a:lnTo>
                      <a:lnTo>
                        <a:pt x="185" y="184"/>
                      </a:lnTo>
                      <a:lnTo>
                        <a:pt x="193" y="185"/>
                      </a:lnTo>
                      <a:lnTo>
                        <a:pt x="202" y="187"/>
                      </a:lnTo>
                      <a:lnTo>
                        <a:pt x="208" y="189"/>
                      </a:lnTo>
                      <a:lnTo>
                        <a:pt x="215" y="193"/>
                      </a:lnTo>
                      <a:lnTo>
                        <a:pt x="221" y="196"/>
                      </a:lnTo>
                      <a:lnTo>
                        <a:pt x="229" y="200"/>
                      </a:lnTo>
                      <a:lnTo>
                        <a:pt x="239" y="204"/>
                      </a:lnTo>
                      <a:lnTo>
                        <a:pt x="249" y="208"/>
                      </a:lnTo>
                      <a:lnTo>
                        <a:pt x="256" y="211"/>
                      </a:lnTo>
                      <a:lnTo>
                        <a:pt x="265" y="214"/>
                      </a:lnTo>
                      <a:lnTo>
                        <a:pt x="258" y="215"/>
                      </a:lnTo>
                      <a:lnTo>
                        <a:pt x="251" y="215"/>
                      </a:lnTo>
                      <a:lnTo>
                        <a:pt x="244" y="213"/>
                      </a:lnTo>
                      <a:lnTo>
                        <a:pt x="236" y="211"/>
                      </a:lnTo>
                      <a:lnTo>
                        <a:pt x="226" y="207"/>
                      </a:lnTo>
                      <a:lnTo>
                        <a:pt x="219" y="206"/>
                      </a:lnTo>
                      <a:lnTo>
                        <a:pt x="213" y="204"/>
                      </a:lnTo>
                      <a:lnTo>
                        <a:pt x="204" y="202"/>
                      </a:lnTo>
                      <a:lnTo>
                        <a:pt x="195" y="201"/>
                      </a:lnTo>
                      <a:lnTo>
                        <a:pt x="184" y="200"/>
                      </a:lnTo>
                      <a:lnTo>
                        <a:pt x="173" y="199"/>
                      </a:lnTo>
                      <a:lnTo>
                        <a:pt x="162" y="198"/>
                      </a:lnTo>
                      <a:lnTo>
                        <a:pt x="152" y="198"/>
                      </a:lnTo>
                      <a:lnTo>
                        <a:pt x="142" y="198"/>
                      </a:lnTo>
                      <a:lnTo>
                        <a:pt x="134" y="197"/>
                      </a:lnTo>
                      <a:lnTo>
                        <a:pt x="124" y="197"/>
                      </a:lnTo>
                      <a:lnTo>
                        <a:pt x="114" y="195"/>
                      </a:lnTo>
                      <a:lnTo>
                        <a:pt x="102" y="192"/>
                      </a:lnTo>
                      <a:lnTo>
                        <a:pt x="92" y="189"/>
                      </a:lnTo>
                      <a:lnTo>
                        <a:pt x="80" y="188"/>
                      </a:lnTo>
                      <a:lnTo>
                        <a:pt x="84" y="195"/>
                      </a:lnTo>
                      <a:lnTo>
                        <a:pt x="88" y="203"/>
                      </a:lnTo>
                      <a:lnTo>
                        <a:pt x="93" y="215"/>
                      </a:lnTo>
                      <a:lnTo>
                        <a:pt x="94" y="223"/>
                      </a:lnTo>
                      <a:lnTo>
                        <a:pt x="95" y="233"/>
                      </a:lnTo>
                      <a:lnTo>
                        <a:pt x="94" y="241"/>
                      </a:lnTo>
                      <a:lnTo>
                        <a:pt x="93" y="248"/>
                      </a:lnTo>
                      <a:lnTo>
                        <a:pt x="93" y="259"/>
                      </a:lnTo>
                      <a:lnTo>
                        <a:pt x="92" y="273"/>
                      </a:lnTo>
                      <a:lnTo>
                        <a:pt x="92" y="285"/>
                      </a:lnTo>
                      <a:lnTo>
                        <a:pt x="93" y="297"/>
                      </a:lnTo>
                      <a:lnTo>
                        <a:pt x="93" y="307"/>
                      </a:lnTo>
                      <a:lnTo>
                        <a:pt x="92" y="316"/>
                      </a:lnTo>
                      <a:lnTo>
                        <a:pt x="89" y="326"/>
                      </a:lnTo>
                      <a:lnTo>
                        <a:pt x="85" y="338"/>
                      </a:lnTo>
                      <a:lnTo>
                        <a:pt x="82" y="346"/>
                      </a:lnTo>
                      <a:lnTo>
                        <a:pt x="77" y="354"/>
                      </a:lnTo>
                      <a:lnTo>
                        <a:pt x="73" y="363"/>
                      </a:lnTo>
                      <a:lnTo>
                        <a:pt x="69" y="369"/>
                      </a:lnTo>
                      <a:lnTo>
                        <a:pt x="62" y="376"/>
                      </a:lnTo>
                      <a:lnTo>
                        <a:pt x="53" y="382"/>
                      </a:lnTo>
                      <a:lnTo>
                        <a:pt x="46" y="390"/>
                      </a:lnTo>
                      <a:lnTo>
                        <a:pt x="45" y="382"/>
                      </a:lnTo>
                      <a:lnTo>
                        <a:pt x="46" y="372"/>
                      </a:lnTo>
                      <a:lnTo>
                        <a:pt x="47" y="362"/>
                      </a:lnTo>
                      <a:lnTo>
                        <a:pt x="48" y="353"/>
                      </a:lnTo>
                      <a:lnTo>
                        <a:pt x="50" y="346"/>
                      </a:lnTo>
                      <a:lnTo>
                        <a:pt x="53" y="337"/>
                      </a:lnTo>
                      <a:lnTo>
                        <a:pt x="56" y="328"/>
                      </a:lnTo>
                      <a:lnTo>
                        <a:pt x="58" y="320"/>
                      </a:lnTo>
                      <a:lnTo>
                        <a:pt x="59" y="313"/>
                      </a:lnTo>
                      <a:lnTo>
                        <a:pt x="61" y="299"/>
                      </a:lnTo>
                      <a:lnTo>
                        <a:pt x="62" y="285"/>
                      </a:lnTo>
                      <a:lnTo>
                        <a:pt x="63" y="273"/>
                      </a:lnTo>
                      <a:lnTo>
                        <a:pt x="65" y="260"/>
                      </a:lnTo>
                      <a:lnTo>
                        <a:pt x="67" y="247"/>
                      </a:lnTo>
                      <a:lnTo>
                        <a:pt x="67" y="238"/>
                      </a:lnTo>
                      <a:lnTo>
                        <a:pt x="67" y="231"/>
                      </a:lnTo>
                      <a:lnTo>
                        <a:pt x="68" y="222"/>
                      </a:lnTo>
                      <a:lnTo>
                        <a:pt x="67" y="212"/>
                      </a:lnTo>
                      <a:lnTo>
                        <a:pt x="66" y="206"/>
                      </a:lnTo>
                      <a:lnTo>
                        <a:pt x="64" y="198"/>
                      </a:lnTo>
                      <a:lnTo>
                        <a:pt x="62" y="187"/>
                      </a:lnTo>
                      <a:lnTo>
                        <a:pt x="58" y="195"/>
                      </a:lnTo>
                      <a:lnTo>
                        <a:pt x="54" y="203"/>
                      </a:lnTo>
                      <a:lnTo>
                        <a:pt x="50" y="212"/>
                      </a:lnTo>
                      <a:lnTo>
                        <a:pt x="48" y="221"/>
                      </a:lnTo>
                      <a:lnTo>
                        <a:pt x="46" y="232"/>
                      </a:lnTo>
                      <a:lnTo>
                        <a:pt x="44" y="239"/>
                      </a:lnTo>
                      <a:lnTo>
                        <a:pt x="43" y="249"/>
                      </a:lnTo>
                      <a:lnTo>
                        <a:pt x="41" y="260"/>
                      </a:lnTo>
                      <a:lnTo>
                        <a:pt x="39" y="273"/>
                      </a:lnTo>
                      <a:lnTo>
                        <a:pt x="38" y="283"/>
                      </a:lnTo>
                      <a:lnTo>
                        <a:pt x="37" y="295"/>
                      </a:lnTo>
                      <a:lnTo>
                        <a:pt x="36" y="305"/>
                      </a:lnTo>
                      <a:lnTo>
                        <a:pt x="33" y="315"/>
                      </a:lnTo>
                      <a:lnTo>
                        <a:pt x="32" y="325"/>
                      </a:lnTo>
                      <a:lnTo>
                        <a:pt x="30" y="333"/>
                      </a:lnTo>
                      <a:lnTo>
                        <a:pt x="26" y="340"/>
                      </a:lnTo>
                      <a:lnTo>
                        <a:pt x="21" y="348"/>
                      </a:lnTo>
                      <a:lnTo>
                        <a:pt x="15" y="356"/>
                      </a:lnTo>
                      <a:lnTo>
                        <a:pt x="10" y="364"/>
                      </a:lnTo>
                      <a:lnTo>
                        <a:pt x="5" y="368"/>
                      </a:lnTo>
                      <a:lnTo>
                        <a:pt x="2" y="364"/>
                      </a:lnTo>
                      <a:lnTo>
                        <a:pt x="2" y="344"/>
                      </a:lnTo>
                      <a:lnTo>
                        <a:pt x="2" y="364"/>
                      </a:lnTo>
                      <a:lnTo>
                        <a:pt x="2" y="344"/>
                      </a:lnTo>
                      <a:lnTo>
                        <a:pt x="2" y="324"/>
                      </a:lnTo>
                      <a:lnTo>
                        <a:pt x="5" y="316"/>
                      </a:lnTo>
                      <a:lnTo>
                        <a:pt x="9" y="306"/>
                      </a:lnTo>
                      <a:lnTo>
                        <a:pt x="13" y="297"/>
                      </a:lnTo>
                      <a:lnTo>
                        <a:pt x="17" y="287"/>
                      </a:lnTo>
                      <a:lnTo>
                        <a:pt x="21" y="278"/>
                      </a:lnTo>
                      <a:lnTo>
                        <a:pt x="25" y="268"/>
                      </a:lnTo>
                      <a:lnTo>
                        <a:pt x="28" y="259"/>
                      </a:lnTo>
                      <a:lnTo>
                        <a:pt x="31" y="249"/>
                      </a:lnTo>
                      <a:lnTo>
                        <a:pt x="34" y="239"/>
                      </a:lnTo>
                      <a:lnTo>
                        <a:pt x="36" y="233"/>
                      </a:lnTo>
                      <a:lnTo>
                        <a:pt x="38" y="225"/>
                      </a:lnTo>
                      <a:lnTo>
                        <a:pt x="41" y="216"/>
                      </a:lnTo>
                      <a:lnTo>
                        <a:pt x="44" y="210"/>
                      </a:lnTo>
                      <a:lnTo>
                        <a:pt x="42" y="204"/>
                      </a:lnTo>
                      <a:lnTo>
                        <a:pt x="41" y="197"/>
                      </a:lnTo>
                      <a:lnTo>
                        <a:pt x="42" y="192"/>
                      </a:lnTo>
                      <a:lnTo>
                        <a:pt x="43" y="185"/>
                      </a:lnTo>
                      <a:lnTo>
                        <a:pt x="36" y="184"/>
                      </a:lnTo>
                      <a:lnTo>
                        <a:pt x="26" y="182"/>
                      </a:lnTo>
                      <a:lnTo>
                        <a:pt x="18" y="187"/>
                      </a:lnTo>
                      <a:lnTo>
                        <a:pt x="11" y="191"/>
                      </a:lnTo>
                      <a:lnTo>
                        <a:pt x="3" y="195"/>
                      </a:lnTo>
                      <a:lnTo>
                        <a:pt x="2" y="184"/>
                      </a:lnTo>
                      <a:lnTo>
                        <a:pt x="2" y="164"/>
                      </a:lnTo>
                      <a:lnTo>
                        <a:pt x="2" y="184"/>
                      </a:lnTo>
                      <a:lnTo>
                        <a:pt x="2" y="164"/>
                      </a:lnTo>
                      <a:lnTo>
                        <a:pt x="5" y="164"/>
                      </a:lnTo>
                      <a:lnTo>
                        <a:pt x="13" y="161"/>
                      </a:lnTo>
                      <a:lnTo>
                        <a:pt x="15" y="156"/>
                      </a:lnTo>
                      <a:lnTo>
                        <a:pt x="17" y="151"/>
                      </a:lnTo>
                      <a:lnTo>
                        <a:pt x="19" y="146"/>
                      </a:lnTo>
                      <a:lnTo>
                        <a:pt x="18" y="144"/>
                      </a:lnTo>
                      <a:lnTo>
                        <a:pt x="13" y="138"/>
                      </a:lnTo>
                      <a:lnTo>
                        <a:pt x="6" y="132"/>
                      </a:lnTo>
                      <a:lnTo>
                        <a:pt x="0" y="125"/>
                      </a:lnTo>
                      <a:lnTo>
                        <a:pt x="2" y="124"/>
                      </a:lnTo>
                      <a:lnTo>
                        <a:pt x="2" y="105"/>
                      </a:lnTo>
                      <a:lnTo>
                        <a:pt x="1" y="103"/>
                      </a:lnTo>
                      <a:lnTo>
                        <a:pt x="11" y="110"/>
                      </a:lnTo>
                      <a:lnTo>
                        <a:pt x="19" y="117"/>
                      </a:lnTo>
                      <a:lnTo>
                        <a:pt x="24" y="122"/>
                      </a:lnTo>
                      <a:lnTo>
                        <a:pt x="28" y="128"/>
                      </a:lnTo>
                      <a:lnTo>
                        <a:pt x="35" y="137"/>
                      </a:lnTo>
                      <a:lnTo>
                        <a:pt x="40" y="143"/>
                      </a:lnTo>
                      <a:lnTo>
                        <a:pt x="46" y="150"/>
                      </a:lnTo>
                      <a:lnTo>
                        <a:pt x="53" y="157"/>
                      </a:lnTo>
                      <a:lnTo>
                        <a:pt x="55" y="155"/>
                      </a:lnTo>
                      <a:lnTo>
                        <a:pt x="59" y="148"/>
                      </a:lnTo>
                      <a:lnTo>
                        <a:pt x="62" y="143"/>
                      </a:lnTo>
                      <a:lnTo>
                        <a:pt x="60" y="138"/>
                      </a:lnTo>
                      <a:lnTo>
                        <a:pt x="55" y="130"/>
                      </a:lnTo>
                      <a:lnTo>
                        <a:pt x="51" y="123"/>
                      </a:lnTo>
                      <a:lnTo>
                        <a:pt x="46" y="115"/>
                      </a:lnTo>
                      <a:lnTo>
                        <a:pt x="40" y="109"/>
                      </a:lnTo>
                      <a:lnTo>
                        <a:pt x="31" y="100"/>
                      </a:lnTo>
                      <a:lnTo>
                        <a:pt x="24" y="91"/>
                      </a:lnTo>
                      <a:lnTo>
                        <a:pt x="17" y="84"/>
                      </a:lnTo>
                      <a:lnTo>
                        <a:pt x="12" y="78"/>
                      </a:lnTo>
                      <a:lnTo>
                        <a:pt x="6" y="70"/>
                      </a:lnTo>
                      <a:lnTo>
                        <a:pt x="2" y="65"/>
                      </a:lnTo>
                      <a:lnTo>
                        <a:pt x="2" y="44"/>
                      </a:lnTo>
                      <a:lnTo>
                        <a:pt x="2" y="65"/>
                      </a:lnTo>
                      <a:lnTo>
                        <a:pt x="2" y="44"/>
                      </a:lnTo>
                      <a:lnTo>
                        <a:pt x="2" y="53"/>
                      </a:lnTo>
                      <a:lnTo>
                        <a:pt x="2" y="48"/>
                      </a:lnTo>
                      <a:lnTo>
                        <a:pt x="4" y="55"/>
                      </a:lnTo>
                      <a:lnTo>
                        <a:pt x="11" y="63"/>
                      </a:lnTo>
                      <a:lnTo>
                        <a:pt x="17" y="70"/>
                      </a:lnTo>
                      <a:lnTo>
                        <a:pt x="25" y="80"/>
                      </a:lnTo>
                      <a:lnTo>
                        <a:pt x="30" y="87"/>
                      </a:lnTo>
                      <a:lnTo>
                        <a:pt x="37" y="95"/>
                      </a:lnTo>
                      <a:lnTo>
                        <a:pt x="43" y="106"/>
                      </a:lnTo>
                      <a:lnTo>
                        <a:pt x="48" y="115"/>
                      </a:lnTo>
                      <a:lnTo>
                        <a:pt x="54" y="124"/>
                      </a:lnTo>
                      <a:lnTo>
                        <a:pt x="61" y="138"/>
                      </a:lnTo>
                      <a:lnTo>
                        <a:pt x="64" y="146"/>
                      </a:lnTo>
                      <a:lnTo>
                        <a:pt x="66" y="151"/>
                      </a:lnTo>
                      <a:lnTo>
                        <a:pt x="70" y="143"/>
                      </a:lnTo>
                      <a:lnTo>
                        <a:pt x="75" y="135"/>
                      </a:lnTo>
                      <a:lnTo>
                        <a:pt x="80" y="127"/>
                      </a:lnTo>
                      <a:lnTo>
                        <a:pt x="85" y="118"/>
                      </a:lnTo>
                      <a:lnTo>
                        <a:pt x="90" y="110"/>
                      </a:lnTo>
                      <a:lnTo>
                        <a:pt x="94" y="103"/>
                      </a:lnTo>
                      <a:lnTo>
                        <a:pt x="100" y="96"/>
                      </a:lnTo>
                      <a:lnTo>
                        <a:pt x="106" y="87"/>
                      </a:lnTo>
                      <a:lnTo>
                        <a:pt x="113" y="78"/>
                      </a:lnTo>
                      <a:lnTo>
                        <a:pt x="120" y="68"/>
                      </a:lnTo>
                      <a:lnTo>
                        <a:pt x="127" y="58"/>
                      </a:lnTo>
                      <a:lnTo>
                        <a:pt x="132" y="50"/>
                      </a:lnTo>
                      <a:lnTo>
                        <a:pt x="139" y="39"/>
                      </a:lnTo>
                      <a:lnTo>
                        <a:pt x="144" y="33"/>
                      </a:lnTo>
                      <a:lnTo>
                        <a:pt x="150" y="26"/>
                      </a:lnTo>
                      <a:lnTo>
                        <a:pt x="156" y="21"/>
                      </a:lnTo>
                      <a:lnTo>
                        <a:pt x="161" y="15"/>
                      </a:lnTo>
                      <a:lnTo>
                        <a:pt x="165" y="6"/>
                      </a:lnTo>
                      <a:lnTo>
                        <a:pt x="170" y="0"/>
                      </a:lnTo>
                      <a:lnTo>
                        <a:pt x="169" y="5"/>
                      </a:lnTo>
                      <a:lnTo>
                        <a:pt x="168" y="13"/>
                      </a:lnTo>
                      <a:lnTo>
                        <a:pt x="166" y="21"/>
                      </a:lnTo>
                      <a:lnTo>
                        <a:pt x="163" y="29"/>
                      </a:lnTo>
                      <a:lnTo>
                        <a:pt x="159" y="37"/>
                      </a:lnTo>
                      <a:lnTo>
                        <a:pt x="153" y="47"/>
                      </a:lnTo>
                      <a:lnTo>
                        <a:pt x="148" y="56"/>
                      </a:lnTo>
                      <a:lnTo>
                        <a:pt x="143" y="67"/>
                      </a:lnTo>
                      <a:lnTo>
                        <a:pt x="137" y="76"/>
                      </a:lnTo>
                      <a:lnTo>
                        <a:pt x="130" y="87"/>
                      </a:lnTo>
                      <a:lnTo>
                        <a:pt x="124" y="95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grpSp>
              <p:nvGrpSpPr>
                <p:cNvPr id="31754" name="Group 1034"/>
                <p:cNvGrpSpPr/>
                <p:nvPr/>
              </p:nvGrpSpPr>
              <p:grpSpPr>
                <a:xfrm>
                  <a:off x="1707" y="1466"/>
                  <a:ext cx="484" cy="368"/>
                  <a:chOff x="1707" y="1466"/>
                  <a:chExt cx="484" cy="368"/>
                </a:xfrm>
              </p:grpSpPr>
              <p:sp>
                <p:nvSpPr>
                  <p:cNvPr id="31755" name="Freeform 1035"/>
                  <p:cNvSpPr/>
                  <p:nvPr/>
                </p:nvSpPr>
                <p:spPr>
                  <a:xfrm>
                    <a:off x="1751" y="1466"/>
                    <a:ext cx="440" cy="342"/>
                  </a:xfrm>
                  <a:custGeom>
                    <a:avLst/>
                    <a:gdLst/>
                    <a:ahLst/>
                    <a:cxnLst>
                      <a:cxn ang="0">
                        <a:pos x="167" y="42"/>
                      </a:cxn>
                      <a:cxn ang="0">
                        <a:pos x="202" y="14"/>
                      </a:cxn>
                      <a:cxn ang="0">
                        <a:pos x="245" y="3"/>
                      </a:cxn>
                      <a:cxn ang="0">
                        <a:pos x="292" y="2"/>
                      </a:cxn>
                      <a:cxn ang="0">
                        <a:pos x="304" y="7"/>
                      </a:cxn>
                      <a:cxn ang="0">
                        <a:pos x="272" y="15"/>
                      </a:cxn>
                      <a:cxn ang="0">
                        <a:pos x="236" y="26"/>
                      </a:cxn>
                      <a:cxn ang="0">
                        <a:pos x="195" y="55"/>
                      </a:cxn>
                      <a:cxn ang="0">
                        <a:pos x="191" y="94"/>
                      </a:cxn>
                      <a:cxn ang="0">
                        <a:pos x="252" y="70"/>
                      </a:cxn>
                      <a:cxn ang="0">
                        <a:pos x="301" y="67"/>
                      </a:cxn>
                      <a:cxn ang="0">
                        <a:pos x="354" y="72"/>
                      </a:cxn>
                      <a:cxn ang="0">
                        <a:pos x="416" y="79"/>
                      </a:cxn>
                      <a:cxn ang="0">
                        <a:pos x="417" y="80"/>
                      </a:cxn>
                      <a:cxn ang="0">
                        <a:pos x="357" y="83"/>
                      </a:cxn>
                      <a:cxn ang="0">
                        <a:pos x="302" y="84"/>
                      </a:cxn>
                      <a:cxn ang="0">
                        <a:pos x="254" y="90"/>
                      </a:cxn>
                      <a:cxn ang="0">
                        <a:pos x="200" y="103"/>
                      </a:cxn>
                      <a:cxn ang="0">
                        <a:pos x="222" y="123"/>
                      </a:cxn>
                      <a:cxn ang="0">
                        <a:pos x="238" y="142"/>
                      </a:cxn>
                      <a:cxn ang="0">
                        <a:pos x="184" y="125"/>
                      </a:cxn>
                      <a:cxn ang="0">
                        <a:pos x="173" y="136"/>
                      </a:cxn>
                      <a:cxn ang="0">
                        <a:pos x="232" y="145"/>
                      </a:cxn>
                      <a:cxn ang="0">
                        <a:pos x="282" y="157"/>
                      </a:cxn>
                      <a:cxn ang="0">
                        <a:pos x="321" y="190"/>
                      </a:cxn>
                      <a:cxn ang="0">
                        <a:pos x="351" y="234"/>
                      </a:cxn>
                      <a:cxn ang="0">
                        <a:pos x="344" y="242"/>
                      </a:cxn>
                      <a:cxn ang="0">
                        <a:pos x="304" y="214"/>
                      </a:cxn>
                      <a:cxn ang="0">
                        <a:pos x="259" y="183"/>
                      </a:cxn>
                      <a:cxn ang="0">
                        <a:pos x="211" y="162"/>
                      </a:cxn>
                      <a:cxn ang="0">
                        <a:pos x="180" y="155"/>
                      </a:cxn>
                      <a:cxn ang="0">
                        <a:pos x="206" y="189"/>
                      </a:cxn>
                      <a:cxn ang="0">
                        <a:pos x="238" y="234"/>
                      </a:cxn>
                      <a:cxn ang="0">
                        <a:pos x="256" y="275"/>
                      </a:cxn>
                      <a:cxn ang="0">
                        <a:pos x="255" y="313"/>
                      </a:cxn>
                      <a:cxn ang="0">
                        <a:pos x="232" y="271"/>
                      </a:cxn>
                      <a:cxn ang="0">
                        <a:pos x="208" y="226"/>
                      </a:cxn>
                      <a:cxn ang="0">
                        <a:pos x="181" y="185"/>
                      </a:cxn>
                      <a:cxn ang="0">
                        <a:pos x="157" y="149"/>
                      </a:cxn>
                      <a:cxn ang="0">
                        <a:pos x="115" y="170"/>
                      </a:cxn>
                      <a:cxn ang="0">
                        <a:pos x="80" y="221"/>
                      </a:cxn>
                      <a:cxn ang="0">
                        <a:pos x="51" y="273"/>
                      </a:cxn>
                      <a:cxn ang="0">
                        <a:pos x="18" y="321"/>
                      </a:cxn>
                      <a:cxn ang="0">
                        <a:pos x="8" y="315"/>
                      </a:cxn>
                      <a:cxn ang="0">
                        <a:pos x="47" y="255"/>
                      </a:cxn>
                      <a:cxn ang="0">
                        <a:pos x="82" y="208"/>
                      </a:cxn>
                      <a:cxn ang="0">
                        <a:pos x="112" y="162"/>
                      </a:cxn>
                      <a:cxn ang="0">
                        <a:pos x="139" y="126"/>
                      </a:cxn>
                      <a:cxn ang="0">
                        <a:pos x="99" y="83"/>
                      </a:cxn>
                      <a:cxn ang="0">
                        <a:pos x="43" y="60"/>
                      </a:cxn>
                      <a:cxn ang="0">
                        <a:pos x="20" y="47"/>
                      </a:cxn>
                      <a:cxn ang="0">
                        <a:pos x="63" y="61"/>
                      </a:cxn>
                      <a:cxn ang="0">
                        <a:pos x="122" y="90"/>
                      </a:cxn>
                    </a:cxnLst>
                    <a:rect l="0" t="0" r="0" b="0"/>
                    <a:pathLst>
                      <a:path w="440" h="342">
                        <a:moveTo>
                          <a:pt x="138" y="87"/>
                        </a:moveTo>
                        <a:lnTo>
                          <a:pt x="141" y="78"/>
                        </a:lnTo>
                        <a:lnTo>
                          <a:pt x="146" y="69"/>
                        </a:lnTo>
                        <a:lnTo>
                          <a:pt x="153" y="59"/>
                        </a:lnTo>
                        <a:lnTo>
                          <a:pt x="160" y="51"/>
                        </a:lnTo>
                        <a:lnTo>
                          <a:pt x="167" y="42"/>
                        </a:lnTo>
                        <a:lnTo>
                          <a:pt x="172" y="36"/>
                        </a:lnTo>
                        <a:lnTo>
                          <a:pt x="178" y="31"/>
                        </a:lnTo>
                        <a:lnTo>
                          <a:pt x="184" y="26"/>
                        </a:lnTo>
                        <a:lnTo>
                          <a:pt x="190" y="21"/>
                        </a:lnTo>
                        <a:lnTo>
                          <a:pt x="196" y="17"/>
                        </a:lnTo>
                        <a:lnTo>
                          <a:pt x="202" y="14"/>
                        </a:lnTo>
                        <a:lnTo>
                          <a:pt x="208" y="11"/>
                        </a:lnTo>
                        <a:lnTo>
                          <a:pt x="215" y="8"/>
                        </a:lnTo>
                        <a:lnTo>
                          <a:pt x="222" y="7"/>
                        </a:lnTo>
                        <a:lnTo>
                          <a:pt x="230" y="5"/>
                        </a:lnTo>
                        <a:lnTo>
                          <a:pt x="237" y="3"/>
                        </a:lnTo>
                        <a:lnTo>
                          <a:pt x="245" y="3"/>
                        </a:lnTo>
                        <a:lnTo>
                          <a:pt x="252" y="2"/>
                        </a:lnTo>
                        <a:lnTo>
                          <a:pt x="260" y="2"/>
                        </a:lnTo>
                        <a:lnTo>
                          <a:pt x="270" y="1"/>
                        </a:lnTo>
                        <a:lnTo>
                          <a:pt x="278" y="2"/>
                        </a:lnTo>
                        <a:lnTo>
                          <a:pt x="285" y="2"/>
                        </a:lnTo>
                        <a:lnTo>
                          <a:pt x="292" y="2"/>
                        </a:lnTo>
                        <a:lnTo>
                          <a:pt x="299" y="2"/>
                        </a:lnTo>
                        <a:lnTo>
                          <a:pt x="307" y="1"/>
                        </a:lnTo>
                        <a:lnTo>
                          <a:pt x="314" y="0"/>
                        </a:lnTo>
                        <a:lnTo>
                          <a:pt x="310" y="2"/>
                        </a:lnTo>
                        <a:lnTo>
                          <a:pt x="307" y="4"/>
                        </a:lnTo>
                        <a:lnTo>
                          <a:pt x="304" y="7"/>
                        </a:lnTo>
                        <a:lnTo>
                          <a:pt x="301" y="10"/>
                        </a:lnTo>
                        <a:lnTo>
                          <a:pt x="295" y="10"/>
                        </a:lnTo>
                        <a:lnTo>
                          <a:pt x="288" y="11"/>
                        </a:lnTo>
                        <a:lnTo>
                          <a:pt x="284" y="12"/>
                        </a:lnTo>
                        <a:lnTo>
                          <a:pt x="278" y="13"/>
                        </a:lnTo>
                        <a:lnTo>
                          <a:pt x="272" y="15"/>
                        </a:lnTo>
                        <a:lnTo>
                          <a:pt x="266" y="16"/>
                        </a:lnTo>
                        <a:lnTo>
                          <a:pt x="260" y="17"/>
                        </a:lnTo>
                        <a:lnTo>
                          <a:pt x="254" y="19"/>
                        </a:lnTo>
                        <a:lnTo>
                          <a:pt x="248" y="21"/>
                        </a:lnTo>
                        <a:lnTo>
                          <a:pt x="241" y="23"/>
                        </a:lnTo>
                        <a:lnTo>
                          <a:pt x="236" y="26"/>
                        </a:lnTo>
                        <a:lnTo>
                          <a:pt x="229" y="29"/>
                        </a:lnTo>
                        <a:lnTo>
                          <a:pt x="222" y="32"/>
                        </a:lnTo>
                        <a:lnTo>
                          <a:pt x="215" y="36"/>
                        </a:lnTo>
                        <a:lnTo>
                          <a:pt x="208" y="41"/>
                        </a:lnTo>
                        <a:lnTo>
                          <a:pt x="201" y="47"/>
                        </a:lnTo>
                        <a:lnTo>
                          <a:pt x="195" y="55"/>
                        </a:lnTo>
                        <a:lnTo>
                          <a:pt x="189" y="64"/>
                        </a:lnTo>
                        <a:lnTo>
                          <a:pt x="181" y="77"/>
                        </a:lnTo>
                        <a:lnTo>
                          <a:pt x="175" y="90"/>
                        </a:lnTo>
                        <a:lnTo>
                          <a:pt x="167" y="106"/>
                        </a:lnTo>
                        <a:lnTo>
                          <a:pt x="180" y="99"/>
                        </a:lnTo>
                        <a:lnTo>
                          <a:pt x="191" y="94"/>
                        </a:lnTo>
                        <a:lnTo>
                          <a:pt x="206" y="86"/>
                        </a:lnTo>
                        <a:lnTo>
                          <a:pt x="222" y="78"/>
                        </a:lnTo>
                        <a:lnTo>
                          <a:pt x="229" y="77"/>
                        </a:lnTo>
                        <a:lnTo>
                          <a:pt x="236" y="74"/>
                        </a:lnTo>
                        <a:lnTo>
                          <a:pt x="243" y="72"/>
                        </a:lnTo>
                        <a:lnTo>
                          <a:pt x="252" y="70"/>
                        </a:lnTo>
                        <a:lnTo>
                          <a:pt x="261" y="68"/>
                        </a:lnTo>
                        <a:lnTo>
                          <a:pt x="269" y="68"/>
                        </a:lnTo>
                        <a:lnTo>
                          <a:pt x="275" y="67"/>
                        </a:lnTo>
                        <a:lnTo>
                          <a:pt x="285" y="66"/>
                        </a:lnTo>
                        <a:lnTo>
                          <a:pt x="294" y="66"/>
                        </a:lnTo>
                        <a:lnTo>
                          <a:pt x="301" y="67"/>
                        </a:lnTo>
                        <a:lnTo>
                          <a:pt x="311" y="68"/>
                        </a:lnTo>
                        <a:lnTo>
                          <a:pt x="319" y="69"/>
                        </a:lnTo>
                        <a:lnTo>
                          <a:pt x="328" y="69"/>
                        </a:lnTo>
                        <a:lnTo>
                          <a:pt x="336" y="70"/>
                        </a:lnTo>
                        <a:lnTo>
                          <a:pt x="345" y="71"/>
                        </a:lnTo>
                        <a:lnTo>
                          <a:pt x="354" y="72"/>
                        </a:lnTo>
                        <a:lnTo>
                          <a:pt x="363" y="73"/>
                        </a:lnTo>
                        <a:lnTo>
                          <a:pt x="371" y="74"/>
                        </a:lnTo>
                        <a:lnTo>
                          <a:pt x="381" y="75"/>
                        </a:lnTo>
                        <a:lnTo>
                          <a:pt x="392" y="76"/>
                        </a:lnTo>
                        <a:lnTo>
                          <a:pt x="401" y="77"/>
                        </a:lnTo>
                        <a:lnTo>
                          <a:pt x="416" y="79"/>
                        </a:lnTo>
                        <a:lnTo>
                          <a:pt x="421" y="79"/>
                        </a:lnTo>
                        <a:lnTo>
                          <a:pt x="425" y="79"/>
                        </a:lnTo>
                        <a:lnTo>
                          <a:pt x="430" y="81"/>
                        </a:lnTo>
                        <a:lnTo>
                          <a:pt x="439" y="84"/>
                        </a:lnTo>
                        <a:lnTo>
                          <a:pt x="424" y="81"/>
                        </a:lnTo>
                        <a:lnTo>
                          <a:pt x="417" y="80"/>
                        </a:lnTo>
                        <a:lnTo>
                          <a:pt x="411" y="80"/>
                        </a:lnTo>
                        <a:lnTo>
                          <a:pt x="397" y="81"/>
                        </a:lnTo>
                        <a:lnTo>
                          <a:pt x="388" y="82"/>
                        </a:lnTo>
                        <a:lnTo>
                          <a:pt x="377" y="82"/>
                        </a:lnTo>
                        <a:lnTo>
                          <a:pt x="367" y="82"/>
                        </a:lnTo>
                        <a:lnTo>
                          <a:pt x="357" y="83"/>
                        </a:lnTo>
                        <a:lnTo>
                          <a:pt x="348" y="83"/>
                        </a:lnTo>
                        <a:lnTo>
                          <a:pt x="340" y="82"/>
                        </a:lnTo>
                        <a:lnTo>
                          <a:pt x="330" y="82"/>
                        </a:lnTo>
                        <a:lnTo>
                          <a:pt x="319" y="82"/>
                        </a:lnTo>
                        <a:lnTo>
                          <a:pt x="310" y="83"/>
                        </a:lnTo>
                        <a:lnTo>
                          <a:pt x="302" y="84"/>
                        </a:lnTo>
                        <a:lnTo>
                          <a:pt x="292" y="84"/>
                        </a:lnTo>
                        <a:lnTo>
                          <a:pt x="285" y="84"/>
                        </a:lnTo>
                        <a:lnTo>
                          <a:pt x="276" y="85"/>
                        </a:lnTo>
                        <a:lnTo>
                          <a:pt x="269" y="87"/>
                        </a:lnTo>
                        <a:lnTo>
                          <a:pt x="261" y="88"/>
                        </a:lnTo>
                        <a:lnTo>
                          <a:pt x="254" y="90"/>
                        </a:lnTo>
                        <a:lnTo>
                          <a:pt x="246" y="92"/>
                        </a:lnTo>
                        <a:lnTo>
                          <a:pt x="238" y="94"/>
                        </a:lnTo>
                        <a:lnTo>
                          <a:pt x="229" y="96"/>
                        </a:lnTo>
                        <a:lnTo>
                          <a:pt x="222" y="98"/>
                        </a:lnTo>
                        <a:lnTo>
                          <a:pt x="208" y="102"/>
                        </a:lnTo>
                        <a:lnTo>
                          <a:pt x="200" y="103"/>
                        </a:lnTo>
                        <a:lnTo>
                          <a:pt x="189" y="108"/>
                        </a:lnTo>
                        <a:lnTo>
                          <a:pt x="172" y="115"/>
                        </a:lnTo>
                        <a:lnTo>
                          <a:pt x="189" y="117"/>
                        </a:lnTo>
                        <a:lnTo>
                          <a:pt x="209" y="118"/>
                        </a:lnTo>
                        <a:lnTo>
                          <a:pt x="213" y="118"/>
                        </a:lnTo>
                        <a:lnTo>
                          <a:pt x="222" y="123"/>
                        </a:lnTo>
                        <a:lnTo>
                          <a:pt x="228" y="126"/>
                        </a:lnTo>
                        <a:lnTo>
                          <a:pt x="234" y="129"/>
                        </a:lnTo>
                        <a:lnTo>
                          <a:pt x="235" y="131"/>
                        </a:lnTo>
                        <a:lnTo>
                          <a:pt x="238" y="137"/>
                        </a:lnTo>
                        <a:lnTo>
                          <a:pt x="245" y="146"/>
                        </a:lnTo>
                        <a:lnTo>
                          <a:pt x="238" y="142"/>
                        </a:lnTo>
                        <a:lnTo>
                          <a:pt x="229" y="137"/>
                        </a:lnTo>
                        <a:lnTo>
                          <a:pt x="222" y="135"/>
                        </a:lnTo>
                        <a:lnTo>
                          <a:pt x="209" y="132"/>
                        </a:lnTo>
                        <a:lnTo>
                          <a:pt x="199" y="129"/>
                        </a:lnTo>
                        <a:lnTo>
                          <a:pt x="189" y="126"/>
                        </a:lnTo>
                        <a:lnTo>
                          <a:pt x="184" y="125"/>
                        </a:lnTo>
                        <a:lnTo>
                          <a:pt x="172" y="126"/>
                        </a:lnTo>
                        <a:lnTo>
                          <a:pt x="165" y="127"/>
                        </a:lnTo>
                        <a:lnTo>
                          <a:pt x="155" y="129"/>
                        </a:lnTo>
                        <a:lnTo>
                          <a:pt x="160" y="131"/>
                        </a:lnTo>
                        <a:lnTo>
                          <a:pt x="166" y="132"/>
                        </a:lnTo>
                        <a:lnTo>
                          <a:pt x="173" y="136"/>
                        </a:lnTo>
                        <a:lnTo>
                          <a:pt x="181" y="135"/>
                        </a:lnTo>
                        <a:lnTo>
                          <a:pt x="195" y="136"/>
                        </a:lnTo>
                        <a:lnTo>
                          <a:pt x="203" y="137"/>
                        </a:lnTo>
                        <a:lnTo>
                          <a:pt x="215" y="140"/>
                        </a:lnTo>
                        <a:lnTo>
                          <a:pt x="222" y="143"/>
                        </a:lnTo>
                        <a:lnTo>
                          <a:pt x="232" y="145"/>
                        </a:lnTo>
                        <a:lnTo>
                          <a:pt x="242" y="148"/>
                        </a:lnTo>
                        <a:lnTo>
                          <a:pt x="251" y="151"/>
                        </a:lnTo>
                        <a:lnTo>
                          <a:pt x="259" y="152"/>
                        </a:lnTo>
                        <a:lnTo>
                          <a:pt x="266" y="153"/>
                        </a:lnTo>
                        <a:lnTo>
                          <a:pt x="273" y="155"/>
                        </a:lnTo>
                        <a:lnTo>
                          <a:pt x="282" y="157"/>
                        </a:lnTo>
                        <a:lnTo>
                          <a:pt x="291" y="161"/>
                        </a:lnTo>
                        <a:lnTo>
                          <a:pt x="299" y="165"/>
                        </a:lnTo>
                        <a:lnTo>
                          <a:pt x="303" y="169"/>
                        </a:lnTo>
                        <a:lnTo>
                          <a:pt x="309" y="175"/>
                        </a:lnTo>
                        <a:lnTo>
                          <a:pt x="316" y="183"/>
                        </a:lnTo>
                        <a:lnTo>
                          <a:pt x="321" y="190"/>
                        </a:lnTo>
                        <a:lnTo>
                          <a:pt x="326" y="197"/>
                        </a:lnTo>
                        <a:lnTo>
                          <a:pt x="331" y="204"/>
                        </a:lnTo>
                        <a:lnTo>
                          <a:pt x="335" y="212"/>
                        </a:lnTo>
                        <a:lnTo>
                          <a:pt x="340" y="218"/>
                        </a:lnTo>
                        <a:lnTo>
                          <a:pt x="345" y="226"/>
                        </a:lnTo>
                        <a:lnTo>
                          <a:pt x="351" y="234"/>
                        </a:lnTo>
                        <a:lnTo>
                          <a:pt x="356" y="243"/>
                        </a:lnTo>
                        <a:lnTo>
                          <a:pt x="361" y="250"/>
                        </a:lnTo>
                        <a:lnTo>
                          <a:pt x="368" y="258"/>
                        </a:lnTo>
                        <a:lnTo>
                          <a:pt x="359" y="251"/>
                        </a:lnTo>
                        <a:lnTo>
                          <a:pt x="353" y="247"/>
                        </a:lnTo>
                        <a:lnTo>
                          <a:pt x="344" y="242"/>
                        </a:lnTo>
                        <a:lnTo>
                          <a:pt x="336" y="236"/>
                        </a:lnTo>
                        <a:lnTo>
                          <a:pt x="330" y="231"/>
                        </a:lnTo>
                        <a:lnTo>
                          <a:pt x="323" y="226"/>
                        </a:lnTo>
                        <a:lnTo>
                          <a:pt x="317" y="222"/>
                        </a:lnTo>
                        <a:lnTo>
                          <a:pt x="311" y="218"/>
                        </a:lnTo>
                        <a:lnTo>
                          <a:pt x="304" y="214"/>
                        </a:lnTo>
                        <a:lnTo>
                          <a:pt x="297" y="210"/>
                        </a:lnTo>
                        <a:lnTo>
                          <a:pt x="291" y="205"/>
                        </a:lnTo>
                        <a:lnTo>
                          <a:pt x="284" y="200"/>
                        </a:lnTo>
                        <a:lnTo>
                          <a:pt x="275" y="195"/>
                        </a:lnTo>
                        <a:lnTo>
                          <a:pt x="267" y="189"/>
                        </a:lnTo>
                        <a:lnTo>
                          <a:pt x="259" y="183"/>
                        </a:lnTo>
                        <a:lnTo>
                          <a:pt x="252" y="179"/>
                        </a:lnTo>
                        <a:lnTo>
                          <a:pt x="245" y="174"/>
                        </a:lnTo>
                        <a:lnTo>
                          <a:pt x="237" y="170"/>
                        </a:lnTo>
                        <a:lnTo>
                          <a:pt x="229" y="167"/>
                        </a:lnTo>
                        <a:lnTo>
                          <a:pt x="222" y="165"/>
                        </a:lnTo>
                        <a:lnTo>
                          <a:pt x="211" y="162"/>
                        </a:lnTo>
                        <a:lnTo>
                          <a:pt x="201" y="159"/>
                        </a:lnTo>
                        <a:lnTo>
                          <a:pt x="194" y="157"/>
                        </a:lnTo>
                        <a:lnTo>
                          <a:pt x="186" y="155"/>
                        </a:lnTo>
                        <a:lnTo>
                          <a:pt x="175" y="149"/>
                        </a:lnTo>
                        <a:lnTo>
                          <a:pt x="163" y="144"/>
                        </a:lnTo>
                        <a:lnTo>
                          <a:pt x="180" y="155"/>
                        </a:lnTo>
                        <a:lnTo>
                          <a:pt x="182" y="157"/>
                        </a:lnTo>
                        <a:lnTo>
                          <a:pt x="186" y="162"/>
                        </a:lnTo>
                        <a:lnTo>
                          <a:pt x="190" y="168"/>
                        </a:lnTo>
                        <a:lnTo>
                          <a:pt x="195" y="175"/>
                        </a:lnTo>
                        <a:lnTo>
                          <a:pt x="201" y="182"/>
                        </a:lnTo>
                        <a:lnTo>
                          <a:pt x="206" y="189"/>
                        </a:lnTo>
                        <a:lnTo>
                          <a:pt x="212" y="197"/>
                        </a:lnTo>
                        <a:lnTo>
                          <a:pt x="217" y="204"/>
                        </a:lnTo>
                        <a:lnTo>
                          <a:pt x="222" y="210"/>
                        </a:lnTo>
                        <a:lnTo>
                          <a:pt x="227" y="217"/>
                        </a:lnTo>
                        <a:lnTo>
                          <a:pt x="233" y="227"/>
                        </a:lnTo>
                        <a:lnTo>
                          <a:pt x="238" y="234"/>
                        </a:lnTo>
                        <a:lnTo>
                          <a:pt x="242" y="241"/>
                        </a:lnTo>
                        <a:lnTo>
                          <a:pt x="246" y="248"/>
                        </a:lnTo>
                        <a:lnTo>
                          <a:pt x="250" y="255"/>
                        </a:lnTo>
                        <a:lnTo>
                          <a:pt x="252" y="262"/>
                        </a:lnTo>
                        <a:lnTo>
                          <a:pt x="254" y="267"/>
                        </a:lnTo>
                        <a:lnTo>
                          <a:pt x="256" y="275"/>
                        </a:lnTo>
                        <a:lnTo>
                          <a:pt x="257" y="285"/>
                        </a:lnTo>
                        <a:lnTo>
                          <a:pt x="258" y="294"/>
                        </a:lnTo>
                        <a:lnTo>
                          <a:pt x="259" y="304"/>
                        </a:lnTo>
                        <a:lnTo>
                          <a:pt x="261" y="313"/>
                        </a:lnTo>
                        <a:lnTo>
                          <a:pt x="262" y="323"/>
                        </a:lnTo>
                        <a:lnTo>
                          <a:pt x="255" y="313"/>
                        </a:lnTo>
                        <a:lnTo>
                          <a:pt x="249" y="307"/>
                        </a:lnTo>
                        <a:lnTo>
                          <a:pt x="245" y="300"/>
                        </a:lnTo>
                        <a:lnTo>
                          <a:pt x="241" y="295"/>
                        </a:lnTo>
                        <a:lnTo>
                          <a:pt x="238" y="288"/>
                        </a:lnTo>
                        <a:lnTo>
                          <a:pt x="236" y="280"/>
                        </a:lnTo>
                        <a:lnTo>
                          <a:pt x="232" y="271"/>
                        </a:lnTo>
                        <a:lnTo>
                          <a:pt x="228" y="263"/>
                        </a:lnTo>
                        <a:lnTo>
                          <a:pt x="224" y="254"/>
                        </a:lnTo>
                        <a:lnTo>
                          <a:pt x="221" y="246"/>
                        </a:lnTo>
                        <a:lnTo>
                          <a:pt x="217" y="238"/>
                        </a:lnTo>
                        <a:lnTo>
                          <a:pt x="212" y="232"/>
                        </a:lnTo>
                        <a:lnTo>
                          <a:pt x="208" y="226"/>
                        </a:lnTo>
                        <a:lnTo>
                          <a:pt x="202" y="218"/>
                        </a:lnTo>
                        <a:lnTo>
                          <a:pt x="196" y="211"/>
                        </a:lnTo>
                        <a:lnTo>
                          <a:pt x="191" y="205"/>
                        </a:lnTo>
                        <a:lnTo>
                          <a:pt x="186" y="199"/>
                        </a:lnTo>
                        <a:lnTo>
                          <a:pt x="185" y="194"/>
                        </a:lnTo>
                        <a:lnTo>
                          <a:pt x="181" y="185"/>
                        </a:lnTo>
                        <a:lnTo>
                          <a:pt x="177" y="179"/>
                        </a:lnTo>
                        <a:lnTo>
                          <a:pt x="174" y="171"/>
                        </a:lnTo>
                        <a:lnTo>
                          <a:pt x="172" y="169"/>
                        </a:lnTo>
                        <a:lnTo>
                          <a:pt x="165" y="162"/>
                        </a:lnTo>
                        <a:lnTo>
                          <a:pt x="161" y="155"/>
                        </a:lnTo>
                        <a:lnTo>
                          <a:pt x="157" y="149"/>
                        </a:lnTo>
                        <a:lnTo>
                          <a:pt x="153" y="143"/>
                        </a:lnTo>
                        <a:lnTo>
                          <a:pt x="145" y="146"/>
                        </a:lnTo>
                        <a:lnTo>
                          <a:pt x="137" y="151"/>
                        </a:lnTo>
                        <a:lnTo>
                          <a:pt x="129" y="158"/>
                        </a:lnTo>
                        <a:lnTo>
                          <a:pt x="121" y="164"/>
                        </a:lnTo>
                        <a:lnTo>
                          <a:pt x="115" y="170"/>
                        </a:lnTo>
                        <a:lnTo>
                          <a:pt x="110" y="176"/>
                        </a:lnTo>
                        <a:lnTo>
                          <a:pt x="104" y="185"/>
                        </a:lnTo>
                        <a:lnTo>
                          <a:pt x="97" y="195"/>
                        </a:lnTo>
                        <a:lnTo>
                          <a:pt x="92" y="203"/>
                        </a:lnTo>
                        <a:lnTo>
                          <a:pt x="85" y="212"/>
                        </a:lnTo>
                        <a:lnTo>
                          <a:pt x="80" y="221"/>
                        </a:lnTo>
                        <a:lnTo>
                          <a:pt x="76" y="229"/>
                        </a:lnTo>
                        <a:lnTo>
                          <a:pt x="71" y="237"/>
                        </a:lnTo>
                        <a:lnTo>
                          <a:pt x="67" y="245"/>
                        </a:lnTo>
                        <a:lnTo>
                          <a:pt x="62" y="254"/>
                        </a:lnTo>
                        <a:lnTo>
                          <a:pt x="58" y="263"/>
                        </a:lnTo>
                        <a:lnTo>
                          <a:pt x="51" y="273"/>
                        </a:lnTo>
                        <a:lnTo>
                          <a:pt x="45" y="283"/>
                        </a:lnTo>
                        <a:lnTo>
                          <a:pt x="38" y="294"/>
                        </a:lnTo>
                        <a:lnTo>
                          <a:pt x="33" y="303"/>
                        </a:lnTo>
                        <a:lnTo>
                          <a:pt x="28" y="309"/>
                        </a:lnTo>
                        <a:lnTo>
                          <a:pt x="24" y="315"/>
                        </a:lnTo>
                        <a:lnTo>
                          <a:pt x="18" y="321"/>
                        </a:lnTo>
                        <a:lnTo>
                          <a:pt x="13" y="327"/>
                        </a:lnTo>
                        <a:lnTo>
                          <a:pt x="7" y="333"/>
                        </a:lnTo>
                        <a:lnTo>
                          <a:pt x="0" y="341"/>
                        </a:lnTo>
                        <a:lnTo>
                          <a:pt x="2" y="331"/>
                        </a:lnTo>
                        <a:lnTo>
                          <a:pt x="5" y="324"/>
                        </a:lnTo>
                        <a:lnTo>
                          <a:pt x="8" y="315"/>
                        </a:lnTo>
                        <a:lnTo>
                          <a:pt x="13" y="309"/>
                        </a:lnTo>
                        <a:lnTo>
                          <a:pt x="20" y="298"/>
                        </a:lnTo>
                        <a:lnTo>
                          <a:pt x="27" y="287"/>
                        </a:lnTo>
                        <a:lnTo>
                          <a:pt x="35" y="275"/>
                        </a:lnTo>
                        <a:lnTo>
                          <a:pt x="41" y="265"/>
                        </a:lnTo>
                        <a:lnTo>
                          <a:pt x="47" y="255"/>
                        </a:lnTo>
                        <a:lnTo>
                          <a:pt x="54" y="246"/>
                        </a:lnTo>
                        <a:lnTo>
                          <a:pt x="59" y="238"/>
                        </a:lnTo>
                        <a:lnTo>
                          <a:pt x="64" y="231"/>
                        </a:lnTo>
                        <a:lnTo>
                          <a:pt x="69" y="224"/>
                        </a:lnTo>
                        <a:lnTo>
                          <a:pt x="76" y="216"/>
                        </a:lnTo>
                        <a:lnTo>
                          <a:pt x="82" y="208"/>
                        </a:lnTo>
                        <a:lnTo>
                          <a:pt x="88" y="199"/>
                        </a:lnTo>
                        <a:lnTo>
                          <a:pt x="95" y="190"/>
                        </a:lnTo>
                        <a:lnTo>
                          <a:pt x="100" y="183"/>
                        </a:lnTo>
                        <a:lnTo>
                          <a:pt x="105" y="175"/>
                        </a:lnTo>
                        <a:lnTo>
                          <a:pt x="110" y="167"/>
                        </a:lnTo>
                        <a:lnTo>
                          <a:pt x="112" y="162"/>
                        </a:lnTo>
                        <a:lnTo>
                          <a:pt x="114" y="156"/>
                        </a:lnTo>
                        <a:lnTo>
                          <a:pt x="118" y="151"/>
                        </a:lnTo>
                        <a:lnTo>
                          <a:pt x="122" y="145"/>
                        </a:lnTo>
                        <a:lnTo>
                          <a:pt x="129" y="138"/>
                        </a:lnTo>
                        <a:lnTo>
                          <a:pt x="134" y="131"/>
                        </a:lnTo>
                        <a:lnTo>
                          <a:pt x="139" y="126"/>
                        </a:lnTo>
                        <a:lnTo>
                          <a:pt x="143" y="119"/>
                        </a:lnTo>
                        <a:lnTo>
                          <a:pt x="141" y="114"/>
                        </a:lnTo>
                        <a:lnTo>
                          <a:pt x="139" y="106"/>
                        </a:lnTo>
                        <a:lnTo>
                          <a:pt x="127" y="102"/>
                        </a:lnTo>
                        <a:lnTo>
                          <a:pt x="113" y="92"/>
                        </a:lnTo>
                        <a:lnTo>
                          <a:pt x="99" y="83"/>
                        </a:lnTo>
                        <a:lnTo>
                          <a:pt x="92" y="78"/>
                        </a:lnTo>
                        <a:lnTo>
                          <a:pt x="86" y="74"/>
                        </a:lnTo>
                        <a:lnTo>
                          <a:pt x="75" y="70"/>
                        </a:lnTo>
                        <a:lnTo>
                          <a:pt x="64" y="66"/>
                        </a:lnTo>
                        <a:lnTo>
                          <a:pt x="52" y="63"/>
                        </a:lnTo>
                        <a:lnTo>
                          <a:pt x="43" y="60"/>
                        </a:lnTo>
                        <a:lnTo>
                          <a:pt x="33" y="56"/>
                        </a:lnTo>
                        <a:lnTo>
                          <a:pt x="24" y="53"/>
                        </a:lnTo>
                        <a:lnTo>
                          <a:pt x="15" y="51"/>
                        </a:lnTo>
                        <a:lnTo>
                          <a:pt x="8" y="49"/>
                        </a:lnTo>
                        <a:lnTo>
                          <a:pt x="15" y="49"/>
                        </a:lnTo>
                        <a:lnTo>
                          <a:pt x="20" y="47"/>
                        </a:lnTo>
                        <a:lnTo>
                          <a:pt x="25" y="47"/>
                        </a:lnTo>
                        <a:lnTo>
                          <a:pt x="29" y="46"/>
                        </a:lnTo>
                        <a:lnTo>
                          <a:pt x="34" y="47"/>
                        </a:lnTo>
                        <a:lnTo>
                          <a:pt x="45" y="51"/>
                        </a:lnTo>
                        <a:lnTo>
                          <a:pt x="53" y="56"/>
                        </a:lnTo>
                        <a:lnTo>
                          <a:pt x="63" y="61"/>
                        </a:lnTo>
                        <a:lnTo>
                          <a:pt x="72" y="66"/>
                        </a:lnTo>
                        <a:lnTo>
                          <a:pt x="84" y="71"/>
                        </a:lnTo>
                        <a:lnTo>
                          <a:pt x="93" y="77"/>
                        </a:lnTo>
                        <a:lnTo>
                          <a:pt x="101" y="81"/>
                        </a:lnTo>
                        <a:lnTo>
                          <a:pt x="115" y="88"/>
                        </a:lnTo>
                        <a:lnTo>
                          <a:pt x="122" y="90"/>
                        </a:lnTo>
                        <a:lnTo>
                          <a:pt x="128" y="89"/>
                        </a:lnTo>
                        <a:lnTo>
                          <a:pt x="133" y="88"/>
                        </a:lnTo>
                        <a:lnTo>
                          <a:pt x="138" y="87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56" name="Freeform 1036"/>
                  <p:cNvSpPr/>
                  <p:nvPr/>
                </p:nvSpPr>
                <p:spPr>
                  <a:xfrm>
                    <a:off x="1900" y="1641"/>
                    <a:ext cx="39" cy="193"/>
                  </a:xfrm>
                  <a:custGeom>
                    <a:avLst/>
                    <a:gdLst/>
                    <a:ahLst/>
                    <a:cxnLst>
                      <a:cxn ang="0">
                        <a:pos x="20" y="0"/>
                      </a:cxn>
                      <a:cxn ang="0">
                        <a:pos x="25" y="9"/>
                      </a:cxn>
                      <a:cxn ang="0">
                        <a:pos x="28" y="15"/>
                      </a:cxn>
                      <a:cxn ang="0">
                        <a:pos x="34" y="24"/>
                      </a:cxn>
                      <a:cxn ang="0">
                        <a:pos x="36" y="33"/>
                      </a:cxn>
                      <a:cxn ang="0">
                        <a:pos x="37" y="43"/>
                      </a:cxn>
                      <a:cxn ang="0">
                        <a:pos x="37" y="56"/>
                      </a:cxn>
                      <a:cxn ang="0">
                        <a:pos x="38" y="64"/>
                      </a:cxn>
                      <a:cxn ang="0">
                        <a:pos x="37" y="75"/>
                      </a:cxn>
                      <a:cxn ang="0">
                        <a:pos x="36" y="86"/>
                      </a:cxn>
                      <a:cxn ang="0">
                        <a:pos x="34" y="97"/>
                      </a:cxn>
                      <a:cxn ang="0">
                        <a:pos x="31" y="113"/>
                      </a:cxn>
                      <a:cxn ang="0">
                        <a:pos x="29" y="122"/>
                      </a:cxn>
                      <a:cxn ang="0">
                        <a:pos x="24" y="132"/>
                      </a:cxn>
                      <a:cxn ang="0">
                        <a:pos x="18" y="144"/>
                      </a:cxn>
                      <a:cxn ang="0">
                        <a:pos x="12" y="155"/>
                      </a:cxn>
                      <a:cxn ang="0">
                        <a:pos x="7" y="165"/>
                      </a:cxn>
                      <a:cxn ang="0">
                        <a:pos x="3" y="174"/>
                      </a:cxn>
                      <a:cxn ang="0">
                        <a:pos x="0" y="192"/>
                      </a:cxn>
                      <a:cxn ang="0">
                        <a:pos x="1" y="174"/>
                      </a:cxn>
                      <a:cxn ang="0">
                        <a:pos x="3" y="162"/>
                      </a:cxn>
                      <a:cxn ang="0">
                        <a:pos x="4" y="151"/>
                      </a:cxn>
                      <a:cxn ang="0">
                        <a:pos x="5" y="139"/>
                      </a:cxn>
                      <a:cxn ang="0">
                        <a:pos x="7" y="124"/>
                      </a:cxn>
                      <a:cxn ang="0">
                        <a:pos x="10" y="113"/>
                      </a:cxn>
                      <a:cxn ang="0">
                        <a:pos x="12" y="102"/>
                      </a:cxn>
                      <a:cxn ang="0">
                        <a:pos x="15" y="93"/>
                      </a:cxn>
                      <a:cxn ang="0">
                        <a:pos x="18" y="82"/>
                      </a:cxn>
                      <a:cxn ang="0">
                        <a:pos x="20" y="72"/>
                      </a:cxn>
                      <a:cxn ang="0">
                        <a:pos x="22" y="61"/>
                      </a:cxn>
                      <a:cxn ang="0">
                        <a:pos x="23" y="52"/>
                      </a:cxn>
                      <a:cxn ang="0">
                        <a:pos x="24" y="41"/>
                      </a:cxn>
                      <a:cxn ang="0">
                        <a:pos x="24" y="30"/>
                      </a:cxn>
                      <a:cxn ang="0">
                        <a:pos x="24" y="15"/>
                      </a:cxn>
                      <a:cxn ang="0">
                        <a:pos x="22" y="8"/>
                      </a:cxn>
                      <a:cxn ang="0">
                        <a:pos x="20" y="0"/>
                      </a:cxn>
                    </a:cxnLst>
                    <a:rect l="0" t="0" r="0" b="0"/>
                    <a:pathLst>
                      <a:path w="39" h="193">
                        <a:moveTo>
                          <a:pt x="20" y="0"/>
                        </a:moveTo>
                        <a:lnTo>
                          <a:pt x="25" y="9"/>
                        </a:lnTo>
                        <a:lnTo>
                          <a:pt x="28" y="15"/>
                        </a:lnTo>
                        <a:lnTo>
                          <a:pt x="34" y="24"/>
                        </a:lnTo>
                        <a:lnTo>
                          <a:pt x="36" y="33"/>
                        </a:lnTo>
                        <a:lnTo>
                          <a:pt x="37" y="43"/>
                        </a:lnTo>
                        <a:lnTo>
                          <a:pt x="37" y="56"/>
                        </a:lnTo>
                        <a:lnTo>
                          <a:pt x="38" y="64"/>
                        </a:lnTo>
                        <a:lnTo>
                          <a:pt x="37" y="75"/>
                        </a:lnTo>
                        <a:lnTo>
                          <a:pt x="36" y="86"/>
                        </a:lnTo>
                        <a:lnTo>
                          <a:pt x="34" y="97"/>
                        </a:lnTo>
                        <a:lnTo>
                          <a:pt x="31" y="113"/>
                        </a:lnTo>
                        <a:lnTo>
                          <a:pt x="29" y="122"/>
                        </a:lnTo>
                        <a:lnTo>
                          <a:pt x="24" y="132"/>
                        </a:lnTo>
                        <a:lnTo>
                          <a:pt x="18" y="144"/>
                        </a:lnTo>
                        <a:lnTo>
                          <a:pt x="12" y="155"/>
                        </a:lnTo>
                        <a:lnTo>
                          <a:pt x="7" y="165"/>
                        </a:lnTo>
                        <a:lnTo>
                          <a:pt x="3" y="174"/>
                        </a:lnTo>
                        <a:lnTo>
                          <a:pt x="0" y="192"/>
                        </a:lnTo>
                        <a:lnTo>
                          <a:pt x="1" y="174"/>
                        </a:lnTo>
                        <a:lnTo>
                          <a:pt x="3" y="162"/>
                        </a:lnTo>
                        <a:lnTo>
                          <a:pt x="4" y="151"/>
                        </a:lnTo>
                        <a:lnTo>
                          <a:pt x="5" y="139"/>
                        </a:lnTo>
                        <a:lnTo>
                          <a:pt x="7" y="124"/>
                        </a:lnTo>
                        <a:lnTo>
                          <a:pt x="10" y="113"/>
                        </a:lnTo>
                        <a:lnTo>
                          <a:pt x="12" y="102"/>
                        </a:lnTo>
                        <a:lnTo>
                          <a:pt x="15" y="93"/>
                        </a:lnTo>
                        <a:lnTo>
                          <a:pt x="18" y="82"/>
                        </a:lnTo>
                        <a:lnTo>
                          <a:pt x="20" y="72"/>
                        </a:lnTo>
                        <a:lnTo>
                          <a:pt x="22" y="61"/>
                        </a:lnTo>
                        <a:lnTo>
                          <a:pt x="23" y="52"/>
                        </a:lnTo>
                        <a:lnTo>
                          <a:pt x="24" y="41"/>
                        </a:lnTo>
                        <a:lnTo>
                          <a:pt x="24" y="30"/>
                        </a:lnTo>
                        <a:lnTo>
                          <a:pt x="24" y="15"/>
                        </a:lnTo>
                        <a:lnTo>
                          <a:pt x="22" y="8"/>
                        </a:lnTo>
                        <a:lnTo>
                          <a:pt x="20" y="0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57" name="Freeform 1037"/>
                  <p:cNvSpPr/>
                  <p:nvPr/>
                </p:nvSpPr>
                <p:spPr>
                  <a:xfrm>
                    <a:off x="1716" y="1535"/>
                    <a:ext cx="171" cy="50"/>
                  </a:xfrm>
                  <a:custGeom>
                    <a:avLst/>
                    <a:gdLst/>
                    <a:ahLst/>
                    <a:cxnLst>
                      <a:cxn ang="0">
                        <a:pos x="170" y="49"/>
                      </a:cxn>
                      <a:cxn ang="0">
                        <a:pos x="167" y="40"/>
                      </a:cxn>
                      <a:cxn ang="0">
                        <a:pos x="163" y="33"/>
                      </a:cxn>
                      <a:cxn ang="0">
                        <a:pos x="160" y="31"/>
                      </a:cxn>
                      <a:cxn ang="0">
                        <a:pos x="153" y="29"/>
                      </a:cxn>
                      <a:cxn ang="0">
                        <a:pos x="147" y="27"/>
                      </a:cxn>
                      <a:cxn ang="0">
                        <a:pos x="140" y="29"/>
                      </a:cxn>
                      <a:cxn ang="0">
                        <a:pos x="132" y="30"/>
                      </a:cxn>
                      <a:cxn ang="0">
                        <a:pos x="123" y="27"/>
                      </a:cxn>
                      <a:cxn ang="0">
                        <a:pos x="111" y="22"/>
                      </a:cxn>
                      <a:cxn ang="0">
                        <a:pos x="100" y="18"/>
                      </a:cxn>
                      <a:cxn ang="0">
                        <a:pos x="92" y="16"/>
                      </a:cxn>
                      <a:cxn ang="0">
                        <a:pos x="80" y="12"/>
                      </a:cxn>
                      <a:cxn ang="0">
                        <a:pos x="67" y="8"/>
                      </a:cxn>
                      <a:cxn ang="0">
                        <a:pos x="55" y="5"/>
                      </a:cxn>
                      <a:cxn ang="0">
                        <a:pos x="42" y="1"/>
                      </a:cxn>
                      <a:cxn ang="0">
                        <a:pos x="28" y="1"/>
                      </a:cxn>
                      <a:cxn ang="0">
                        <a:pos x="15" y="0"/>
                      </a:cxn>
                      <a:cxn ang="0">
                        <a:pos x="12" y="1"/>
                      </a:cxn>
                      <a:cxn ang="0">
                        <a:pos x="7" y="4"/>
                      </a:cxn>
                      <a:cxn ang="0">
                        <a:pos x="3" y="7"/>
                      </a:cxn>
                      <a:cxn ang="0">
                        <a:pos x="0" y="11"/>
                      </a:cxn>
                      <a:cxn ang="0">
                        <a:pos x="5" y="11"/>
                      </a:cxn>
                      <a:cxn ang="0">
                        <a:pos x="12" y="12"/>
                      </a:cxn>
                      <a:cxn ang="0">
                        <a:pos x="19" y="12"/>
                      </a:cxn>
                      <a:cxn ang="0">
                        <a:pos x="23" y="11"/>
                      </a:cxn>
                      <a:cxn ang="0">
                        <a:pos x="30" y="11"/>
                      </a:cxn>
                      <a:cxn ang="0">
                        <a:pos x="39" y="11"/>
                      </a:cxn>
                      <a:cxn ang="0">
                        <a:pos x="51" y="11"/>
                      </a:cxn>
                      <a:cxn ang="0">
                        <a:pos x="61" y="12"/>
                      </a:cxn>
                      <a:cxn ang="0">
                        <a:pos x="71" y="14"/>
                      </a:cxn>
                      <a:cxn ang="0">
                        <a:pos x="81" y="15"/>
                      </a:cxn>
                      <a:cxn ang="0">
                        <a:pos x="91" y="16"/>
                      </a:cxn>
                      <a:cxn ang="0">
                        <a:pos x="99" y="19"/>
                      </a:cxn>
                      <a:cxn ang="0">
                        <a:pos x="108" y="23"/>
                      </a:cxn>
                      <a:cxn ang="0">
                        <a:pos x="116" y="27"/>
                      </a:cxn>
                      <a:cxn ang="0">
                        <a:pos x="125" y="31"/>
                      </a:cxn>
                      <a:cxn ang="0">
                        <a:pos x="129" y="32"/>
                      </a:cxn>
                      <a:cxn ang="0">
                        <a:pos x="134" y="31"/>
                      </a:cxn>
                      <a:cxn ang="0">
                        <a:pos x="140" y="34"/>
                      </a:cxn>
                      <a:cxn ang="0">
                        <a:pos x="146" y="37"/>
                      </a:cxn>
                      <a:cxn ang="0">
                        <a:pos x="152" y="40"/>
                      </a:cxn>
                      <a:cxn ang="0">
                        <a:pos x="161" y="44"/>
                      </a:cxn>
                      <a:cxn ang="0">
                        <a:pos x="167" y="46"/>
                      </a:cxn>
                      <a:cxn ang="0">
                        <a:pos x="170" y="49"/>
                      </a:cxn>
                    </a:cxnLst>
                    <a:rect l="0" t="0" r="0" b="0"/>
                    <a:pathLst>
                      <a:path w="171" h="50">
                        <a:moveTo>
                          <a:pt x="170" y="49"/>
                        </a:moveTo>
                        <a:lnTo>
                          <a:pt x="167" y="40"/>
                        </a:lnTo>
                        <a:lnTo>
                          <a:pt x="163" y="33"/>
                        </a:lnTo>
                        <a:lnTo>
                          <a:pt x="160" y="31"/>
                        </a:lnTo>
                        <a:lnTo>
                          <a:pt x="153" y="29"/>
                        </a:lnTo>
                        <a:lnTo>
                          <a:pt x="147" y="27"/>
                        </a:lnTo>
                        <a:lnTo>
                          <a:pt x="140" y="29"/>
                        </a:lnTo>
                        <a:lnTo>
                          <a:pt x="132" y="30"/>
                        </a:lnTo>
                        <a:lnTo>
                          <a:pt x="123" y="27"/>
                        </a:lnTo>
                        <a:lnTo>
                          <a:pt x="111" y="22"/>
                        </a:lnTo>
                        <a:lnTo>
                          <a:pt x="100" y="18"/>
                        </a:lnTo>
                        <a:lnTo>
                          <a:pt x="92" y="16"/>
                        </a:lnTo>
                        <a:lnTo>
                          <a:pt x="80" y="12"/>
                        </a:lnTo>
                        <a:lnTo>
                          <a:pt x="67" y="8"/>
                        </a:lnTo>
                        <a:lnTo>
                          <a:pt x="55" y="5"/>
                        </a:lnTo>
                        <a:lnTo>
                          <a:pt x="42" y="1"/>
                        </a:lnTo>
                        <a:lnTo>
                          <a:pt x="28" y="1"/>
                        </a:lnTo>
                        <a:lnTo>
                          <a:pt x="15" y="0"/>
                        </a:lnTo>
                        <a:lnTo>
                          <a:pt x="12" y="1"/>
                        </a:lnTo>
                        <a:lnTo>
                          <a:pt x="7" y="4"/>
                        </a:lnTo>
                        <a:lnTo>
                          <a:pt x="3" y="7"/>
                        </a:lnTo>
                        <a:lnTo>
                          <a:pt x="0" y="11"/>
                        </a:lnTo>
                        <a:lnTo>
                          <a:pt x="5" y="11"/>
                        </a:lnTo>
                        <a:lnTo>
                          <a:pt x="12" y="12"/>
                        </a:lnTo>
                        <a:lnTo>
                          <a:pt x="19" y="12"/>
                        </a:lnTo>
                        <a:lnTo>
                          <a:pt x="23" y="11"/>
                        </a:lnTo>
                        <a:lnTo>
                          <a:pt x="30" y="11"/>
                        </a:lnTo>
                        <a:lnTo>
                          <a:pt x="39" y="11"/>
                        </a:lnTo>
                        <a:lnTo>
                          <a:pt x="51" y="11"/>
                        </a:lnTo>
                        <a:lnTo>
                          <a:pt x="61" y="12"/>
                        </a:lnTo>
                        <a:lnTo>
                          <a:pt x="71" y="14"/>
                        </a:lnTo>
                        <a:lnTo>
                          <a:pt x="81" y="15"/>
                        </a:lnTo>
                        <a:lnTo>
                          <a:pt x="91" y="16"/>
                        </a:lnTo>
                        <a:lnTo>
                          <a:pt x="99" y="19"/>
                        </a:lnTo>
                        <a:lnTo>
                          <a:pt x="108" y="23"/>
                        </a:lnTo>
                        <a:lnTo>
                          <a:pt x="116" y="27"/>
                        </a:lnTo>
                        <a:lnTo>
                          <a:pt x="125" y="31"/>
                        </a:lnTo>
                        <a:lnTo>
                          <a:pt x="129" y="32"/>
                        </a:lnTo>
                        <a:lnTo>
                          <a:pt x="134" y="31"/>
                        </a:lnTo>
                        <a:lnTo>
                          <a:pt x="140" y="34"/>
                        </a:lnTo>
                        <a:lnTo>
                          <a:pt x="146" y="37"/>
                        </a:lnTo>
                        <a:lnTo>
                          <a:pt x="152" y="40"/>
                        </a:lnTo>
                        <a:lnTo>
                          <a:pt x="161" y="44"/>
                        </a:lnTo>
                        <a:lnTo>
                          <a:pt x="167" y="46"/>
                        </a:lnTo>
                        <a:lnTo>
                          <a:pt x="170" y="49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58" name="Freeform 1038"/>
                  <p:cNvSpPr/>
                  <p:nvPr/>
                </p:nvSpPr>
                <p:spPr>
                  <a:xfrm>
                    <a:off x="1707" y="1563"/>
                    <a:ext cx="177" cy="21"/>
                  </a:xfrm>
                  <a:custGeom>
                    <a:avLst/>
                    <a:gdLst/>
                    <a:ahLst/>
                    <a:cxnLst>
                      <a:cxn ang="0">
                        <a:pos x="176" y="20"/>
                      </a:cxn>
                      <a:cxn ang="0">
                        <a:pos x="171" y="18"/>
                      </a:cxn>
                      <a:cxn ang="0">
                        <a:pos x="166" y="16"/>
                      </a:cxn>
                      <a:cxn ang="0">
                        <a:pos x="161" y="13"/>
                      </a:cxn>
                      <a:cxn ang="0">
                        <a:pos x="155" y="12"/>
                      </a:cxn>
                      <a:cxn ang="0">
                        <a:pos x="149" y="10"/>
                      </a:cxn>
                      <a:cxn ang="0">
                        <a:pos x="141" y="6"/>
                      </a:cxn>
                      <a:cxn ang="0">
                        <a:pos x="134" y="3"/>
                      </a:cxn>
                      <a:cxn ang="0">
                        <a:pos x="128" y="2"/>
                      </a:cxn>
                      <a:cxn ang="0">
                        <a:pos x="120" y="3"/>
                      </a:cxn>
                      <a:cxn ang="0">
                        <a:pos x="110" y="5"/>
                      </a:cxn>
                      <a:cxn ang="0">
                        <a:pos x="106" y="5"/>
                      </a:cxn>
                      <a:cxn ang="0">
                        <a:pos x="93" y="3"/>
                      </a:cxn>
                      <a:cxn ang="0">
                        <a:pos x="78" y="1"/>
                      </a:cxn>
                      <a:cxn ang="0">
                        <a:pos x="69" y="0"/>
                      </a:cxn>
                      <a:cxn ang="0">
                        <a:pos x="57" y="0"/>
                      </a:cxn>
                      <a:cxn ang="0">
                        <a:pos x="44" y="0"/>
                      </a:cxn>
                      <a:cxn ang="0">
                        <a:pos x="36" y="1"/>
                      </a:cxn>
                      <a:cxn ang="0">
                        <a:pos x="27" y="2"/>
                      </a:cxn>
                      <a:cxn ang="0">
                        <a:pos x="18" y="3"/>
                      </a:cxn>
                      <a:cxn ang="0">
                        <a:pos x="9" y="4"/>
                      </a:cxn>
                      <a:cxn ang="0">
                        <a:pos x="8" y="8"/>
                      </a:cxn>
                      <a:cxn ang="0">
                        <a:pos x="7" y="11"/>
                      </a:cxn>
                      <a:cxn ang="0">
                        <a:pos x="4" y="15"/>
                      </a:cxn>
                      <a:cxn ang="0">
                        <a:pos x="0" y="17"/>
                      </a:cxn>
                      <a:cxn ang="0">
                        <a:pos x="7" y="16"/>
                      </a:cxn>
                      <a:cxn ang="0">
                        <a:pos x="15" y="14"/>
                      </a:cxn>
                      <a:cxn ang="0">
                        <a:pos x="22" y="12"/>
                      </a:cxn>
                      <a:cxn ang="0">
                        <a:pos x="29" y="11"/>
                      </a:cxn>
                      <a:cxn ang="0">
                        <a:pos x="37" y="10"/>
                      </a:cxn>
                      <a:cxn ang="0">
                        <a:pos x="50" y="10"/>
                      </a:cxn>
                      <a:cxn ang="0">
                        <a:pos x="63" y="8"/>
                      </a:cxn>
                      <a:cxn ang="0">
                        <a:pos x="79" y="8"/>
                      </a:cxn>
                      <a:cxn ang="0">
                        <a:pos x="94" y="7"/>
                      </a:cxn>
                      <a:cxn ang="0">
                        <a:pos x="108" y="6"/>
                      </a:cxn>
                      <a:cxn ang="0">
                        <a:pos x="120" y="7"/>
                      </a:cxn>
                      <a:cxn ang="0">
                        <a:pos x="129" y="10"/>
                      </a:cxn>
                      <a:cxn ang="0">
                        <a:pos x="138" y="12"/>
                      </a:cxn>
                      <a:cxn ang="0">
                        <a:pos x="148" y="14"/>
                      </a:cxn>
                      <a:cxn ang="0">
                        <a:pos x="159" y="17"/>
                      </a:cxn>
                      <a:cxn ang="0">
                        <a:pos x="167" y="18"/>
                      </a:cxn>
                      <a:cxn ang="0">
                        <a:pos x="176" y="20"/>
                      </a:cxn>
                    </a:cxnLst>
                    <a:rect l="0" t="0" r="0" b="0"/>
                    <a:pathLst>
                      <a:path w="177" h="21">
                        <a:moveTo>
                          <a:pt x="176" y="20"/>
                        </a:moveTo>
                        <a:lnTo>
                          <a:pt x="171" y="18"/>
                        </a:lnTo>
                        <a:lnTo>
                          <a:pt x="166" y="16"/>
                        </a:lnTo>
                        <a:lnTo>
                          <a:pt x="161" y="13"/>
                        </a:lnTo>
                        <a:lnTo>
                          <a:pt x="155" y="12"/>
                        </a:lnTo>
                        <a:lnTo>
                          <a:pt x="149" y="10"/>
                        </a:lnTo>
                        <a:lnTo>
                          <a:pt x="141" y="6"/>
                        </a:lnTo>
                        <a:lnTo>
                          <a:pt x="134" y="3"/>
                        </a:lnTo>
                        <a:lnTo>
                          <a:pt x="128" y="2"/>
                        </a:lnTo>
                        <a:lnTo>
                          <a:pt x="120" y="3"/>
                        </a:lnTo>
                        <a:lnTo>
                          <a:pt x="110" y="5"/>
                        </a:lnTo>
                        <a:lnTo>
                          <a:pt x="106" y="5"/>
                        </a:lnTo>
                        <a:lnTo>
                          <a:pt x="93" y="3"/>
                        </a:lnTo>
                        <a:lnTo>
                          <a:pt x="78" y="1"/>
                        </a:lnTo>
                        <a:lnTo>
                          <a:pt x="69" y="0"/>
                        </a:lnTo>
                        <a:lnTo>
                          <a:pt x="57" y="0"/>
                        </a:lnTo>
                        <a:lnTo>
                          <a:pt x="44" y="0"/>
                        </a:lnTo>
                        <a:lnTo>
                          <a:pt x="36" y="1"/>
                        </a:lnTo>
                        <a:lnTo>
                          <a:pt x="27" y="2"/>
                        </a:lnTo>
                        <a:lnTo>
                          <a:pt x="18" y="3"/>
                        </a:lnTo>
                        <a:lnTo>
                          <a:pt x="9" y="4"/>
                        </a:lnTo>
                        <a:lnTo>
                          <a:pt x="8" y="8"/>
                        </a:lnTo>
                        <a:lnTo>
                          <a:pt x="7" y="11"/>
                        </a:lnTo>
                        <a:lnTo>
                          <a:pt x="4" y="15"/>
                        </a:lnTo>
                        <a:lnTo>
                          <a:pt x="0" y="17"/>
                        </a:lnTo>
                        <a:lnTo>
                          <a:pt x="7" y="16"/>
                        </a:lnTo>
                        <a:lnTo>
                          <a:pt x="15" y="14"/>
                        </a:lnTo>
                        <a:lnTo>
                          <a:pt x="22" y="12"/>
                        </a:lnTo>
                        <a:lnTo>
                          <a:pt x="29" y="11"/>
                        </a:lnTo>
                        <a:lnTo>
                          <a:pt x="37" y="10"/>
                        </a:lnTo>
                        <a:lnTo>
                          <a:pt x="50" y="10"/>
                        </a:lnTo>
                        <a:lnTo>
                          <a:pt x="63" y="8"/>
                        </a:lnTo>
                        <a:lnTo>
                          <a:pt x="79" y="8"/>
                        </a:lnTo>
                        <a:lnTo>
                          <a:pt x="94" y="7"/>
                        </a:lnTo>
                        <a:lnTo>
                          <a:pt x="108" y="6"/>
                        </a:lnTo>
                        <a:lnTo>
                          <a:pt x="120" y="7"/>
                        </a:lnTo>
                        <a:lnTo>
                          <a:pt x="129" y="10"/>
                        </a:lnTo>
                        <a:lnTo>
                          <a:pt x="138" y="12"/>
                        </a:lnTo>
                        <a:lnTo>
                          <a:pt x="148" y="14"/>
                        </a:lnTo>
                        <a:lnTo>
                          <a:pt x="159" y="17"/>
                        </a:lnTo>
                        <a:lnTo>
                          <a:pt x="167" y="18"/>
                        </a:lnTo>
                        <a:lnTo>
                          <a:pt x="176" y="20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sp>
              <p:nvSpPr>
                <p:cNvPr id="31759" name="Freeform 1039"/>
                <p:cNvSpPr/>
                <p:nvPr/>
              </p:nvSpPr>
              <p:spPr>
                <a:xfrm>
                  <a:off x="1691" y="1023"/>
                  <a:ext cx="261" cy="374"/>
                </a:xfrm>
                <a:custGeom>
                  <a:avLst/>
                  <a:gdLst/>
                  <a:ahLst/>
                  <a:cxnLst>
                    <a:cxn ang="0">
                      <a:pos x="82" y="162"/>
                    </a:cxn>
                    <a:cxn ang="0">
                      <a:pos x="90" y="154"/>
                    </a:cxn>
                    <a:cxn ang="0">
                      <a:pos x="76" y="104"/>
                    </a:cxn>
                    <a:cxn ang="0">
                      <a:pos x="54" y="56"/>
                    </a:cxn>
                    <a:cxn ang="0">
                      <a:pos x="31" y="33"/>
                    </a:cxn>
                    <a:cxn ang="0">
                      <a:pos x="51" y="45"/>
                    </a:cxn>
                    <a:cxn ang="0">
                      <a:pos x="72" y="84"/>
                    </a:cxn>
                    <a:cxn ang="0">
                      <a:pos x="92" y="126"/>
                    </a:cxn>
                    <a:cxn ang="0">
                      <a:pos x="106" y="168"/>
                    </a:cxn>
                    <a:cxn ang="0">
                      <a:pos x="118" y="150"/>
                    </a:cxn>
                    <a:cxn ang="0">
                      <a:pos x="121" y="114"/>
                    </a:cxn>
                    <a:cxn ang="0">
                      <a:pos x="125" y="65"/>
                    </a:cxn>
                    <a:cxn ang="0">
                      <a:pos x="136" y="26"/>
                    </a:cxn>
                    <a:cxn ang="0">
                      <a:pos x="143" y="12"/>
                    </a:cxn>
                    <a:cxn ang="0">
                      <a:pos x="136" y="53"/>
                    </a:cxn>
                    <a:cxn ang="0">
                      <a:pos x="132" y="106"/>
                    </a:cxn>
                    <a:cxn ang="0">
                      <a:pos x="130" y="155"/>
                    </a:cxn>
                    <a:cxn ang="0">
                      <a:pos x="136" y="183"/>
                    </a:cxn>
                    <a:cxn ang="0">
                      <a:pos x="166" y="177"/>
                    </a:cxn>
                    <a:cxn ang="0">
                      <a:pos x="205" y="178"/>
                    </a:cxn>
                    <a:cxn ang="0">
                      <a:pos x="236" y="193"/>
                    </a:cxn>
                    <a:cxn ang="0">
                      <a:pos x="260" y="227"/>
                    </a:cxn>
                    <a:cxn ang="0">
                      <a:pos x="231" y="222"/>
                    </a:cxn>
                    <a:cxn ang="0">
                      <a:pos x="200" y="211"/>
                    </a:cxn>
                    <a:cxn ang="0">
                      <a:pos x="159" y="204"/>
                    </a:cxn>
                    <a:cxn ang="0">
                      <a:pos x="132" y="208"/>
                    </a:cxn>
                    <a:cxn ang="0">
                      <a:pos x="147" y="224"/>
                    </a:cxn>
                    <a:cxn ang="0">
                      <a:pos x="182" y="233"/>
                    </a:cxn>
                    <a:cxn ang="0">
                      <a:pos x="217" y="240"/>
                    </a:cxn>
                    <a:cxn ang="0">
                      <a:pos x="243" y="264"/>
                    </a:cxn>
                    <a:cxn ang="0">
                      <a:pos x="256" y="297"/>
                    </a:cxn>
                    <a:cxn ang="0">
                      <a:pos x="224" y="277"/>
                    </a:cxn>
                    <a:cxn ang="0">
                      <a:pos x="191" y="256"/>
                    </a:cxn>
                    <a:cxn ang="0">
                      <a:pos x="160" y="238"/>
                    </a:cxn>
                    <a:cxn ang="0">
                      <a:pos x="136" y="230"/>
                    </a:cxn>
                    <a:cxn ang="0">
                      <a:pos x="121" y="246"/>
                    </a:cxn>
                    <a:cxn ang="0">
                      <a:pos x="135" y="290"/>
                    </a:cxn>
                    <a:cxn ang="0">
                      <a:pos x="145" y="342"/>
                    </a:cxn>
                    <a:cxn ang="0">
                      <a:pos x="127" y="346"/>
                    </a:cxn>
                    <a:cxn ang="0">
                      <a:pos x="116" y="290"/>
                    </a:cxn>
                    <a:cxn ang="0">
                      <a:pos x="101" y="256"/>
                    </a:cxn>
                    <a:cxn ang="0">
                      <a:pos x="83" y="274"/>
                    </a:cxn>
                    <a:cxn ang="0">
                      <a:pos x="64" y="309"/>
                    </a:cxn>
                    <a:cxn ang="0">
                      <a:pos x="44" y="360"/>
                    </a:cxn>
                    <a:cxn ang="0">
                      <a:pos x="51" y="314"/>
                    </a:cxn>
                    <a:cxn ang="0">
                      <a:pos x="69" y="272"/>
                    </a:cxn>
                    <a:cxn ang="0">
                      <a:pos x="91" y="238"/>
                    </a:cxn>
                    <a:cxn ang="0">
                      <a:pos x="99" y="212"/>
                    </a:cxn>
                    <a:cxn ang="0">
                      <a:pos x="77" y="226"/>
                    </a:cxn>
                    <a:cxn ang="0">
                      <a:pos x="52" y="261"/>
                    </a:cxn>
                    <a:cxn ang="0">
                      <a:pos x="28" y="301"/>
                    </a:cxn>
                    <a:cxn ang="0">
                      <a:pos x="24" y="288"/>
                    </a:cxn>
                    <a:cxn ang="0">
                      <a:pos x="42" y="262"/>
                    </a:cxn>
                    <a:cxn ang="0">
                      <a:pos x="71" y="229"/>
                    </a:cxn>
                    <a:cxn ang="0">
                      <a:pos x="101" y="206"/>
                    </a:cxn>
                    <a:cxn ang="0">
                      <a:pos x="73" y="180"/>
                    </a:cxn>
                    <a:cxn ang="0">
                      <a:pos x="46" y="148"/>
                    </a:cxn>
                    <a:cxn ang="0">
                      <a:pos x="17" y="118"/>
                    </a:cxn>
                    <a:cxn ang="0">
                      <a:pos x="3" y="98"/>
                    </a:cxn>
                    <a:cxn ang="0">
                      <a:pos x="32" y="115"/>
                    </a:cxn>
                    <a:cxn ang="0">
                      <a:pos x="64" y="145"/>
                    </a:cxn>
                  </a:cxnLst>
                  <a:rect l="0" t="0" r="0" b="0"/>
                  <a:pathLst>
                    <a:path w="261" h="374">
                      <a:moveTo>
                        <a:pt x="64" y="145"/>
                      </a:moveTo>
                      <a:lnTo>
                        <a:pt x="68" y="150"/>
                      </a:lnTo>
                      <a:lnTo>
                        <a:pt x="72" y="154"/>
                      </a:lnTo>
                      <a:lnTo>
                        <a:pt x="77" y="157"/>
                      </a:lnTo>
                      <a:lnTo>
                        <a:pt x="82" y="162"/>
                      </a:lnTo>
                      <a:lnTo>
                        <a:pt x="86" y="165"/>
                      </a:lnTo>
                      <a:lnTo>
                        <a:pt x="91" y="168"/>
                      </a:lnTo>
                      <a:lnTo>
                        <a:pt x="94" y="170"/>
                      </a:lnTo>
                      <a:lnTo>
                        <a:pt x="92" y="162"/>
                      </a:lnTo>
                      <a:lnTo>
                        <a:pt x="90" y="154"/>
                      </a:lnTo>
                      <a:lnTo>
                        <a:pt x="87" y="143"/>
                      </a:lnTo>
                      <a:lnTo>
                        <a:pt x="85" y="134"/>
                      </a:lnTo>
                      <a:lnTo>
                        <a:pt x="82" y="124"/>
                      </a:lnTo>
                      <a:lnTo>
                        <a:pt x="80" y="114"/>
                      </a:lnTo>
                      <a:lnTo>
                        <a:pt x="76" y="104"/>
                      </a:lnTo>
                      <a:lnTo>
                        <a:pt x="72" y="93"/>
                      </a:lnTo>
                      <a:lnTo>
                        <a:pt x="68" y="84"/>
                      </a:lnTo>
                      <a:lnTo>
                        <a:pt x="63" y="71"/>
                      </a:lnTo>
                      <a:lnTo>
                        <a:pt x="59" y="63"/>
                      </a:lnTo>
                      <a:lnTo>
                        <a:pt x="54" y="56"/>
                      </a:lnTo>
                      <a:lnTo>
                        <a:pt x="50" y="48"/>
                      </a:lnTo>
                      <a:lnTo>
                        <a:pt x="44" y="42"/>
                      </a:lnTo>
                      <a:lnTo>
                        <a:pt x="39" y="38"/>
                      </a:lnTo>
                      <a:lnTo>
                        <a:pt x="34" y="35"/>
                      </a:lnTo>
                      <a:lnTo>
                        <a:pt x="31" y="33"/>
                      </a:lnTo>
                      <a:lnTo>
                        <a:pt x="35" y="32"/>
                      </a:lnTo>
                      <a:lnTo>
                        <a:pt x="37" y="33"/>
                      </a:lnTo>
                      <a:lnTo>
                        <a:pt x="41" y="34"/>
                      </a:lnTo>
                      <a:lnTo>
                        <a:pt x="45" y="39"/>
                      </a:lnTo>
                      <a:lnTo>
                        <a:pt x="51" y="45"/>
                      </a:lnTo>
                      <a:lnTo>
                        <a:pt x="55" y="50"/>
                      </a:lnTo>
                      <a:lnTo>
                        <a:pt x="58" y="56"/>
                      </a:lnTo>
                      <a:lnTo>
                        <a:pt x="63" y="64"/>
                      </a:lnTo>
                      <a:lnTo>
                        <a:pt x="68" y="75"/>
                      </a:lnTo>
                      <a:lnTo>
                        <a:pt x="72" y="84"/>
                      </a:lnTo>
                      <a:lnTo>
                        <a:pt x="77" y="94"/>
                      </a:lnTo>
                      <a:lnTo>
                        <a:pt x="81" y="101"/>
                      </a:lnTo>
                      <a:lnTo>
                        <a:pt x="86" y="109"/>
                      </a:lnTo>
                      <a:lnTo>
                        <a:pt x="89" y="117"/>
                      </a:lnTo>
                      <a:lnTo>
                        <a:pt x="92" y="126"/>
                      </a:lnTo>
                      <a:lnTo>
                        <a:pt x="95" y="135"/>
                      </a:lnTo>
                      <a:lnTo>
                        <a:pt x="99" y="143"/>
                      </a:lnTo>
                      <a:lnTo>
                        <a:pt x="101" y="151"/>
                      </a:lnTo>
                      <a:lnTo>
                        <a:pt x="104" y="161"/>
                      </a:lnTo>
                      <a:lnTo>
                        <a:pt x="106" y="168"/>
                      </a:lnTo>
                      <a:lnTo>
                        <a:pt x="107" y="171"/>
                      </a:lnTo>
                      <a:lnTo>
                        <a:pt x="110" y="168"/>
                      </a:lnTo>
                      <a:lnTo>
                        <a:pt x="113" y="164"/>
                      </a:lnTo>
                      <a:lnTo>
                        <a:pt x="117" y="159"/>
                      </a:lnTo>
                      <a:lnTo>
                        <a:pt x="118" y="150"/>
                      </a:lnTo>
                      <a:lnTo>
                        <a:pt x="119" y="143"/>
                      </a:lnTo>
                      <a:lnTo>
                        <a:pt x="120" y="133"/>
                      </a:lnTo>
                      <a:lnTo>
                        <a:pt x="121" y="124"/>
                      </a:lnTo>
                      <a:lnTo>
                        <a:pt x="120" y="124"/>
                      </a:lnTo>
                      <a:lnTo>
                        <a:pt x="121" y="114"/>
                      </a:lnTo>
                      <a:lnTo>
                        <a:pt x="121" y="103"/>
                      </a:lnTo>
                      <a:lnTo>
                        <a:pt x="122" y="92"/>
                      </a:lnTo>
                      <a:lnTo>
                        <a:pt x="122" y="82"/>
                      </a:lnTo>
                      <a:lnTo>
                        <a:pt x="123" y="75"/>
                      </a:lnTo>
                      <a:lnTo>
                        <a:pt x="125" y="65"/>
                      </a:lnTo>
                      <a:lnTo>
                        <a:pt x="127" y="58"/>
                      </a:lnTo>
                      <a:lnTo>
                        <a:pt x="128" y="50"/>
                      </a:lnTo>
                      <a:lnTo>
                        <a:pt x="131" y="44"/>
                      </a:lnTo>
                      <a:lnTo>
                        <a:pt x="133" y="36"/>
                      </a:lnTo>
                      <a:lnTo>
                        <a:pt x="136" y="26"/>
                      </a:lnTo>
                      <a:lnTo>
                        <a:pt x="139" y="16"/>
                      </a:lnTo>
                      <a:lnTo>
                        <a:pt x="140" y="7"/>
                      </a:lnTo>
                      <a:lnTo>
                        <a:pt x="143" y="0"/>
                      </a:lnTo>
                      <a:lnTo>
                        <a:pt x="144" y="6"/>
                      </a:lnTo>
                      <a:lnTo>
                        <a:pt x="143" y="12"/>
                      </a:lnTo>
                      <a:lnTo>
                        <a:pt x="142" y="21"/>
                      </a:lnTo>
                      <a:lnTo>
                        <a:pt x="140" y="28"/>
                      </a:lnTo>
                      <a:lnTo>
                        <a:pt x="138" y="40"/>
                      </a:lnTo>
                      <a:lnTo>
                        <a:pt x="137" y="47"/>
                      </a:lnTo>
                      <a:lnTo>
                        <a:pt x="136" y="53"/>
                      </a:lnTo>
                      <a:lnTo>
                        <a:pt x="135" y="62"/>
                      </a:lnTo>
                      <a:lnTo>
                        <a:pt x="134" y="72"/>
                      </a:lnTo>
                      <a:lnTo>
                        <a:pt x="134" y="83"/>
                      </a:lnTo>
                      <a:lnTo>
                        <a:pt x="133" y="94"/>
                      </a:lnTo>
                      <a:lnTo>
                        <a:pt x="132" y="106"/>
                      </a:lnTo>
                      <a:lnTo>
                        <a:pt x="132" y="116"/>
                      </a:lnTo>
                      <a:lnTo>
                        <a:pt x="132" y="126"/>
                      </a:lnTo>
                      <a:lnTo>
                        <a:pt x="131" y="134"/>
                      </a:lnTo>
                      <a:lnTo>
                        <a:pt x="131" y="145"/>
                      </a:lnTo>
                      <a:lnTo>
                        <a:pt x="130" y="155"/>
                      </a:lnTo>
                      <a:lnTo>
                        <a:pt x="128" y="168"/>
                      </a:lnTo>
                      <a:lnTo>
                        <a:pt x="127" y="178"/>
                      </a:lnTo>
                      <a:lnTo>
                        <a:pt x="125" y="190"/>
                      </a:lnTo>
                      <a:lnTo>
                        <a:pt x="130" y="187"/>
                      </a:lnTo>
                      <a:lnTo>
                        <a:pt x="136" y="183"/>
                      </a:lnTo>
                      <a:lnTo>
                        <a:pt x="143" y="178"/>
                      </a:lnTo>
                      <a:lnTo>
                        <a:pt x="149" y="176"/>
                      </a:lnTo>
                      <a:lnTo>
                        <a:pt x="156" y="176"/>
                      </a:lnTo>
                      <a:lnTo>
                        <a:pt x="160" y="176"/>
                      </a:lnTo>
                      <a:lnTo>
                        <a:pt x="166" y="177"/>
                      </a:lnTo>
                      <a:lnTo>
                        <a:pt x="173" y="178"/>
                      </a:lnTo>
                      <a:lnTo>
                        <a:pt x="182" y="179"/>
                      </a:lnTo>
                      <a:lnTo>
                        <a:pt x="190" y="178"/>
                      </a:lnTo>
                      <a:lnTo>
                        <a:pt x="198" y="178"/>
                      </a:lnTo>
                      <a:lnTo>
                        <a:pt x="205" y="178"/>
                      </a:lnTo>
                      <a:lnTo>
                        <a:pt x="211" y="179"/>
                      </a:lnTo>
                      <a:lnTo>
                        <a:pt x="217" y="182"/>
                      </a:lnTo>
                      <a:lnTo>
                        <a:pt x="225" y="185"/>
                      </a:lnTo>
                      <a:lnTo>
                        <a:pt x="231" y="189"/>
                      </a:lnTo>
                      <a:lnTo>
                        <a:pt x="236" y="193"/>
                      </a:lnTo>
                      <a:lnTo>
                        <a:pt x="242" y="199"/>
                      </a:lnTo>
                      <a:lnTo>
                        <a:pt x="245" y="202"/>
                      </a:lnTo>
                      <a:lnTo>
                        <a:pt x="251" y="210"/>
                      </a:lnTo>
                      <a:lnTo>
                        <a:pt x="255" y="218"/>
                      </a:lnTo>
                      <a:lnTo>
                        <a:pt x="260" y="227"/>
                      </a:lnTo>
                      <a:lnTo>
                        <a:pt x="254" y="227"/>
                      </a:lnTo>
                      <a:lnTo>
                        <a:pt x="248" y="226"/>
                      </a:lnTo>
                      <a:lnTo>
                        <a:pt x="241" y="224"/>
                      </a:lnTo>
                      <a:lnTo>
                        <a:pt x="235" y="224"/>
                      </a:lnTo>
                      <a:lnTo>
                        <a:pt x="231" y="222"/>
                      </a:lnTo>
                      <a:lnTo>
                        <a:pt x="224" y="218"/>
                      </a:lnTo>
                      <a:lnTo>
                        <a:pt x="218" y="216"/>
                      </a:lnTo>
                      <a:lnTo>
                        <a:pt x="213" y="213"/>
                      </a:lnTo>
                      <a:lnTo>
                        <a:pt x="209" y="212"/>
                      </a:lnTo>
                      <a:lnTo>
                        <a:pt x="200" y="211"/>
                      </a:lnTo>
                      <a:lnTo>
                        <a:pt x="190" y="210"/>
                      </a:lnTo>
                      <a:lnTo>
                        <a:pt x="182" y="208"/>
                      </a:lnTo>
                      <a:lnTo>
                        <a:pt x="173" y="206"/>
                      </a:lnTo>
                      <a:lnTo>
                        <a:pt x="165" y="205"/>
                      </a:lnTo>
                      <a:lnTo>
                        <a:pt x="159" y="204"/>
                      </a:lnTo>
                      <a:lnTo>
                        <a:pt x="154" y="204"/>
                      </a:lnTo>
                      <a:lnTo>
                        <a:pt x="148" y="203"/>
                      </a:lnTo>
                      <a:lnTo>
                        <a:pt x="142" y="204"/>
                      </a:lnTo>
                      <a:lnTo>
                        <a:pt x="137" y="205"/>
                      </a:lnTo>
                      <a:lnTo>
                        <a:pt x="132" y="208"/>
                      </a:lnTo>
                      <a:lnTo>
                        <a:pt x="125" y="210"/>
                      </a:lnTo>
                      <a:lnTo>
                        <a:pt x="130" y="213"/>
                      </a:lnTo>
                      <a:lnTo>
                        <a:pt x="136" y="217"/>
                      </a:lnTo>
                      <a:lnTo>
                        <a:pt x="141" y="222"/>
                      </a:lnTo>
                      <a:lnTo>
                        <a:pt x="147" y="224"/>
                      </a:lnTo>
                      <a:lnTo>
                        <a:pt x="154" y="227"/>
                      </a:lnTo>
                      <a:lnTo>
                        <a:pt x="160" y="229"/>
                      </a:lnTo>
                      <a:lnTo>
                        <a:pt x="166" y="229"/>
                      </a:lnTo>
                      <a:lnTo>
                        <a:pt x="173" y="231"/>
                      </a:lnTo>
                      <a:lnTo>
                        <a:pt x="182" y="233"/>
                      </a:lnTo>
                      <a:lnTo>
                        <a:pt x="189" y="235"/>
                      </a:lnTo>
                      <a:lnTo>
                        <a:pt x="197" y="235"/>
                      </a:lnTo>
                      <a:lnTo>
                        <a:pt x="203" y="237"/>
                      </a:lnTo>
                      <a:lnTo>
                        <a:pt x="210" y="239"/>
                      </a:lnTo>
                      <a:lnTo>
                        <a:pt x="217" y="240"/>
                      </a:lnTo>
                      <a:lnTo>
                        <a:pt x="222" y="243"/>
                      </a:lnTo>
                      <a:lnTo>
                        <a:pt x="227" y="247"/>
                      </a:lnTo>
                      <a:lnTo>
                        <a:pt x="232" y="252"/>
                      </a:lnTo>
                      <a:lnTo>
                        <a:pt x="238" y="257"/>
                      </a:lnTo>
                      <a:lnTo>
                        <a:pt x="243" y="264"/>
                      </a:lnTo>
                      <a:lnTo>
                        <a:pt x="245" y="268"/>
                      </a:lnTo>
                      <a:lnTo>
                        <a:pt x="248" y="275"/>
                      </a:lnTo>
                      <a:lnTo>
                        <a:pt x="250" y="283"/>
                      </a:lnTo>
                      <a:lnTo>
                        <a:pt x="253" y="291"/>
                      </a:lnTo>
                      <a:lnTo>
                        <a:pt x="256" y="297"/>
                      </a:lnTo>
                      <a:lnTo>
                        <a:pt x="250" y="293"/>
                      </a:lnTo>
                      <a:lnTo>
                        <a:pt x="243" y="289"/>
                      </a:lnTo>
                      <a:lnTo>
                        <a:pt x="238" y="286"/>
                      </a:lnTo>
                      <a:lnTo>
                        <a:pt x="231" y="281"/>
                      </a:lnTo>
                      <a:lnTo>
                        <a:pt x="224" y="277"/>
                      </a:lnTo>
                      <a:lnTo>
                        <a:pt x="218" y="273"/>
                      </a:lnTo>
                      <a:lnTo>
                        <a:pt x="211" y="269"/>
                      </a:lnTo>
                      <a:lnTo>
                        <a:pt x="204" y="264"/>
                      </a:lnTo>
                      <a:lnTo>
                        <a:pt x="198" y="260"/>
                      </a:lnTo>
                      <a:lnTo>
                        <a:pt x="191" y="256"/>
                      </a:lnTo>
                      <a:lnTo>
                        <a:pt x="186" y="252"/>
                      </a:lnTo>
                      <a:lnTo>
                        <a:pt x="179" y="248"/>
                      </a:lnTo>
                      <a:lnTo>
                        <a:pt x="173" y="245"/>
                      </a:lnTo>
                      <a:lnTo>
                        <a:pt x="166" y="241"/>
                      </a:lnTo>
                      <a:lnTo>
                        <a:pt x="160" y="238"/>
                      </a:lnTo>
                      <a:lnTo>
                        <a:pt x="155" y="237"/>
                      </a:lnTo>
                      <a:lnTo>
                        <a:pt x="150" y="234"/>
                      </a:lnTo>
                      <a:lnTo>
                        <a:pt x="144" y="231"/>
                      </a:lnTo>
                      <a:lnTo>
                        <a:pt x="140" y="229"/>
                      </a:lnTo>
                      <a:lnTo>
                        <a:pt x="136" y="230"/>
                      </a:lnTo>
                      <a:lnTo>
                        <a:pt x="131" y="231"/>
                      </a:lnTo>
                      <a:lnTo>
                        <a:pt x="128" y="231"/>
                      </a:lnTo>
                      <a:lnTo>
                        <a:pt x="123" y="229"/>
                      </a:lnTo>
                      <a:lnTo>
                        <a:pt x="123" y="237"/>
                      </a:lnTo>
                      <a:lnTo>
                        <a:pt x="121" y="246"/>
                      </a:lnTo>
                      <a:lnTo>
                        <a:pt x="124" y="254"/>
                      </a:lnTo>
                      <a:lnTo>
                        <a:pt x="127" y="263"/>
                      </a:lnTo>
                      <a:lnTo>
                        <a:pt x="130" y="271"/>
                      </a:lnTo>
                      <a:lnTo>
                        <a:pt x="132" y="280"/>
                      </a:lnTo>
                      <a:lnTo>
                        <a:pt x="135" y="290"/>
                      </a:lnTo>
                      <a:lnTo>
                        <a:pt x="138" y="302"/>
                      </a:lnTo>
                      <a:lnTo>
                        <a:pt x="139" y="311"/>
                      </a:lnTo>
                      <a:lnTo>
                        <a:pt x="142" y="321"/>
                      </a:lnTo>
                      <a:lnTo>
                        <a:pt x="143" y="330"/>
                      </a:lnTo>
                      <a:lnTo>
                        <a:pt x="145" y="342"/>
                      </a:lnTo>
                      <a:lnTo>
                        <a:pt x="148" y="355"/>
                      </a:lnTo>
                      <a:lnTo>
                        <a:pt x="150" y="373"/>
                      </a:lnTo>
                      <a:lnTo>
                        <a:pt x="130" y="373"/>
                      </a:lnTo>
                      <a:lnTo>
                        <a:pt x="128" y="357"/>
                      </a:lnTo>
                      <a:lnTo>
                        <a:pt x="127" y="346"/>
                      </a:lnTo>
                      <a:lnTo>
                        <a:pt x="124" y="332"/>
                      </a:lnTo>
                      <a:lnTo>
                        <a:pt x="122" y="319"/>
                      </a:lnTo>
                      <a:lnTo>
                        <a:pt x="120" y="308"/>
                      </a:lnTo>
                      <a:lnTo>
                        <a:pt x="118" y="298"/>
                      </a:lnTo>
                      <a:lnTo>
                        <a:pt x="116" y="290"/>
                      </a:lnTo>
                      <a:lnTo>
                        <a:pt x="113" y="279"/>
                      </a:lnTo>
                      <a:lnTo>
                        <a:pt x="109" y="269"/>
                      </a:lnTo>
                      <a:lnTo>
                        <a:pt x="107" y="260"/>
                      </a:lnTo>
                      <a:lnTo>
                        <a:pt x="104" y="258"/>
                      </a:lnTo>
                      <a:lnTo>
                        <a:pt x="101" y="256"/>
                      </a:lnTo>
                      <a:lnTo>
                        <a:pt x="98" y="254"/>
                      </a:lnTo>
                      <a:lnTo>
                        <a:pt x="96" y="255"/>
                      </a:lnTo>
                      <a:lnTo>
                        <a:pt x="93" y="260"/>
                      </a:lnTo>
                      <a:lnTo>
                        <a:pt x="87" y="268"/>
                      </a:lnTo>
                      <a:lnTo>
                        <a:pt x="83" y="274"/>
                      </a:lnTo>
                      <a:lnTo>
                        <a:pt x="79" y="280"/>
                      </a:lnTo>
                      <a:lnTo>
                        <a:pt x="76" y="288"/>
                      </a:lnTo>
                      <a:lnTo>
                        <a:pt x="72" y="293"/>
                      </a:lnTo>
                      <a:lnTo>
                        <a:pt x="68" y="301"/>
                      </a:lnTo>
                      <a:lnTo>
                        <a:pt x="64" y="309"/>
                      </a:lnTo>
                      <a:lnTo>
                        <a:pt x="61" y="318"/>
                      </a:lnTo>
                      <a:lnTo>
                        <a:pt x="57" y="327"/>
                      </a:lnTo>
                      <a:lnTo>
                        <a:pt x="53" y="337"/>
                      </a:lnTo>
                      <a:lnTo>
                        <a:pt x="49" y="348"/>
                      </a:lnTo>
                      <a:lnTo>
                        <a:pt x="44" y="360"/>
                      </a:lnTo>
                      <a:lnTo>
                        <a:pt x="46" y="346"/>
                      </a:lnTo>
                      <a:lnTo>
                        <a:pt x="47" y="336"/>
                      </a:lnTo>
                      <a:lnTo>
                        <a:pt x="48" y="325"/>
                      </a:lnTo>
                      <a:lnTo>
                        <a:pt x="50" y="319"/>
                      </a:lnTo>
                      <a:lnTo>
                        <a:pt x="51" y="314"/>
                      </a:lnTo>
                      <a:lnTo>
                        <a:pt x="54" y="305"/>
                      </a:lnTo>
                      <a:lnTo>
                        <a:pt x="57" y="295"/>
                      </a:lnTo>
                      <a:lnTo>
                        <a:pt x="59" y="288"/>
                      </a:lnTo>
                      <a:lnTo>
                        <a:pt x="64" y="280"/>
                      </a:lnTo>
                      <a:lnTo>
                        <a:pt x="69" y="272"/>
                      </a:lnTo>
                      <a:lnTo>
                        <a:pt x="73" y="263"/>
                      </a:lnTo>
                      <a:lnTo>
                        <a:pt x="78" y="254"/>
                      </a:lnTo>
                      <a:lnTo>
                        <a:pt x="81" y="249"/>
                      </a:lnTo>
                      <a:lnTo>
                        <a:pt x="86" y="244"/>
                      </a:lnTo>
                      <a:lnTo>
                        <a:pt x="91" y="238"/>
                      </a:lnTo>
                      <a:lnTo>
                        <a:pt x="95" y="232"/>
                      </a:lnTo>
                      <a:lnTo>
                        <a:pt x="100" y="226"/>
                      </a:lnTo>
                      <a:lnTo>
                        <a:pt x="105" y="218"/>
                      </a:lnTo>
                      <a:lnTo>
                        <a:pt x="103" y="216"/>
                      </a:lnTo>
                      <a:lnTo>
                        <a:pt x="99" y="212"/>
                      </a:lnTo>
                      <a:lnTo>
                        <a:pt x="96" y="210"/>
                      </a:lnTo>
                      <a:lnTo>
                        <a:pt x="93" y="211"/>
                      </a:lnTo>
                      <a:lnTo>
                        <a:pt x="87" y="216"/>
                      </a:lnTo>
                      <a:lnTo>
                        <a:pt x="82" y="221"/>
                      </a:lnTo>
                      <a:lnTo>
                        <a:pt x="77" y="226"/>
                      </a:lnTo>
                      <a:lnTo>
                        <a:pt x="72" y="232"/>
                      </a:lnTo>
                      <a:lnTo>
                        <a:pt x="67" y="241"/>
                      </a:lnTo>
                      <a:lnTo>
                        <a:pt x="61" y="249"/>
                      </a:lnTo>
                      <a:lnTo>
                        <a:pt x="56" y="255"/>
                      </a:lnTo>
                      <a:lnTo>
                        <a:pt x="52" y="261"/>
                      </a:lnTo>
                      <a:lnTo>
                        <a:pt x="47" y="268"/>
                      </a:lnTo>
                      <a:lnTo>
                        <a:pt x="42" y="276"/>
                      </a:lnTo>
                      <a:lnTo>
                        <a:pt x="38" y="284"/>
                      </a:lnTo>
                      <a:lnTo>
                        <a:pt x="33" y="293"/>
                      </a:lnTo>
                      <a:lnTo>
                        <a:pt x="28" y="301"/>
                      </a:lnTo>
                      <a:lnTo>
                        <a:pt x="24" y="310"/>
                      </a:lnTo>
                      <a:lnTo>
                        <a:pt x="18" y="321"/>
                      </a:lnTo>
                      <a:lnTo>
                        <a:pt x="21" y="307"/>
                      </a:lnTo>
                      <a:lnTo>
                        <a:pt x="22" y="297"/>
                      </a:lnTo>
                      <a:lnTo>
                        <a:pt x="24" y="288"/>
                      </a:lnTo>
                      <a:lnTo>
                        <a:pt x="25" y="286"/>
                      </a:lnTo>
                      <a:lnTo>
                        <a:pt x="28" y="281"/>
                      </a:lnTo>
                      <a:lnTo>
                        <a:pt x="32" y="275"/>
                      </a:lnTo>
                      <a:lnTo>
                        <a:pt x="37" y="269"/>
                      </a:lnTo>
                      <a:lnTo>
                        <a:pt x="42" y="262"/>
                      </a:lnTo>
                      <a:lnTo>
                        <a:pt x="47" y="256"/>
                      </a:lnTo>
                      <a:lnTo>
                        <a:pt x="54" y="248"/>
                      </a:lnTo>
                      <a:lnTo>
                        <a:pt x="58" y="243"/>
                      </a:lnTo>
                      <a:lnTo>
                        <a:pt x="64" y="236"/>
                      </a:lnTo>
                      <a:lnTo>
                        <a:pt x="71" y="229"/>
                      </a:lnTo>
                      <a:lnTo>
                        <a:pt x="77" y="224"/>
                      </a:lnTo>
                      <a:lnTo>
                        <a:pt x="83" y="218"/>
                      </a:lnTo>
                      <a:lnTo>
                        <a:pt x="93" y="210"/>
                      </a:lnTo>
                      <a:lnTo>
                        <a:pt x="98" y="208"/>
                      </a:lnTo>
                      <a:lnTo>
                        <a:pt x="101" y="206"/>
                      </a:lnTo>
                      <a:lnTo>
                        <a:pt x="95" y="202"/>
                      </a:lnTo>
                      <a:lnTo>
                        <a:pt x="90" y="196"/>
                      </a:lnTo>
                      <a:lnTo>
                        <a:pt x="84" y="190"/>
                      </a:lnTo>
                      <a:lnTo>
                        <a:pt x="79" y="185"/>
                      </a:lnTo>
                      <a:lnTo>
                        <a:pt x="73" y="180"/>
                      </a:lnTo>
                      <a:lnTo>
                        <a:pt x="69" y="176"/>
                      </a:lnTo>
                      <a:lnTo>
                        <a:pt x="65" y="170"/>
                      </a:lnTo>
                      <a:lnTo>
                        <a:pt x="58" y="163"/>
                      </a:lnTo>
                      <a:lnTo>
                        <a:pt x="52" y="156"/>
                      </a:lnTo>
                      <a:lnTo>
                        <a:pt x="46" y="148"/>
                      </a:lnTo>
                      <a:lnTo>
                        <a:pt x="39" y="141"/>
                      </a:lnTo>
                      <a:lnTo>
                        <a:pt x="33" y="136"/>
                      </a:lnTo>
                      <a:lnTo>
                        <a:pt x="26" y="129"/>
                      </a:lnTo>
                      <a:lnTo>
                        <a:pt x="22" y="125"/>
                      </a:lnTo>
                      <a:lnTo>
                        <a:pt x="17" y="118"/>
                      </a:lnTo>
                      <a:lnTo>
                        <a:pt x="14" y="112"/>
                      </a:lnTo>
                      <a:lnTo>
                        <a:pt x="10" y="108"/>
                      </a:lnTo>
                      <a:lnTo>
                        <a:pt x="4" y="102"/>
                      </a:lnTo>
                      <a:lnTo>
                        <a:pt x="0" y="98"/>
                      </a:lnTo>
                      <a:lnTo>
                        <a:pt x="3" y="98"/>
                      </a:lnTo>
                      <a:lnTo>
                        <a:pt x="9" y="100"/>
                      </a:lnTo>
                      <a:lnTo>
                        <a:pt x="14" y="101"/>
                      </a:lnTo>
                      <a:lnTo>
                        <a:pt x="20" y="104"/>
                      </a:lnTo>
                      <a:lnTo>
                        <a:pt x="25" y="109"/>
                      </a:lnTo>
                      <a:lnTo>
                        <a:pt x="32" y="115"/>
                      </a:lnTo>
                      <a:lnTo>
                        <a:pt x="38" y="120"/>
                      </a:lnTo>
                      <a:lnTo>
                        <a:pt x="45" y="125"/>
                      </a:lnTo>
                      <a:lnTo>
                        <a:pt x="51" y="132"/>
                      </a:lnTo>
                      <a:lnTo>
                        <a:pt x="58" y="139"/>
                      </a:lnTo>
                      <a:lnTo>
                        <a:pt x="64" y="145"/>
                      </a:lnTo>
                    </a:path>
                  </a:pathLst>
                </a:custGeom>
                <a:solidFill>
                  <a:srgbClr val="037C03">
                    <a:alpha val="50195"/>
                  </a:srgbClr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760" name="Group 1040"/>
              <p:cNvGrpSpPr/>
              <p:nvPr/>
            </p:nvGrpSpPr>
            <p:grpSpPr>
              <a:xfrm>
                <a:off x="300" y="3360"/>
                <a:ext cx="508" cy="820"/>
                <a:chOff x="1985" y="1201"/>
                <a:chExt cx="508" cy="820"/>
              </a:xfrm>
            </p:grpSpPr>
            <p:grpSp>
              <p:nvGrpSpPr>
                <p:cNvPr id="31761" name="Group 1041"/>
                <p:cNvGrpSpPr/>
                <p:nvPr/>
              </p:nvGrpSpPr>
              <p:grpSpPr>
                <a:xfrm>
                  <a:off x="2247" y="1201"/>
                  <a:ext cx="246" cy="810"/>
                  <a:chOff x="2247" y="1201"/>
                  <a:chExt cx="246" cy="810"/>
                </a:xfrm>
              </p:grpSpPr>
              <p:sp>
                <p:nvSpPr>
                  <p:cNvPr id="31762" name="Freeform 1042"/>
                  <p:cNvSpPr/>
                  <p:nvPr/>
                </p:nvSpPr>
                <p:spPr>
                  <a:xfrm>
                    <a:off x="2392" y="1373"/>
                    <a:ext cx="92" cy="638"/>
                  </a:xfrm>
                  <a:custGeom>
                    <a:avLst/>
                    <a:gdLst/>
                    <a:ahLst/>
                    <a:cxnLst>
                      <a:cxn ang="0">
                        <a:pos x="91" y="296"/>
                      </a:cxn>
                      <a:cxn ang="0">
                        <a:pos x="83" y="425"/>
                      </a:cxn>
                      <a:cxn ang="0">
                        <a:pos x="75" y="529"/>
                      </a:cxn>
                      <a:cxn ang="0">
                        <a:pos x="70" y="606"/>
                      </a:cxn>
                      <a:cxn ang="0">
                        <a:pos x="71" y="637"/>
                      </a:cxn>
                      <a:cxn ang="0">
                        <a:pos x="60" y="637"/>
                      </a:cxn>
                      <a:cxn ang="0">
                        <a:pos x="57" y="592"/>
                      </a:cxn>
                      <a:cxn ang="0">
                        <a:pos x="55" y="524"/>
                      </a:cxn>
                      <a:cxn ang="0">
                        <a:pos x="51" y="461"/>
                      </a:cxn>
                      <a:cxn ang="0">
                        <a:pos x="49" y="414"/>
                      </a:cxn>
                      <a:cxn ang="0">
                        <a:pos x="45" y="345"/>
                      </a:cxn>
                      <a:cxn ang="0">
                        <a:pos x="40" y="285"/>
                      </a:cxn>
                      <a:cxn ang="0">
                        <a:pos x="35" y="233"/>
                      </a:cxn>
                      <a:cxn ang="0">
                        <a:pos x="31" y="177"/>
                      </a:cxn>
                      <a:cxn ang="0">
                        <a:pos x="24" y="121"/>
                      </a:cxn>
                      <a:cxn ang="0">
                        <a:pos x="17" y="74"/>
                      </a:cxn>
                      <a:cxn ang="0">
                        <a:pos x="4" y="28"/>
                      </a:cxn>
                      <a:cxn ang="0">
                        <a:pos x="0" y="10"/>
                      </a:cxn>
                      <a:cxn ang="0">
                        <a:pos x="5" y="0"/>
                      </a:cxn>
                      <a:cxn ang="0">
                        <a:pos x="13" y="18"/>
                      </a:cxn>
                      <a:cxn ang="0">
                        <a:pos x="24" y="61"/>
                      </a:cxn>
                      <a:cxn ang="0">
                        <a:pos x="33" y="104"/>
                      </a:cxn>
                      <a:cxn ang="0">
                        <a:pos x="40" y="150"/>
                      </a:cxn>
                      <a:cxn ang="0">
                        <a:pos x="44" y="208"/>
                      </a:cxn>
                      <a:cxn ang="0">
                        <a:pos x="48" y="263"/>
                      </a:cxn>
                      <a:cxn ang="0">
                        <a:pos x="55" y="337"/>
                      </a:cxn>
                      <a:cxn ang="0">
                        <a:pos x="59" y="398"/>
                      </a:cxn>
                      <a:cxn ang="0">
                        <a:pos x="61" y="447"/>
                      </a:cxn>
                      <a:cxn ang="0">
                        <a:pos x="63" y="498"/>
                      </a:cxn>
                      <a:cxn ang="0">
                        <a:pos x="68" y="550"/>
                      </a:cxn>
                      <a:cxn ang="0">
                        <a:pos x="73" y="460"/>
                      </a:cxn>
                      <a:cxn ang="0">
                        <a:pos x="80" y="376"/>
                      </a:cxn>
                      <a:cxn ang="0">
                        <a:pos x="91" y="296"/>
                      </a:cxn>
                    </a:cxnLst>
                    <a:rect l="0" t="0" r="0" b="0"/>
                    <a:pathLst>
                      <a:path w="92" h="638">
                        <a:moveTo>
                          <a:pt x="91" y="296"/>
                        </a:moveTo>
                        <a:lnTo>
                          <a:pt x="83" y="425"/>
                        </a:lnTo>
                        <a:lnTo>
                          <a:pt x="75" y="529"/>
                        </a:lnTo>
                        <a:lnTo>
                          <a:pt x="70" y="606"/>
                        </a:lnTo>
                        <a:lnTo>
                          <a:pt x="71" y="637"/>
                        </a:lnTo>
                        <a:lnTo>
                          <a:pt x="60" y="637"/>
                        </a:lnTo>
                        <a:lnTo>
                          <a:pt x="57" y="592"/>
                        </a:lnTo>
                        <a:lnTo>
                          <a:pt x="55" y="524"/>
                        </a:lnTo>
                        <a:lnTo>
                          <a:pt x="51" y="461"/>
                        </a:lnTo>
                        <a:lnTo>
                          <a:pt x="49" y="414"/>
                        </a:lnTo>
                        <a:lnTo>
                          <a:pt x="45" y="345"/>
                        </a:lnTo>
                        <a:lnTo>
                          <a:pt x="40" y="285"/>
                        </a:lnTo>
                        <a:lnTo>
                          <a:pt x="35" y="233"/>
                        </a:lnTo>
                        <a:lnTo>
                          <a:pt x="31" y="177"/>
                        </a:lnTo>
                        <a:lnTo>
                          <a:pt x="24" y="121"/>
                        </a:lnTo>
                        <a:lnTo>
                          <a:pt x="17" y="74"/>
                        </a:lnTo>
                        <a:lnTo>
                          <a:pt x="4" y="28"/>
                        </a:lnTo>
                        <a:lnTo>
                          <a:pt x="0" y="10"/>
                        </a:lnTo>
                        <a:lnTo>
                          <a:pt x="5" y="0"/>
                        </a:lnTo>
                        <a:lnTo>
                          <a:pt x="13" y="18"/>
                        </a:lnTo>
                        <a:lnTo>
                          <a:pt x="24" y="61"/>
                        </a:lnTo>
                        <a:lnTo>
                          <a:pt x="33" y="104"/>
                        </a:lnTo>
                        <a:lnTo>
                          <a:pt x="40" y="150"/>
                        </a:lnTo>
                        <a:lnTo>
                          <a:pt x="44" y="208"/>
                        </a:lnTo>
                        <a:lnTo>
                          <a:pt x="48" y="263"/>
                        </a:lnTo>
                        <a:lnTo>
                          <a:pt x="55" y="337"/>
                        </a:lnTo>
                        <a:lnTo>
                          <a:pt x="59" y="398"/>
                        </a:lnTo>
                        <a:lnTo>
                          <a:pt x="61" y="447"/>
                        </a:lnTo>
                        <a:lnTo>
                          <a:pt x="63" y="498"/>
                        </a:lnTo>
                        <a:lnTo>
                          <a:pt x="68" y="550"/>
                        </a:lnTo>
                        <a:lnTo>
                          <a:pt x="73" y="460"/>
                        </a:lnTo>
                        <a:lnTo>
                          <a:pt x="80" y="376"/>
                        </a:lnTo>
                        <a:lnTo>
                          <a:pt x="91" y="296"/>
                        </a:lnTo>
                      </a:path>
                    </a:pathLst>
                  </a:custGeom>
                  <a:solidFill>
                    <a:srgbClr val="3C0023">
                      <a:alpha val="50195"/>
                    </a:srgbClr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63" name="Freeform 1043"/>
                  <p:cNvSpPr/>
                  <p:nvPr/>
                </p:nvSpPr>
                <p:spPr>
                  <a:xfrm>
                    <a:off x="2247" y="1201"/>
                    <a:ext cx="246" cy="466"/>
                  </a:xfrm>
                  <a:custGeom>
                    <a:avLst/>
                    <a:gdLst/>
                    <a:ahLst/>
                    <a:cxnLst>
                      <a:cxn ang="0">
                        <a:pos x="136" y="67"/>
                      </a:cxn>
                      <a:cxn ang="0">
                        <a:pos x="105" y="12"/>
                      </a:cxn>
                      <a:cxn ang="0">
                        <a:pos x="55" y="1"/>
                      </a:cxn>
                      <a:cxn ang="0">
                        <a:pos x="58" y="12"/>
                      </a:cxn>
                      <a:cxn ang="0">
                        <a:pos x="96" y="39"/>
                      </a:cxn>
                      <a:cxn ang="0">
                        <a:pos x="130" y="134"/>
                      </a:cxn>
                      <a:cxn ang="0">
                        <a:pos x="73" y="85"/>
                      </a:cxn>
                      <a:cxn ang="0">
                        <a:pos x="32" y="75"/>
                      </a:cxn>
                      <a:cxn ang="0">
                        <a:pos x="7" y="103"/>
                      </a:cxn>
                      <a:cxn ang="0">
                        <a:pos x="38" y="103"/>
                      </a:cxn>
                      <a:cxn ang="0">
                        <a:pos x="108" y="129"/>
                      </a:cxn>
                      <a:cxn ang="0">
                        <a:pos x="104" y="146"/>
                      </a:cxn>
                      <a:cxn ang="0">
                        <a:pos x="92" y="171"/>
                      </a:cxn>
                      <a:cxn ang="0">
                        <a:pos x="126" y="170"/>
                      </a:cxn>
                      <a:cxn ang="0">
                        <a:pos x="69" y="193"/>
                      </a:cxn>
                      <a:cxn ang="0">
                        <a:pos x="37" y="233"/>
                      </a:cxn>
                      <a:cxn ang="0">
                        <a:pos x="6" y="325"/>
                      </a:cxn>
                      <a:cxn ang="0">
                        <a:pos x="72" y="231"/>
                      </a:cxn>
                      <a:cxn ang="0">
                        <a:pos x="118" y="194"/>
                      </a:cxn>
                      <a:cxn ang="0">
                        <a:pos x="94" y="269"/>
                      </a:cxn>
                      <a:cxn ang="0">
                        <a:pos x="76" y="338"/>
                      </a:cxn>
                      <a:cxn ang="0">
                        <a:pos x="71" y="408"/>
                      </a:cxn>
                      <a:cxn ang="0">
                        <a:pos x="98" y="303"/>
                      </a:cxn>
                      <a:cxn ang="0">
                        <a:pos x="124" y="236"/>
                      </a:cxn>
                      <a:cxn ang="0">
                        <a:pos x="125" y="214"/>
                      </a:cxn>
                      <a:cxn ang="0">
                        <a:pos x="118" y="323"/>
                      </a:cxn>
                      <a:cxn ang="0">
                        <a:pos x="138" y="439"/>
                      </a:cxn>
                      <a:cxn ang="0">
                        <a:pos x="128" y="313"/>
                      </a:cxn>
                      <a:cxn ang="0">
                        <a:pos x="127" y="223"/>
                      </a:cxn>
                      <a:cxn ang="0">
                        <a:pos x="147" y="189"/>
                      </a:cxn>
                      <a:cxn ang="0">
                        <a:pos x="188" y="298"/>
                      </a:cxn>
                      <a:cxn ang="0">
                        <a:pos x="223" y="411"/>
                      </a:cxn>
                      <a:cxn ang="0">
                        <a:pos x="193" y="292"/>
                      </a:cxn>
                      <a:cxn ang="0">
                        <a:pos x="160" y="190"/>
                      </a:cxn>
                      <a:cxn ang="0">
                        <a:pos x="164" y="121"/>
                      </a:cxn>
                      <a:cxn ang="0">
                        <a:pos x="194" y="130"/>
                      </a:cxn>
                      <a:cxn ang="0">
                        <a:pos x="240" y="125"/>
                      </a:cxn>
                      <a:cxn ang="0">
                        <a:pos x="216" y="122"/>
                      </a:cxn>
                      <a:cxn ang="0">
                        <a:pos x="163" y="144"/>
                      </a:cxn>
                      <a:cxn ang="0">
                        <a:pos x="194" y="109"/>
                      </a:cxn>
                      <a:cxn ang="0">
                        <a:pos x="244" y="101"/>
                      </a:cxn>
                      <a:cxn ang="0">
                        <a:pos x="229" y="88"/>
                      </a:cxn>
                      <a:cxn ang="0">
                        <a:pos x="163" y="138"/>
                      </a:cxn>
                      <a:cxn ang="0">
                        <a:pos x="172" y="99"/>
                      </a:cxn>
                      <a:cxn ang="0">
                        <a:pos x="226" y="61"/>
                      </a:cxn>
                      <a:cxn ang="0">
                        <a:pos x="188" y="82"/>
                      </a:cxn>
                      <a:cxn ang="0">
                        <a:pos x="147" y="109"/>
                      </a:cxn>
                    </a:cxnLst>
                    <a:rect l="0" t="0" r="0" b="0"/>
                    <a:pathLst>
                      <a:path w="246" h="466">
                        <a:moveTo>
                          <a:pt x="147" y="109"/>
                        </a:moveTo>
                        <a:lnTo>
                          <a:pt x="143" y="88"/>
                        </a:lnTo>
                        <a:lnTo>
                          <a:pt x="136" y="67"/>
                        </a:lnTo>
                        <a:lnTo>
                          <a:pt x="127" y="44"/>
                        </a:lnTo>
                        <a:lnTo>
                          <a:pt x="117" y="27"/>
                        </a:lnTo>
                        <a:lnTo>
                          <a:pt x="105" y="12"/>
                        </a:lnTo>
                        <a:lnTo>
                          <a:pt x="89" y="5"/>
                        </a:lnTo>
                        <a:lnTo>
                          <a:pt x="69" y="0"/>
                        </a:lnTo>
                        <a:lnTo>
                          <a:pt x="55" y="1"/>
                        </a:lnTo>
                        <a:lnTo>
                          <a:pt x="39" y="0"/>
                        </a:lnTo>
                        <a:lnTo>
                          <a:pt x="49" y="11"/>
                        </a:lnTo>
                        <a:lnTo>
                          <a:pt x="58" y="12"/>
                        </a:lnTo>
                        <a:lnTo>
                          <a:pt x="69" y="19"/>
                        </a:lnTo>
                        <a:lnTo>
                          <a:pt x="80" y="25"/>
                        </a:lnTo>
                        <a:lnTo>
                          <a:pt x="96" y="39"/>
                        </a:lnTo>
                        <a:lnTo>
                          <a:pt x="109" y="58"/>
                        </a:lnTo>
                        <a:lnTo>
                          <a:pt x="118" y="82"/>
                        </a:lnTo>
                        <a:lnTo>
                          <a:pt x="130" y="134"/>
                        </a:lnTo>
                        <a:lnTo>
                          <a:pt x="96" y="99"/>
                        </a:lnTo>
                        <a:lnTo>
                          <a:pt x="85" y="91"/>
                        </a:lnTo>
                        <a:lnTo>
                          <a:pt x="73" y="85"/>
                        </a:lnTo>
                        <a:lnTo>
                          <a:pt x="61" y="83"/>
                        </a:lnTo>
                        <a:lnTo>
                          <a:pt x="54" y="80"/>
                        </a:lnTo>
                        <a:lnTo>
                          <a:pt x="32" y="75"/>
                        </a:lnTo>
                        <a:lnTo>
                          <a:pt x="0" y="72"/>
                        </a:lnTo>
                        <a:lnTo>
                          <a:pt x="0" y="103"/>
                        </a:lnTo>
                        <a:lnTo>
                          <a:pt x="7" y="103"/>
                        </a:lnTo>
                        <a:lnTo>
                          <a:pt x="17" y="104"/>
                        </a:lnTo>
                        <a:lnTo>
                          <a:pt x="29" y="103"/>
                        </a:lnTo>
                        <a:lnTo>
                          <a:pt x="38" y="103"/>
                        </a:lnTo>
                        <a:lnTo>
                          <a:pt x="62" y="107"/>
                        </a:lnTo>
                        <a:lnTo>
                          <a:pt x="72" y="111"/>
                        </a:lnTo>
                        <a:lnTo>
                          <a:pt x="108" y="129"/>
                        </a:lnTo>
                        <a:lnTo>
                          <a:pt x="127" y="144"/>
                        </a:lnTo>
                        <a:lnTo>
                          <a:pt x="113" y="146"/>
                        </a:lnTo>
                        <a:lnTo>
                          <a:pt x="104" y="146"/>
                        </a:lnTo>
                        <a:lnTo>
                          <a:pt x="89" y="161"/>
                        </a:lnTo>
                        <a:lnTo>
                          <a:pt x="82" y="183"/>
                        </a:lnTo>
                        <a:lnTo>
                          <a:pt x="92" y="171"/>
                        </a:lnTo>
                        <a:lnTo>
                          <a:pt x="120" y="155"/>
                        </a:lnTo>
                        <a:lnTo>
                          <a:pt x="137" y="162"/>
                        </a:lnTo>
                        <a:lnTo>
                          <a:pt x="126" y="170"/>
                        </a:lnTo>
                        <a:lnTo>
                          <a:pt x="113" y="171"/>
                        </a:lnTo>
                        <a:lnTo>
                          <a:pt x="79" y="189"/>
                        </a:lnTo>
                        <a:lnTo>
                          <a:pt x="69" y="193"/>
                        </a:lnTo>
                        <a:lnTo>
                          <a:pt x="57" y="199"/>
                        </a:lnTo>
                        <a:lnTo>
                          <a:pt x="48" y="209"/>
                        </a:lnTo>
                        <a:lnTo>
                          <a:pt x="37" y="233"/>
                        </a:lnTo>
                        <a:lnTo>
                          <a:pt x="31" y="251"/>
                        </a:lnTo>
                        <a:lnTo>
                          <a:pt x="13" y="310"/>
                        </a:lnTo>
                        <a:lnTo>
                          <a:pt x="6" y="325"/>
                        </a:lnTo>
                        <a:lnTo>
                          <a:pt x="36" y="281"/>
                        </a:lnTo>
                        <a:lnTo>
                          <a:pt x="50" y="265"/>
                        </a:lnTo>
                        <a:lnTo>
                          <a:pt x="72" y="231"/>
                        </a:lnTo>
                        <a:lnTo>
                          <a:pt x="83" y="218"/>
                        </a:lnTo>
                        <a:lnTo>
                          <a:pt x="92" y="209"/>
                        </a:lnTo>
                        <a:lnTo>
                          <a:pt x="118" y="194"/>
                        </a:lnTo>
                        <a:lnTo>
                          <a:pt x="132" y="181"/>
                        </a:lnTo>
                        <a:lnTo>
                          <a:pt x="121" y="195"/>
                        </a:lnTo>
                        <a:lnTo>
                          <a:pt x="94" y="269"/>
                        </a:lnTo>
                        <a:lnTo>
                          <a:pt x="84" y="302"/>
                        </a:lnTo>
                        <a:lnTo>
                          <a:pt x="79" y="320"/>
                        </a:lnTo>
                        <a:lnTo>
                          <a:pt x="76" y="338"/>
                        </a:lnTo>
                        <a:lnTo>
                          <a:pt x="75" y="359"/>
                        </a:lnTo>
                        <a:lnTo>
                          <a:pt x="74" y="375"/>
                        </a:lnTo>
                        <a:lnTo>
                          <a:pt x="71" y="408"/>
                        </a:lnTo>
                        <a:lnTo>
                          <a:pt x="84" y="375"/>
                        </a:lnTo>
                        <a:lnTo>
                          <a:pt x="92" y="330"/>
                        </a:lnTo>
                        <a:lnTo>
                          <a:pt x="98" y="303"/>
                        </a:lnTo>
                        <a:lnTo>
                          <a:pt x="104" y="286"/>
                        </a:lnTo>
                        <a:lnTo>
                          <a:pt x="118" y="252"/>
                        </a:lnTo>
                        <a:lnTo>
                          <a:pt x="124" y="236"/>
                        </a:lnTo>
                        <a:lnTo>
                          <a:pt x="128" y="216"/>
                        </a:lnTo>
                        <a:lnTo>
                          <a:pt x="137" y="188"/>
                        </a:lnTo>
                        <a:lnTo>
                          <a:pt x="125" y="214"/>
                        </a:lnTo>
                        <a:lnTo>
                          <a:pt x="119" y="243"/>
                        </a:lnTo>
                        <a:lnTo>
                          <a:pt x="117" y="302"/>
                        </a:lnTo>
                        <a:lnTo>
                          <a:pt x="118" y="323"/>
                        </a:lnTo>
                        <a:lnTo>
                          <a:pt x="120" y="362"/>
                        </a:lnTo>
                        <a:lnTo>
                          <a:pt x="123" y="377"/>
                        </a:lnTo>
                        <a:lnTo>
                          <a:pt x="138" y="439"/>
                        </a:lnTo>
                        <a:lnTo>
                          <a:pt x="141" y="465"/>
                        </a:lnTo>
                        <a:lnTo>
                          <a:pt x="137" y="379"/>
                        </a:lnTo>
                        <a:lnTo>
                          <a:pt x="128" y="313"/>
                        </a:lnTo>
                        <a:lnTo>
                          <a:pt x="126" y="291"/>
                        </a:lnTo>
                        <a:lnTo>
                          <a:pt x="125" y="238"/>
                        </a:lnTo>
                        <a:lnTo>
                          <a:pt x="127" y="223"/>
                        </a:lnTo>
                        <a:lnTo>
                          <a:pt x="133" y="196"/>
                        </a:lnTo>
                        <a:lnTo>
                          <a:pt x="138" y="179"/>
                        </a:lnTo>
                        <a:lnTo>
                          <a:pt x="147" y="189"/>
                        </a:lnTo>
                        <a:lnTo>
                          <a:pt x="161" y="212"/>
                        </a:lnTo>
                        <a:lnTo>
                          <a:pt x="177" y="259"/>
                        </a:lnTo>
                        <a:lnTo>
                          <a:pt x="188" y="298"/>
                        </a:lnTo>
                        <a:lnTo>
                          <a:pt x="197" y="333"/>
                        </a:lnTo>
                        <a:lnTo>
                          <a:pt x="213" y="384"/>
                        </a:lnTo>
                        <a:lnTo>
                          <a:pt x="223" y="411"/>
                        </a:lnTo>
                        <a:lnTo>
                          <a:pt x="232" y="429"/>
                        </a:lnTo>
                        <a:lnTo>
                          <a:pt x="228" y="403"/>
                        </a:lnTo>
                        <a:lnTo>
                          <a:pt x="193" y="292"/>
                        </a:lnTo>
                        <a:lnTo>
                          <a:pt x="171" y="232"/>
                        </a:lnTo>
                        <a:lnTo>
                          <a:pt x="165" y="210"/>
                        </a:lnTo>
                        <a:lnTo>
                          <a:pt x="160" y="190"/>
                        </a:lnTo>
                        <a:lnTo>
                          <a:pt x="144" y="150"/>
                        </a:lnTo>
                        <a:lnTo>
                          <a:pt x="147" y="132"/>
                        </a:lnTo>
                        <a:lnTo>
                          <a:pt x="164" y="121"/>
                        </a:lnTo>
                        <a:lnTo>
                          <a:pt x="172" y="125"/>
                        </a:lnTo>
                        <a:lnTo>
                          <a:pt x="183" y="126"/>
                        </a:lnTo>
                        <a:lnTo>
                          <a:pt x="194" y="130"/>
                        </a:lnTo>
                        <a:lnTo>
                          <a:pt x="239" y="136"/>
                        </a:lnTo>
                        <a:lnTo>
                          <a:pt x="236" y="136"/>
                        </a:lnTo>
                        <a:lnTo>
                          <a:pt x="240" y="125"/>
                        </a:lnTo>
                        <a:lnTo>
                          <a:pt x="242" y="125"/>
                        </a:lnTo>
                        <a:lnTo>
                          <a:pt x="230" y="122"/>
                        </a:lnTo>
                        <a:lnTo>
                          <a:pt x="216" y="122"/>
                        </a:lnTo>
                        <a:lnTo>
                          <a:pt x="199" y="127"/>
                        </a:lnTo>
                        <a:lnTo>
                          <a:pt x="180" y="135"/>
                        </a:lnTo>
                        <a:lnTo>
                          <a:pt x="163" y="144"/>
                        </a:lnTo>
                        <a:lnTo>
                          <a:pt x="150" y="149"/>
                        </a:lnTo>
                        <a:lnTo>
                          <a:pt x="168" y="129"/>
                        </a:lnTo>
                        <a:lnTo>
                          <a:pt x="194" y="109"/>
                        </a:lnTo>
                        <a:lnTo>
                          <a:pt x="220" y="100"/>
                        </a:lnTo>
                        <a:lnTo>
                          <a:pt x="232" y="100"/>
                        </a:lnTo>
                        <a:lnTo>
                          <a:pt x="244" y="101"/>
                        </a:lnTo>
                        <a:lnTo>
                          <a:pt x="239" y="101"/>
                        </a:lnTo>
                        <a:lnTo>
                          <a:pt x="245" y="85"/>
                        </a:lnTo>
                        <a:lnTo>
                          <a:pt x="229" y="88"/>
                        </a:lnTo>
                        <a:lnTo>
                          <a:pt x="212" y="97"/>
                        </a:lnTo>
                        <a:lnTo>
                          <a:pt x="193" y="111"/>
                        </a:lnTo>
                        <a:lnTo>
                          <a:pt x="163" y="138"/>
                        </a:lnTo>
                        <a:lnTo>
                          <a:pt x="150" y="149"/>
                        </a:lnTo>
                        <a:lnTo>
                          <a:pt x="157" y="114"/>
                        </a:lnTo>
                        <a:lnTo>
                          <a:pt x="172" y="99"/>
                        </a:lnTo>
                        <a:lnTo>
                          <a:pt x="190" y="85"/>
                        </a:lnTo>
                        <a:lnTo>
                          <a:pt x="214" y="67"/>
                        </a:lnTo>
                        <a:lnTo>
                          <a:pt x="226" y="61"/>
                        </a:lnTo>
                        <a:lnTo>
                          <a:pt x="212" y="57"/>
                        </a:lnTo>
                        <a:lnTo>
                          <a:pt x="200" y="67"/>
                        </a:lnTo>
                        <a:lnTo>
                          <a:pt x="188" y="82"/>
                        </a:lnTo>
                        <a:lnTo>
                          <a:pt x="178" y="93"/>
                        </a:lnTo>
                        <a:lnTo>
                          <a:pt x="163" y="115"/>
                        </a:lnTo>
                        <a:lnTo>
                          <a:pt x="147" y="109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</p:grpSp>
            <p:grpSp>
              <p:nvGrpSpPr>
                <p:cNvPr id="31764" name="Group 1044"/>
                <p:cNvGrpSpPr/>
                <p:nvPr/>
              </p:nvGrpSpPr>
              <p:grpSpPr>
                <a:xfrm>
                  <a:off x="1985" y="1419"/>
                  <a:ext cx="465" cy="602"/>
                  <a:chOff x="1985" y="1419"/>
                  <a:chExt cx="465" cy="602"/>
                </a:xfrm>
              </p:grpSpPr>
              <p:sp>
                <p:nvSpPr>
                  <p:cNvPr id="31765" name="Freeform 1045"/>
                  <p:cNvSpPr/>
                  <p:nvPr/>
                </p:nvSpPr>
                <p:spPr>
                  <a:xfrm>
                    <a:off x="2164" y="1525"/>
                    <a:ext cx="130" cy="496"/>
                  </a:xfrm>
                  <a:custGeom>
                    <a:avLst/>
                    <a:gdLst/>
                    <a:ahLst/>
                    <a:cxnLst>
                      <a:cxn ang="0">
                        <a:pos x="129" y="230"/>
                      </a:cxn>
                      <a:cxn ang="0">
                        <a:pos x="118" y="330"/>
                      </a:cxn>
                      <a:cxn ang="0">
                        <a:pos x="107" y="411"/>
                      </a:cxn>
                      <a:cxn ang="0">
                        <a:pos x="100" y="471"/>
                      </a:cxn>
                      <a:cxn ang="0">
                        <a:pos x="101" y="495"/>
                      </a:cxn>
                      <a:cxn ang="0">
                        <a:pos x="86" y="495"/>
                      </a:cxn>
                      <a:cxn ang="0">
                        <a:pos x="81" y="460"/>
                      </a:cxn>
                      <a:cxn ang="0">
                        <a:pos x="79" y="408"/>
                      </a:cxn>
                      <a:cxn ang="0">
                        <a:pos x="73" y="358"/>
                      </a:cxn>
                      <a:cxn ang="0">
                        <a:pos x="70" y="321"/>
                      </a:cxn>
                      <a:cxn ang="0">
                        <a:pos x="64" y="268"/>
                      </a:cxn>
                      <a:cxn ang="0">
                        <a:pos x="56" y="222"/>
                      </a:cxn>
                      <a:cxn ang="0">
                        <a:pos x="51" y="181"/>
                      </a:cxn>
                      <a:cxn ang="0">
                        <a:pos x="45" y="137"/>
                      </a:cxn>
                      <a:cxn ang="0">
                        <a:pos x="35" y="94"/>
                      </a:cxn>
                      <a:cxn ang="0">
                        <a:pos x="24" y="57"/>
                      </a:cxn>
                      <a:cxn ang="0">
                        <a:pos x="6" y="21"/>
                      </a:cxn>
                      <a:cxn ang="0">
                        <a:pos x="0" y="8"/>
                      </a:cxn>
                      <a:cxn ang="0">
                        <a:pos x="7" y="0"/>
                      </a:cxn>
                      <a:cxn ang="0">
                        <a:pos x="19" y="14"/>
                      </a:cxn>
                      <a:cxn ang="0">
                        <a:pos x="35" y="47"/>
                      </a:cxn>
                      <a:cxn ang="0">
                        <a:pos x="47" y="81"/>
                      </a:cxn>
                      <a:cxn ang="0">
                        <a:pos x="56" y="116"/>
                      </a:cxn>
                      <a:cxn ang="0">
                        <a:pos x="63" y="161"/>
                      </a:cxn>
                      <a:cxn ang="0">
                        <a:pos x="69" y="204"/>
                      </a:cxn>
                      <a:cxn ang="0">
                        <a:pos x="77" y="262"/>
                      </a:cxn>
                      <a:cxn ang="0">
                        <a:pos x="84" y="309"/>
                      </a:cxn>
                      <a:cxn ang="0">
                        <a:pos x="87" y="347"/>
                      </a:cxn>
                      <a:cxn ang="0">
                        <a:pos x="90" y="386"/>
                      </a:cxn>
                      <a:cxn ang="0">
                        <a:pos x="96" y="427"/>
                      </a:cxn>
                      <a:cxn ang="0">
                        <a:pos x="104" y="357"/>
                      </a:cxn>
                      <a:cxn ang="0">
                        <a:pos x="114" y="292"/>
                      </a:cxn>
                      <a:cxn ang="0">
                        <a:pos x="129" y="230"/>
                      </a:cxn>
                    </a:cxnLst>
                    <a:rect l="0" t="0" r="0" b="0"/>
                    <a:pathLst>
                      <a:path w="130" h="496">
                        <a:moveTo>
                          <a:pt x="129" y="230"/>
                        </a:moveTo>
                        <a:lnTo>
                          <a:pt x="118" y="330"/>
                        </a:lnTo>
                        <a:lnTo>
                          <a:pt x="107" y="411"/>
                        </a:lnTo>
                        <a:lnTo>
                          <a:pt x="100" y="471"/>
                        </a:lnTo>
                        <a:lnTo>
                          <a:pt x="101" y="495"/>
                        </a:lnTo>
                        <a:lnTo>
                          <a:pt x="86" y="495"/>
                        </a:lnTo>
                        <a:lnTo>
                          <a:pt x="81" y="460"/>
                        </a:lnTo>
                        <a:lnTo>
                          <a:pt x="79" y="408"/>
                        </a:lnTo>
                        <a:lnTo>
                          <a:pt x="73" y="358"/>
                        </a:lnTo>
                        <a:lnTo>
                          <a:pt x="70" y="321"/>
                        </a:lnTo>
                        <a:lnTo>
                          <a:pt x="64" y="268"/>
                        </a:lnTo>
                        <a:lnTo>
                          <a:pt x="56" y="222"/>
                        </a:lnTo>
                        <a:lnTo>
                          <a:pt x="51" y="181"/>
                        </a:lnTo>
                        <a:lnTo>
                          <a:pt x="45" y="137"/>
                        </a:lnTo>
                        <a:lnTo>
                          <a:pt x="35" y="94"/>
                        </a:lnTo>
                        <a:lnTo>
                          <a:pt x="24" y="57"/>
                        </a:lnTo>
                        <a:lnTo>
                          <a:pt x="6" y="21"/>
                        </a:lnTo>
                        <a:lnTo>
                          <a:pt x="0" y="8"/>
                        </a:lnTo>
                        <a:lnTo>
                          <a:pt x="7" y="0"/>
                        </a:lnTo>
                        <a:lnTo>
                          <a:pt x="19" y="14"/>
                        </a:lnTo>
                        <a:lnTo>
                          <a:pt x="35" y="47"/>
                        </a:lnTo>
                        <a:lnTo>
                          <a:pt x="47" y="81"/>
                        </a:lnTo>
                        <a:lnTo>
                          <a:pt x="56" y="116"/>
                        </a:lnTo>
                        <a:lnTo>
                          <a:pt x="63" y="161"/>
                        </a:lnTo>
                        <a:lnTo>
                          <a:pt x="69" y="204"/>
                        </a:lnTo>
                        <a:lnTo>
                          <a:pt x="77" y="262"/>
                        </a:lnTo>
                        <a:lnTo>
                          <a:pt x="84" y="309"/>
                        </a:lnTo>
                        <a:lnTo>
                          <a:pt x="87" y="347"/>
                        </a:lnTo>
                        <a:lnTo>
                          <a:pt x="90" y="386"/>
                        </a:lnTo>
                        <a:lnTo>
                          <a:pt x="96" y="427"/>
                        </a:lnTo>
                        <a:lnTo>
                          <a:pt x="104" y="357"/>
                        </a:lnTo>
                        <a:lnTo>
                          <a:pt x="114" y="292"/>
                        </a:lnTo>
                        <a:lnTo>
                          <a:pt x="129" y="230"/>
                        </a:lnTo>
                      </a:path>
                    </a:pathLst>
                  </a:custGeom>
                  <a:solidFill>
                    <a:srgbClr val="3C0023">
                      <a:alpha val="50195"/>
                    </a:srgbClr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sp>
                <p:nvSpPr>
                  <p:cNvPr id="31766" name="Freeform 1046"/>
                  <p:cNvSpPr/>
                  <p:nvPr/>
                </p:nvSpPr>
                <p:spPr>
                  <a:xfrm>
                    <a:off x="2204" y="1606"/>
                    <a:ext cx="229" cy="358"/>
                  </a:xfrm>
                  <a:custGeom>
                    <a:avLst/>
                    <a:gdLst/>
                    <a:ahLst/>
                    <a:cxnLst>
                      <a:cxn ang="0">
                        <a:pos x="60" y="58"/>
                      </a:cxn>
                      <a:cxn ang="0">
                        <a:pos x="67" y="44"/>
                      </a:cxn>
                      <a:cxn ang="0">
                        <a:pos x="64" y="5"/>
                      </a:cxn>
                      <a:cxn ang="0">
                        <a:pos x="64" y="5"/>
                      </a:cxn>
                      <a:cxn ang="0">
                        <a:pos x="64" y="5"/>
                      </a:cxn>
                      <a:cxn ang="0">
                        <a:pos x="64" y="5"/>
                      </a:cxn>
                      <a:cxn ang="0">
                        <a:pos x="64" y="5"/>
                      </a:cxn>
                      <a:cxn ang="0">
                        <a:pos x="70" y="2"/>
                      </a:cxn>
                      <a:cxn ang="0">
                        <a:pos x="82" y="66"/>
                      </a:cxn>
                      <a:cxn ang="0">
                        <a:pos x="94" y="39"/>
                      </a:cxn>
                      <a:cxn ang="0">
                        <a:pos x="101" y="5"/>
                      </a:cxn>
                      <a:cxn ang="0">
                        <a:pos x="104" y="5"/>
                      </a:cxn>
                      <a:cxn ang="0">
                        <a:pos x="103" y="5"/>
                      </a:cxn>
                      <a:cxn ang="0">
                        <a:pos x="104" y="5"/>
                      </a:cxn>
                      <a:cxn ang="0">
                        <a:pos x="102" y="5"/>
                      </a:cxn>
                      <a:cxn ang="0">
                        <a:pos x="103" y="5"/>
                      </a:cxn>
                      <a:cxn ang="0">
                        <a:pos x="105" y="47"/>
                      </a:cxn>
                      <a:cxn ang="0">
                        <a:pos x="111" y="88"/>
                      </a:cxn>
                      <a:cxn ang="0">
                        <a:pos x="139" y="79"/>
                      </a:cxn>
                      <a:cxn ang="0">
                        <a:pos x="176" y="81"/>
                      </a:cxn>
                      <a:cxn ang="0">
                        <a:pos x="205" y="104"/>
                      </a:cxn>
                      <a:cxn ang="0">
                        <a:pos x="228" y="155"/>
                      </a:cxn>
                      <a:cxn ang="0">
                        <a:pos x="200" y="147"/>
                      </a:cxn>
                      <a:cxn ang="0">
                        <a:pos x="171" y="131"/>
                      </a:cxn>
                      <a:cxn ang="0">
                        <a:pos x="132" y="121"/>
                      </a:cxn>
                      <a:cxn ang="0">
                        <a:pos x="107" y="125"/>
                      </a:cxn>
                      <a:cxn ang="0">
                        <a:pos x="122" y="150"/>
                      </a:cxn>
                      <a:cxn ang="0">
                        <a:pos x="154" y="165"/>
                      </a:cxn>
                      <a:cxn ang="0">
                        <a:pos x="187" y="175"/>
                      </a:cxn>
                      <a:cxn ang="0">
                        <a:pos x="212" y="212"/>
                      </a:cxn>
                      <a:cxn ang="0">
                        <a:pos x="224" y="262"/>
                      </a:cxn>
                      <a:cxn ang="0">
                        <a:pos x="194" y="231"/>
                      </a:cxn>
                      <a:cxn ang="0">
                        <a:pos x="163" y="199"/>
                      </a:cxn>
                      <a:cxn ang="0">
                        <a:pos x="133" y="172"/>
                      </a:cxn>
                      <a:cxn ang="0">
                        <a:pos x="111" y="159"/>
                      </a:cxn>
                      <a:cxn ang="0">
                        <a:pos x="97" y="185"/>
                      </a:cxn>
                      <a:cxn ang="0">
                        <a:pos x="115" y="245"/>
                      </a:cxn>
                      <a:cxn ang="0">
                        <a:pos x="132" y="312"/>
                      </a:cxn>
                      <a:cxn ang="0">
                        <a:pos x="114" y="328"/>
                      </a:cxn>
                      <a:cxn ang="0">
                        <a:pos x="95" y="236"/>
                      </a:cxn>
                      <a:cxn ang="0">
                        <a:pos x="78" y="179"/>
                      </a:cxn>
                      <a:cxn ang="0">
                        <a:pos x="73" y="197"/>
                      </a:cxn>
                      <a:cxn ang="0">
                        <a:pos x="74" y="186"/>
                      </a:cxn>
                      <a:cxn ang="0">
                        <a:pos x="70" y="206"/>
                      </a:cxn>
                      <a:cxn ang="0">
                        <a:pos x="51" y="257"/>
                      </a:cxn>
                      <a:cxn ang="0">
                        <a:pos x="32" y="322"/>
                      </a:cxn>
                      <a:cxn ang="0">
                        <a:pos x="28" y="304"/>
                      </a:cxn>
                      <a:cxn ang="0">
                        <a:pos x="38" y="249"/>
                      </a:cxn>
                      <a:cxn ang="0">
                        <a:pos x="59" y="189"/>
                      </a:cxn>
                      <a:cxn ang="0">
                        <a:pos x="82" y="143"/>
                      </a:cxn>
                      <a:cxn ang="0">
                        <a:pos x="65" y="139"/>
                      </a:cxn>
                      <a:cxn ang="0">
                        <a:pos x="40" y="189"/>
                      </a:cxn>
                      <a:cxn ang="0">
                        <a:pos x="18" y="243"/>
                      </a:cxn>
                      <a:cxn ang="0">
                        <a:pos x="2" y="278"/>
                      </a:cxn>
                      <a:cxn ang="0">
                        <a:pos x="13" y="229"/>
                      </a:cxn>
                      <a:cxn ang="0">
                        <a:pos x="37" y="179"/>
                      </a:cxn>
                      <a:cxn ang="0">
                        <a:pos x="70" y="130"/>
                      </a:cxn>
                      <a:cxn ang="0">
                        <a:pos x="62" y="99"/>
                      </a:cxn>
                      <a:cxn ang="0">
                        <a:pos x="37" y="59"/>
                      </a:cxn>
                      <a:cxn ang="0">
                        <a:pos x="11" y="12"/>
                      </a:cxn>
                      <a:cxn ang="0">
                        <a:pos x="14" y="5"/>
                      </a:cxn>
                      <a:cxn ang="0">
                        <a:pos x="27" y="5"/>
                      </a:cxn>
                      <a:cxn ang="0">
                        <a:pos x="31" y="10"/>
                      </a:cxn>
                    </a:cxnLst>
                    <a:rect l="0" t="0" r="0" b="0"/>
                    <a:pathLst>
                      <a:path w="229" h="358">
                        <a:moveTo>
                          <a:pt x="43" y="31"/>
                        </a:moveTo>
                        <a:lnTo>
                          <a:pt x="47" y="39"/>
                        </a:lnTo>
                        <a:lnTo>
                          <a:pt x="51" y="44"/>
                        </a:lnTo>
                        <a:lnTo>
                          <a:pt x="55" y="51"/>
                        </a:lnTo>
                        <a:lnTo>
                          <a:pt x="60" y="58"/>
                        </a:lnTo>
                        <a:lnTo>
                          <a:pt x="64" y="63"/>
                        </a:lnTo>
                        <a:lnTo>
                          <a:pt x="68" y="66"/>
                        </a:lnTo>
                        <a:lnTo>
                          <a:pt x="72" y="69"/>
                        </a:lnTo>
                        <a:lnTo>
                          <a:pt x="70" y="58"/>
                        </a:lnTo>
                        <a:lnTo>
                          <a:pt x="67" y="44"/>
                        </a:lnTo>
                        <a:lnTo>
                          <a:pt x="65" y="30"/>
                        </a:lnTo>
                        <a:lnTo>
                          <a:pt x="63" y="15"/>
                        </a:lnTo>
                        <a:lnTo>
                          <a:pt x="64" y="5"/>
                        </a:lnTo>
                        <a:lnTo>
                          <a:pt x="69" y="5"/>
                        </a:lnTo>
                        <a:lnTo>
                          <a:pt x="70" y="5"/>
                        </a:lnTo>
                        <a:lnTo>
                          <a:pt x="70" y="2"/>
                        </a:lnTo>
                        <a:lnTo>
                          <a:pt x="73" y="16"/>
                        </a:lnTo>
                        <a:lnTo>
                          <a:pt x="76" y="30"/>
                        </a:lnTo>
                        <a:lnTo>
                          <a:pt x="78" y="41"/>
                        </a:lnTo>
                        <a:lnTo>
                          <a:pt x="81" y="56"/>
                        </a:lnTo>
                        <a:lnTo>
                          <a:pt x="82" y="66"/>
                        </a:lnTo>
                        <a:lnTo>
                          <a:pt x="84" y="71"/>
                        </a:lnTo>
                        <a:lnTo>
                          <a:pt x="87" y="66"/>
                        </a:lnTo>
                        <a:lnTo>
                          <a:pt x="89" y="59"/>
                        </a:lnTo>
                        <a:lnTo>
                          <a:pt x="93" y="52"/>
                        </a:lnTo>
                        <a:lnTo>
                          <a:pt x="94" y="39"/>
                        </a:lnTo>
                        <a:lnTo>
                          <a:pt x="95" y="30"/>
                        </a:lnTo>
                        <a:lnTo>
                          <a:pt x="96" y="14"/>
                        </a:lnTo>
                        <a:lnTo>
                          <a:pt x="96" y="0"/>
                        </a:lnTo>
                        <a:lnTo>
                          <a:pt x="101" y="5"/>
                        </a:lnTo>
                        <a:lnTo>
                          <a:pt x="102" y="5"/>
                        </a:lnTo>
                        <a:lnTo>
                          <a:pt x="103" y="5"/>
                        </a:lnTo>
                        <a:lnTo>
                          <a:pt x="104" y="5"/>
                        </a:lnTo>
                        <a:lnTo>
                          <a:pt x="105" y="5"/>
                        </a:lnTo>
                        <a:lnTo>
                          <a:pt x="104" y="5"/>
                        </a:lnTo>
                        <a:lnTo>
                          <a:pt x="102" y="5"/>
                        </a:lnTo>
                        <a:lnTo>
                          <a:pt x="103" y="5"/>
                        </a:lnTo>
                        <a:lnTo>
                          <a:pt x="105" y="5"/>
                        </a:lnTo>
                        <a:lnTo>
                          <a:pt x="103" y="5"/>
                        </a:lnTo>
                        <a:lnTo>
                          <a:pt x="101" y="5"/>
                        </a:lnTo>
                        <a:lnTo>
                          <a:pt x="102" y="5"/>
                        </a:lnTo>
                        <a:lnTo>
                          <a:pt x="101" y="5"/>
                        </a:lnTo>
                        <a:lnTo>
                          <a:pt x="104" y="5"/>
                        </a:lnTo>
                        <a:lnTo>
                          <a:pt x="103" y="5"/>
                        </a:lnTo>
                        <a:lnTo>
                          <a:pt x="100" y="5"/>
                        </a:lnTo>
                        <a:lnTo>
                          <a:pt x="101" y="5"/>
                        </a:lnTo>
                        <a:lnTo>
                          <a:pt x="103" y="5"/>
                        </a:lnTo>
                        <a:lnTo>
                          <a:pt x="102" y="5"/>
                        </a:lnTo>
                        <a:lnTo>
                          <a:pt x="104" y="5"/>
                        </a:lnTo>
                        <a:lnTo>
                          <a:pt x="102" y="5"/>
                        </a:lnTo>
                        <a:lnTo>
                          <a:pt x="107" y="5"/>
                        </a:lnTo>
                        <a:lnTo>
                          <a:pt x="103" y="5"/>
                        </a:lnTo>
                        <a:lnTo>
                          <a:pt x="104" y="5"/>
                        </a:lnTo>
                        <a:lnTo>
                          <a:pt x="107" y="2"/>
                        </a:lnTo>
                        <a:lnTo>
                          <a:pt x="107" y="15"/>
                        </a:lnTo>
                        <a:lnTo>
                          <a:pt x="106" y="31"/>
                        </a:lnTo>
                        <a:lnTo>
                          <a:pt x="105" y="47"/>
                        </a:lnTo>
                        <a:lnTo>
                          <a:pt x="103" y="66"/>
                        </a:lnTo>
                        <a:lnTo>
                          <a:pt x="102" y="83"/>
                        </a:lnTo>
                        <a:lnTo>
                          <a:pt x="101" y="100"/>
                        </a:lnTo>
                        <a:lnTo>
                          <a:pt x="105" y="95"/>
                        </a:lnTo>
                        <a:lnTo>
                          <a:pt x="111" y="88"/>
                        </a:lnTo>
                        <a:lnTo>
                          <a:pt x="118" y="80"/>
                        </a:lnTo>
                        <a:lnTo>
                          <a:pt x="123" y="78"/>
                        </a:lnTo>
                        <a:lnTo>
                          <a:pt x="129" y="76"/>
                        </a:lnTo>
                        <a:lnTo>
                          <a:pt x="134" y="79"/>
                        </a:lnTo>
                        <a:lnTo>
                          <a:pt x="139" y="79"/>
                        </a:lnTo>
                        <a:lnTo>
                          <a:pt x="146" y="81"/>
                        </a:lnTo>
                        <a:lnTo>
                          <a:pt x="154" y="83"/>
                        </a:lnTo>
                        <a:lnTo>
                          <a:pt x="162" y="83"/>
                        </a:lnTo>
                        <a:lnTo>
                          <a:pt x="169" y="81"/>
                        </a:lnTo>
                        <a:lnTo>
                          <a:pt x="176" y="81"/>
                        </a:lnTo>
                        <a:lnTo>
                          <a:pt x="182" y="83"/>
                        </a:lnTo>
                        <a:lnTo>
                          <a:pt x="188" y="88"/>
                        </a:lnTo>
                        <a:lnTo>
                          <a:pt x="195" y="93"/>
                        </a:lnTo>
                        <a:lnTo>
                          <a:pt x="200" y="98"/>
                        </a:lnTo>
                        <a:lnTo>
                          <a:pt x="205" y="104"/>
                        </a:lnTo>
                        <a:lnTo>
                          <a:pt x="211" y="112"/>
                        </a:lnTo>
                        <a:lnTo>
                          <a:pt x="214" y="117"/>
                        </a:lnTo>
                        <a:lnTo>
                          <a:pt x="220" y="129"/>
                        </a:lnTo>
                        <a:lnTo>
                          <a:pt x="223" y="142"/>
                        </a:lnTo>
                        <a:lnTo>
                          <a:pt x="228" y="155"/>
                        </a:lnTo>
                        <a:lnTo>
                          <a:pt x="223" y="156"/>
                        </a:lnTo>
                        <a:lnTo>
                          <a:pt x="217" y="154"/>
                        </a:lnTo>
                        <a:lnTo>
                          <a:pt x="210" y="152"/>
                        </a:lnTo>
                        <a:lnTo>
                          <a:pt x="205" y="150"/>
                        </a:lnTo>
                        <a:lnTo>
                          <a:pt x="200" y="147"/>
                        </a:lnTo>
                        <a:lnTo>
                          <a:pt x="195" y="143"/>
                        </a:lnTo>
                        <a:lnTo>
                          <a:pt x="189" y="138"/>
                        </a:lnTo>
                        <a:lnTo>
                          <a:pt x="184" y="135"/>
                        </a:lnTo>
                        <a:lnTo>
                          <a:pt x="179" y="133"/>
                        </a:lnTo>
                        <a:lnTo>
                          <a:pt x="171" y="131"/>
                        </a:lnTo>
                        <a:lnTo>
                          <a:pt x="162" y="129"/>
                        </a:lnTo>
                        <a:lnTo>
                          <a:pt x="154" y="126"/>
                        </a:lnTo>
                        <a:lnTo>
                          <a:pt x="146" y="124"/>
                        </a:lnTo>
                        <a:lnTo>
                          <a:pt x="138" y="122"/>
                        </a:lnTo>
                        <a:lnTo>
                          <a:pt x="132" y="121"/>
                        </a:lnTo>
                        <a:lnTo>
                          <a:pt x="128" y="120"/>
                        </a:lnTo>
                        <a:lnTo>
                          <a:pt x="122" y="120"/>
                        </a:lnTo>
                        <a:lnTo>
                          <a:pt x="116" y="121"/>
                        </a:lnTo>
                        <a:lnTo>
                          <a:pt x="112" y="122"/>
                        </a:lnTo>
                        <a:lnTo>
                          <a:pt x="107" y="125"/>
                        </a:lnTo>
                        <a:lnTo>
                          <a:pt x="100" y="129"/>
                        </a:lnTo>
                        <a:lnTo>
                          <a:pt x="105" y="135"/>
                        </a:lnTo>
                        <a:lnTo>
                          <a:pt x="111" y="140"/>
                        </a:lnTo>
                        <a:lnTo>
                          <a:pt x="116" y="147"/>
                        </a:lnTo>
                        <a:lnTo>
                          <a:pt x="122" y="150"/>
                        </a:lnTo>
                        <a:lnTo>
                          <a:pt x="129" y="155"/>
                        </a:lnTo>
                        <a:lnTo>
                          <a:pt x="133" y="158"/>
                        </a:lnTo>
                        <a:lnTo>
                          <a:pt x="139" y="159"/>
                        </a:lnTo>
                        <a:lnTo>
                          <a:pt x="147" y="162"/>
                        </a:lnTo>
                        <a:lnTo>
                          <a:pt x="154" y="165"/>
                        </a:lnTo>
                        <a:lnTo>
                          <a:pt x="161" y="167"/>
                        </a:lnTo>
                        <a:lnTo>
                          <a:pt x="168" y="169"/>
                        </a:lnTo>
                        <a:lnTo>
                          <a:pt x="174" y="170"/>
                        </a:lnTo>
                        <a:lnTo>
                          <a:pt x="181" y="174"/>
                        </a:lnTo>
                        <a:lnTo>
                          <a:pt x="187" y="175"/>
                        </a:lnTo>
                        <a:lnTo>
                          <a:pt x="191" y="179"/>
                        </a:lnTo>
                        <a:lnTo>
                          <a:pt x="197" y="186"/>
                        </a:lnTo>
                        <a:lnTo>
                          <a:pt x="202" y="193"/>
                        </a:lnTo>
                        <a:lnTo>
                          <a:pt x="206" y="202"/>
                        </a:lnTo>
                        <a:lnTo>
                          <a:pt x="212" y="212"/>
                        </a:lnTo>
                        <a:lnTo>
                          <a:pt x="214" y="218"/>
                        </a:lnTo>
                        <a:lnTo>
                          <a:pt x="217" y="229"/>
                        </a:lnTo>
                        <a:lnTo>
                          <a:pt x="219" y="240"/>
                        </a:lnTo>
                        <a:lnTo>
                          <a:pt x="221" y="253"/>
                        </a:lnTo>
                        <a:lnTo>
                          <a:pt x="224" y="262"/>
                        </a:lnTo>
                        <a:lnTo>
                          <a:pt x="219" y="257"/>
                        </a:lnTo>
                        <a:lnTo>
                          <a:pt x="212" y="250"/>
                        </a:lnTo>
                        <a:lnTo>
                          <a:pt x="206" y="245"/>
                        </a:lnTo>
                        <a:lnTo>
                          <a:pt x="200" y="238"/>
                        </a:lnTo>
                        <a:lnTo>
                          <a:pt x="194" y="231"/>
                        </a:lnTo>
                        <a:lnTo>
                          <a:pt x="188" y="226"/>
                        </a:lnTo>
                        <a:lnTo>
                          <a:pt x="182" y="219"/>
                        </a:lnTo>
                        <a:lnTo>
                          <a:pt x="176" y="213"/>
                        </a:lnTo>
                        <a:lnTo>
                          <a:pt x="169" y="206"/>
                        </a:lnTo>
                        <a:lnTo>
                          <a:pt x="163" y="199"/>
                        </a:lnTo>
                        <a:lnTo>
                          <a:pt x="158" y="194"/>
                        </a:lnTo>
                        <a:lnTo>
                          <a:pt x="151" y="187"/>
                        </a:lnTo>
                        <a:lnTo>
                          <a:pt x="145" y="182"/>
                        </a:lnTo>
                        <a:lnTo>
                          <a:pt x="139" y="177"/>
                        </a:lnTo>
                        <a:lnTo>
                          <a:pt x="133" y="172"/>
                        </a:lnTo>
                        <a:lnTo>
                          <a:pt x="129" y="170"/>
                        </a:lnTo>
                        <a:lnTo>
                          <a:pt x="125" y="166"/>
                        </a:lnTo>
                        <a:lnTo>
                          <a:pt x="119" y="162"/>
                        </a:lnTo>
                        <a:lnTo>
                          <a:pt x="115" y="158"/>
                        </a:lnTo>
                        <a:lnTo>
                          <a:pt x="111" y="159"/>
                        </a:lnTo>
                        <a:lnTo>
                          <a:pt x="107" y="162"/>
                        </a:lnTo>
                        <a:lnTo>
                          <a:pt x="103" y="161"/>
                        </a:lnTo>
                        <a:lnTo>
                          <a:pt x="99" y="158"/>
                        </a:lnTo>
                        <a:lnTo>
                          <a:pt x="98" y="170"/>
                        </a:lnTo>
                        <a:lnTo>
                          <a:pt x="97" y="185"/>
                        </a:lnTo>
                        <a:lnTo>
                          <a:pt x="100" y="197"/>
                        </a:lnTo>
                        <a:lnTo>
                          <a:pt x="102" y="211"/>
                        </a:lnTo>
                        <a:lnTo>
                          <a:pt x="107" y="220"/>
                        </a:lnTo>
                        <a:lnTo>
                          <a:pt x="111" y="231"/>
                        </a:lnTo>
                        <a:lnTo>
                          <a:pt x="115" y="245"/>
                        </a:lnTo>
                        <a:lnTo>
                          <a:pt x="119" y="259"/>
                        </a:lnTo>
                        <a:lnTo>
                          <a:pt x="123" y="268"/>
                        </a:lnTo>
                        <a:lnTo>
                          <a:pt x="127" y="278"/>
                        </a:lnTo>
                        <a:lnTo>
                          <a:pt x="131" y="297"/>
                        </a:lnTo>
                        <a:lnTo>
                          <a:pt x="132" y="312"/>
                        </a:lnTo>
                        <a:lnTo>
                          <a:pt x="135" y="331"/>
                        </a:lnTo>
                        <a:lnTo>
                          <a:pt x="138" y="349"/>
                        </a:lnTo>
                        <a:lnTo>
                          <a:pt x="125" y="349"/>
                        </a:lnTo>
                        <a:lnTo>
                          <a:pt x="122" y="349"/>
                        </a:lnTo>
                        <a:lnTo>
                          <a:pt x="114" y="328"/>
                        </a:lnTo>
                        <a:lnTo>
                          <a:pt x="108" y="307"/>
                        </a:lnTo>
                        <a:lnTo>
                          <a:pt x="103" y="290"/>
                        </a:lnTo>
                        <a:lnTo>
                          <a:pt x="100" y="273"/>
                        </a:lnTo>
                        <a:lnTo>
                          <a:pt x="98" y="255"/>
                        </a:lnTo>
                        <a:lnTo>
                          <a:pt x="95" y="236"/>
                        </a:lnTo>
                        <a:lnTo>
                          <a:pt x="90" y="209"/>
                        </a:lnTo>
                        <a:lnTo>
                          <a:pt x="87" y="200"/>
                        </a:lnTo>
                        <a:lnTo>
                          <a:pt x="84" y="184"/>
                        </a:lnTo>
                        <a:lnTo>
                          <a:pt x="81" y="177"/>
                        </a:lnTo>
                        <a:lnTo>
                          <a:pt x="78" y="179"/>
                        </a:lnTo>
                        <a:lnTo>
                          <a:pt x="75" y="181"/>
                        </a:lnTo>
                        <a:lnTo>
                          <a:pt x="74" y="191"/>
                        </a:lnTo>
                        <a:lnTo>
                          <a:pt x="74" y="186"/>
                        </a:lnTo>
                        <a:lnTo>
                          <a:pt x="74" y="192"/>
                        </a:lnTo>
                        <a:lnTo>
                          <a:pt x="73" y="197"/>
                        </a:lnTo>
                        <a:lnTo>
                          <a:pt x="72" y="198"/>
                        </a:lnTo>
                        <a:lnTo>
                          <a:pt x="74" y="197"/>
                        </a:lnTo>
                        <a:lnTo>
                          <a:pt x="73" y="194"/>
                        </a:lnTo>
                        <a:lnTo>
                          <a:pt x="74" y="189"/>
                        </a:lnTo>
                        <a:lnTo>
                          <a:pt x="74" y="186"/>
                        </a:lnTo>
                        <a:lnTo>
                          <a:pt x="74" y="187"/>
                        </a:lnTo>
                        <a:lnTo>
                          <a:pt x="74" y="192"/>
                        </a:lnTo>
                        <a:lnTo>
                          <a:pt x="75" y="197"/>
                        </a:lnTo>
                        <a:lnTo>
                          <a:pt x="73" y="198"/>
                        </a:lnTo>
                        <a:lnTo>
                          <a:pt x="70" y="206"/>
                        </a:lnTo>
                        <a:lnTo>
                          <a:pt x="65" y="218"/>
                        </a:lnTo>
                        <a:lnTo>
                          <a:pt x="61" y="227"/>
                        </a:lnTo>
                        <a:lnTo>
                          <a:pt x="58" y="236"/>
                        </a:lnTo>
                        <a:lnTo>
                          <a:pt x="54" y="248"/>
                        </a:lnTo>
                        <a:lnTo>
                          <a:pt x="51" y="257"/>
                        </a:lnTo>
                        <a:lnTo>
                          <a:pt x="47" y="268"/>
                        </a:lnTo>
                        <a:lnTo>
                          <a:pt x="43" y="280"/>
                        </a:lnTo>
                        <a:lnTo>
                          <a:pt x="40" y="293"/>
                        </a:lnTo>
                        <a:lnTo>
                          <a:pt x="36" y="307"/>
                        </a:lnTo>
                        <a:lnTo>
                          <a:pt x="32" y="322"/>
                        </a:lnTo>
                        <a:lnTo>
                          <a:pt x="29" y="339"/>
                        </a:lnTo>
                        <a:lnTo>
                          <a:pt x="24" y="357"/>
                        </a:lnTo>
                        <a:lnTo>
                          <a:pt x="26" y="335"/>
                        </a:lnTo>
                        <a:lnTo>
                          <a:pt x="27" y="321"/>
                        </a:lnTo>
                        <a:lnTo>
                          <a:pt x="28" y="304"/>
                        </a:lnTo>
                        <a:lnTo>
                          <a:pt x="29" y="295"/>
                        </a:lnTo>
                        <a:lnTo>
                          <a:pt x="31" y="287"/>
                        </a:lnTo>
                        <a:lnTo>
                          <a:pt x="33" y="273"/>
                        </a:lnTo>
                        <a:lnTo>
                          <a:pt x="36" y="260"/>
                        </a:lnTo>
                        <a:lnTo>
                          <a:pt x="38" y="249"/>
                        </a:lnTo>
                        <a:lnTo>
                          <a:pt x="43" y="236"/>
                        </a:lnTo>
                        <a:lnTo>
                          <a:pt x="47" y="224"/>
                        </a:lnTo>
                        <a:lnTo>
                          <a:pt x="52" y="211"/>
                        </a:lnTo>
                        <a:lnTo>
                          <a:pt x="56" y="197"/>
                        </a:lnTo>
                        <a:lnTo>
                          <a:pt x="59" y="189"/>
                        </a:lnTo>
                        <a:lnTo>
                          <a:pt x="63" y="181"/>
                        </a:lnTo>
                        <a:lnTo>
                          <a:pt x="68" y="172"/>
                        </a:lnTo>
                        <a:lnTo>
                          <a:pt x="73" y="164"/>
                        </a:lnTo>
                        <a:lnTo>
                          <a:pt x="77" y="154"/>
                        </a:lnTo>
                        <a:lnTo>
                          <a:pt x="82" y="143"/>
                        </a:lnTo>
                        <a:lnTo>
                          <a:pt x="80" y="139"/>
                        </a:lnTo>
                        <a:lnTo>
                          <a:pt x="76" y="133"/>
                        </a:lnTo>
                        <a:lnTo>
                          <a:pt x="73" y="129"/>
                        </a:lnTo>
                        <a:lnTo>
                          <a:pt x="70" y="132"/>
                        </a:lnTo>
                        <a:lnTo>
                          <a:pt x="65" y="139"/>
                        </a:lnTo>
                        <a:lnTo>
                          <a:pt x="60" y="147"/>
                        </a:lnTo>
                        <a:lnTo>
                          <a:pt x="55" y="154"/>
                        </a:lnTo>
                        <a:lnTo>
                          <a:pt x="51" y="164"/>
                        </a:lnTo>
                        <a:lnTo>
                          <a:pt x="45" y="177"/>
                        </a:lnTo>
                        <a:lnTo>
                          <a:pt x="40" y="189"/>
                        </a:lnTo>
                        <a:lnTo>
                          <a:pt x="36" y="199"/>
                        </a:lnTo>
                        <a:lnTo>
                          <a:pt x="31" y="207"/>
                        </a:lnTo>
                        <a:lnTo>
                          <a:pt x="27" y="218"/>
                        </a:lnTo>
                        <a:lnTo>
                          <a:pt x="22" y="230"/>
                        </a:lnTo>
                        <a:lnTo>
                          <a:pt x="18" y="243"/>
                        </a:lnTo>
                        <a:lnTo>
                          <a:pt x="14" y="255"/>
                        </a:lnTo>
                        <a:lnTo>
                          <a:pt x="9" y="268"/>
                        </a:lnTo>
                        <a:lnTo>
                          <a:pt x="5" y="282"/>
                        </a:lnTo>
                        <a:lnTo>
                          <a:pt x="0" y="298"/>
                        </a:lnTo>
                        <a:lnTo>
                          <a:pt x="2" y="278"/>
                        </a:lnTo>
                        <a:lnTo>
                          <a:pt x="4" y="262"/>
                        </a:lnTo>
                        <a:lnTo>
                          <a:pt x="5" y="248"/>
                        </a:lnTo>
                        <a:lnTo>
                          <a:pt x="6" y="244"/>
                        </a:lnTo>
                        <a:lnTo>
                          <a:pt x="9" y="238"/>
                        </a:lnTo>
                        <a:lnTo>
                          <a:pt x="13" y="229"/>
                        </a:lnTo>
                        <a:lnTo>
                          <a:pt x="17" y="219"/>
                        </a:lnTo>
                        <a:lnTo>
                          <a:pt x="22" y="209"/>
                        </a:lnTo>
                        <a:lnTo>
                          <a:pt x="27" y="199"/>
                        </a:lnTo>
                        <a:lnTo>
                          <a:pt x="33" y="187"/>
                        </a:lnTo>
                        <a:lnTo>
                          <a:pt x="37" y="179"/>
                        </a:lnTo>
                        <a:lnTo>
                          <a:pt x="43" y="170"/>
                        </a:lnTo>
                        <a:lnTo>
                          <a:pt x="49" y="159"/>
                        </a:lnTo>
                        <a:lnTo>
                          <a:pt x="55" y="149"/>
                        </a:lnTo>
                        <a:lnTo>
                          <a:pt x="60" y="142"/>
                        </a:lnTo>
                        <a:lnTo>
                          <a:pt x="70" y="130"/>
                        </a:lnTo>
                        <a:lnTo>
                          <a:pt x="75" y="125"/>
                        </a:lnTo>
                        <a:lnTo>
                          <a:pt x="78" y="123"/>
                        </a:lnTo>
                        <a:lnTo>
                          <a:pt x="73" y="117"/>
                        </a:lnTo>
                        <a:lnTo>
                          <a:pt x="67" y="108"/>
                        </a:lnTo>
                        <a:lnTo>
                          <a:pt x="62" y="99"/>
                        </a:lnTo>
                        <a:lnTo>
                          <a:pt x="57" y="92"/>
                        </a:lnTo>
                        <a:lnTo>
                          <a:pt x="52" y="85"/>
                        </a:lnTo>
                        <a:lnTo>
                          <a:pt x="47" y="78"/>
                        </a:lnTo>
                        <a:lnTo>
                          <a:pt x="43" y="71"/>
                        </a:lnTo>
                        <a:lnTo>
                          <a:pt x="37" y="59"/>
                        </a:lnTo>
                        <a:lnTo>
                          <a:pt x="32" y="48"/>
                        </a:lnTo>
                        <a:lnTo>
                          <a:pt x="26" y="38"/>
                        </a:lnTo>
                        <a:lnTo>
                          <a:pt x="19" y="26"/>
                        </a:lnTo>
                        <a:lnTo>
                          <a:pt x="14" y="19"/>
                        </a:lnTo>
                        <a:lnTo>
                          <a:pt x="11" y="12"/>
                        </a:lnTo>
                        <a:lnTo>
                          <a:pt x="7" y="4"/>
                        </a:lnTo>
                        <a:lnTo>
                          <a:pt x="14" y="5"/>
                        </a:lnTo>
                        <a:lnTo>
                          <a:pt x="27" y="5"/>
                        </a:lnTo>
                        <a:lnTo>
                          <a:pt x="31" y="10"/>
                        </a:lnTo>
                        <a:lnTo>
                          <a:pt x="37" y="22"/>
                        </a:lnTo>
                        <a:lnTo>
                          <a:pt x="43" y="31"/>
                        </a:lnTo>
                      </a:path>
                    </a:pathLst>
                  </a:custGeom>
                  <a:solidFill>
                    <a:srgbClr val="037C03">
                      <a:alpha val="50195"/>
                    </a:srgbClr>
                  </a:solidFill>
                  <a:ln w="9525">
                    <a:noFill/>
                  </a:ln>
                </p:spPr>
                <p:txBody>
                  <a:bodyPr/>
                  <a:lstStyle/>
                  <a:p>
                    <a:endParaRPr lang="zh-CN" altLang="en-US"/>
                  </a:p>
                </p:txBody>
              </p:sp>
              <p:grpSp>
                <p:nvGrpSpPr>
                  <p:cNvPr id="31767" name="Group 1047"/>
                  <p:cNvGrpSpPr/>
                  <p:nvPr/>
                </p:nvGrpSpPr>
                <p:grpSpPr>
                  <a:xfrm>
                    <a:off x="1985" y="1419"/>
                    <a:ext cx="465" cy="349"/>
                    <a:chOff x="1985" y="1419"/>
                    <a:chExt cx="465" cy="349"/>
                  </a:xfrm>
                </p:grpSpPr>
                <p:sp>
                  <p:nvSpPr>
                    <p:cNvPr id="31768" name="Freeform 1048"/>
                    <p:cNvSpPr/>
                    <p:nvPr/>
                  </p:nvSpPr>
                  <p:spPr>
                    <a:xfrm>
                      <a:off x="2030" y="1419"/>
                      <a:ext cx="420" cy="326"/>
                    </a:xfrm>
                    <a:custGeom>
                      <a:avLst/>
                      <a:gdLst/>
                      <a:ahLst/>
                      <a:cxnLst>
                        <a:cxn ang="0">
                          <a:pos x="159" y="41"/>
                        </a:cxn>
                        <a:cxn ang="0">
                          <a:pos x="193" y="13"/>
                        </a:cxn>
                        <a:cxn ang="0">
                          <a:pos x="233" y="2"/>
                        </a:cxn>
                        <a:cxn ang="0">
                          <a:pos x="279" y="2"/>
                        </a:cxn>
                        <a:cxn ang="0">
                          <a:pos x="290" y="6"/>
                        </a:cxn>
                        <a:cxn ang="0">
                          <a:pos x="260" y="14"/>
                        </a:cxn>
                        <a:cxn ang="0">
                          <a:pos x="225" y="25"/>
                        </a:cxn>
                        <a:cxn ang="0">
                          <a:pos x="186" y="52"/>
                        </a:cxn>
                        <a:cxn ang="0">
                          <a:pos x="183" y="89"/>
                        </a:cxn>
                        <a:cxn ang="0">
                          <a:pos x="240" y="66"/>
                        </a:cxn>
                        <a:cxn ang="0">
                          <a:pos x="288" y="64"/>
                        </a:cxn>
                        <a:cxn ang="0">
                          <a:pos x="338" y="69"/>
                        </a:cxn>
                        <a:cxn ang="0">
                          <a:pos x="397" y="75"/>
                        </a:cxn>
                        <a:cxn ang="0">
                          <a:pos x="398" y="76"/>
                        </a:cxn>
                        <a:cxn ang="0">
                          <a:pos x="341" y="79"/>
                        </a:cxn>
                        <a:cxn ang="0">
                          <a:pos x="288" y="80"/>
                        </a:cxn>
                        <a:cxn ang="0">
                          <a:pos x="242" y="86"/>
                        </a:cxn>
                        <a:cxn ang="0">
                          <a:pos x="191" y="98"/>
                        </a:cxn>
                        <a:cxn ang="0">
                          <a:pos x="212" y="118"/>
                        </a:cxn>
                        <a:cxn ang="0">
                          <a:pos x="227" y="136"/>
                        </a:cxn>
                        <a:cxn ang="0">
                          <a:pos x="175" y="119"/>
                        </a:cxn>
                        <a:cxn ang="0">
                          <a:pos x="165" y="129"/>
                        </a:cxn>
                        <a:cxn ang="0">
                          <a:pos x="221" y="138"/>
                        </a:cxn>
                        <a:cxn ang="0">
                          <a:pos x="269" y="150"/>
                        </a:cxn>
                        <a:cxn ang="0">
                          <a:pos x="306" y="181"/>
                        </a:cxn>
                        <a:cxn ang="0">
                          <a:pos x="335" y="223"/>
                        </a:cxn>
                        <a:cxn ang="0">
                          <a:pos x="329" y="231"/>
                        </a:cxn>
                        <a:cxn ang="0">
                          <a:pos x="290" y="204"/>
                        </a:cxn>
                        <a:cxn ang="0">
                          <a:pos x="248" y="174"/>
                        </a:cxn>
                        <a:cxn ang="0">
                          <a:pos x="202" y="154"/>
                        </a:cxn>
                        <a:cxn ang="0">
                          <a:pos x="173" y="148"/>
                        </a:cxn>
                        <a:cxn ang="0">
                          <a:pos x="196" y="181"/>
                        </a:cxn>
                        <a:cxn ang="0">
                          <a:pos x="227" y="223"/>
                        </a:cxn>
                        <a:cxn ang="0">
                          <a:pos x="244" y="262"/>
                        </a:cxn>
                        <a:cxn ang="0">
                          <a:pos x="243" y="299"/>
                        </a:cxn>
                        <a:cxn ang="0">
                          <a:pos x="222" y="259"/>
                        </a:cxn>
                        <a:cxn ang="0">
                          <a:pos x="199" y="215"/>
                        </a:cxn>
                        <a:cxn ang="0">
                          <a:pos x="173" y="177"/>
                        </a:cxn>
                        <a:cxn ang="0">
                          <a:pos x="150" y="142"/>
                        </a:cxn>
                        <a:cxn ang="0">
                          <a:pos x="109" y="162"/>
                        </a:cxn>
                        <a:cxn ang="0">
                          <a:pos x="77" y="210"/>
                        </a:cxn>
                        <a:cxn ang="0">
                          <a:pos x="49" y="260"/>
                        </a:cxn>
                        <a:cxn ang="0">
                          <a:pos x="18" y="306"/>
                        </a:cxn>
                        <a:cxn ang="0">
                          <a:pos x="8" y="301"/>
                        </a:cxn>
                        <a:cxn ang="0">
                          <a:pos x="45" y="243"/>
                        </a:cxn>
                        <a:cxn ang="0">
                          <a:pos x="78" y="198"/>
                        </a:cxn>
                        <a:cxn ang="0">
                          <a:pos x="107" y="154"/>
                        </a:cxn>
                        <a:cxn ang="0">
                          <a:pos x="132" y="120"/>
                        </a:cxn>
                        <a:cxn ang="0">
                          <a:pos x="95" y="79"/>
                        </a:cxn>
                        <a:cxn ang="0">
                          <a:pos x="42" y="57"/>
                        </a:cxn>
                        <a:cxn ang="0">
                          <a:pos x="19" y="45"/>
                        </a:cxn>
                        <a:cxn ang="0">
                          <a:pos x="60" y="58"/>
                        </a:cxn>
                        <a:cxn ang="0">
                          <a:pos x="116" y="86"/>
                        </a:cxn>
                      </a:cxnLst>
                      <a:rect l="0" t="0" r="0" b="0"/>
                      <a:pathLst>
                        <a:path w="420" h="326">
                          <a:moveTo>
                            <a:pt x="132" y="83"/>
                          </a:moveTo>
                          <a:lnTo>
                            <a:pt x="135" y="74"/>
                          </a:lnTo>
                          <a:lnTo>
                            <a:pt x="140" y="65"/>
                          </a:lnTo>
                          <a:lnTo>
                            <a:pt x="146" y="57"/>
                          </a:lnTo>
                          <a:lnTo>
                            <a:pt x="152" y="48"/>
                          </a:lnTo>
                          <a:lnTo>
                            <a:pt x="159" y="41"/>
                          </a:lnTo>
                          <a:lnTo>
                            <a:pt x="164" y="34"/>
                          </a:lnTo>
                          <a:lnTo>
                            <a:pt x="170" y="29"/>
                          </a:lnTo>
                          <a:lnTo>
                            <a:pt x="176" y="25"/>
                          </a:lnTo>
                          <a:lnTo>
                            <a:pt x="181" y="20"/>
                          </a:lnTo>
                          <a:lnTo>
                            <a:pt x="187" y="17"/>
                          </a:lnTo>
                          <a:lnTo>
                            <a:pt x="193" y="13"/>
                          </a:lnTo>
                          <a:lnTo>
                            <a:pt x="199" y="10"/>
                          </a:lnTo>
                          <a:lnTo>
                            <a:pt x="204" y="8"/>
                          </a:lnTo>
                          <a:lnTo>
                            <a:pt x="212" y="6"/>
                          </a:lnTo>
                          <a:lnTo>
                            <a:pt x="220" y="5"/>
                          </a:lnTo>
                          <a:lnTo>
                            <a:pt x="226" y="3"/>
                          </a:lnTo>
                          <a:lnTo>
                            <a:pt x="233" y="2"/>
                          </a:lnTo>
                          <a:lnTo>
                            <a:pt x="241" y="2"/>
                          </a:lnTo>
                          <a:lnTo>
                            <a:pt x="248" y="1"/>
                          </a:lnTo>
                          <a:lnTo>
                            <a:pt x="258" y="1"/>
                          </a:lnTo>
                          <a:lnTo>
                            <a:pt x="265" y="1"/>
                          </a:lnTo>
                          <a:lnTo>
                            <a:pt x="272" y="2"/>
                          </a:lnTo>
                          <a:lnTo>
                            <a:pt x="279" y="2"/>
                          </a:lnTo>
                          <a:lnTo>
                            <a:pt x="285" y="1"/>
                          </a:lnTo>
                          <a:lnTo>
                            <a:pt x="293" y="1"/>
                          </a:lnTo>
                          <a:lnTo>
                            <a:pt x="300" y="0"/>
                          </a:lnTo>
                          <a:lnTo>
                            <a:pt x="296" y="2"/>
                          </a:lnTo>
                          <a:lnTo>
                            <a:pt x="293" y="3"/>
                          </a:lnTo>
                          <a:lnTo>
                            <a:pt x="290" y="6"/>
                          </a:lnTo>
                          <a:lnTo>
                            <a:pt x="287" y="10"/>
                          </a:lnTo>
                          <a:lnTo>
                            <a:pt x="281" y="10"/>
                          </a:lnTo>
                          <a:lnTo>
                            <a:pt x="275" y="10"/>
                          </a:lnTo>
                          <a:lnTo>
                            <a:pt x="270" y="11"/>
                          </a:lnTo>
                          <a:lnTo>
                            <a:pt x="265" y="12"/>
                          </a:lnTo>
                          <a:lnTo>
                            <a:pt x="260" y="14"/>
                          </a:lnTo>
                          <a:lnTo>
                            <a:pt x="254" y="15"/>
                          </a:lnTo>
                          <a:lnTo>
                            <a:pt x="248" y="17"/>
                          </a:lnTo>
                          <a:lnTo>
                            <a:pt x="242" y="19"/>
                          </a:lnTo>
                          <a:lnTo>
                            <a:pt x="236" y="20"/>
                          </a:lnTo>
                          <a:lnTo>
                            <a:pt x="231" y="22"/>
                          </a:lnTo>
                          <a:lnTo>
                            <a:pt x="225" y="25"/>
                          </a:lnTo>
                          <a:lnTo>
                            <a:pt x="218" y="28"/>
                          </a:lnTo>
                          <a:lnTo>
                            <a:pt x="212" y="31"/>
                          </a:lnTo>
                          <a:lnTo>
                            <a:pt x="205" y="35"/>
                          </a:lnTo>
                          <a:lnTo>
                            <a:pt x="199" y="39"/>
                          </a:lnTo>
                          <a:lnTo>
                            <a:pt x="192" y="45"/>
                          </a:lnTo>
                          <a:lnTo>
                            <a:pt x="186" y="52"/>
                          </a:lnTo>
                          <a:lnTo>
                            <a:pt x="180" y="61"/>
                          </a:lnTo>
                          <a:lnTo>
                            <a:pt x="173" y="73"/>
                          </a:lnTo>
                          <a:lnTo>
                            <a:pt x="167" y="86"/>
                          </a:lnTo>
                          <a:lnTo>
                            <a:pt x="159" y="101"/>
                          </a:lnTo>
                          <a:lnTo>
                            <a:pt x="172" y="95"/>
                          </a:lnTo>
                          <a:lnTo>
                            <a:pt x="183" y="89"/>
                          </a:lnTo>
                          <a:lnTo>
                            <a:pt x="197" y="82"/>
                          </a:lnTo>
                          <a:lnTo>
                            <a:pt x="212" y="75"/>
                          </a:lnTo>
                          <a:lnTo>
                            <a:pt x="218" y="73"/>
                          </a:lnTo>
                          <a:lnTo>
                            <a:pt x="225" y="70"/>
                          </a:lnTo>
                          <a:lnTo>
                            <a:pt x="232" y="69"/>
                          </a:lnTo>
                          <a:lnTo>
                            <a:pt x="240" y="66"/>
                          </a:lnTo>
                          <a:lnTo>
                            <a:pt x="249" y="65"/>
                          </a:lnTo>
                          <a:lnTo>
                            <a:pt x="256" y="64"/>
                          </a:lnTo>
                          <a:lnTo>
                            <a:pt x="263" y="64"/>
                          </a:lnTo>
                          <a:lnTo>
                            <a:pt x="272" y="63"/>
                          </a:lnTo>
                          <a:lnTo>
                            <a:pt x="281" y="64"/>
                          </a:lnTo>
                          <a:lnTo>
                            <a:pt x="288" y="64"/>
                          </a:lnTo>
                          <a:lnTo>
                            <a:pt x="297" y="65"/>
                          </a:lnTo>
                          <a:lnTo>
                            <a:pt x="305" y="65"/>
                          </a:lnTo>
                          <a:lnTo>
                            <a:pt x="313" y="66"/>
                          </a:lnTo>
                          <a:lnTo>
                            <a:pt x="321" y="67"/>
                          </a:lnTo>
                          <a:lnTo>
                            <a:pt x="329" y="68"/>
                          </a:lnTo>
                          <a:lnTo>
                            <a:pt x="338" y="69"/>
                          </a:lnTo>
                          <a:lnTo>
                            <a:pt x="346" y="69"/>
                          </a:lnTo>
                          <a:lnTo>
                            <a:pt x="354" y="70"/>
                          </a:lnTo>
                          <a:lnTo>
                            <a:pt x="364" y="71"/>
                          </a:lnTo>
                          <a:lnTo>
                            <a:pt x="374" y="72"/>
                          </a:lnTo>
                          <a:lnTo>
                            <a:pt x="383" y="74"/>
                          </a:lnTo>
                          <a:lnTo>
                            <a:pt x="397" y="75"/>
                          </a:lnTo>
                          <a:lnTo>
                            <a:pt x="402" y="75"/>
                          </a:lnTo>
                          <a:lnTo>
                            <a:pt x="406" y="75"/>
                          </a:lnTo>
                          <a:lnTo>
                            <a:pt x="411" y="77"/>
                          </a:lnTo>
                          <a:lnTo>
                            <a:pt x="419" y="80"/>
                          </a:lnTo>
                          <a:lnTo>
                            <a:pt x="404" y="77"/>
                          </a:lnTo>
                          <a:lnTo>
                            <a:pt x="398" y="76"/>
                          </a:lnTo>
                          <a:lnTo>
                            <a:pt x="392" y="76"/>
                          </a:lnTo>
                          <a:lnTo>
                            <a:pt x="379" y="77"/>
                          </a:lnTo>
                          <a:lnTo>
                            <a:pt x="370" y="78"/>
                          </a:lnTo>
                          <a:lnTo>
                            <a:pt x="360" y="78"/>
                          </a:lnTo>
                          <a:lnTo>
                            <a:pt x="350" y="78"/>
                          </a:lnTo>
                          <a:lnTo>
                            <a:pt x="341" y="79"/>
                          </a:lnTo>
                          <a:lnTo>
                            <a:pt x="332" y="79"/>
                          </a:lnTo>
                          <a:lnTo>
                            <a:pt x="325" y="78"/>
                          </a:lnTo>
                          <a:lnTo>
                            <a:pt x="315" y="78"/>
                          </a:lnTo>
                          <a:lnTo>
                            <a:pt x="305" y="78"/>
                          </a:lnTo>
                          <a:lnTo>
                            <a:pt x="296" y="79"/>
                          </a:lnTo>
                          <a:lnTo>
                            <a:pt x="288" y="80"/>
                          </a:lnTo>
                          <a:lnTo>
                            <a:pt x="279" y="80"/>
                          </a:lnTo>
                          <a:lnTo>
                            <a:pt x="272" y="80"/>
                          </a:lnTo>
                          <a:lnTo>
                            <a:pt x="264" y="81"/>
                          </a:lnTo>
                          <a:lnTo>
                            <a:pt x="256" y="83"/>
                          </a:lnTo>
                          <a:lnTo>
                            <a:pt x="249" y="84"/>
                          </a:lnTo>
                          <a:lnTo>
                            <a:pt x="242" y="86"/>
                          </a:lnTo>
                          <a:lnTo>
                            <a:pt x="235" y="87"/>
                          </a:lnTo>
                          <a:lnTo>
                            <a:pt x="227" y="89"/>
                          </a:lnTo>
                          <a:lnTo>
                            <a:pt x="219" y="92"/>
                          </a:lnTo>
                          <a:lnTo>
                            <a:pt x="212" y="93"/>
                          </a:lnTo>
                          <a:lnTo>
                            <a:pt x="199" y="97"/>
                          </a:lnTo>
                          <a:lnTo>
                            <a:pt x="191" y="98"/>
                          </a:lnTo>
                          <a:lnTo>
                            <a:pt x="180" y="104"/>
                          </a:lnTo>
                          <a:lnTo>
                            <a:pt x="164" y="109"/>
                          </a:lnTo>
                          <a:lnTo>
                            <a:pt x="180" y="111"/>
                          </a:lnTo>
                          <a:lnTo>
                            <a:pt x="199" y="112"/>
                          </a:lnTo>
                          <a:lnTo>
                            <a:pt x="203" y="113"/>
                          </a:lnTo>
                          <a:lnTo>
                            <a:pt x="212" y="118"/>
                          </a:lnTo>
                          <a:lnTo>
                            <a:pt x="217" y="120"/>
                          </a:lnTo>
                          <a:lnTo>
                            <a:pt x="223" y="123"/>
                          </a:lnTo>
                          <a:lnTo>
                            <a:pt x="224" y="125"/>
                          </a:lnTo>
                          <a:lnTo>
                            <a:pt x="227" y="130"/>
                          </a:lnTo>
                          <a:lnTo>
                            <a:pt x="233" y="140"/>
                          </a:lnTo>
                          <a:lnTo>
                            <a:pt x="227" y="136"/>
                          </a:lnTo>
                          <a:lnTo>
                            <a:pt x="219" y="131"/>
                          </a:lnTo>
                          <a:lnTo>
                            <a:pt x="212" y="129"/>
                          </a:lnTo>
                          <a:lnTo>
                            <a:pt x="199" y="125"/>
                          </a:lnTo>
                          <a:lnTo>
                            <a:pt x="190" y="123"/>
                          </a:lnTo>
                          <a:lnTo>
                            <a:pt x="180" y="120"/>
                          </a:lnTo>
                          <a:lnTo>
                            <a:pt x="175" y="119"/>
                          </a:lnTo>
                          <a:lnTo>
                            <a:pt x="165" y="120"/>
                          </a:lnTo>
                          <a:lnTo>
                            <a:pt x="158" y="122"/>
                          </a:lnTo>
                          <a:lnTo>
                            <a:pt x="148" y="123"/>
                          </a:lnTo>
                          <a:lnTo>
                            <a:pt x="153" y="125"/>
                          </a:lnTo>
                          <a:lnTo>
                            <a:pt x="158" y="127"/>
                          </a:lnTo>
                          <a:lnTo>
                            <a:pt x="165" y="129"/>
                          </a:lnTo>
                          <a:lnTo>
                            <a:pt x="173" y="129"/>
                          </a:lnTo>
                          <a:lnTo>
                            <a:pt x="186" y="129"/>
                          </a:lnTo>
                          <a:lnTo>
                            <a:pt x="194" y="131"/>
                          </a:lnTo>
                          <a:lnTo>
                            <a:pt x="204" y="133"/>
                          </a:lnTo>
                          <a:lnTo>
                            <a:pt x="212" y="136"/>
                          </a:lnTo>
                          <a:lnTo>
                            <a:pt x="221" y="138"/>
                          </a:lnTo>
                          <a:lnTo>
                            <a:pt x="231" y="141"/>
                          </a:lnTo>
                          <a:lnTo>
                            <a:pt x="240" y="143"/>
                          </a:lnTo>
                          <a:lnTo>
                            <a:pt x="248" y="145"/>
                          </a:lnTo>
                          <a:lnTo>
                            <a:pt x="254" y="146"/>
                          </a:lnTo>
                          <a:lnTo>
                            <a:pt x="261" y="148"/>
                          </a:lnTo>
                          <a:lnTo>
                            <a:pt x="269" y="150"/>
                          </a:lnTo>
                          <a:lnTo>
                            <a:pt x="277" y="154"/>
                          </a:lnTo>
                          <a:lnTo>
                            <a:pt x="285" y="158"/>
                          </a:lnTo>
                          <a:lnTo>
                            <a:pt x="289" y="160"/>
                          </a:lnTo>
                          <a:lnTo>
                            <a:pt x="295" y="167"/>
                          </a:lnTo>
                          <a:lnTo>
                            <a:pt x="302" y="174"/>
                          </a:lnTo>
                          <a:lnTo>
                            <a:pt x="306" y="181"/>
                          </a:lnTo>
                          <a:lnTo>
                            <a:pt x="311" y="188"/>
                          </a:lnTo>
                          <a:lnTo>
                            <a:pt x="316" y="195"/>
                          </a:lnTo>
                          <a:lnTo>
                            <a:pt x="320" y="202"/>
                          </a:lnTo>
                          <a:lnTo>
                            <a:pt x="325" y="208"/>
                          </a:lnTo>
                          <a:lnTo>
                            <a:pt x="329" y="215"/>
                          </a:lnTo>
                          <a:lnTo>
                            <a:pt x="335" y="223"/>
                          </a:lnTo>
                          <a:lnTo>
                            <a:pt x="339" y="232"/>
                          </a:lnTo>
                          <a:lnTo>
                            <a:pt x="345" y="238"/>
                          </a:lnTo>
                          <a:lnTo>
                            <a:pt x="351" y="246"/>
                          </a:lnTo>
                          <a:lnTo>
                            <a:pt x="343" y="240"/>
                          </a:lnTo>
                          <a:lnTo>
                            <a:pt x="337" y="236"/>
                          </a:lnTo>
                          <a:lnTo>
                            <a:pt x="329" y="231"/>
                          </a:lnTo>
                          <a:lnTo>
                            <a:pt x="321" y="225"/>
                          </a:lnTo>
                          <a:lnTo>
                            <a:pt x="315" y="220"/>
                          </a:lnTo>
                          <a:lnTo>
                            <a:pt x="309" y="215"/>
                          </a:lnTo>
                          <a:lnTo>
                            <a:pt x="303" y="212"/>
                          </a:lnTo>
                          <a:lnTo>
                            <a:pt x="297" y="208"/>
                          </a:lnTo>
                          <a:lnTo>
                            <a:pt x="290" y="204"/>
                          </a:lnTo>
                          <a:lnTo>
                            <a:pt x="284" y="200"/>
                          </a:lnTo>
                          <a:lnTo>
                            <a:pt x="278" y="196"/>
                          </a:lnTo>
                          <a:lnTo>
                            <a:pt x="271" y="191"/>
                          </a:lnTo>
                          <a:lnTo>
                            <a:pt x="263" y="186"/>
                          </a:lnTo>
                          <a:lnTo>
                            <a:pt x="255" y="179"/>
                          </a:lnTo>
                          <a:lnTo>
                            <a:pt x="248" y="174"/>
                          </a:lnTo>
                          <a:lnTo>
                            <a:pt x="241" y="170"/>
                          </a:lnTo>
                          <a:lnTo>
                            <a:pt x="234" y="166"/>
                          </a:lnTo>
                          <a:lnTo>
                            <a:pt x="226" y="162"/>
                          </a:lnTo>
                          <a:lnTo>
                            <a:pt x="219" y="159"/>
                          </a:lnTo>
                          <a:lnTo>
                            <a:pt x="212" y="157"/>
                          </a:lnTo>
                          <a:lnTo>
                            <a:pt x="202" y="154"/>
                          </a:lnTo>
                          <a:lnTo>
                            <a:pt x="192" y="151"/>
                          </a:lnTo>
                          <a:lnTo>
                            <a:pt x="185" y="150"/>
                          </a:lnTo>
                          <a:lnTo>
                            <a:pt x="178" y="147"/>
                          </a:lnTo>
                          <a:lnTo>
                            <a:pt x="167" y="142"/>
                          </a:lnTo>
                          <a:lnTo>
                            <a:pt x="156" y="137"/>
                          </a:lnTo>
                          <a:lnTo>
                            <a:pt x="173" y="148"/>
                          </a:lnTo>
                          <a:lnTo>
                            <a:pt x="174" y="150"/>
                          </a:lnTo>
                          <a:lnTo>
                            <a:pt x="178" y="155"/>
                          </a:lnTo>
                          <a:lnTo>
                            <a:pt x="182" y="160"/>
                          </a:lnTo>
                          <a:lnTo>
                            <a:pt x="187" y="167"/>
                          </a:lnTo>
                          <a:lnTo>
                            <a:pt x="192" y="173"/>
                          </a:lnTo>
                          <a:lnTo>
                            <a:pt x="196" y="181"/>
                          </a:lnTo>
                          <a:lnTo>
                            <a:pt x="202" y="188"/>
                          </a:lnTo>
                          <a:lnTo>
                            <a:pt x="207" y="194"/>
                          </a:lnTo>
                          <a:lnTo>
                            <a:pt x="212" y="200"/>
                          </a:lnTo>
                          <a:lnTo>
                            <a:pt x="216" y="207"/>
                          </a:lnTo>
                          <a:lnTo>
                            <a:pt x="223" y="216"/>
                          </a:lnTo>
                          <a:lnTo>
                            <a:pt x="227" y="223"/>
                          </a:lnTo>
                          <a:lnTo>
                            <a:pt x="231" y="229"/>
                          </a:lnTo>
                          <a:lnTo>
                            <a:pt x="235" y="236"/>
                          </a:lnTo>
                          <a:lnTo>
                            <a:pt x="238" y="243"/>
                          </a:lnTo>
                          <a:lnTo>
                            <a:pt x="241" y="250"/>
                          </a:lnTo>
                          <a:lnTo>
                            <a:pt x="243" y="255"/>
                          </a:lnTo>
                          <a:lnTo>
                            <a:pt x="244" y="262"/>
                          </a:lnTo>
                          <a:lnTo>
                            <a:pt x="245" y="272"/>
                          </a:lnTo>
                          <a:lnTo>
                            <a:pt x="246" y="281"/>
                          </a:lnTo>
                          <a:lnTo>
                            <a:pt x="247" y="290"/>
                          </a:lnTo>
                          <a:lnTo>
                            <a:pt x="249" y="299"/>
                          </a:lnTo>
                          <a:lnTo>
                            <a:pt x="250" y="308"/>
                          </a:lnTo>
                          <a:lnTo>
                            <a:pt x="243" y="299"/>
                          </a:lnTo>
                          <a:lnTo>
                            <a:pt x="238" y="292"/>
                          </a:lnTo>
                          <a:lnTo>
                            <a:pt x="233" y="286"/>
                          </a:lnTo>
                          <a:lnTo>
                            <a:pt x="231" y="281"/>
                          </a:lnTo>
                          <a:lnTo>
                            <a:pt x="227" y="274"/>
                          </a:lnTo>
                          <a:lnTo>
                            <a:pt x="225" y="267"/>
                          </a:lnTo>
                          <a:lnTo>
                            <a:pt x="222" y="259"/>
                          </a:lnTo>
                          <a:lnTo>
                            <a:pt x="218" y="251"/>
                          </a:lnTo>
                          <a:lnTo>
                            <a:pt x="214" y="242"/>
                          </a:lnTo>
                          <a:lnTo>
                            <a:pt x="211" y="235"/>
                          </a:lnTo>
                          <a:lnTo>
                            <a:pt x="207" y="227"/>
                          </a:lnTo>
                          <a:lnTo>
                            <a:pt x="202" y="220"/>
                          </a:lnTo>
                          <a:lnTo>
                            <a:pt x="199" y="215"/>
                          </a:lnTo>
                          <a:lnTo>
                            <a:pt x="193" y="208"/>
                          </a:lnTo>
                          <a:lnTo>
                            <a:pt x="187" y="201"/>
                          </a:lnTo>
                          <a:lnTo>
                            <a:pt x="182" y="196"/>
                          </a:lnTo>
                          <a:lnTo>
                            <a:pt x="177" y="190"/>
                          </a:lnTo>
                          <a:lnTo>
                            <a:pt x="176" y="184"/>
                          </a:lnTo>
                          <a:lnTo>
                            <a:pt x="173" y="177"/>
                          </a:lnTo>
                          <a:lnTo>
                            <a:pt x="169" y="170"/>
                          </a:lnTo>
                          <a:lnTo>
                            <a:pt x="166" y="163"/>
                          </a:lnTo>
                          <a:lnTo>
                            <a:pt x="164" y="161"/>
                          </a:lnTo>
                          <a:lnTo>
                            <a:pt x="158" y="154"/>
                          </a:lnTo>
                          <a:lnTo>
                            <a:pt x="154" y="148"/>
                          </a:lnTo>
                          <a:lnTo>
                            <a:pt x="150" y="142"/>
                          </a:lnTo>
                          <a:lnTo>
                            <a:pt x="145" y="136"/>
                          </a:lnTo>
                          <a:lnTo>
                            <a:pt x="138" y="140"/>
                          </a:lnTo>
                          <a:lnTo>
                            <a:pt x="131" y="144"/>
                          </a:lnTo>
                          <a:lnTo>
                            <a:pt x="123" y="151"/>
                          </a:lnTo>
                          <a:lnTo>
                            <a:pt x="115" y="156"/>
                          </a:lnTo>
                          <a:lnTo>
                            <a:pt x="109" y="162"/>
                          </a:lnTo>
                          <a:lnTo>
                            <a:pt x="105" y="168"/>
                          </a:lnTo>
                          <a:lnTo>
                            <a:pt x="99" y="176"/>
                          </a:lnTo>
                          <a:lnTo>
                            <a:pt x="93" y="186"/>
                          </a:lnTo>
                          <a:lnTo>
                            <a:pt x="87" y="193"/>
                          </a:lnTo>
                          <a:lnTo>
                            <a:pt x="81" y="202"/>
                          </a:lnTo>
                          <a:lnTo>
                            <a:pt x="77" y="210"/>
                          </a:lnTo>
                          <a:lnTo>
                            <a:pt x="72" y="218"/>
                          </a:lnTo>
                          <a:lnTo>
                            <a:pt x="67" y="226"/>
                          </a:lnTo>
                          <a:lnTo>
                            <a:pt x="64" y="233"/>
                          </a:lnTo>
                          <a:lnTo>
                            <a:pt x="59" y="242"/>
                          </a:lnTo>
                          <a:lnTo>
                            <a:pt x="55" y="250"/>
                          </a:lnTo>
                          <a:lnTo>
                            <a:pt x="49" y="260"/>
                          </a:lnTo>
                          <a:lnTo>
                            <a:pt x="43" y="269"/>
                          </a:lnTo>
                          <a:lnTo>
                            <a:pt x="37" y="280"/>
                          </a:lnTo>
                          <a:lnTo>
                            <a:pt x="31" y="289"/>
                          </a:lnTo>
                          <a:lnTo>
                            <a:pt x="27" y="294"/>
                          </a:lnTo>
                          <a:lnTo>
                            <a:pt x="22" y="300"/>
                          </a:lnTo>
                          <a:lnTo>
                            <a:pt x="18" y="306"/>
                          </a:lnTo>
                          <a:lnTo>
                            <a:pt x="12" y="312"/>
                          </a:lnTo>
                          <a:lnTo>
                            <a:pt x="7" y="317"/>
                          </a:lnTo>
                          <a:lnTo>
                            <a:pt x="0" y="325"/>
                          </a:lnTo>
                          <a:lnTo>
                            <a:pt x="2" y="316"/>
                          </a:lnTo>
                          <a:lnTo>
                            <a:pt x="4" y="309"/>
                          </a:lnTo>
                          <a:lnTo>
                            <a:pt x="8" y="301"/>
                          </a:lnTo>
                          <a:lnTo>
                            <a:pt x="12" y="294"/>
                          </a:lnTo>
                          <a:lnTo>
                            <a:pt x="19" y="284"/>
                          </a:lnTo>
                          <a:lnTo>
                            <a:pt x="26" y="274"/>
                          </a:lnTo>
                          <a:lnTo>
                            <a:pt x="33" y="262"/>
                          </a:lnTo>
                          <a:lnTo>
                            <a:pt x="39" y="253"/>
                          </a:lnTo>
                          <a:lnTo>
                            <a:pt x="45" y="243"/>
                          </a:lnTo>
                          <a:lnTo>
                            <a:pt x="51" y="235"/>
                          </a:lnTo>
                          <a:lnTo>
                            <a:pt x="56" y="227"/>
                          </a:lnTo>
                          <a:lnTo>
                            <a:pt x="61" y="220"/>
                          </a:lnTo>
                          <a:lnTo>
                            <a:pt x="66" y="214"/>
                          </a:lnTo>
                          <a:lnTo>
                            <a:pt x="72" y="206"/>
                          </a:lnTo>
                          <a:lnTo>
                            <a:pt x="78" y="198"/>
                          </a:lnTo>
                          <a:lnTo>
                            <a:pt x="84" y="190"/>
                          </a:lnTo>
                          <a:lnTo>
                            <a:pt x="90" y="181"/>
                          </a:lnTo>
                          <a:lnTo>
                            <a:pt x="95" y="174"/>
                          </a:lnTo>
                          <a:lnTo>
                            <a:pt x="101" y="166"/>
                          </a:lnTo>
                          <a:lnTo>
                            <a:pt x="104" y="160"/>
                          </a:lnTo>
                          <a:lnTo>
                            <a:pt x="107" y="154"/>
                          </a:lnTo>
                          <a:lnTo>
                            <a:pt x="109" y="149"/>
                          </a:lnTo>
                          <a:lnTo>
                            <a:pt x="112" y="143"/>
                          </a:lnTo>
                          <a:lnTo>
                            <a:pt x="116" y="138"/>
                          </a:lnTo>
                          <a:lnTo>
                            <a:pt x="122" y="131"/>
                          </a:lnTo>
                          <a:lnTo>
                            <a:pt x="128" y="125"/>
                          </a:lnTo>
                          <a:lnTo>
                            <a:pt x="132" y="120"/>
                          </a:lnTo>
                          <a:lnTo>
                            <a:pt x="137" y="114"/>
                          </a:lnTo>
                          <a:lnTo>
                            <a:pt x="135" y="109"/>
                          </a:lnTo>
                          <a:lnTo>
                            <a:pt x="133" y="101"/>
                          </a:lnTo>
                          <a:lnTo>
                            <a:pt x="121" y="97"/>
                          </a:lnTo>
                          <a:lnTo>
                            <a:pt x="108" y="88"/>
                          </a:lnTo>
                          <a:lnTo>
                            <a:pt x="95" y="79"/>
                          </a:lnTo>
                          <a:lnTo>
                            <a:pt x="87" y="74"/>
                          </a:lnTo>
                          <a:lnTo>
                            <a:pt x="81" y="71"/>
                          </a:lnTo>
                          <a:lnTo>
                            <a:pt x="71" y="66"/>
                          </a:lnTo>
                          <a:lnTo>
                            <a:pt x="61" y="63"/>
                          </a:lnTo>
                          <a:lnTo>
                            <a:pt x="50" y="60"/>
                          </a:lnTo>
                          <a:lnTo>
                            <a:pt x="42" y="57"/>
                          </a:lnTo>
                          <a:lnTo>
                            <a:pt x="32" y="53"/>
                          </a:lnTo>
                          <a:lnTo>
                            <a:pt x="23" y="51"/>
                          </a:lnTo>
                          <a:lnTo>
                            <a:pt x="14" y="49"/>
                          </a:lnTo>
                          <a:lnTo>
                            <a:pt x="7" y="47"/>
                          </a:lnTo>
                          <a:lnTo>
                            <a:pt x="14" y="46"/>
                          </a:lnTo>
                          <a:lnTo>
                            <a:pt x="19" y="45"/>
                          </a:lnTo>
                          <a:lnTo>
                            <a:pt x="23" y="44"/>
                          </a:lnTo>
                          <a:lnTo>
                            <a:pt x="28" y="44"/>
                          </a:lnTo>
                          <a:lnTo>
                            <a:pt x="33" y="44"/>
                          </a:lnTo>
                          <a:lnTo>
                            <a:pt x="43" y="49"/>
                          </a:lnTo>
                          <a:lnTo>
                            <a:pt x="51" y="53"/>
                          </a:lnTo>
                          <a:lnTo>
                            <a:pt x="60" y="58"/>
                          </a:lnTo>
                          <a:lnTo>
                            <a:pt x="69" y="63"/>
                          </a:lnTo>
                          <a:lnTo>
                            <a:pt x="79" y="68"/>
                          </a:lnTo>
                          <a:lnTo>
                            <a:pt x="89" y="74"/>
                          </a:lnTo>
                          <a:lnTo>
                            <a:pt x="96" y="77"/>
                          </a:lnTo>
                          <a:lnTo>
                            <a:pt x="109" y="84"/>
                          </a:lnTo>
                          <a:lnTo>
                            <a:pt x="116" y="86"/>
                          </a:lnTo>
                          <a:lnTo>
                            <a:pt x="122" y="85"/>
                          </a:lnTo>
                          <a:lnTo>
                            <a:pt x="127" y="84"/>
                          </a:lnTo>
                          <a:lnTo>
                            <a:pt x="132" y="83"/>
                          </a:lnTo>
                        </a:path>
                      </a:pathLst>
                    </a:custGeom>
                    <a:solidFill>
                      <a:srgbClr val="037C03">
                        <a:alpha val="50195"/>
                      </a:srgbClr>
                    </a:solidFill>
                    <a:ln w="9525">
                      <a:noFill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1769" name="Freeform 1049"/>
                    <p:cNvSpPr/>
                    <p:nvPr/>
                  </p:nvSpPr>
                  <p:spPr>
                    <a:xfrm>
                      <a:off x="2175" y="1587"/>
                      <a:ext cx="38" cy="181"/>
                    </a:xfrm>
                    <a:custGeom>
                      <a:avLst/>
                      <a:gdLst/>
                      <a:ahLst/>
                      <a:cxnLst>
                        <a:cxn ang="0">
                          <a:pos x="20" y="0"/>
                        </a:cxn>
                        <a:cxn ang="0">
                          <a:pos x="24" y="8"/>
                        </a:cxn>
                        <a:cxn ang="0">
                          <a:pos x="27" y="14"/>
                        </a:cxn>
                        <a:cxn ang="0">
                          <a:pos x="33" y="22"/>
                        </a:cxn>
                        <a:cxn ang="0">
                          <a:pos x="35" y="30"/>
                        </a:cxn>
                        <a:cxn ang="0">
                          <a:pos x="36" y="41"/>
                        </a:cxn>
                        <a:cxn ang="0">
                          <a:pos x="36" y="53"/>
                        </a:cxn>
                        <a:cxn ang="0">
                          <a:pos x="37" y="61"/>
                        </a:cxn>
                        <a:cxn ang="0">
                          <a:pos x="36" y="70"/>
                        </a:cxn>
                        <a:cxn ang="0">
                          <a:pos x="35" y="81"/>
                        </a:cxn>
                        <a:cxn ang="0">
                          <a:pos x="33" y="91"/>
                        </a:cxn>
                        <a:cxn ang="0">
                          <a:pos x="30" y="106"/>
                        </a:cxn>
                        <a:cxn ang="0">
                          <a:pos x="28" y="114"/>
                        </a:cxn>
                        <a:cxn ang="0">
                          <a:pos x="23" y="124"/>
                        </a:cxn>
                        <a:cxn ang="0">
                          <a:pos x="17" y="135"/>
                        </a:cxn>
                        <a:cxn ang="0">
                          <a:pos x="12" y="145"/>
                        </a:cxn>
                        <a:cxn ang="0">
                          <a:pos x="7" y="155"/>
                        </a:cxn>
                        <a:cxn ang="0">
                          <a:pos x="3" y="163"/>
                        </a:cxn>
                        <a:cxn ang="0">
                          <a:pos x="0" y="180"/>
                        </a:cxn>
                        <a:cxn ang="0">
                          <a:pos x="1" y="163"/>
                        </a:cxn>
                        <a:cxn ang="0">
                          <a:pos x="3" y="152"/>
                        </a:cxn>
                        <a:cxn ang="0">
                          <a:pos x="4" y="141"/>
                        </a:cxn>
                        <a:cxn ang="0">
                          <a:pos x="5" y="130"/>
                        </a:cxn>
                        <a:cxn ang="0">
                          <a:pos x="7" y="116"/>
                        </a:cxn>
                        <a:cxn ang="0">
                          <a:pos x="9" y="106"/>
                        </a:cxn>
                        <a:cxn ang="0">
                          <a:pos x="12" y="96"/>
                        </a:cxn>
                        <a:cxn ang="0">
                          <a:pos x="15" y="87"/>
                        </a:cxn>
                        <a:cxn ang="0">
                          <a:pos x="17" y="77"/>
                        </a:cxn>
                        <a:cxn ang="0">
                          <a:pos x="20" y="67"/>
                        </a:cxn>
                        <a:cxn ang="0">
                          <a:pos x="21" y="57"/>
                        </a:cxn>
                        <a:cxn ang="0">
                          <a:pos x="22" y="49"/>
                        </a:cxn>
                        <a:cxn ang="0">
                          <a:pos x="23" y="39"/>
                        </a:cxn>
                        <a:cxn ang="0">
                          <a:pos x="23" y="28"/>
                        </a:cxn>
                        <a:cxn ang="0">
                          <a:pos x="23" y="14"/>
                        </a:cxn>
                        <a:cxn ang="0">
                          <a:pos x="22" y="8"/>
                        </a:cxn>
                        <a:cxn ang="0">
                          <a:pos x="20" y="0"/>
                        </a:cxn>
                      </a:cxnLst>
                      <a:rect l="0" t="0" r="0" b="0"/>
                      <a:pathLst>
                        <a:path w="38" h="181">
                          <a:moveTo>
                            <a:pt x="20" y="0"/>
                          </a:moveTo>
                          <a:lnTo>
                            <a:pt x="24" y="8"/>
                          </a:lnTo>
                          <a:lnTo>
                            <a:pt x="27" y="14"/>
                          </a:lnTo>
                          <a:lnTo>
                            <a:pt x="33" y="22"/>
                          </a:lnTo>
                          <a:lnTo>
                            <a:pt x="35" y="30"/>
                          </a:lnTo>
                          <a:lnTo>
                            <a:pt x="36" y="41"/>
                          </a:lnTo>
                          <a:lnTo>
                            <a:pt x="36" y="53"/>
                          </a:lnTo>
                          <a:lnTo>
                            <a:pt x="37" y="61"/>
                          </a:lnTo>
                          <a:lnTo>
                            <a:pt x="36" y="70"/>
                          </a:lnTo>
                          <a:lnTo>
                            <a:pt x="35" y="81"/>
                          </a:lnTo>
                          <a:lnTo>
                            <a:pt x="33" y="91"/>
                          </a:lnTo>
                          <a:lnTo>
                            <a:pt x="30" y="106"/>
                          </a:lnTo>
                          <a:lnTo>
                            <a:pt x="28" y="114"/>
                          </a:lnTo>
                          <a:lnTo>
                            <a:pt x="23" y="124"/>
                          </a:lnTo>
                          <a:lnTo>
                            <a:pt x="17" y="135"/>
                          </a:lnTo>
                          <a:lnTo>
                            <a:pt x="12" y="145"/>
                          </a:lnTo>
                          <a:lnTo>
                            <a:pt x="7" y="155"/>
                          </a:lnTo>
                          <a:lnTo>
                            <a:pt x="3" y="163"/>
                          </a:lnTo>
                          <a:lnTo>
                            <a:pt x="0" y="180"/>
                          </a:lnTo>
                          <a:lnTo>
                            <a:pt x="1" y="163"/>
                          </a:lnTo>
                          <a:lnTo>
                            <a:pt x="3" y="152"/>
                          </a:lnTo>
                          <a:lnTo>
                            <a:pt x="4" y="141"/>
                          </a:lnTo>
                          <a:lnTo>
                            <a:pt x="5" y="130"/>
                          </a:lnTo>
                          <a:lnTo>
                            <a:pt x="7" y="116"/>
                          </a:lnTo>
                          <a:lnTo>
                            <a:pt x="9" y="106"/>
                          </a:lnTo>
                          <a:lnTo>
                            <a:pt x="12" y="96"/>
                          </a:lnTo>
                          <a:lnTo>
                            <a:pt x="15" y="87"/>
                          </a:lnTo>
                          <a:lnTo>
                            <a:pt x="17" y="77"/>
                          </a:lnTo>
                          <a:lnTo>
                            <a:pt x="20" y="67"/>
                          </a:lnTo>
                          <a:lnTo>
                            <a:pt x="21" y="57"/>
                          </a:lnTo>
                          <a:lnTo>
                            <a:pt x="22" y="49"/>
                          </a:lnTo>
                          <a:lnTo>
                            <a:pt x="23" y="39"/>
                          </a:lnTo>
                          <a:lnTo>
                            <a:pt x="23" y="28"/>
                          </a:lnTo>
                          <a:lnTo>
                            <a:pt x="23" y="14"/>
                          </a:lnTo>
                          <a:lnTo>
                            <a:pt x="22" y="8"/>
                          </a:lnTo>
                          <a:lnTo>
                            <a:pt x="20" y="0"/>
                          </a:lnTo>
                        </a:path>
                      </a:pathLst>
                    </a:custGeom>
                    <a:solidFill>
                      <a:srgbClr val="037C03">
                        <a:alpha val="50195"/>
                      </a:srgbClr>
                    </a:solidFill>
                    <a:ln w="9525">
                      <a:noFill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1770" name="Freeform 1050"/>
                    <p:cNvSpPr/>
                    <p:nvPr/>
                  </p:nvSpPr>
                  <p:spPr>
                    <a:xfrm>
                      <a:off x="1991" y="1486"/>
                      <a:ext cx="168" cy="48"/>
                    </a:xfrm>
                    <a:custGeom>
                      <a:avLst/>
                      <a:gdLst/>
                      <a:ahLst/>
                      <a:cxnLst>
                        <a:cxn ang="0">
                          <a:pos x="167" y="47"/>
                        </a:cxn>
                        <a:cxn ang="0">
                          <a:pos x="164" y="38"/>
                        </a:cxn>
                        <a:cxn ang="0">
                          <a:pos x="160" y="31"/>
                        </a:cxn>
                        <a:cxn ang="0">
                          <a:pos x="157" y="30"/>
                        </a:cxn>
                        <a:cxn ang="0">
                          <a:pos x="150" y="28"/>
                        </a:cxn>
                        <a:cxn ang="0">
                          <a:pos x="144" y="26"/>
                        </a:cxn>
                        <a:cxn ang="0">
                          <a:pos x="137" y="28"/>
                        </a:cxn>
                        <a:cxn ang="0">
                          <a:pos x="130" y="29"/>
                        </a:cxn>
                        <a:cxn ang="0">
                          <a:pos x="121" y="25"/>
                        </a:cxn>
                        <a:cxn ang="0">
                          <a:pos x="109" y="21"/>
                        </a:cxn>
                        <a:cxn ang="0">
                          <a:pos x="98" y="17"/>
                        </a:cxn>
                        <a:cxn ang="0">
                          <a:pos x="91" y="15"/>
                        </a:cxn>
                        <a:cxn ang="0">
                          <a:pos x="78" y="12"/>
                        </a:cxn>
                        <a:cxn ang="0">
                          <a:pos x="66" y="8"/>
                        </a:cxn>
                        <a:cxn ang="0">
                          <a:pos x="54" y="4"/>
                        </a:cxn>
                        <a:cxn ang="0">
                          <a:pos x="41" y="1"/>
                        </a:cxn>
                        <a:cxn ang="0">
                          <a:pos x="28" y="0"/>
                        </a:cxn>
                        <a:cxn ang="0">
                          <a:pos x="15" y="0"/>
                        </a:cxn>
                        <a:cxn ang="0">
                          <a:pos x="12" y="1"/>
                        </a:cxn>
                        <a:cxn ang="0">
                          <a:pos x="7" y="4"/>
                        </a:cxn>
                        <a:cxn ang="0">
                          <a:pos x="3" y="7"/>
                        </a:cxn>
                        <a:cxn ang="0">
                          <a:pos x="0" y="10"/>
                        </a:cxn>
                        <a:cxn ang="0">
                          <a:pos x="5" y="10"/>
                        </a:cxn>
                        <a:cxn ang="0">
                          <a:pos x="12" y="11"/>
                        </a:cxn>
                        <a:cxn ang="0">
                          <a:pos x="18" y="12"/>
                        </a:cxn>
                        <a:cxn ang="0">
                          <a:pos x="23" y="11"/>
                        </a:cxn>
                        <a:cxn ang="0">
                          <a:pos x="29" y="10"/>
                        </a:cxn>
                        <a:cxn ang="0">
                          <a:pos x="38" y="10"/>
                        </a:cxn>
                        <a:cxn ang="0">
                          <a:pos x="50" y="10"/>
                        </a:cxn>
                        <a:cxn ang="0">
                          <a:pos x="60" y="12"/>
                        </a:cxn>
                        <a:cxn ang="0">
                          <a:pos x="70" y="13"/>
                        </a:cxn>
                        <a:cxn ang="0">
                          <a:pos x="79" y="15"/>
                        </a:cxn>
                        <a:cxn ang="0">
                          <a:pos x="89" y="16"/>
                        </a:cxn>
                        <a:cxn ang="0">
                          <a:pos x="98" y="18"/>
                        </a:cxn>
                        <a:cxn ang="0">
                          <a:pos x="106" y="22"/>
                        </a:cxn>
                        <a:cxn ang="0">
                          <a:pos x="114" y="26"/>
                        </a:cxn>
                        <a:cxn ang="0">
                          <a:pos x="123" y="30"/>
                        </a:cxn>
                        <a:cxn ang="0">
                          <a:pos x="127" y="30"/>
                        </a:cxn>
                        <a:cxn ang="0">
                          <a:pos x="131" y="30"/>
                        </a:cxn>
                        <a:cxn ang="0">
                          <a:pos x="137" y="33"/>
                        </a:cxn>
                        <a:cxn ang="0">
                          <a:pos x="144" y="36"/>
                        </a:cxn>
                        <a:cxn ang="0">
                          <a:pos x="150" y="38"/>
                        </a:cxn>
                        <a:cxn ang="0">
                          <a:pos x="158" y="42"/>
                        </a:cxn>
                        <a:cxn ang="0">
                          <a:pos x="164" y="45"/>
                        </a:cxn>
                        <a:cxn ang="0">
                          <a:pos x="167" y="47"/>
                        </a:cxn>
                      </a:cxnLst>
                      <a:rect l="0" t="0" r="0" b="0"/>
                      <a:pathLst>
                        <a:path w="168" h="48">
                          <a:moveTo>
                            <a:pt x="167" y="47"/>
                          </a:moveTo>
                          <a:lnTo>
                            <a:pt x="164" y="38"/>
                          </a:lnTo>
                          <a:lnTo>
                            <a:pt x="160" y="31"/>
                          </a:lnTo>
                          <a:lnTo>
                            <a:pt x="157" y="30"/>
                          </a:lnTo>
                          <a:lnTo>
                            <a:pt x="150" y="28"/>
                          </a:lnTo>
                          <a:lnTo>
                            <a:pt x="144" y="26"/>
                          </a:lnTo>
                          <a:lnTo>
                            <a:pt x="137" y="28"/>
                          </a:lnTo>
                          <a:lnTo>
                            <a:pt x="130" y="29"/>
                          </a:lnTo>
                          <a:lnTo>
                            <a:pt x="121" y="25"/>
                          </a:lnTo>
                          <a:lnTo>
                            <a:pt x="109" y="21"/>
                          </a:lnTo>
                          <a:lnTo>
                            <a:pt x="98" y="17"/>
                          </a:lnTo>
                          <a:lnTo>
                            <a:pt x="91" y="15"/>
                          </a:lnTo>
                          <a:lnTo>
                            <a:pt x="78" y="12"/>
                          </a:lnTo>
                          <a:lnTo>
                            <a:pt x="66" y="8"/>
                          </a:lnTo>
                          <a:lnTo>
                            <a:pt x="54" y="4"/>
                          </a:lnTo>
                          <a:lnTo>
                            <a:pt x="41" y="1"/>
                          </a:lnTo>
                          <a:lnTo>
                            <a:pt x="28" y="0"/>
                          </a:lnTo>
                          <a:lnTo>
                            <a:pt x="15" y="0"/>
                          </a:lnTo>
                          <a:lnTo>
                            <a:pt x="12" y="1"/>
                          </a:lnTo>
                          <a:lnTo>
                            <a:pt x="7" y="4"/>
                          </a:lnTo>
                          <a:lnTo>
                            <a:pt x="3" y="7"/>
                          </a:lnTo>
                          <a:lnTo>
                            <a:pt x="0" y="10"/>
                          </a:lnTo>
                          <a:lnTo>
                            <a:pt x="5" y="10"/>
                          </a:lnTo>
                          <a:lnTo>
                            <a:pt x="12" y="11"/>
                          </a:lnTo>
                          <a:lnTo>
                            <a:pt x="18" y="12"/>
                          </a:lnTo>
                          <a:lnTo>
                            <a:pt x="23" y="11"/>
                          </a:lnTo>
                          <a:lnTo>
                            <a:pt x="29" y="10"/>
                          </a:lnTo>
                          <a:lnTo>
                            <a:pt x="38" y="10"/>
                          </a:lnTo>
                          <a:lnTo>
                            <a:pt x="50" y="10"/>
                          </a:lnTo>
                          <a:lnTo>
                            <a:pt x="60" y="12"/>
                          </a:lnTo>
                          <a:lnTo>
                            <a:pt x="70" y="13"/>
                          </a:lnTo>
                          <a:lnTo>
                            <a:pt x="79" y="15"/>
                          </a:lnTo>
                          <a:lnTo>
                            <a:pt x="89" y="16"/>
                          </a:lnTo>
                          <a:lnTo>
                            <a:pt x="98" y="18"/>
                          </a:lnTo>
                          <a:lnTo>
                            <a:pt x="106" y="22"/>
                          </a:lnTo>
                          <a:lnTo>
                            <a:pt x="114" y="26"/>
                          </a:lnTo>
                          <a:lnTo>
                            <a:pt x="123" y="30"/>
                          </a:lnTo>
                          <a:lnTo>
                            <a:pt x="127" y="30"/>
                          </a:lnTo>
                          <a:lnTo>
                            <a:pt x="131" y="30"/>
                          </a:lnTo>
                          <a:lnTo>
                            <a:pt x="137" y="33"/>
                          </a:lnTo>
                          <a:lnTo>
                            <a:pt x="144" y="36"/>
                          </a:lnTo>
                          <a:lnTo>
                            <a:pt x="150" y="38"/>
                          </a:lnTo>
                          <a:lnTo>
                            <a:pt x="158" y="42"/>
                          </a:lnTo>
                          <a:lnTo>
                            <a:pt x="164" y="45"/>
                          </a:lnTo>
                          <a:lnTo>
                            <a:pt x="167" y="47"/>
                          </a:lnTo>
                        </a:path>
                      </a:pathLst>
                    </a:custGeom>
                    <a:solidFill>
                      <a:srgbClr val="037C03">
                        <a:alpha val="50195"/>
                      </a:srgbClr>
                    </a:solidFill>
                    <a:ln w="9525">
                      <a:noFill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  <p:sp>
                  <p:nvSpPr>
                    <p:cNvPr id="31771" name="Freeform 1051"/>
                    <p:cNvSpPr/>
                    <p:nvPr/>
                  </p:nvSpPr>
                  <p:spPr>
                    <a:xfrm>
                      <a:off x="1985" y="1514"/>
                      <a:ext cx="173" cy="20"/>
                    </a:xfrm>
                    <a:custGeom>
                      <a:avLst/>
                      <a:gdLst/>
                      <a:ahLst/>
                      <a:cxnLst>
                        <a:cxn ang="0">
                          <a:pos x="172" y="19"/>
                        </a:cxn>
                        <a:cxn ang="0">
                          <a:pos x="167" y="17"/>
                        </a:cxn>
                        <a:cxn ang="0">
                          <a:pos x="163" y="15"/>
                        </a:cxn>
                        <a:cxn ang="0">
                          <a:pos x="157" y="13"/>
                        </a:cxn>
                        <a:cxn ang="0">
                          <a:pos x="152" y="11"/>
                        </a:cxn>
                        <a:cxn ang="0">
                          <a:pos x="146" y="9"/>
                        </a:cxn>
                        <a:cxn ang="0">
                          <a:pos x="138" y="6"/>
                        </a:cxn>
                        <a:cxn ang="0">
                          <a:pos x="131" y="2"/>
                        </a:cxn>
                        <a:cxn ang="0">
                          <a:pos x="125" y="2"/>
                        </a:cxn>
                        <a:cxn ang="0">
                          <a:pos x="118" y="3"/>
                        </a:cxn>
                        <a:cxn ang="0">
                          <a:pos x="108" y="5"/>
                        </a:cxn>
                        <a:cxn ang="0">
                          <a:pos x="103" y="5"/>
                        </a:cxn>
                        <a:cxn ang="0">
                          <a:pos x="91" y="3"/>
                        </a:cxn>
                        <a:cxn ang="0">
                          <a:pos x="77" y="1"/>
                        </a:cxn>
                        <a:cxn ang="0">
                          <a:pos x="67" y="0"/>
                        </a:cxn>
                        <a:cxn ang="0">
                          <a:pos x="55" y="0"/>
                        </a:cxn>
                        <a:cxn ang="0">
                          <a:pos x="43" y="0"/>
                        </a:cxn>
                        <a:cxn ang="0">
                          <a:pos x="35" y="1"/>
                        </a:cxn>
                        <a:cxn ang="0">
                          <a:pos x="26" y="2"/>
                        </a:cxn>
                        <a:cxn ang="0">
                          <a:pos x="18" y="3"/>
                        </a:cxn>
                        <a:cxn ang="0">
                          <a:pos x="9" y="4"/>
                        </a:cxn>
                        <a:cxn ang="0">
                          <a:pos x="8" y="8"/>
                        </a:cxn>
                        <a:cxn ang="0">
                          <a:pos x="6" y="11"/>
                        </a:cxn>
                        <a:cxn ang="0">
                          <a:pos x="4" y="14"/>
                        </a:cxn>
                        <a:cxn ang="0">
                          <a:pos x="0" y="16"/>
                        </a:cxn>
                        <a:cxn ang="0">
                          <a:pos x="7" y="15"/>
                        </a:cxn>
                        <a:cxn ang="0">
                          <a:pos x="15" y="13"/>
                        </a:cxn>
                        <a:cxn ang="0">
                          <a:pos x="21" y="12"/>
                        </a:cxn>
                        <a:cxn ang="0">
                          <a:pos x="29" y="11"/>
                        </a:cxn>
                        <a:cxn ang="0">
                          <a:pos x="36" y="10"/>
                        </a:cxn>
                        <a:cxn ang="0">
                          <a:pos x="49" y="9"/>
                        </a:cxn>
                        <a:cxn ang="0">
                          <a:pos x="62" y="8"/>
                        </a:cxn>
                        <a:cxn ang="0">
                          <a:pos x="77" y="7"/>
                        </a:cxn>
                        <a:cxn ang="0">
                          <a:pos x="92" y="6"/>
                        </a:cxn>
                        <a:cxn ang="0">
                          <a:pos x="106" y="6"/>
                        </a:cxn>
                        <a:cxn ang="0">
                          <a:pos x="118" y="7"/>
                        </a:cxn>
                        <a:cxn ang="0">
                          <a:pos x="126" y="9"/>
                        </a:cxn>
                        <a:cxn ang="0">
                          <a:pos x="135" y="11"/>
                        </a:cxn>
                        <a:cxn ang="0">
                          <a:pos x="145" y="13"/>
                        </a:cxn>
                        <a:cxn ang="0">
                          <a:pos x="155" y="16"/>
                        </a:cxn>
                        <a:cxn ang="0">
                          <a:pos x="163" y="17"/>
                        </a:cxn>
                        <a:cxn ang="0">
                          <a:pos x="172" y="19"/>
                        </a:cxn>
                      </a:cxnLst>
                      <a:rect l="0" t="0" r="0" b="0"/>
                      <a:pathLst>
                        <a:path w="173" h="20">
                          <a:moveTo>
                            <a:pt x="172" y="19"/>
                          </a:moveTo>
                          <a:lnTo>
                            <a:pt x="167" y="17"/>
                          </a:lnTo>
                          <a:lnTo>
                            <a:pt x="163" y="15"/>
                          </a:lnTo>
                          <a:lnTo>
                            <a:pt x="157" y="13"/>
                          </a:lnTo>
                          <a:lnTo>
                            <a:pt x="152" y="11"/>
                          </a:lnTo>
                          <a:lnTo>
                            <a:pt x="146" y="9"/>
                          </a:lnTo>
                          <a:lnTo>
                            <a:pt x="138" y="6"/>
                          </a:lnTo>
                          <a:lnTo>
                            <a:pt x="131" y="2"/>
                          </a:lnTo>
                          <a:lnTo>
                            <a:pt x="125" y="2"/>
                          </a:lnTo>
                          <a:lnTo>
                            <a:pt x="118" y="3"/>
                          </a:lnTo>
                          <a:lnTo>
                            <a:pt x="108" y="5"/>
                          </a:lnTo>
                          <a:lnTo>
                            <a:pt x="103" y="5"/>
                          </a:lnTo>
                          <a:lnTo>
                            <a:pt x="91" y="3"/>
                          </a:lnTo>
                          <a:lnTo>
                            <a:pt x="77" y="1"/>
                          </a:lnTo>
                          <a:lnTo>
                            <a:pt x="67" y="0"/>
                          </a:lnTo>
                          <a:lnTo>
                            <a:pt x="55" y="0"/>
                          </a:lnTo>
                          <a:lnTo>
                            <a:pt x="43" y="0"/>
                          </a:lnTo>
                          <a:lnTo>
                            <a:pt x="35" y="1"/>
                          </a:lnTo>
                          <a:lnTo>
                            <a:pt x="26" y="2"/>
                          </a:lnTo>
                          <a:lnTo>
                            <a:pt x="18" y="3"/>
                          </a:lnTo>
                          <a:lnTo>
                            <a:pt x="9" y="4"/>
                          </a:lnTo>
                          <a:lnTo>
                            <a:pt x="8" y="8"/>
                          </a:lnTo>
                          <a:lnTo>
                            <a:pt x="6" y="11"/>
                          </a:lnTo>
                          <a:lnTo>
                            <a:pt x="4" y="14"/>
                          </a:lnTo>
                          <a:lnTo>
                            <a:pt x="0" y="16"/>
                          </a:lnTo>
                          <a:lnTo>
                            <a:pt x="7" y="15"/>
                          </a:lnTo>
                          <a:lnTo>
                            <a:pt x="15" y="13"/>
                          </a:lnTo>
                          <a:lnTo>
                            <a:pt x="21" y="12"/>
                          </a:lnTo>
                          <a:lnTo>
                            <a:pt x="29" y="11"/>
                          </a:lnTo>
                          <a:lnTo>
                            <a:pt x="36" y="10"/>
                          </a:lnTo>
                          <a:lnTo>
                            <a:pt x="49" y="9"/>
                          </a:lnTo>
                          <a:lnTo>
                            <a:pt x="62" y="8"/>
                          </a:lnTo>
                          <a:lnTo>
                            <a:pt x="77" y="7"/>
                          </a:lnTo>
                          <a:lnTo>
                            <a:pt x="92" y="6"/>
                          </a:lnTo>
                          <a:lnTo>
                            <a:pt x="106" y="6"/>
                          </a:lnTo>
                          <a:lnTo>
                            <a:pt x="118" y="7"/>
                          </a:lnTo>
                          <a:lnTo>
                            <a:pt x="126" y="9"/>
                          </a:lnTo>
                          <a:lnTo>
                            <a:pt x="135" y="11"/>
                          </a:lnTo>
                          <a:lnTo>
                            <a:pt x="145" y="13"/>
                          </a:lnTo>
                          <a:lnTo>
                            <a:pt x="155" y="16"/>
                          </a:lnTo>
                          <a:lnTo>
                            <a:pt x="163" y="17"/>
                          </a:lnTo>
                          <a:lnTo>
                            <a:pt x="172" y="19"/>
                          </a:lnTo>
                        </a:path>
                      </a:pathLst>
                    </a:custGeom>
                    <a:solidFill>
                      <a:srgbClr val="037C03">
                        <a:alpha val="50195"/>
                      </a:srgbClr>
                    </a:solidFill>
                    <a:ln w="9525">
                      <a:noFill/>
                    </a:ln>
                  </p:spPr>
                  <p:txBody>
                    <a:bodyPr/>
                    <a:lstStyle/>
                    <a:p>
                      <a:endParaRPr lang="zh-CN" altLang="en-US"/>
                    </a:p>
                  </p:txBody>
                </p:sp>
              </p:grpSp>
            </p:grpSp>
          </p:grpSp>
        </p:grpSp>
        <p:grpSp>
          <p:nvGrpSpPr>
            <p:cNvPr id="31772" name="Group 1052"/>
            <p:cNvGrpSpPr/>
            <p:nvPr/>
          </p:nvGrpSpPr>
          <p:grpSpPr>
            <a:xfrm>
              <a:off x="4998" y="3858"/>
              <a:ext cx="203" cy="265"/>
              <a:chOff x="112" y="4288"/>
              <a:chExt cx="439" cy="478"/>
            </a:xfrm>
          </p:grpSpPr>
          <p:grpSp>
            <p:nvGrpSpPr>
              <p:cNvPr id="31773" name="Group 1053"/>
              <p:cNvGrpSpPr/>
              <p:nvPr/>
            </p:nvGrpSpPr>
            <p:grpSpPr>
              <a:xfrm>
                <a:off x="259" y="4288"/>
                <a:ext cx="148" cy="478"/>
                <a:chOff x="259" y="4288"/>
                <a:chExt cx="148" cy="478"/>
              </a:xfrm>
            </p:grpSpPr>
            <p:sp>
              <p:nvSpPr>
                <p:cNvPr id="31774" name="Freeform 1054"/>
                <p:cNvSpPr/>
                <p:nvPr/>
              </p:nvSpPr>
              <p:spPr>
                <a:xfrm>
                  <a:off x="260" y="4288"/>
                  <a:ext cx="147" cy="478"/>
                </a:xfrm>
                <a:custGeom>
                  <a:avLst/>
                  <a:gdLst/>
                  <a:ahLst/>
                  <a:cxnLst>
                    <a:cxn ang="0">
                      <a:pos x="49" y="188"/>
                    </a:cxn>
                    <a:cxn ang="0">
                      <a:pos x="131" y="472"/>
                    </a:cxn>
                    <a:cxn ang="0">
                      <a:pos x="135" y="475"/>
                    </a:cxn>
                    <a:cxn ang="0">
                      <a:pos x="139" y="477"/>
                    </a:cxn>
                    <a:cxn ang="0">
                      <a:pos x="142" y="475"/>
                    </a:cxn>
                    <a:cxn ang="0">
                      <a:pos x="144" y="472"/>
                    </a:cxn>
                    <a:cxn ang="0">
                      <a:pos x="146" y="468"/>
                    </a:cxn>
                    <a:cxn ang="0">
                      <a:pos x="146" y="463"/>
                    </a:cxn>
                    <a:cxn ang="0">
                      <a:pos x="143" y="455"/>
                    </a:cxn>
                    <a:cxn ang="0">
                      <a:pos x="61" y="176"/>
                    </a:cxn>
                    <a:cxn ang="0">
                      <a:pos x="9" y="5"/>
                    </a:cxn>
                    <a:cxn ang="0">
                      <a:pos x="6" y="2"/>
                    </a:cxn>
                    <a:cxn ang="0">
                      <a:pos x="4" y="1"/>
                    </a:cxn>
                    <a:cxn ang="0">
                      <a:pos x="1" y="0"/>
                    </a:cxn>
                    <a:cxn ang="0">
                      <a:pos x="0" y="2"/>
                    </a:cxn>
                    <a:cxn ang="0">
                      <a:pos x="0" y="6"/>
                    </a:cxn>
                    <a:cxn ang="0">
                      <a:pos x="0" y="10"/>
                    </a:cxn>
                    <a:cxn ang="0">
                      <a:pos x="49" y="188"/>
                    </a:cxn>
                  </a:cxnLst>
                  <a:rect l="0" t="0" r="0" b="0"/>
                  <a:pathLst>
                    <a:path w="147" h="478">
                      <a:moveTo>
                        <a:pt x="49" y="188"/>
                      </a:moveTo>
                      <a:lnTo>
                        <a:pt x="131" y="472"/>
                      </a:lnTo>
                      <a:lnTo>
                        <a:pt x="135" y="475"/>
                      </a:lnTo>
                      <a:lnTo>
                        <a:pt x="139" y="477"/>
                      </a:lnTo>
                      <a:lnTo>
                        <a:pt x="142" y="475"/>
                      </a:lnTo>
                      <a:lnTo>
                        <a:pt x="144" y="472"/>
                      </a:lnTo>
                      <a:lnTo>
                        <a:pt x="146" y="468"/>
                      </a:lnTo>
                      <a:lnTo>
                        <a:pt x="146" y="463"/>
                      </a:lnTo>
                      <a:lnTo>
                        <a:pt x="143" y="455"/>
                      </a:lnTo>
                      <a:lnTo>
                        <a:pt x="61" y="176"/>
                      </a:lnTo>
                      <a:lnTo>
                        <a:pt x="9" y="5"/>
                      </a:lnTo>
                      <a:lnTo>
                        <a:pt x="6" y="2"/>
                      </a:lnTo>
                      <a:lnTo>
                        <a:pt x="4" y="1"/>
                      </a:lnTo>
                      <a:lnTo>
                        <a:pt x="1" y="0"/>
                      </a:lnTo>
                      <a:lnTo>
                        <a:pt x="0" y="2"/>
                      </a:lnTo>
                      <a:lnTo>
                        <a:pt x="0" y="6"/>
                      </a:lnTo>
                      <a:lnTo>
                        <a:pt x="0" y="10"/>
                      </a:lnTo>
                      <a:lnTo>
                        <a:pt x="49" y="188"/>
                      </a:lnTo>
                    </a:path>
                  </a:pathLst>
                </a:custGeom>
                <a:solidFill>
                  <a:srgbClr val="C0C0C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75" name="Freeform 1055"/>
                <p:cNvSpPr/>
                <p:nvPr/>
              </p:nvSpPr>
              <p:spPr>
                <a:xfrm>
                  <a:off x="259" y="4289"/>
                  <a:ext cx="146" cy="477"/>
                </a:xfrm>
                <a:custGeom>
                  <a:avLst/>
                  <a:gdLst/>
                  <a:ahLst/>
                  <a:cxnLst>
                    <a:cxn ang="0">
                      <a:pos x="50" y="186"/>
                    </a:cxn>
                    <a:cxn ang="0">
                      <a:pos x="131" y="471"/>
                    </a:cxn>
                    <a:cxn ang="0">
                      <a:pos x="133" y="474"/>
                    </a:cxn>
                    <a:cxn ang="0">
                      <a:pos x="138" y="476"/>
                    </a:cxn>
                    <a:cxn ang="0">
                      <a:pos x="141" y="474"/>
                    </a:cxn>
                    <a:cxn ang="0">
                      <a:pos x="144" y="473"/>
                    </a:cxn>
                    <a:cxn ang="0">
                      <a:pos x="145" y="467"/>
                    </a:cxn>
                    <a:cxn ang="0">
                      <a:pos x="145" y="462"/>
                    </a:cxn>
                    <a:cxn ang="0">
                      <a:pos x="143" y="454"/>
                    </a:cxn>
                    <a:cxn ang="0">
                      <a:pos x="61" y="174"/>
                    </a:cxn>
                    <a:cxn ang="0">
                      <a:pos x="9" y="4"/>
                    </a:cxn>
                    <a:cxn ang="0">
                      <a:pos x="6" y="2"/>
                    </a:cxn>
                    <a:cxn ang="0">
                      <a:pos x="4" y="0"/>
                    </a:cxn>
                    <a:cxn ang="0">
                      <a:pos x="2" y="0"/>
                    </a:cxn>
                    <a:cxn ang="0">
                      <a:pos x="1" y="2"/>
                    </a:cxn>
                    <a:cxn ang="0">
                      <a:pos x="0" y="5"/>
                    </a:cxn>
                    <a:cxn ang="0">
                      <a:pos x="0" y="9"/>
                    </a:cxn>
                    <a:cxn ang="0">
                      <a:pos x="50" y="186"/>
                    </a:cxn>
                  </a:cxnLst>
                  <a:rect l="0" t="0" r="0" b="0"/>
                  <a:pathLst>
                    <a:path w="146" h="477">
                      <a:moveTo>
                        <a:pt x="50" y="186"/>
                      </a:moveTo>
                      <a:lnTo>
                        <a:pt x="131" y="471"/>
                      </a:lnTo>
                      <a:lnTo>
                        <a:pt x="133" y="474"/>
                      </a:lnTo>
                      <a:lnTo>
                        <a:pt x="138" y="476"/>
                      </a:lnTo>
                      <a:lnTo>
                        <a:pt x="141" y="474"/>
                      </a:lnTo>
                      <a:lnTo>
                        <a:pt x="144" y="473"/>
                      </a:lnTo>
                      <a:lnTo>
                        <a:pt x="145" y="467"/>
                      </a:lnTo>
                      <a:lnTo>
                        <a:pt x="145" y="462"/>
                      </a:lnTo>
                      <a:lnTo>
                        <a:pt x="143" y="454"/>
                      </a:lnTo>
                      <a:lnTo>
                        <a:pt x="61" y="174"/>
                      </a:lnTo>
                      <a:lnTo>
                        <a:pt x="9" y="4"/>
                      </a:lnTo>
                      <a:lnTo>
                        <a:pt x="6" y="2"/>
                      </a:lnTo>
                      <a:lnTo>
                        <a:pt x="4" y="0"/>
                      </a:lnTo>
                      <a:lnTo>
                        <a:pt x="2" y="0"/>
                      </a:lnTo>
                      <a:lnTo>
                        <a:pt x="1" y="2"/>
                      </a:lnTo>
                      <a:lnTo>
                        <a:pt x="0" y="5"/>
                      </a:lnTo>
                      <a:lnTo>
                        <a:pt x="0" y="9"/>
                      </a:lnTo>
                      <a:lnTo>
                        <a:pt x="50" y="186"/>
                      </a:lnTo>
                    </a:path>
                  </a:pathLst>
                </a:custGeom>
                <a:solidFill>
                  <a:srgbClr val="9F9F9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grpSp>
            <p:nvGrpSpPr>
              <p:cNvPr id="31776" name="Group 1056"/>
              <p:cNvGrpSpPr/>
              <p:nvPr/>
            </p:nvGrpSpPr>
            <p:grpSpPr>
              <a:xfrm>
                <a:off x="112" y="4295"/>
                <a:ext cx="439" cy="321"/>
                <a:chOff x="112" y="4295"/>
                <a:chExt cx="439" cy="321"/>
              </a:xfrm>
            </p:grpSpPr>
            <p:sp>
              <p:nvSpPr>
                <p:cNvPr id="31777" name="Freeform 1057"/>
                <p:cNvSpPr/>
                <p:nvPr/>
              </p:nvSpPr>
              <p:spPr>
                <a:xfrm>
                  <a:off x="191" y="4304"/>
                  <a:ext cx="273" cy="276"/>
                </a:xfrm>
                <a:custGeom>
                  <a:avLst/>
                  <a:gdLst/>
                  <a:ahLst/>
                  <a:cxnLst>
                    <a:cxn ang="0">
                      <a:pos x="43" y="32"/>
                    </a:cxn>
                    <a:cxn ang="0">
                      <a:pos x="69" y="13"/>
                    </a:cxn>
                    <a:cxn ang="0">
                      <a:pos x="92" y="4"/>
                    </a:cxn>
                    <a:cxn ang="0">
                      <a:pos x="123" y="0"/>
                    </a:cxn>
                    <a:cxn ang="0">
                      <a:pos x="154" y="9"/>
                    </a:cxn>
                    <a:cxn ang="0">
                      <a:pos x="194" y="36"/>
                    </a:cxn>
                    <a:cxn ang="0">
                      <a:pos x="232" y="75"/>
                    </a:cxn>
                    <a:cxn ang="0">
                      <a:pos x="265" y="128"/>
                    </a:cxn>
                    <a:cxn ang="0">
                      <a:pos x="268" y="156"/>
                    </a:cxn>
                    <a:cxn ang="0">
                      <a:pos x="261" y="146"/>
                    </a:cxn>
                    <a:cxn ang="0">
                      <a:pos x="253" y="138"/>
                    </a:cxn>
                    <a:cxn ang="0">
                      <a:pos x="242" y="133"/>
                    </a:cxn>
                    <a:cxn ang="0">
                      <a:pos x="232" y="132"/>
                    </a:cxn>
                    <a:cxn ang="0">
                      <a:pos x="220" y="133"/>
                    </a:cxn>
                    <a:cxn ang="0">
                      <a:pos x="209" y="137"/>
                    </a:cxn>
                    <a:cxn ang="0">
                      <a:pos x="201" y="144"/>
                    </a:cxn>
                    <a:cxn ang="0">
                      <a:pos x="193" y="155"/>
                    </a:cxn>
                    <a:cxn ang="0">
                      <a:pos x="187" y="167"/>
                    </a:cxn>
                    <a:cxn ang="0">
                      <a:pos x="184" y="181"/>
                    </a:cxn>
                    <a:cxn ang="0">
                      <a:pos x="186" y="196"/>
                    </a:cxn>
                    <a:cxn ang="0">
                      <a:pos x="166" y="150"/>
                    </a:cxn>
                    <a:cxn ang="0">
                      <a:pos x="99" y="225"/>
                    </a:cxn>
                    <a:cxn ang="0">
                      <a:pos x="99" y="231"/>
                    </a:cxn>
                    <a:cxn ang="0">
                      <a:pos x="92" y="221"/>
                    </a:cxn>
                    <a:cxn ang="0">
                      <a:pos x="83" y="212"/>
                    </a:cxn>
                    <a:cxn ang="0">
                      <a:pos x="73" y="207"/>
                    </a:cxn>
                    <a:cxn ang="0">
                      <a:pos x="63" y="204"/>
                    </a:cxn>
                    <a:cxn ang="0">
                      <a:pos x="53" y="206"/>
                    </a:cxn>
                    <a:cxn ang="0">
                      <a:pos x="43" y="208"/>
                    </a:cxn>
                    <a:cxn ang="0">
                      <a:pos x="33" y="214"/>
                    </a:cxn>
                    <a:cxn ang="0">
                      <a:pos x="25" y="222"/>
                    </a:cxn>
                    <a:cxn ang="0">
                      <a:pos x="19" y="231"/>
                    </a:cxn>
                    <a:cxn ang="0">
                      <a:pos x="15" y="243"/>
                    </a:cxn>
                    <a:cxn ang="0">
                      <a:pos x="14" y="258"/>
                    </a:cxn>
                    <a:cxn ang="0">
                      <a:pos x="17" y="275"/>
                    </a:cxn>
                    <a:cxn ang="0">
                      <a:pos x="3" y="229"/>
                    </a:cxn>
                    <a:cxn ang="0">
                      <a:pos x="0" y="173"/>
                    </a:cxn>
                    <a:cxn ang="0">
                      <a:pos x="4" y="119"/>
                    </a:cxn>
                    <a:cxn ang="0">
                      <a:pos x="30" y="48"/>
                    </a:cxn>
                  </a:cxnLst>
                  <a:rect l="0" t="0" r="0" b="0"/>
                  <a:pathLst>
                    <a:path w="273" h="276">
                      <a:moveTo>
                        <a:pt x="30" y="48"/>
                      </a:moveTo>
                      <a:lnTo>
                        <a:pt x="43" y="32"/>
                      </a:lnTo>
                      <a:lnTo>
                        <a:pt x="55" y="21"/>
                      </a:lnTo>
                      <a:lnTo>
                        <a:pt x="69" y="13"/>
                      </a:lnTo>
                      <a:lnTo>
                        <a:pt x="78" y="8"/>
                      </a:lnTo>
                      <a:lnTo>
                        <a:pt x="92" y="4"/>
                      </a:lnTo>
                      <a:lnTo>
                        <a:pt x="108" y="0"/>
                      </a:lnTo>
                      <a:lnTo>
                        <a:pt x="123" y="0"/>
                      </a:lnTo>
                      <a:lnTo>
                        <a:pt x="144" y="4"/>
                      </a:lnTo>
                      <a:lnTo>
                        <a:pt x="154" y="9"/>
                      </a:lnTo>
                      <a:lnTo>
                        <a:pt x="173" y="20"/>
                      </a:lnTo>
                      <a:lnTo>
                        <a:pt x="194" y="36"/>
                      </a:lnTo>
                      <a:lnTo>
                        <a:pt x="213" y="55"/>
                      </a:lnTo>
                      <a:lnTo>
                        <a:pt x="232" y="75"/>
                      </a:lnTo>
                      <a:lnTo>
                        <a:pt x="247" y="105"/>
                      </a:lnTo>
                      <a:lnTo>
                        <a:pt x="265" y="128"/>
                      </a:lnTo>
                      <a:lnTo>
                        <a:pt x="272" y="165"/>
                      </a:lnTo>
                      <a:lnTo>
                        <a:pt x="268" y="156"/>
                      </a:lnTo>
                      <a:lnTo>
                        <a:pt x="265" y="150"/>
                      </a:lnTo>
                      <a:lnTo>
                        <a:pt x="261" y="146"/>
                      </a:lnTo>
                      <a:lnTo>
                        <a:pt x="256" y="142"/>
                      </a:lnTo>
                      <a:lnTo>
                        <a:pt x="253" y="138"/>
                      </a:lnTo>
                      <a:lnTo>
                        <a:pt x="247" y="136"/>
                      </a:lnTo>
                      <a:lnTo>
                        <a:pt x="242" y="133"/>
                      </a:lnTo>
                      <a:lnTo>
                        <a:pt x="237" y="132"/>
                      </a:lnTo>
                      <a:lnTo>
                        <a:pt x="232" y="132"/>
                      </a:lnTo>
                      <a:lnTo>
                        <a:pt x="226" y="132"/>
                      </a:lnTo>
                      <a:lnTo>
                        <a:pt x="220" y="133"/>
                      </a:lnTo>
                      <a:lnTo>
                        <a:pt x="215" y="134"/>
                      </a:lnTo>
                      <a:lnTo>
                        <a:pt x="209" y="137"/>
                      </a:lnTo>
                      <a:lnTo>
                        <a:pt x="205" y="141"/>
                      </a:lnTo>
                      <a:lnTo>
                        <a:pt x="201" y="144"/>
                      </a:lnTo>
                      <a:lnTo>
                        <a:pt x="196" y="149"/>
                      </a:lnTo>
                      <a:lnTo>
                        <a:pt x="193" y="155"/>
                      </a:lnTo>
                      <a:lnTo>
                        <a:pt x="190" y="161"/>
                      </a:lnTo>
                      <a:lnTo>
                        <a:pt x="187" y="167"/>
                      </a:lnTo>
                      <a:lnTo>
                        <a:pt x="186" y="175"/>
                      </a:lnTo>
                      <a:lnTo>
                        <a:pt x="184" y="181"/>
                      </a:lnTo>
                      <a:lnTo>
                        <a:pt x="185" y="190"/>
                      </a:lnTo>
                      <a:lnTo>
                        <a:pt x="186" y="196"/>
                      </a:lnTo>
                      <a:lnTo>
                        <a:pt x="187" y="203"/>
                      </a:lnTo>
                      <a:lnTo>
                        <a:pt x="166" y="150"/>
                      </a:lnTo>
                      <a:lnTo>
                        <a:pt x="98" y="175"/>
                      </a:lnTo>
                      <a:lnTo>
                        <a:pt x="99" y="225"/>
                      </a:lnTo>
                      <a:lnTo>
                        <a:pt x="102" y="239"/>
                      </a:lnTo>
                      <a:lnTo>
                        <a:pt x="99" y="231"/>
                      </a:lnTo>
                      <a:lnTo>
                        <a:pt x="96" y="226"/>
                      </a:lnTo>
                      <a:lnTo>
                        <a:pt x="92" y="221"/>
                      </a:lnTo>
                      <a:lnTo>
                        <a:pt x="87" y="217"/>
                      </a:lnTo>
                      <a:lnTo>
                        <a:pt x="83" y="212"/>
                      </a:lnTo>
                      <a:lnTo>
                        <a:pt x="78" y="210"/>
                      </a:lnTo>
                      <a:lnTo>
                        <a:pt x="73" y="207"/>
                      </a:lnTo>
                      <a:lnTo>
                        <a:pt x="68" y="206"/>
                      </a:lnTo>
                      <a:lnTo>
                        <a:pt x="63" y="204"/>
                      </a:lnTo>
                      <a:lnTo>
                        <a:pt x="58" y="204"/>
                      </a:lnTo>
                      <a:lnTo>
                        <a:pt x="53" y="206"/>
                      </a:lnTo>
                      <a:lnTo>
                        <a:pt x="48" y="206"/>
                      </a:lnTo>
                      <a:lnTo>
                        <a:pt x="43" y="208"/>
                      </a:lnTo>
                      <a:lnTo>
                        <a:pt x="38" y="211"/>
                      </a:lnTo>
                      <a:lnTo>
                        <a:pt x="33" y="214"/>
                      </a:lnTo>
                      <a:lnTo>
                        <a:pt x="28" y="218"/>
                      </a:lnTo>
                      <a:lnTo>
                        <a:pt x="25" y="222"/>
                      </a:lnTo>
                      <a:lnTo>
                        <a:pt x="22" y="226"/>
                      </a:lnTo>
                      <a:lnTo>
                        <a:pt x="19" y="231"/>
                      </a:lnTo>
                      <a:lnTo>
                        <a:pt x="17" y="238"/>
                      </a:lnTo>
                      <a:lnTo>
                        <a:pt x="15" y="243"/>
                      </a:lnTo>
                      <a:lnTo>
                        <a:pt x="14" y="252"/>
                      </a:lnTo>
                      <a:lnTo>
                        <a:pt x="14" y="258"/>
                      </a:lnTo>
                      <a:lnTo>
                        <a:pt x="15" y="264"/>
                      </a:lnTo>
                      <a:lnTo>
                        <a:pt x="17" y="275"/>
                      </a:lnTo>
                      <a:lnTo>
                        <a:pt x="12" y="262"/>
                      </a:lnTo>
                      <a:lnTo>
                        <a:pt x="3" y="229"/>
                      </a:lnTo>
                      <a:lnTo>
                        <a:pt x="2" y="207"/>
                      </a:lnTo>
                      <a:lnTo>
                        <a:pt x="0" y="173"/>
                      </a:lnTo>
                      <a:lnTo>
                        <a:pt x="0" y="144"/>
                      </a:lnTo>
                      <a:lnTo>
                        <a:pt x="4" y="119"/>
                      </a:lnTo>
                      <a:lnTo>
                        <a:pt x="11" y="84"/>
                      </a:lnTo>
                      <a:lnTo>
                        <a:pt x="30" y="48"/>
                      </a:lnTo>
                    </a:path>
                  </a:pathLst>
                </a:custGeom>
                <a:solidFill>
                  <a:srgbClr val="FFFFFF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31778" name="Freeform 1058"/>
                <p:cNvSpPr/>
                <p:nvPr/>
              </p:nvSpPr>
              <p:spPr>
                <a:xfrm>
                  <a:off x="112" y="4295"/>
                  <a:ext cx="439" cy="321"/>
                </a:xfrm>
                <a:custGeom>
                  <a:avLst/>
                  <a:gdLst/>
                  <a:ahLst/>
                  <a:cxnLst>
                    <a:cxn ang="0">
                      <a:pos x="146" y="22"/>
                    </a:cxn>
                    <a:cxn ang="0">
                      <a:pos x="113" y="43"/>
                    </a:cxn>
                    <a:cxn ang="0">
                      <a:pos x="83" y="67"/>
                    </a:cxn>
                    <a:cxn ang="0">
                      <a:pos x="57" y="96"/>
                    </a:cxn>
                    <a:cxn ang="0">
                      <a:pos x="31" y="134"/>
                    </a:cxn>
                    <a:cxn ang="0">
                      <a:pos x="12" y="177"/>
                    </a:cxn>
                    <a:cxn ang="0">
                      <a:pos x="1" y="227"/>
                    </a:cxn>
                    <a:cxn ang="0">
                      <a:pos x="0" y="278"/>
                    </a:cxn>
                    <a:cxn ang="0">
                      <a:pos x="9" y="320"/>
                    </a:cxn>
                    <a:cxn ang="0">
                      <a:pos x="10" y="282"/>
                    </a:cxn>
                    <a:cxn ang="0">
                      <a:pos x="29" y="258"/>
                    </a:cxn>
                    <a:cxn ang="0">
                      <a:pos x="55" y="250"/>
                    </a:cxn>
                    <a:cxn ang="0">
                      <a:pos x="81" y="260"/>
                    </a:cxn>
                    <a:cxn ang="0">
                      <a:pos x="94" y="276"/>
                    </a:cxn>
                    <a:cxn ang="0">
                      <a:pos x="84" y="229"/>
                    </a:cxn>
                    <a:cxn ang="0">
                      <a:pos x="81" y="178"/>
                    </a:cxn>
                    <a:cxn ang="0">
                      <a:pos x="85" y="129"/>
                    </a:cxn>
                    <a:cxn ang="0">
                      <a:pos x="96" y="91"/>
                    </a:cxn>
                    <a:cxn ang="0">
                      <a:pos x="113" y="57"/>
                    </a:cxn>
                    <a:cxn ang="0">
                      <a:pos x="138" y="30"/>
                    </a:cxn>
                    <a:cxn ang="0">
                      <a:pos x="149" y="30"/>
                    </a:cxn>
                    <a:cxn ang="0">
                      <a:pos x="146" y="71"/>
                    </a:cxn>
                    <a:cxn ang="0">
                      <a:pos x="150" y="116"/>
                    </a:cxn>
                    <a:cxn ang="0">
                      <a:pos x="161" y="172"/>
                    </a:cxn>
                    <a:cxn ang="0">
                      <a:pos x="174" y="220"/>
                    </a:cxn>
                    <a:cxn ang="0">
                      <a:pos x="179" y="231"/>
                    </a:cxn>
                    <a:cxn ang="0">
                      <a:pos x="189" y="196"/>
                    </a:cxn>
                    <a:cxn ang="0">
                      <a:pos x="217" y="178"/>
                    </a:cxn>
                    <a:cxn ang="0">
                      <a:pos x="247" y="184"/>
                    </a:cxn>
                    <a:cxn ang="0">
                      <a:pos x="262" y="198"/>
                    </a:cxn>
                    <a:cxn ang="0">
                      <a:pos x="248" y="158"/>
                    </a:cxn>
                    <a:cxn ang="0">
                      <a:pos x="231" y="115"/>
                    </a:cxn>
                    <a:cxn ang="0">
                      <a:pos x="211" y="75"/>
                    </a:cxn>
                    <a:cxn ang="0">
                      <a:pos x="192" y="44"/>
                    </a:cxn>
                    <a:cxn ang="0">
                      <a:pos x="170" y="20"/>
                    </a:cxn>
                    <a:cxn ang="0">
                      <a:pos x="183" y="12"/>
                    </a:cxn>
                    <a:cxn ang="0">
                      <a:pos x="217" y="14"/>
                    </a:cxn>
                    <a:cxn ang="0">
                      <a:pos x="251" y="30"/>
                    </a:cxn>
                    <a:cxn ang="0">
                      <a:pos x="278" y="52"/>
                    </a:cxn>
                    <a:cxn ang="0">
                      <a:pos x="303" y="80"/>
                    </a:cxn>
                    <a:cxn ang="0">
                      <a:pos x="324" y="112"/>
                    </a:cxn>
                    <a:cxn ang="0">
                      <a:pos x="341" y="149"/>
                    </a:cxn>
                    <a:cxn ang="0">
                      <a:pos x="350" y="157"/>
                    </a:cxn>
                    <a:cxn ang="0">
                      <a:pos x="360" y="125"/>
                    </a:cxn>
                    <a:cxn ang="0">
                      <a:pos x="383" y="106"/>
                    </a:cxn>
                    <a:cxn ang="0">
                      <a:pos x="407" y="106"/>
                    </a:cxn>
                    <a:cxn ang="0">
                      <a:pos x="430" y="125"/>
                    </a:cxn>
                    <a:cxn ang="0">
                      <a:pos x="430" y="116"/>
                    </a:cxn>
                    <a:cxn ang="0">
                      <a:pos x="411" y="83"/>
                    </a:cxn>
                    <a:cxn ang="0">
                      <a:pos x="387" y="53"/>
                    </a:cxn>
                    <a:cxn ang="0">
                      <a:pos x="356" y="29"/>
                    </a:cxn>
                    <a:cxn ang="0">
                      <a:pos x="324" y="13"/>
                    </a:cxn>
                    <a:cxn ang="0">
                      <a:pos x="291" y="4"/>
                    </a:cxn>
                    <a:cxn ang="0">
                      <a:pos x="256" y="0"/>
                    </a:cxn>
                    <a:cxn ang="0">
                      <a:pos x="217" y="1"/>
                    </a:cxn>
                    <a:cxn ang="0">
                      <a:pos x="180" y="9"/>
                    </a:cxn>
                  </a:cxnLst>
                  <a:rect l="0" t="0" r="0" b="0"/>
                  <a:pathLst>
                    <a:path w="439" h="321">
                      <a:moveTo>
                        <a:pt x="172" y="12"/>
                      </a:moveTo>
                      <a:lnTo>
                        <a:pt x="162" y="16"/>
                      </a:lnTo>
                      <a:lnTo>
                        <a:pt x="157" y="17"/>
                      </a:lnTo>
                      <a:lnTo>
                        <a:pt x="152" y="20"/>
                      </a:lnTo>
                      <a:lnTo>
                        <a:pt x="146" y="22"/>
                      </a:lnTo>
                      <a:lnTo>
                        <a:pt x="138" y="26"/>
                      </a:lnTo>
                      <a:lnTo>
                        <a:pt x="132" y="30"/>
                      </a:lnTo>
                      <a:lnTo>
                        <a:pt x="126" y="33"/>
                      </a:lnTo>
                      <a:lnTo>
                        <a:pt x="119" y="38"/>
                      </a:lnTo>
                      <a:lnTo>
                        <a:pt x="113" y="43"/>
                      </a:lnTo>
                      <a:lnTo>
                        <a:pt x="107" y="47"/>
                      </a:lnTo>
                      <a:lnTo>
                        <a:pt x="101" y="52"/>
                      </a:lnTo>
                      <a:lnTo>
                        <a:pt x="94" y="57"/>
                      </a:lnTo>
                      <a:lnTo>
                        <a:pt x="88" y="61"/>
                      </a:lnTo>
                      <a:lnTo>
                        <a:pt x="83" y="67"/>
                      </a:lnTo>
                      <a:lnTo>
                        <a:pt x="77" y="72"/>
                      </a:lnTo>
                      <a:lnTo>
                        <a:pt x="72" y="79"/>
                      </a:lnTo>
                      <a:lnTo>
                        <a:pt x="66" y="84"/>
                      </a:lnTo>
                      <a:lnTo>
                        <a:pt x="61" y="90"/>
                      </a:lnTo>
                      <a:lnTo>
                        <a:pt x="57" y="96"/>
                      </a:lnTo>
                      <a:lnTo>
                        <a:pt x="51" y="103"/>
                      </a:lnTo>
                      <a:lnTo>
                        <a:pt x="46" y="110"/>
                      </a:lnTo>
                      <a:lnTo>
                        <a:pt x="41" y="118"/>
                      </a:lnTo>
                      <a:lnTo>
                        <a:pt x="36" y="126"/>
                      </a:lnTo>
                      <a:lnTo>
                        <a:pt x="31" y="134"/>
                      </a:lnTo>
                      <a:lnTo>
                        <a:pt x="27" y="141"/>
                      </a:lnTo>
                      <a:lnTo>
                        <a:pt x="23" y="150"/>
                      </a:lnTo>
                      <a:lnTo>
                        <a:pt x="18" y="160"/>
                      </a:lnTo>
                      <a:lnTo>
                        <a:pt x="15" y="169"/>
                      </a:lnTo>
                      <a:lnTo>
                        <a:pt x="12" y="177"/>
                      </a:lnTo>
                      <a:lnTo>
                        <a:pt x="9" y="186"/>
                      </a:lnTo>
                      <a:lnTo>
                        <a:pt x="6" y="196"/>
                      </a:lnTo>
                      <a:lnTo>
                        <a:pt x="4" y="207"/>
                      </a:lnTo>
                      <a:lnTo>
                        <a:pt x="3" y="216"/>
                      </a:lnTo>
                      <a:lnTo>
                        <a:pt x="1" y="227"/>
                      </a:lnTo>
                      <a:lnTo>
                        <a:pt x="0" y="239"/>
                      </a:lnTo>
                      <a:lnTo>
                        <a:pt x="0" y="250"/>
                      </a:lnTo>
                      <a:lnTo>
                        <a:pt x="0" y="260"/>
                      </a:lnTo>
                      <a:lnTo>
                        <a:pt x="0" y="270"/>
                      </a:lnTo>
                      <a:lnTo>
                        <a:pt x="0" y="278"/>
                      </a:lnTo>
                      <a:lnTo>
                        <a:pt x="1" y="286"/>
                      </a:lnTo>
                      <a:lnTo>
                        <a:pt x="3" y="294"/>
                      </a:lnTo>
                      <a:lnTo>
                        <a:pt x="4" y="302"/>
                      </a:lnTo>
                      <a:lnTo>
                        <a:pt x="6" y="310"/>
                      </a:lnTo>
                      <a:lnTo>
                        <a:pt x="9" y="320"/>
                      </a:lnTo>
                      <a:lnTo>
                        <a:pt x="7" y="310"/>
                      </a:lnTo>
                      <a:lnTo>
                        <a:pt x="7" y="302"/>
                      </a:lnTo>
                      <a:lnTo>
                        <a:pt x="7" y="295"/>
                      </a:lnTo>
                      <a:lnTo>
                        <a:pt x="9" y="289"/>
                      </a:lnTo>
                      <a:lnTo>
                        <a:pt x="10" y="282"/>
                      </a:lnTo>
                      <a:lnTo>
                        <a:pt x="13" y="276"/>
                      </a:lnTo>
                      <a:lnTo>
                        <a:pt x="16" y="271"/>
                      </a:lnTo>
                      <a:lnTo>
                        <a:pt x="21" y="264"/>
                      </a:lnTo>
                      <a:lnTo>
                        <a:pt x="25" y="260"/>
                      </a:lnTo>
                      <a:lnTo>
                        <a:pt x="29" y="258"/>
                      </a:lnTo>
                      <a:lnTo>
                        <a:pt x="33" y="255"/>
                      </a:lnTo>
                      <a:lnTo>
                        <a:pt x="39" y="252"/>
                      </a:lnTo>
                      <a:lnTo>
                        <a:pt x="45" y="251"/>
                      </a:lnTo>
                      <a:lnTo>
                        <a:pt x="50" y="250"/>
                      </a:lnTo>
                      <a:lnTo>
                        <a:pt x="55" y="250"/>
                      </a:lnTo>
                      <a:lnTo>
                        <a:pt x="60" y="251"/>
                      </a:lnTo>
                      <a:lnTo>
                        <a:pt x="66" y="252"/>
                      </a:lnTo>
                      <a:lnTo>
                        <a:pt x="72" y="255"/>
                      </a:lnTo>
                      <a:lnTo>
                        <a:pt x="75" y="258"/>
                      </a:lnTo>
                      <a:lnTo>
                        <a:pt x="81" y="260"/>
                      </a:lnTo>
                      <a:lnTo>
                        <a:pt x="85" y="266"/>
                      </a:lnTo>
                      <a:lnTo>
                        <a:pt x="89" y="271"/>
                      </a:lnTo>
                      <a:lnTo>
                        <a:pt x="93" y="278"/>
                      </a:lnTo>
                      <a:lnTo>
                        <a:pt x="96" y="285"/>
                      </a:lnTo>
                      <a:lnTo>
                        <a:pt x="94" y="276"/>
                      </a:lnTo>
                      <a:lnTo>
                        <a:pt x="92" y="268"/>
                      </a:lnTo>
                      <a:lnTo>
                        <a:pt x="89" y="259"/>
                      </a:lnTo>
                      <a:lnTo>
                        <a:pt x="87" y="248"/>
                      </a:lnTo>
                      <a:lnTo>
                        <a:pt x="86" y="239"/>
                      </a:lnTo>
                      <a:lnTo>
                        <a:pt x="84" y="229"/>
                      </a:lnTo>
                      <a:lnTo>
                        <a:pt x="83" y="220"/>
                      </a:lnTo>
                      <a:lnTo>
                        <a:pt x="82" y="211"/>
                      </a:lnTo>
                      <a:lnTo>
                        <a:pt x="81" y="200"/>
                      </a:lnTo>
                      <a:lnTo>
                        <a:pt x="81" y="189"/>
                      </a:lnTo>
                      <a:lnTo>
                        <a:pt x="81" y="178"/>
                      </a:lnTo>
                      <a:lnTo>
                        <a:pt x="81" y="166"/>
                      </a:lnTo>
                      <a:lnTo>
                        <a:pt x="82" y="155"/>
                      </a:lnTo>
                      <a:lnTo>
                        <a:pt x="83" y="147"/>
                      </a:lnTo>
                      <a:lnTo>
                        <a:pt x="84" y="138"/>
                      </a:lnTo>
                      <a:lnTo>
                        <a:pt x="85" y="129"/>
                      </a:lnTo>
                      <a:lnTo>
                        <a:pt x="87" y="119"/>
                      </a:lnTo>
                      <a:lnTo>
                        <a:pt x="90" y="111"/>
                      </a:lnTo>
                      <a:lnTo>
                        <a:pt x="92" y="103"/>
                      </a:lnTo>
                      <a:lnTo>
                        <a:pt x="93" y="96"/>
                      </a:lnTo>
                      <a:lnTo>
                        <a:pt x="96" y="91"/>
                      </a:lnTo>
                      <a:lnTo>
                        <a:pt x="99" y="86"/>
                      </a:lnTo>
                      <a:lnTo>
                        <a:pt x="102" y="77"/>
                      </a:lnTo>
                      <a:lnTo>
                        <a:pt x="105" y="69"/>
                      </a:lnTo>
                      <a:lnTo>
                        <a:pt x="109" y="63"/>
                      </a:lnTo>
                      <a:lnTo>
                        <a:pt x="113" y="57"/>
                      </a:lnTo>
                      <a:lnTo>
                        <a:pt x="117" y="52"/>
                      </a:lnTo>
                      <a:lnTo>
                        <a:pt x="123" y="45"/>
                      </a:lnTo>
                      <a:lnTo>
                        <a:pt x="127" y="40"/>
                      </a:lnTo>
                      <a:lnTo>
                        <a:pt x="132" y="34"/>
                      </a:lnTo>
                      <a:lnTo>
                        <a:pt x="138" y="30"/>
                      </a:lnTo>
                      <a:lnTo>
                        <a:pt x="144" y="26"/>
                      </a:lnTo>
                      <a:lnTo>
                        <a:pt x="150" y="22"/>
                      </a:lnTo>
                      <a:lnTo>
                        <a:pt x="154" y="21"/>
                      </a:lnTo>
                      <a:lnTo>
                        <a:pt x="151" y="25"/>
                      </a:lnTo>
                      <a:lnTo>
                        <a:pt x="149" y="30"/>
                      </a:lnTo>
                      <a:lnTo>
                        <a:pt x="147" y="38"/>
                      </a:lnTo>
                      <a:lnTo>
                        <a:pt x="147" y="47"/>
                      </a:lnTo>
                      <a:lnTo>
                        <a:pt x="146" y="53"/>
                      </a:lnTo>
                      <a:lnTo>
                        <a:pt x="146" y="63"/>
                      </a:lnTo>
                      <a:lnTo>
                        <a:pt x="146" y="71"/>
                      </a:lnTo>
                      <a:lnTo>
                        <a:pt x="146" y="77"/>
                      </a:lnTo>
                      <a:lnTo>
                        <a:pt x="147" y="87"/>
                      </a:lnTo>
                      <a:lnTo>
                        <a:pt x="147" y="98"/>
                      </a:lnTo>
                      <a:lnTo>
                        <a:pt x="149" y="107"/>
                      </a:lnTo>
                      <a:lnTo>
                        <a:pt x="150" y="116"/>
                      </a:lnTo>
                      <a:lnTo>
                        <a:pt x="152" y="129"/>
                      </a:lnTo>
                      <a:lnTo>
                        <a:pt x="154" y="139"/>
                      </a:lnTo>
                      <a:lnTo>
                        <a:pt x="156" y="151"/>
                      </a:lnTo>
                      <a:lnTo>
                        <a:pt x="159" y="162"/>
                      </a:lnTo>
                      <a:lnTo>
                        <a:pt x="161" y="172"/>
                      </a:lnTo>
                      <a:lnTo>
                        <a:pt x="163" y="181"/>
                      </a:lnTo>
                      <a:lnTo>
                        <a:pt x="165" y="190"/>
                      </a:lnTo>
                      <a:lnTo>
                        <a:pt x="168" y="200"/>
                      </a:lnTo>
                      <a:lnTo>
                        <a:pt x="171" y="209"/>
                      </a:lnTo>
                      <a:lnTo>
                        <a:pt x="174" y="220"/>
                      </a:lnTo>
                      <a:lnTo>
                        <a:pt x="176" y="229"/>
                      </a:lnTo>
                      <a:lnTo>
                        <a:pt x="178" y="237"/>
                      </a:lnTo>
                      <a:lnTo>
                        <a:pt x="181" y="248"/>
                      </a:lnTo>
                      <a:lnTo>
                        <a:pt x="180" y="240"/>
                      </a:lnTo>
                      <a:lnTo>
                        <a:pt x="179" y="231"/>
                      </a:lnTo>
                      <a:lnTo>
                        <a:pt x="180" y="223"/>
                      </a:lnTo>
                      <a:lnTo>
                        <a:pt x="180" y="216"/>
                      </a:lnTo>
                      <a:lnTo>
                        <a:pt x="183" y="209"/>
                      </a:lnTo>
                      <a:lnTo>
                        <a:pt x="186" y="203"/>
                      </a:lnTo>
                      <a:lnTo>
                        <a:pt x="189" y="196"/>
                      </a:lnTo>
                      <a:lnTo>
                        <a:pt x="193" y="190"/>
                      </a:lnTo>
                      <a:lnTo>
                        <a:pt x="198" y="186"/>
                      </a:lnTo>
                      <a:lnTo>
                        <a:pt x="204" y="182"/>
                      </a:lnTo>
                      <a:lnTo>
                        <a:pt x="210" y="178"/>
                      </a:lnTo>
                      <a:lnTo>
                        <a:pt x="217" y="178"/>
                      </a:lnTo>
                      <a:lnTo>
                        <a:pt x="223" y="177"/>
                      </a:lnTo>
                      <a:lnTo>
                        <a:pt x="230" y="177"/>
                      </a:lnTo>
                      <a:lnTo>
                        <a:pt x="236" y="178"/>
                      </a:lnTo>
                      <a:lnTo>
                        <a:pt x="243" y="181"/>
                      </a:lnTo>
                      <a:lnTo>
                        <a:pt x="247" y="184"/>
                      </a:lnTo>
                      <a:lnTo>
                        <a:pt x="252" y="188"/>
                      </a:lnTo>
                      <a:lnTo>
                        <a:pt x="256" y="193"/>
                      </a:lnTo>
                      <a:lnTo>
                        <a:pt x="261" y="198"/>
                      </a:lnTo>
                      <a:lnTo>
                        <a:pt x="267" y="212"/>
                      </a:lnTo>
                      <a:lnTo>
                        <a:pt x="262" y="198"/>
                      </a:lnTo>
                      <a:lnTo>
                        <a:pt x="259" y="190"/>
                      </a:lnTo>
                      <a:lnTo>
                        <a:pt x="257" y="184"/>
                      </a:lnTo>
                      <a:lnTo>
                        <a:pt x="255" y="176"/>
                      </a:lnTo>
                      <a:lnTo>
                        <a:pt x="252" y="168"/>
                      </a:lnTo>
                      <a:lnTo>
                        <a:pt x="248" y="158"/>
                      </a:lnTo>
                      <a:lnTo>
                        <a:pt x="244" y="149"/>
                      </a:lnTo>
                      <a:lnTo>
                        <a:pt x="241" y="139"/>
                      </a:lnTo>
                      <a:lnTo>
                        <a:pt x="238" y="131"/>
                      </a:lnTo>
                      <a:lnTo>
                        <a:pt x="234" y="123"/>
                      </a:lnTo>
                      <a:lnTo>
                        <a:pt x="231" y="115"/>
                      </a:lnTo>
                      <a:lnTo>
                        <a:pt x="227" y="106"/>
                      </a:lnTo>
                      <a:lnTo>
                        <a:pt x="222" y="98"/>
                      </a:lnTo>
                      <a:lnTo>
                        <a:pt x="219" y="90"/>
                      </a:lnTo>
                      <a:lnTo>
                        <a:pt x="215" y="83"/>
                      </a:lnTo>
                      <a:lnTo>
                        <a:pt x="211" y="75"/>
                      </a:lnTo>
                      <a:lnTo>
                        <a:pt x="207" y="68"/>
                      </a:lnTo>
                      <a:lnTo>
                        <a:pt x="204" y="61"/>
                      </a:lnTo>
                      <a:lnTo>
                        <a:pt x="201" y="55"/>
                      </a:lnTo>
                      <a:lnTo>
                        <a:pt x="196" y="49"/>
                      </a:lnTo>
                      <a:lnTo>
                        <a:pt x="192" y="44"/>
                      </a:lnTo>
                      <a:lnTo>
                        <a:pt x="188" y="37"/>
                      </a:lnTo>
                      <a:lnTo>
                        <a:pt x="184" y="32"/>
                      </a:lnTo>
                      <a:lnTo>
                        <a:pt x="180" y="28"/>
                      </a:lnTo>
                      <a:lnTo>
                        <a:pt x="175" y="24"/>
                      </a:lnTo>
                      <a:lnTo>
                        <a:pt x="170" y="20"/>
                      </a:lnTo>
                      <a:lnTo>
                        <a:pt x="165" y="18"/>
                      </a:lnTo>
                      <a:lnTo>
                        <a:pt x="161" y="17"/>
                      </a:lnTo>
                      <a:lnTo>
                        <a:pt x="169" y="14"/>
                      </a:lnTo>
                      <a:lnTo>
                        <a:pt x="176" y="13"/>
                      </a:lnTo>
                      <a:lnTo>
                        <a:pt x="183" y="12"/>
                      </a:lnTo>
                      <a:lnTo>
                        <a:pt x="190" y="12"/>
                      </a:lnTo>
                      <a:lnTo>
                        <a:pt x="198" y="12"/>
                      </a:lnTo>
                      <a:lnTo>
                        <a:pt x="205" y="12"/>
                      </a:lnTo>
                      <a:lnTo>
                        <a:pt x="211" y="13"/>
                      </a:lnTo>
                      <a:lnTo>
                        <a:pt x="217" y="14"/>
                      </a:lnTo>
                      <a:lnTo>
                        <a:pt x="224" y="17"/>
                      </a:lnTo>
                      <a:lnTo>
                        <a:pt x="231" y="20"/>
                      </a:lnTo>
                      <a:lnTo>
                        <a:pt x="238" y="24"/>
                      </a:lnTo>
                      <a:lnTo>
                        <a:pt x="245" y="26"/>
                      </a:lnTo>
                      <a:lnTo>
                        <a:pt x="251" y="30"/>
                      </a:lnTo>
                      <a:lnTo>
                        <a:pt x="256" y="33"/>
                      </a:lnTo>
                      <a:lnTo>
                        <a:pt x="261" y="37"/>
                      </a:lnTo>
                      <a:lnTo>
                        <a:pt x="267" y="43"/>
                      </a:lnTo>
                      <a:lnTo>
                        <a:pt x="273" y="47"/>
                      </a:lnTo>
                      <a:lnTo>
                        <a:pt x="278" y="52"/>
                      </a:lnTo>
                      <a:lnTo>
                        <a:pt x="284" y="57"/>
                      </a:lnTo>
                      <a:lnTo>
                        <a:pt x="289" y="63"/>
                      </a:lnTo>
                      <a:lnTo>
                        <a:pt x="294" y="68"/>
                      </a:lnTo>
                      <a:lnTo>
                        <a:pt x="298" y="73"/>
                      </a:lnTo>
                      <a:lnTo>
                        <a:pt x="303" y="80"/>
                      </a:lnTo>
                      <a:lnTo>
                        <a:pt x="308" y="87"/>
                      </a:lnTo>
                      <a:lnTo>
                        <a:pt x="312" y="92"/>
                      </a:lnTo>
                      <a:lnTo>
                        <a:pt x="315" y="99"/>
                      </a:lnTo>
                      <a:lnTo>
                        <a:pt x="320" y="106"/>
                      </a:lnTo>
                      <a:lnTo>
                        <a:pt x="324" y="112"/>
                      </a:lnTo>
                      <a:lnTo>
                        <a:pt x="327" y="119"/>
                      </a:lnTo>
                      <a:lnTo>
                        <a:pt x="331" y="126"/>
                      </a:lnTo>
                      <a:lnTo>
                        <a:pt x="335" y="134"/>
                      </a:lnTo>
                      <a:lnTo>
                        <a:pt x="338" y="141"/>
                      </a:lnTo>
                      <a:lnTo>
                        <a:pt x="341" y="149"/>
                      </a:lnTo>
                      <a:lnTo>
                        <a:pt x="345" y="157"/>
                      </a:lnTo>
                      <a:lnTo>
                        <a:pt x="348" y="165"/>
                      </a:lnTo>
                      <a:lnTo>
                        <a:pt x="351" y="176"/>
                      </a:lnTo>
                      <a:lnTo>
                        <a:pt x="350" y="164"/>
                      </a:lnTo>
                      <a:lnTo>
                        <a:pt x="350" y="157"/>
                      </a:lnTo>
                      <a:lnTo>
                        <a:pt x="350" y="149"/>
                      </a:lnTo>
                      <a:lnTo>
                        <a:pt x="351" y="142"/>
                      </a:lnTo>
                      <a:lnTo>
                        <a:pt x="354" y="135"/>
                      </a:lnTo>
                      <a:lnTo>
                        <a:pt x="356" y="130"/>
                      </a:lnTo>
                      <a:lnTo>
                        <a:pt x="360" y="125"/>
                      </a:lnTo>
                      <a:lnTo>
                        <a:pt x="364" y="119"/>
                      </a:lnTo>
                      <a:lnTo>
                        <a:pt x="369" y="114"/>
                      </a:lnTo>
                      <a:lnTo>
                        <a:pt x="374" y="111"/>
                      </a:lnTo>
                      <a:lnTo>
                        <a:pt x="378" y="108"/>
                      </a:lnTo>
                      <a:lnTo>
                        <a:pt x="383" y="106"/>
                      </a:lnTo>
                      <a:lnTo>
                        <a:pt x="388" y="104"/>
                      </a:lnTo>
                      <a:lnTo>
                        <a:pt x="393" y="103"/>
                      </a:lnTo>
                      <a:lnTo>
                        <a:pt x="398" y="103"/>
                      </a:lnTo>
                      <a:lnTo>
                        <a:pt x="402" y="104"/>
                      </a:lnTo>
                      <a:lnTo>
                        <a:pt x="407" y="106"/>
                      </a:lnTo>
                      <a:lnTo>
                        <a:pt x="412" y="108"/>
                      </a:lnTo>
                      <a:lnTo>
                        <a:pt x="417" y="111"/>
                      </a:lnTo>
                      <a:lnTo>
                        <a:pt x="422" y="114"/>
                      </a:lnTo>
                      <a:lnTo>
                        <a:pt x="426" y="119"/>
                      </a:lnTo>
                      <a:lnTo>
                        <a:pt x="430" y="125"/>
                      </a:lnTo>
                      <a:lnTo>
                        <a:pt x="434" y="130"/>
                      </a:lnTo>
                      <a:lnTo>
                        <a:pt x="438" y="137"/>
                      </a:lnTo>
                      <a:lnTo>
                        <a:pt x="435" y="129"/>
                      </a:lnTo>
                      <a:lnTo>
                        <a:pt x="432" y="123"/>
                      </a:lnTo>
                      <a:lnTo>
                        <a:pt x="430" y="116"/>
                      </a:lnTo>
                      <a:lnTo>
                        <a:pt x="427" y="110"/>
                      </a:lnTo>
                      <a:lnTo>
                        <a:pt x="423" y="103"/>
                      </a:lnTo>
                      <a:lnTo>
                        <a:pt x="420" y="95"/>
                      </a:lnTo>
                      <a:lnTo>
                        <a:pt x="415" y="88"/>
                      </a:lnTo>
                      <a:lnTo>
                        <a:pt x="411" y="83"/>
                      </a:lnTo>
                      <a:lnTo>
                        <a:pt x="407" y="76"/>
                      </a:lnTo>
                      <a:lnTo>
                        <a:pt x="402" y="69"/>
                      </a:lnTo>
                      <a:lnTo>
                        <a:pt x="396" y="64"/>
                      </a:lnTo>
                      <a:lnTo>
                        <a:pt x="392" y="59"/>
                      </a:lnTo>
                      <a:lnTo>
                        <a:pt x="387" y="53"/>
                      </a:lnTo>
                      <a:lnTo>
                        <a:pt x="381" y="48"/>
                      </a:lnTo>
                      <a:lnTo>
                        <a:pt x="375" y="43"/>
                      </a:lnTo>
                      <a:lnTo>
                        <a:pt x="369" y="38"/>
                      </a:lnTo>
                      <a:lnTo>
                        <a:pt x="362" y="33"/>
                      </a:lnTo>
                      <a:lnTo>
                        <a:pt x="356" y="29"/>
                      </a:lnTo>
                      <a:lnTo>
                        <a:pt x="350" y="26"/>
                      </a:lnTo>
                      <a:lnTo>
                        <a:pt x="343" y="22"/>
                      </a:lnTo>
                      <a:lnTo>
                        <a:pt x="337" y="20"/>
                      </a:lnTo>
                      <a:lnTo>
                        <a:pt x="330" y="16"/>
                      </a:lnTo>
                      <a:lnTo>
                        <a:pt x="324" y="13"/>
                      </a:lnTo>
                      <a:lnTo>
                        <a:pt x="317" y="10"/>
                      </a:lnTo>
                      <a:lnTo>
                        <a:pt x="310" y="9"/>
                      </a:lnTo>
                      <a:lnTo>
                        <a:pt x="304" y="6"/>
                      </a:lnTo>
                      <a:lnTo>
                        <a:pt x="297" y="5"/>
                      </a:lnTo>
                      <a:lnTo>
                        <a:pt x="291" y="4"/>
                      </a:lnTo>
                      <a:lnTo>
                        <a:pt x="285" y="2"/>
                      </a:lnTo>
                      <a:lnTo>
                        <a:pt x="279" y="1"/>
                      </a:lnTo>
                      <a:lnTo>
                        <a:pt x="270" y="0"/>
                      </a:lnTo>
                      <a:lnTo>
                        <a:pt x="263" y="0"/>
                      </a:lnTo>
                      <a:lnTo>
                        <a:pt x="256" y="0"/>
                      </a:lnTo>
                      <a:lnTo>
                        <a:pt x="249" y="0"/>
                      </a:lnTo>
                      <a:lnTo>
                        <a:pt x="240" y="0"/>
                      </a:lnTo>
                      <a:lnTo>
                        <a:pt x="232" y="0"/>
                      </a:lnTo>
                      <a:lnTo>
                        <a:pt x="225" y="0"/>
                      </a:lnTo>
                      <a:lnTo>
                        <a:pt x="217" y="1"/>
                      </a:lnTo>
                      <a:lnTo>
                        <a:pt x="209" y="2"/>
                      </a:lnTo>
                      <a:lnTo>
                        <a:pt x="203" y="4"/>
                      </a:lnTo>
                      <a:lnTo>
                        <a:pt x="196" y="5"/>
                      </a:lnTo>
                      <a:lnTo>
                        <a:pt x="189" y="8"/>
                      </a:lnTo>
                      <a:lnTo>
                        <a:pt x="180" y="9"/>
                      </a:lnTo>
                      <a:lnTo>
                        <a:pt x="172" y="12"/>
                      </a:lnTo>
                    </a:path>
                  </a:pathLst>
                </a:custGeom>
                <a:solidFill>
                  <a:srgbClr val="FF0000"/>
                </a:solidFill>
                <a:ln w="9525">
                  <a:noFill/>
                </a:ln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</p:grpSp>
      <p:grpSp>
        <p:nvGrpSpPr>
          <p:cNvPr id="31779" name="Group 1059"/>
          <p:cNvGrpSpPr/>
          <p:nvPr/>
        </p:nvGrpSpPr>
        <p:grpSpPr>
          <a:xfrm>
            <a:off x="228600" y="381000"/>
            <a:ext cx="1066800" cy="838200"/>
            <a:chOff x="20" y="0"/>
            <a:chExt cx="665" cy="514"/>
          </a:xfrm>
        </p:grpSpPr>
        <p:sp>
          <p:nvSpPr>
            <p:cNvPr id="95268" name="Oval 1060"/>
            <p:cNvSpPr>
              <a:spLocks noChangeArrowheads="1"/>
            </p:cNvSpPr>
            <p:nvPr/>
          </p:nvSpPr>
          <p:spPr bwMode="ltGray">
            <a:xfrm>
              <a:off x="90" y="0"/>
              <a:ext cx="525" cy="492"/>
            </a:xfrm>
            <a:prstGeom prst="ellipse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tint val="70196"/>
                    <a:invGamma/>
                  </a:schemeClr>
                </a:gs>
              </a:gsLst>
              <a:lin ang="5400000" scaled="1"/>
            </a:gradFill>
            <a:ln w="9525">
              <a:noFill/>
              <a:round/>
            </a:ln>
            <a:effectLst/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31781" name="Freeform 1061"/>
            <p:cNvSpPr/>
            <p:nvPr/>
          </p:nvSpPr>
          <p:spPr>
            <a:xfrm>
              <a:off x="20" y="213"/>
              <a:ext cx="246" cy="94"/>
            </a:xfrm>
            <a:custGeom>
              <a:avLst/>
              <a:gdLst/>
              <a:ahLst/>
              <a:cxnLst>
                <a:cxn ang="0">
                  <a:pos x="7" y="52"/>
                </a:cxn>
                <a:cxn ang="0">
                  <a:pos x="22" y="48"/>
                </a:cxn>
                <a:cxn ang="0">
                  <a:pos x="38" y="48"/>
                </a:cxn>
                <a:cxn ang="0">
                  <a:pos x="53" y="50"/>
                </a:cxn>
                <a:cxn ang="0">
                  <a:pos x="69" y="54"/>
                </a:cxn>
                <a:cxn ang="0">
                  <a:pos x="84" y="59"/>
                </a:cxn>
                <a:cxn ang="0">
                  <a:pos x="99" y="65"/>
                </a:cxn>
                <a:cxn ang="0">
                  <a:pos x="113" y="72"/>
                </a:cxn>
                <a:cxn ang="0">
                  <a:pos x="124" y="66"/>
                </a:cxn>
                <a:cxn ang="0">
                  <a:pos x="136" y="48"/>
                </a:cxn>
                <a:cxn ang="0">
                  <a:pos x="150" y="35"/>
                </a:cxn>
                <a:cxn ang="0">
                  <a:pos x="166" y="24"/>
                </a:cxn>
                <a:cxn ang="0">
                  <a:pos x="183" y="16"/>
                </a:cxn>
                <a:cxn ang="0">
                  <a:pos x="201" y="9"/>
                </a:cxn>
                <a:cxn ang="0">
                  <a:pos x="219" y="5"/>
                </a:cxn>
                <a:cxn ang="0">
                  <a:pos x="237" y="1"/>
                </a:cxn>
                <a:cxn ang="0">
                  <a:pos x="237" y="3"/>
                </a:cxn>
                <a:cxn ang="0">
                  <a:pos x="222" y="11"/>
                </a:cxn>
                <a:cxn ang="0">
                  <a:pos x="207" y="19"/>
                </a:cxn>
                <a:cxn ang="0">
                  <a:pos x="191" y="28"/>
                </a:cxn>
                <a:cxn ang="0">
                  <a:pos x="177" y="39"/>
                </a:cxn>
                <a:cxn ang="0">
                  <a:pos x="163" y="51"/>
                </a:cxn>
                <a:cxn ang="0">
                  <a:pos x="152" y="64"/>
                </a:cxn>
                <a:cxn ang="0">
                  <a:pos x="142" y="79"/>
                </a:cxn>
                <a:cxn ang="0">
                  <a:pos x="135" y="90"/>
                </a:cxn>
                <a:cxn ang="0">
                  <a:pos x="130" y="93"/>
                </a:cxn>
                <a:cxn ang="0">
                  <a:pos x="123" y="90"/>
                </a:cxn>
                <a:cxn ang="0">
                  <a:pos x="116" y="87"/>
                </a:cxn>
                <a:cxn ang="0">
                  <a:pos x="107" y="84"/>
                </a:cxn>
                <a:cxn ang="0">
                  <a:pos x="93" y="78"/>
                </a:cxn>
                <a:cxn ang="0">
                  <a:pos x="79" y="71"/>
                </a:cxn>
                <a:cxn ang="0">
                  <a:pos x="63" y="64"/>
                </a:cxn>
                <a:cxn ang="0">
                  <a:pos x="47" y="58"/>
                </a:cxn>
                <a:cxn ang="0">
                  <a:pos x="31" y="54"/>
                </a:cxn>
                <a:cxn ang="0">
                  <a:pos x="17" y="52"/>
                </a:cxn>
                <a:cxn ang="0">
                  <a:pos x="5" y="53"/>
                </a:cxn>
              </a:cxnLst>
              <a:rect l="0" t="0" r="0" b="0"/>
              <a:pathLst>
                <a:path w="246" h="94">
                  <a:moveTo>
                    <a:pt x="0" y="55"/>
                  </a:moveTo>
                  <a:lnTo>
                    <a:pt x="7" y="52"/>
                  </a:lnTo>
                  <a:lnTo>
                    <a:pt x="14" y="50"/>
                  </a:lnTo>
                  <a:lnTo>
                    <a:pt x="22" y="48"/>
                  </a:lnTo>
                  <a:lnTo>
                    <a:pt x="30" y="48"/>
                  </a:lnTo>
                  <a:lnTo>
                    <a:pt x="38" y="48"/>
                  </a:lnTo>
                  <a:lnTo>
                    <a:pt x="45" y="48"/>
                  </a:lnTo>
                  <a:lnTo>
                    <a:pt x="53" y="50"/>
                  </a:lnTo>
                  <a:lnTo>
                    <a:pt x="61" y="51"/>
                  </a:lnTo>
                  <a:lnTo>
                    <a:pt x="69" y="54"/>
                  </a:lnTo>
                  <a:lnTo>
                    <a:pt x="76" y="56"/>
                  </a:lnTo>
                  <a:lnTo>
                    <a:pt x="84" y="59"/>
                  </a:lnTo>
                  <a:lnTo>
                    <a:pt x="92" y="62"/>
                  </a:lnTo>
                  <a:lnTo>
                    <a:pt x="99" y="65"/>
                  </a:lnTo>
                  <a:lnTo>
                    <a:pt x="106" y="68"/>
                  </a:lnTo>
                  <a:lnTo>
                    <a:pt x="113" y="72"/>
                  </a:lnTo>
                  <a:lnTo>
                    <a:pt x="119" y="75"/>
                  </a:lnTo>
                  <a:lnTo>
                    <a:pt x="124" y="66"/>
                  </a:lnTo>
                  <a:lnTo>
                    <a:pt x="130" y="56"/>
                  </a:lnTo>
                  <a:lnTo>
                    <a:pt x="136" y="48"/>
                  </a:lnTo>
                  <a:lnTo>
                    <a:pt x="143" y="42"/>
                  </a:lnTo>
                  <a:lnTo>
                    <a:pt x="150" y="35"/>
                  </a:lnTo>
                  <a:lnTo>
                    <a:pt x="158" y="29"/>
                  </a:lnTo>
                  <a:lnTo>
                    <a:pt x="166" y="24"/>
                  </a:lnTo>
                  <a:lnTo>
                    <a:pt x="175" y="20"/>
                  </a:lnTo>
                  <a:lnTo>
                    <a:pt x="183" y="16"/>
                  </a:lnTo>
                  <a:lnTo>
                    <a:pt x="193" y="13"/>
                  </a:lnTo>
                  <a:lnTo>
                    <a:pt x="201" y="9"/>
                  </a:lnTo>
                  <a:lnTo>
                    <a:pt x="210" y="7"/>
                  </a:lnTo>
                  <a:lnTo>
                    <a:pt x="219" y="5"/>
                  </a:lnTo>
                  <a:lnTo>
                    <a:pt x="228" y="3"/>
                  </a:lnTo>
                  <a:lnTo>
                    <a:pt x="237" y="1"/>
                  </a:lnTo>
                  <a:lnTo>
                    <a:pt x="245" y="0"/>
                  </a:lnTo>
                  <a:lnTo>
                    <a:pt x="237" y="3"/>
                  </a:lnTo>
                  <a:lnTo>
                    <a:pt x="230" y="7"/>
                  </a:lnTo>
                  <a:lnTo>
                    <a:pt x="222" y="11"/>
                  </a:lnTo>
                  <a:lnTo>
                    <a:pt x="214" y="15"/>
                  </a:lnTo>
                  <a:lnTo>
                    <a:pt x="207" y="19"/>
                  </a:lnTo>
                  <a:lnTo>
                    <a:pt x="199" y="24"/>
                  </a:lnTo>
                  <a:lnTo>
                    <a:pt x="191" y="28"/>
                  </a:lnTo>
                  <a:lnTo>
                    <a:pt x="185" y="33"/>
                  </a:lnTo>
                  <a:lnTo>
                    <a:pt x="177" y="39"/>
                  </a:lnTo>
                  <a:lnTo>
                    <a:pt x="170" y="44"/>
                  </a:lnTo>
                  <a:lnTo>
                    <a:pt x="163" y="51"/>
                  </a:lnTo>
                  <a:lnTo>
                    <a:pt x="158" y="57"/>
                  </a:lnTo>
                  <a:lnTo>
                    <a:pt x="152" y="64"/>
                  </a:lnTo>
                  <a:lnTo>
                    <a:pt x="146" y="71"/>
                  </a:lnTo>
                  <a:lnTo>
                    <a:pt x="142" y="79"/>
                  </a:lnTo>
                  <a:lnTo>
                    <a:pt x="138" y="87"/>
                  </a:lnTo>
                  <a:lnTo>
                    <a:pt x="135" y="90"/>
                  </a:lnTo>
                  <a:lnTo>
                    <a:pt x="133" y="92"/>
                  </a:lnTo>
                  <a:lnTo>
                    <a:pt x="130" y="93"/>
                  </a:lnTo>
                  <a:lnTo>
                    <a:pt x="127" y="91"/>
                  </a:lnTo>
                  <a:lnTo>
                    <a:pt x="123" y="90"/>
                  </a:lnTo>
                  <a:lnTo>
                    <a:pt x="120" y="89"/>
                  </a:lnTo>
                  <a:lnTo>
                    <a:pt x="116" y="87"/>
                  </a:lnTo>
                  <a:lnTo>
                    <a:pt x="113" y="86"/>
                  </a:lnTo>
                  <a:lnTo>
                    <a:pt x="107" y="84"/>
                  </a:lnTo>
                  <a:lnTo>
                    <a:pt x="101" y="80"/>
                  </a:lnTo>
                  <a:lnTo>
                    <a:pt x="93" y="78"/>
                  </a:lnTo>
                  <a:lnTo>
                    <a:pt x="87" y="74"/>
                  </a:lnTo>
                  <a:lnTo>
                    <a:pt x="79" y="71"/>
                  </a:lnTo>
                  <a:lnTo>
                    <a:pt x="71" y="67"/>
                  </a:lnTo>
                  <a:lnTo>
                    <a:pt x="63" y="64"/>
                  </a:lnTo>
                  <a:lnTo>
                    <a:pt x="55" y="61"/>
                  </a:lnTo>
                  <a:lnTo>
                    <a:pt x="47" y="58"/>
                  </a:lnTo>
                  <a:lnTo>
                    <a:pt x="39" y="55"/>
                  </a:lnTo>
                  <a:lnTo>
                    <a:pt x="31" y="54"/>
                  </a:lnTo>
                  <a:lnTo>
                    <a:pt x="24" y="52"/>
                  </a:lnTo>
                  <a:lnTo>
                    <a:pt x="17" y="52"/>
                  </a:lnTo>
                  <a:lnTo>
                    <a:pt x="10" y="52"/>
                  </a:lnTo>
                  <a:lnTo>
                    <a:pt x="5" y="53"/>
                  </a:lnTo>
                  <a:lnTo>
                    <a:pt x="0" y="55"/>
                  </a:lnTo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1782" name="Freeform 1062"/>
            <p:cNvSpPr/>
            <p:nvPr/>
          </p:nvSpPr>
          <p:spPr>
            <a:xfrm>
              <a:off x="390" y="402"/>
              <a:ext cx="295" cy="112"/>
            </a:xfrm>
            <a:custGeom>
              <a:avLst/>
              <a:gdLst/>
              <a:ahLst/>
              <a:cxnLst>
                <a:cxn ang="0">
                  <a:pos x="8" y="62"/>
                </a:cxn>
                <a:cxn ang="0">
                  <a:pos x="26" y="57"/>
                </a:cxn>
                <a:cxn ang="0">
                  <a:pos x="45" y="57"/>
                </a:cxn>
                <a:cxn ang="0">
                  <a:pos x="63" y="59"/>
                </a:cxn>
                <a:cxn ang="0">
                  <a:pos x="82" y="64"/>
                </a:cxn>
                <a:cxn ang="0">
                  <a:pos x="100" y="70"/>
                </a:cxn>
                <a:cxn ang="0">
                  <a:pos x="118" y="77"/>
                </a:cxn>
                <a:cxn ang="0">
                  <a:pos x="135" y="85"/>
                </a:cxn>
                <a:cxn ang="0">
                  <a:pos x="148" y="78"/>
                </a:cxn>
                <a:cxn ang="0">
                  <a:pos x="163" y="57"/>
                </a:cxn>
                <a:cxn ang="0">
                  <a:pos x="180" y="41"/>
                </a:cxn>
                <a:cxn ang="0">
                  <a:pos x="199" y="28"/>
                </a:cxn>
                <a:cxn ang="0">
                  <a:pos x="219" y="19"/>
                </a:cxn>
                <a:cxn ang="0">
                  <a:pos x="241" y="10"/>
                </a:cxn>
                <a:cxn ang="0">
                  <a:pos x="262" y="5"/>
                </a:cxn>
                <a:cxn ang="0">
                  <a:pos x="284" y="1"/>
                </a:cxn>
                <a:cxn ang="0">
                  <a:pos x="284" y="3"/>
                </a:cxn>
                <a:cxn ang="0">
                  <a:pos x="266" y="13"/>
                </a:cxn>
                <a:cxn ang="0">
                  <a:pos x="248" y="22"/>
                </a:cxn>
                <a:cxn ang="0">
                  <a:pos x="229" y="33"/>
                </a:cxn>
                <a:cxn ang="0">
                  <a:pos x="212" y="46"/>
                </a:cxn>
                <a:cxn ang="0">
                  <a:pos x="195" y="60"/>
                </a:cxn>
                <a:cxn ang="0">
                  <a:pos x="182" y="76"/>
                </a:cxn>
                <a:cxn ang="0">
                  <a:pos x="170" y="94"/>
                </a:cxn>
                <a:cxn ang="0">
                  <a:pos x="162" y="107"/>
                </a:cxn>
                <a:cxn ang="0">
                  <a:pos x="156" y="111"/>
                </a:cxn>
                <a:cxn ang="0">
                  <a:pos x="147" y="107"/>
                </a:cxn>
                <a:cxn ang="0">
                  <a:pos x="139" y="103"/>
                </a:cxn>
                <a:cxn ang="0">
                  <a:pos x="128" y="100"/>
                </a:cxn>
                <a:cxn ang="0">
                  <a:pos x="111" y="93"/>
                </a:cxn>
                <a:cxn ang="0">
                  <a:pos x="94" y="84"/>
                </a:cxn>
                <a:cxn ang="0">
                  <a:pos x="75" y="76"/>
                </a:cxn>
                <a:cxn ang="0">
                  <a:pos x="56" y="69"/>
                </a:cxn>
                <a:cxn ang="0">
                  <a:pos x="37" y="64"/>
                </a:cxn>
                <a:cxn ang="0">
                  <a:pos x="20" y="62"/>
                </a:cxn>
                <a:cxn ang="0">
                  <a:pos x="6" y="63"/>
                </a:cxn>
              </a:cxnLst>
              <a:rect l="0" t="0" r="0" b="0"/>
              <a:pathLst>
                <a:path w="295" h="112">
                  <a:moveTo>
                    <a:pt x="0" y="65"/>
                  </a:moveTo>
                  <a:lnTo>
                    <a:pt x="8" y="62"/>
                  </a:lnTo>
                  <a:lnTo>
                    <a:pt x="16" y="59"/>
                  </a:lnTo>
                  <a:lnTo>
                    <a:pt x="26" y="57"/>
                  </a:lnTo>
                  <a:lnTo>
                    <a:pt x="36" y="57"/>
                  </a:lnTo>
                  <a:lnTo>
                    <a:pt x="45" y="57"/>
                  </a:lnTo>
                  <a:lnTo>
                    <a:pt x="54" y="57"/>
                  </a:lnTo>
                  <a:lnTo>
                    <a:pt x="63" y="59"/>
                  </a:lnTo>
                  <a:lnTo>
                    <a:pt x="73" y="60"/>
                  </a:lnTo>
                  <a:lnTo>
                    <a:pt x="82" y="64"/>
                  </a:lnTo>
                  <a:lnTo>
                    <a:pt x="91" y="66"/>
                  </a:lnTo>
                  <a:lnTo>
                    <a:pt x="100" y="70"/>
                  </a:lnTo>
                  <a:lnTo>
                    <a:pt x="110" y="74"/>
                  </a:lnTo>
                  <a:lnTo>
                    <a:pt x="118" y="77"/>
                  </a:lnTo>
                  <a:lnTo>
                    <a:pt x="127" y="81"/>
                  </a:lnTo>
                  <a:lnTo>
                    <a:pt x="135" y="85"/>
                  </a:lnTo>
                  <a:lnTo>
                    <a:pt x="142" y="89"/>
                  </a:lnTo>
                  <a:lnTo>
                    <a:pt x="148" y="78"/>
                  </a:lnTo>
                  <a:lnTo>
                    <a:pt x="156" y="66"/>
                  </a:lnTo>
                  <a:lnTo>
                    <a:pt x="163" y="57"/>
                  </a:lnTo>
                  <a:lnTo>
                    <a:pt x="171" y="50"/>
                  </a:lnTo>
                  <a:lnTo>
                    <a:pt x="180" y="41"/>
                  </a:lnTo>
                  <a:lnTo>
                    <a:pt x="189" y="34"/>
                  </a:lnTo>
                  <a:lnTo>
                    <a:pt x="199" y="28"/>
                  </a:lnTo>
                  <a:lnTo>
                    <a:pt x="210" y="23"/>
                  </a:lnTo>
                  <a:lnTo>
                    <a:pt x="219" y="19"/>
                  </a:lnTo>
                  <a:lnTo>
                    <a:pt x="231" y="15"/>
                  </a:lnTo>
                  <a:lnTo>
                    <a:pt x="241" y="10"/>
                  </a:lnTo>
                  <a:lnTo>
                    <a:pt x="252" y="8"/>
                  </a:lnTo>
                  <a:lnTo>
                    <a:pt x="262" y="5"/>
                  </a:lnTo>
                  <a:lnTo>
                    <a:pt x="273" y="3"/>
                  </a:lnTo>
                  <a:lnTo>
                    <a:pt x="284" y="1"/>
                  </a:lnTo>
                  <a:lnTo>
                    <a:pt x="294" y="0"/>
                  </a:lnTo>
                  <a:lnTo>
                    <a:pt x="284" y="3"/>
                  </a:lnTo>
                  <a:lnTo>
                    <a:pt x="276" y="8"/>
                  </a:lnTo>
                  <a:lnTo>
                    <a:pt x="266" y="13"/>
                  </a:lnTo>
                  <a:lnTo>
                    <a:pt x="256" y="17"/>
                  </a:lnTo>
                  <a:lnTo>
                    <a:pt x="248" y="22"/>
                  </a:lnTo>
                  <a:lnTo>
                    <a:pt x="238" y="28"/>
                  </a:lnTo>
                  <a:lnTo>
                    <a:pt x="229" y="33"/>
                  </a:lnTo>
                  <a:lnTo>
                    <a:pt x="222" y="39"/>
                  </a:lnTo>
                  <a:lnTo>
                    <a:pt x="212" y="46"/>
                  </a:lnTo>
                  <a:lnTo>
                    <a:pt x="204" y="52"/>
                  </a:lnTo>
                  <a:lnTo>
                    <a:pt x="195" y="60"/>
                  </a:lnTo>
                  <a:lnTo>
                    <a:pt x="189" y="68"/>
                  </a:lnTo>
                  <a:lnTo>
                    <a:pt x="182" y="76"/>
                  </a:lnTo>
                  <a:lnTo>
                    <a:pt x="175" y="84"/>
                  </a:lnTo>
                  <a:lnTo>
                    <a:pt x="170" y="94"/>
                  </a:lnTo>
                  <a:lnTo>
                    <a:pt x="165" y="103"/>
                  </a:lnTo>
                  <a:lnTo>
                    <a:pt x="162" y="107"/>
                  </a:lnTo>
                  <a:lnTo>
                    <a:pt x="159" y="109"/>
                  </a:lnTo>
                  <a:lnTo>
                    <a:pt x="156" y="111"/>
                  </a:lnTo>
                  <a:lnTo>
                    <a:pt x="152" y="108"/>
                  </a:lnTo>
                  <a:lnTo>
                    <a:pt x="147" y="107"/>
                  </a:lnTo>
                  <a:lnTo>
                    <a:pt x="144" y="106"/>
                  </a:lnTo>
                  <a:lnTo>
                    <a:pt x="139" y="103"/>
                  </a:lnTo>
                  <a:lnTo>
                    <a:pt x="135" y="102"/>
                  </a:lnTo>
                  <a:lnTo>
                    <a:pt x="128" y="100"/>
                  </a:lnTo>
                  <a:lnTo>
                    <a:pt x="121" y="95"/>
                  </a:lnTo>
                  <a:lnTo>
                    <a:pt x="111" y="93"/>
                  </a:lnTo>
                  <a:lnTo>
                    <a:pt x="104" y="88"/>
                  </a:lnTo>
                  <a:lnTo>
                    <a:pt x="94" y="84"/>
                  </a:lnTo>
                  <a:lnTo>
                    <a:pt x="85" y="79"/>
                  </a:lnTo>
                  <a:lnTo>
                    <a:pt x="75" y="76"/>
                  </a:lnTo>
                  <a:lnTo>
                    <a:pt x="66" y="72"/>
                  </a:lnTo>
                  <a:lnTo>
                    <a:pt x="56" y="69"/>
                  </a:lnTo>
                  <a:lnTo>
                    <a:pt x="46" y="65"/>
                  </a:lnTo>
                  <a:lnTo>
                    <a:pt x="37" y="64"/>
                  </a:lnTo>
                  <a:lnTo>
                    <a:pt x="28" y="62"/>
                  </a:lnTo>
                  <a:lnTo>
                    <a:pt x="20" y="62"/>
                  </a:lnTo>
                  <a:lnTo>
                    <a:pt x="12" y="62"/>
                  </a:lnTo>
                  <a:lnTo>
                    <a:pt x="6" y="63"/>
                  </a:lnTo>
                  <a:lnTo>
                    <a:pt x="0" y="65"/>
                  </a:lnTo>
                </a:path>
              </a:pathLst>
            </a:custGeom>
            <a:solidFill>
              <a:schemeClr val="tx1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/>
          <a:lstStyle/>
          <a:p>
            <a:pPr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4098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/>
          <a:lstStyle/>
          <a:p>
            <a:pPr eaLnBrk="1" hangingPunct="1"/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云计算与微服务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课程的基本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概念</a:t>
            </a:r>
            <a:endParaRPr 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idx="1"/>
          </p:nvPr>
        </p:nvSpPr>
        <p:spPr>
          <a:xfrm>
            <a:off x="179705" y="1341120"/>
            <a:ext cx="8884920" cy="592645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资源共享；</a:t>
            </a:r>
            <a:endParaRPr lang="zh-CN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多任务操作系统；</a:t>
            </a:r>
            <a:endParaRPr lang="zh-CN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超算，集群计算，分布式计算；</a:t>
            </a:r>
            <a:endParaRPr lang="zh-CN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集群计算，云计算；</a:t>
            </a:r>
            <a:endParaRPr lang="zh-CN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中心化计算，去中心化计算；</a:t>
            </a:r>
            <a:endParaRPr lang="zh-CN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分布式计算</a:t>
            </a:r>
            <a:r>
              <a:rPr 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中的基本问题：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一致性，安全性，高效性，伸缩性；</a:t>
            </a:r>
            <a:endParaRPr lang="zh-CN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微服务；</a:t>
            </a:r>
            <a:endParaRPr lang="zh-CN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变与不变的对立与辩证统一</a:t>
            </a:r>
            <a:r>
              <a:rPr 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虚拟化</a:t>
            </a:r>
            <a:r>
              <a:rPr 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虚拟机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6821805" y="2990850"/>
              <a:ext cx="17780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6821805" y="2990850"/>
                <a:ext cx="17780" cy="3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6858000" y="6315710"/>
            <a:ext cx="1905000" cy="457200"/>
          </a:xfrm>
        </p:spPr>
        <p:txBody>
          <a:bodyPr wrap="square" lIns="91440" tIns="45720" rIns="91440" bIns="45720" anchor="t"/>
          <a:lstStyle/>
          <a:p>
            <a:pPr algn="r"/>
            <a:fld id="{9A0DB2DC-4C9A-4742-B13C-FB6460FD3503}" type="slidenum">
              <a:rPr lang="en-US" altLang="zh-CN" sz="1400" dirty="0">
                <a:solidFill>
                  <a:srgbClr val="000000"/>
                </a:solidFill>
                <a:latin typeface="Comic Sans MS" panose="030F0902030302020204" pitchFamily="66" charset="0"/>
              </a:rPr>
            </a:fld>
            <a:endParaRPr lang="en-US" altLang="zh-CN" sz="1400" dirty="0">
              <a:solidFill>
                <a:srgbClr val="0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32770" name="矩形 3"/>
          <p:cNvSpPr/>
          <p:nvPr/>
        </p:nvSpPr>
        <p:spPr>
          <a:xfrm>
            <a:off x="1462405" y="116205"/>
            <a:ext cx="717550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计算的演进</a:t>
            </a:r>
            <a:endParaRPr lang="zh-CN" sz="3600" b="1" dirty="0">
              <a:solidFill>
                <a:srgbClr val="3333CC"/>
              </a:solidFill>
              <a:latin typeface="微软雅黑" panose="020B0503020204020204" charset="-122"/>
              <a:ea typeface="微软雅黑" panose="020B0503020204020204" charset="-122"/>
              <a:sym typeface="宋体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5560" y="1880235"/>
            <a:ext cx="3540125" cy="5219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单机单任务</a:t>
            </a:r>
            <a:r>
              <a:rPr lang="en-US" altLang="zh-CN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   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多任务</a:t>
            </a:r>
            <a:endParaRPr lang="en-US" altLang="zh-CN" sz="28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283710" y="1887855"/>
            <a:ext cx="1942465" cy="5219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集群计算</a:t>
            </a:r>
            <a:endParaRPr lang="zh-CN" altLang="en-US" sz="28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7090410" y="1842135"/>
            <a:ext cx="1873885" cy="5219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云计算</a:t>
            </a:r>
            <a:endParaRPr lang="zh-CN" altLang="en-US" sz="28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247015" y="2564130"/>
            <a:ext cx="2087880" cy="32562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algn="l"/>
            <a:r>
              <a:rPr lang="zh-CN" altLang="en-US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关键问题：</a:t>
            </a:r>
            <a:endParaRPr lang="zh-CN" altLang="en-US" sz="24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50"/>
              </a:spcAft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多任务性；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50"/>
              </a:spcAft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重用性；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50"/>
              </a:spcAft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共享性；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50"/>
              </a:spcAft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结构性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50"/>
              </a:spcAft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简单性；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028950" y="2504440"/>
            <a:ext cx="2360930" cy="23069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关键问题：</a:t>
            </a:r>
            <a:endParaRPr lang="zh-CN" altLang="en-US" sz="24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高可用性；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高吞吐性；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可扩展性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83935" y="2504440"/>
            <a:ext cx="2553970" cy="23069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400" b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关键问题：</a:t>
            </a:r>
            <a:endParaRPr lang="zh-CN" altLang="en-US" sz="2400" b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低成本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实惠性；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弹性</a:t>
            </a:r>
            <a:r>
              <a:rPr lang="en-US" altLang="zh-CN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可伸缩性；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可靠性；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053080" y="5085080"/>
            <a:ext cx="2312035" cy="161480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2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业务固定；</a:t>
            </a:r>
            <a:endParaRPr lang="zh-CN" altLang="en-US" sz="220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分工明确；</a:t>
            </a:r>
            <a:endParaRPr lang="zh-CN" altLang="en-US" sz="220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2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静态</a:t>
            </a:r>
            <a:r>
              <a:rPr lang="zh-CN" altLang="en-US" sz="22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部署；</a:t>
            </a:r>
            <a:endParaRPr lang="zh-CN" altLang="en-US" sz="220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800725" y="5089525"/>
            <a:ext cx="3343910" cy="169164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marL="342900" indent="-3429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000" b="1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规模效应</a:t>
            </a:r>
            <a:r>
              <a:rPr lang="zh-CN" altLang="en-US" sz="20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zh-CN" altLang="en-US" sz="2000" b="1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集约效应</a:t>
            </a:r>
            <a:r>
              <a:rPr lang="zh-CN" altLang="en-US" sz="20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sz="200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0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标准化、专业化、自动化</a:t>
            </a:r>
            <a:r>
              <a:rPr lang="en-US" altLang="zh-CN" sz="20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;</a:t>
            </a:r>
            <a:endParaRPr lang="zh-CN" altLang="en-US" sz="200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0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全方位监控；</a:t>
            </a:r>
            <a:endParaRPr lang="zh-CN" altLang="en-US" sz="200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0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实时</a:t>
            </a:r>
            <a:r>
              <a:rPr lang="en-US" altLang="zh-CN" sz="20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000">
                <a:solidFill>
                  <a:schemeClr val="bg2"/>
                </a:solidFill>
                <a:latin typeface="微软雅黑" panose="020B0503020204020204" charset="-122"/>
                <a:ea typeface="微软雅黑" panose="020B0503020204020204" charset="-122"/>
              </a:rPr>
              <a:t>动态部署；</a:t>
            </a:r>
            <a:endParaRPr lang="zh-CN" altLang="en-US" sz="2000">
              <a:solidFill>
                <a:schemeClr val="bg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6425565" y="2020570"/>
            <a:ext cx="690880" cy="272415"/>
          </a:xfrm>
          <a:prstGeom prst="rightArrow">
            <a:avLst>
              <a:gd name="adj1" fmla="val 50000"/>
              <a:gd name="adj2" fmla="val 80666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1918970" y="2002790"/>
            <a:ext cx="396000" cy="272415"/>
          </a:xfrm>
          <a:prstGeom prst="rightArrow">
            <a:avLst>
              <a:gd name="adj1" fmla="val 50000"/>
              <a:gd name="adj2" fmla="val 80666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800" b="1" i="0" u="none" strike="noStrike" cap="none" normalizeH="0" baseline="0" smtClean="0">
              <a:ln>
                <a:noFill/>
              </a:ln>
              <a:solidFill>
                <a:srgbClr val="0000FF"/>
              </a:solidFill>
              <a:effectLst/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372225" y="1111250"/>
            <a:ext cx="2712720" cy="645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任何业务都可承接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348355" y="1132205"/>
            <a:ext cx="2319020" cy="5530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工厂大规模生产</a:t>
            </a:r>
            <a:endParaRPr 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5605" y="1104900"/>
            <a:ext cx="2150110" cy="645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个体作坊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2568575" y="1218565"/>
            <a:ext cx="770890" cy="347980"/>
          </a:xfrm>
          <a:prstGeom prst="rightArrow">
            <a:avLst>
              <a:gd name="adj1" fmla="val 50000"/>
              <a:gd name="adj2" fmla="val 80666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6" name="右箭头 15"/>
          <p:cNvSpPr/>
          <p:nvPr/>
        </p:nvSpPr>
        <p:spPr>
          <a:xfrm>
            <a:off x="5623560" y="1285240"/>
            <a:ext cx="712470" cy="297815"/>
          </a:xfrm>
          <a:prstGeom prst="rightArrow">
            <a:avLst>
              <a:gd name="adj1" fmla="val 50000"/>
              <a:gd name="adj2" fmla="val 80666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8" name="右箭头 17"/>
          <p:cNvSpPr/>
          <p:nvPr/>
        </p:nvSpPr>
        <p:spPr>
          <a:xfrm>
            <a:off x="3491865" y="2004695"/>
            <a:ext cx="827405" cy="244475"/>
          </a:xfrm>
          <a:prstGeom prst="rightArrow">
            <a:avLst>
              <a:gd name="adj1" fmla="val 50000"/>
              <a:gd name="adj2" fmla="val 80666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/>
          <a:lstStyle/>
          <a:p>
            <a:pPr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4098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/>
          <a:lstStyle/>
          <a:p>
            <a:pPr eaLnBrk="1" hangingPunct="1"/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分布式与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云计算</a:t>
            </a:r>
            <a:endParaRPr 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idx="1"/>
          </p:nvPr>
        </p:nvSpPr>
        <p:spPr>
          <a:xfrm>
            <a:off x="179705" y="1341120"/>
            <a:ext cx="8884920" cy="592645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计算方式</a:t>
            </a:r>
            <a:r>
              <a:rPr 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的演进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单机计算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charset="0"/>
              </a:rPr>
              <a:t>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charset="0"/>
              </a:rPr>
              <a:t> 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集群计算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charset="0"/>
              </a:rPr>
              <a:t>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charset="0"/>
              </a:rPr>
              <a:t> 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云计算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分布式计算</a:t>
            </a:r>
            <a:r>
              <a:rPr 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中的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关键问题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r>
              <a:rPr 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一致性，安全性，高效性，可扩展性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云计算</a:t>
            </a:r>
            <a:r>
              <a:rPr 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本质</a:t>
            </a:r>
            <a:r>
              <a:rPr 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b="1" dirty="0">
                <a:highlight>
                  <a:srgbClr val="FFFF00"/>
                </a:highlight>
                <a:latin typeface="微软雅黑" panose="020B0503020204020204" charset="-122"/>
                <a:ea typeface="微软雅黑" panose="020B0503020204020204" charset="-122"/>
                <a:sym typeface="+mn-ea"/>
              </a:rPr>
              <a:t>资源共享，规模效应与集约效应；</a:t>
            </a:r>
            <a:endParaRPr lang="zh-CN" b="1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云计算</a:t>
            </a:r>
            <a:r>
              <a:rPr 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要解决的基本问题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endParaRPr 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indent="0" eaLnBrk="1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1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程序要能到处运行；</a:t>
            </a:r>
            <a:endParaRPr lang="zh-CN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indent="0" eaLnBrk="1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None/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2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）要能到处成功运行；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indent="0" eaLnBrk="1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None/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3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同一机器上运行的程序相互隔离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解决办法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虚拟化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虚拟机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6821805" y="2990850"/>
              <a:ext cx="17780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6821805" y="2990850"/>
                <a:ext cx="17780" cy="3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sz="3200" dirty="0">
                <a:latin typeface="微软雅黑" panose="020B0503020204020204" charset="-122"/>
                <a:ea typeface="微软雅黑" panose="020B0503020204020204" charset="-122"/>
              </a:rPr>
              <a:t>虚拟机的两个</a:t>
            </a:r>
            <a:r>
              <a:rPr lang="zh-CN" sz="3200" dirty="0">
                <a:latin typeface="微软雅黑" panose="020B0503020204020204" charset="-122"/>
                <a:ea typeface="微软雅黑" panose="020B0503020204020204" charset="-122"/>
              </a:rPr>
              <a:t>层级</a:t>
            </a:r>
            <a:endParaRPr lang="zh-CN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315" y="1700530"/>
            <a:ext cx="9144000" cy="45059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面向程序语言的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虚拟机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：能得用某种语言编写的应用程序，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能够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到处运行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594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例如，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JVM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node.js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: 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Shell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脚本解释执行器</a:t>
            </a:r>
            <a:r>
              <a:rPr kumimoji="1" lang="zh-CN" b="1" kern="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,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, JavaScript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引擎</a:t>
            </a:r>
            <a:r>
              <a:rPr kumimoji="1" lang="zh-CN" b="1" kern="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;</a:t>
            </a:r>
            <a:endParaRPr kumimoji="1" lang="zh-CN" b="1" kern="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面向运行环境构建的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虚拟机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：为应用程序提供一个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不变的虚拟</a:t>
            </a:r>
            <a:r>
              <a:rPr lang="zh-CN" altLang="en-US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运行环境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，虚拟机负责虚拟运行环境与实运行环境的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映射；使程序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能够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到处成功运行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3594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SzTx/>
              <a:buFont typeface="Wingdings" panose="05000000000000000000" charset="0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例如，VMWare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，container;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第一种虚拟化总结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解释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运行程序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35585" y="1628775"/>
            <a:ext cx="8813165" cy="448119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先将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源程序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编译成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中间代码。中间代码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中间代码表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符号表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组成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，其特点是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进行了分离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符号表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类型表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变量表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函数表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常量表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面向对象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应用程序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全局变量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成员变量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，每个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函数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也都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局部变量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是其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成员变量；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变量类型：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成员变量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形参变量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临时变量；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第一种虚拟化总结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解释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运行程序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89535" y="1412875"/>
            <a:ext cx="8959215" cy="513143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解释器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有2个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对象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application对象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callStack对象；</a:t>
            </a: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应用程序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，先要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应用程序对象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，为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全局变量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分配内存空间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一个函数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：为其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创建一个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参数传递对象，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传递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参数；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再创建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一个函数对象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即为其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局部变量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分配内存）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解释执行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：要将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变量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逻辑地址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转换成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地址；</a:t>
            </a: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解释执行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中，有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当前函数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概念：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形参基地址，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局部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变量基地址，</a:t>
            </a: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第二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层级虚拟机要解决的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65735" y="1333500"/>
            <a:ext cx="8673465" cy="41910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应用程序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运行时，要访问的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已被其它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应用程序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占用，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例如，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WEB服务器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端口侦听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客户的连接请求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但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80端口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已被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其它应用程序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占用；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应用程序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运行时，要访问的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资源id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发生了变化，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例如，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WEB服务器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知道的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数据库服务器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地址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192.168.76.101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但现在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变为了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129.95.37.45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应用程序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运行在同一台计算机上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，因资源共享，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相互可以干扰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。例如，内存耗尽，获取对方的进程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第二层级虚拟机的功能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950" y="1196975"/>
            <a:ext cx="8959215" cy="552577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虚拟化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针对的问题是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之间的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交互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问题。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的变动性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要求对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透明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为应用程序提供一个不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变的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虚拟运行环境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，为应用程序提供虚与实的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映射功能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持有的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资源id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虚id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。在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访问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时，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再实时地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虚id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映射成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实id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映射的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实id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，得到的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服务结果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就不同。这种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不变性与变动性的衔接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，有时也可说成是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客户程序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具有通适性。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827405" y="188595"/>
            <a:ext cx="7946390" cy="1306830"/>
          </a:xfrm>
        </p:spPr>
        <p:txBody>
          <a:bodyPr anchor="ctr"/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企业业务信息系统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不加修改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地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迁移上云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的步骤：</a:t>
            </a:r>
            <a:b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第一步：注册与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登录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5650" y="2780665"/>
            <a:ext cx="6871970" cy="1614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在云上注册账号（企业账户）</a:t>
            </a:r>
            <a:r>
              <a:rPr lang="en-US" altLang="zh-CN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</a:t>
            </a:r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2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</a:t>
            </a:r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账号登录至</a:t>
            </a:r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云上；</a:t>
            </a:r>
            <a:endParaRPr lang="zh-CN" altLang="en-US" sz="2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1331595" y="188595"/>
            <a:ext cx="7610475" cy="689610"/>
          </a:xfrm>
        </p:spPr>
        <p:txBody>
          <a:bodyPr anchor="ctr"/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步：在云上创建虚拟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系统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95605" y="3871595"/>
            <a:ext cx="687197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云</a:t>
            </a:r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创建</a:t>
            </a:r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对应的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虚拟局域网</a:t>
            </a:r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endParaRPr lang="zh-CN" altLang="en-US" sz="2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5605" y="1341120"/>
            <a:ext cx="1656080" cy="80073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tIns="215900" bIns="215900" rtlCol="0">
            <a:spAutoFit/>
          </a:bodyPr>
          <a:p>
            <a:pPr algn="ctr"/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应用程序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16555" y="1341120"/>
            <a:ext cx="1656080" cy="80073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tIns="215900" bIns="215900" rtlCol="0">
            <a:spAutoFit/>
          </a:bodyPr>
          <a:p>
            <a:pPr algn="ctr"/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应用程序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97170" y="1340485"/>
            <a:ext cx="1656080" cy="80073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tIns="215900" bIns="215900" rtlCol="0">
            <a:spAutoFit/>
          </a:bodyPr>
          <a:p>
            <a:pPr algn="ctr"/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应用程序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95605" y="2205355"/>
            <a:ext cx="8496935" cy="1438910"/>
            <a:chOff x="623" y="3473"/>
            <a:chExt cx="13381" cy="2266"/>
          </a:xfrm>
        </p:grpSpPr>
        <p:sp>
          <p:nvSpPr>
            <p:cNvPr id="2" name="文本框 1"/>
            <p:cNvSpPr txBox="1"/>
            <p:nvPr/>
          </p:nvSpPr>
          <p:spPr>
            <a:xfrm>
              <a:off x="6746" y="4767"/>
              <a:ext cx="2677" cy="8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52095" tIns="179705" rIns="252095" bIns="179705" rtlCol="0">
              <a:noAutofit/>
            </a:bodyPr>
            <a:p>
              <a:pPr algn="l"/>
              <a:r>
                <a:rPr lang="zh-CN" altLang="en-US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局域网</a:t>
              </a:r>
              <a:endPara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23" y="3473"/>
              <a:ext cx="2608" cy="1307"/>
            </a:xfrm>
            <a:prstGeom prst="rect">
              <a:avLst/>
            </a:prstGeom>
            <a:noFill/>
            <a:ln w="57150" cmpd="dbl">
              <a:solidFill>
                <a:srgbClr val="FF0000"/>
              </a:solidFill>
              <a:prstDash val="solid"/>
            </a:ln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计算机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599" y="3473"/>
              <a:ext cx="2608" cy="1307"/>
            </a:xfrm>
            <a:prstGeom prst="rect">
              <a:avLst/>
            </a:prstGeom>
            <a:noFill/>
            <a:ln w="57150" cmpd="dbl">
              <a:solidFill>
                <a:srgbClr val="FF0000"/>
              </a:solidFill>
              <a:prstDash val="solid"/>
            </a:ln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计算机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338" y="3473"/>
              <a:ext cx="2608" cy="1307"/>
            </a:xfrm>
            <a:prstGeom prst="rect">
              <a:avLst/>
            </a:prstGeom>
            <a:noFill/>
            <a:ln w="57150" cmpd="dbl">
              <a:solidFill>
                <a:srgbClr val="FF0000"/>
              </a:solidFill>
              <a:prstDash val="solid"/>
            </a:ln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计算机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</a:t>
              </a:r>
              <a:endParaRPr 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1396" y="3927"/>
              <a:ext cx="2608" cy="725"/>
            </a:xfrm>
            <a:prstGeom prst="rect">
              <a:avLst/>
            </a:prstGeom>
            <a:noFill/>
            <a:ln w="57150" cmpd="dbl">
              <a:solidFill>
                <a:srgbClr val="FF0000"/>
              </a:solidFill>
              <a:prstDash val="solid"/>
            </a:ln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网关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 rot="0">
              <a:off x="1643" y="4711"/>
              <a:ext cx="11080" cy="1028"/>
              <a:chOff x="1303" y="6979"/>
              <a:chExt cx="11080" cy="1724"/>
            </a:xfrm>
          </p:grpSpPr>
          <p:cxnSp>
            <p:nvCxnSpPr>
              <p:cNvPr id="11" name="直接连接符 10"/>
              <p:cNvCxnSpPr/>
              <p:nvPr/>
            </p:nvCxnSpPr>
            <p:spPr>
              <a:xfrm flipV="1">
                <a:off x="1329" y="8689"/>
                <a:ext cx="11055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直接连接符 11"/>
              <p:cNvCxnSpPr/>
              <p:nvPr/>
            </p:nvCxnSpPr>
            <p:spPr>
              <a:xfrm flipH="1">
                <a:off x="1303" y="6994"/>
                <a:ext cx="0" cy="170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" name="直接连接符 12"/>
              <p:cNvCxnSpPr/>
              <p:nvPr/>
            </p:nvCxnSpPr>
            <p:spPr>
              <a:xfrm flipH="1">
                <a:off x="5586" y="6994"/>
                <a:ext cx="0" cy="170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直接连接符 13"/>
              <p:cNvCxnSpPr/>
              <p:nvPr/>
            </p:nvCxnSpPr>
            <p:spPr>
              <a:xfrm flipH="1">
                <a:off x="9782" y="6979"/>
                <a:ext cx="0" cy="170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" name="直接连接符 16"/>
              <p:cNvCxnSpPr/>
              <p:nvPr/>
            </p:nvCxnSpPr>
            <p:spPr>
              <a:xfrm flipH="1">
                <a:off x="12333" y="7003"/>
                <a:ext cx="0" cy="170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0" name="文本框 19"/>
          <p:cNvSpPr txBox="1"/>
          <p:nvPr/>
        </p:nvSpPr>
        <p:spPr>
          <a:xfrm>
            <a:off x="4067810" y="5958840"/>
            <a:ext cx="1699895" cy="535940"/>
          </a:xfrm>
          <a:prstGeom prst="rect">
            <a:avLst/>
          </a:prstGeom>
          <a:noFill/>
          <a:ln>
            <a:noFill/>
          </a:ln>
        </p:spPr>
        <p:txBody>
          <a:bodyPr wrap="square" lIns="252095" tIns="179705" rIns="252095" bIns="179705" rtlCol="0">
            <a:noAutofit/>
          </a:bodyPr>
          <a:p>
            <a:pPr algn="l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VLAN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79705" y="5137150"/>
            <a:ext cx="1656080" cy="82994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VM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704465" y="5137150"/>
            <a:ext cx="1656080" cy="82994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VM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078730" y="5137150"/>
            <a:ext cx="1656080" cy="82994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VM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020560" y="5425440"/>
            <a:ext cx="1656080" cy="46037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VG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 rot="0">
            <a:off x="827405" y="5923280"/>
            <a:ext cx="7035800" cy="652780"/>
            <a:chOff x="1303" y="6979"/>
            <a:chExt cx="11080" cy="1724"/>
          </a:xfrm>
        </p:grpSpPr>
        <p:cxnSp>
          <p:nvCxnSpPr>
            <p:cNvPr id="26" name="直接连接符 25"/>
            <p:cNvCxnSpPr/>
            <p:nvPr/>
          </p:nvCxnSpPr>
          <p:spPr>
            <a:xfrm flipV="1">
              <a:off x="1329" y="8689"/>
              <a:ext cx="1105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1303" y="6994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8" name="直接连接符 27"/>
            <p:cNvCxnSpPr/>
            <p:nvPr/>
          </p:nvCxnSpPr>
          <p:spPr>
            <a:xfrm flipH="1">
              <a:off x="5586" y="6994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9" name="直接连接符 28"/>
            <p:cNvCxnSpPr/>
            <p:nvPr/>
          </p:nvCxnSpPr>
          <p:spPr>
            <a:xfrm flipH="1">
              <a:off x="9782" y="6979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0" name="直接连接符 29"/>
            <p:cNvCxnSpPr/>
            <p:nvPr/>
          </p:nvCxnSpPr>
          <p:spPr>
            <a:xfrm flipH="1">
              <a:off x="12333" y="7003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31" name="下箭头 30"/>
          <p:cNvSpPr/>
          <p:nvPr/>
        </p:nvSpPr>
        <p:spPr>
          <a:xfrm>
            <a:off x="7451725" y="3933190"/>
            <a:ext cx="1151890" cy="863600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1331595" y="188595"/>
            <a:ext cx="7610475" cy="689610"/>
          </a:xfrm>
        </p:spPr>
        <p:txBody>
          <a:bodyPr anchor="ctr"/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3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步：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给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虚拟机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设置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所需的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资源量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067810" y="4976495"/>
            <a:ext cx="1699895" cy="535940"/>
          </a:xfrm>
          <a:prstGeom prst="rect">
            <a:avLst/>
          </a:prstGeom>
          <a:noFill/>
          <a:ln>
            <a:noFill/>
          </a:ln>
        </p:spPr>
        <p:txBody>
          <a:bodyPr wrap="square" lIns="252095" tIns="179705" rIns="252095" bIns="179705" rtlCol="0">
            <a:noAutofit/>
          </a:bodyPr>
          <a:p>
            <a:pPr algn="l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VLAN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179705" y="4154805"/>
            <a:ext cx="1656080" cy="82994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VM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704465" y="4154805"/>
            <a:ext cx="1656080" cy="82994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VM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078730" y="4154805"/>
            <a:ext cx="1656080" cy="82994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VM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020560" y="4443095"/>
            <a:ext cx="1656080" cy="46037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VG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 rot="0">
            <a:off x="827405" y="4940935"/>
            <a:ext cx="7035800" cy="652780"/>
            <a:chOff x="1303" y="6979"/>
            <a:chExt cx="11080" cy="1724"/>
          </a:xfrm>
        </p:grpSpPr>
        <p:cxnSp>
          <p:nvCxnSpPr>
            <p:cNvPr id="26" name="直接连接符 25"/>
            <p:cNvCxnSpPr/>
            <p:nvPr/>
          </p:nvCxnSpPr>
          <p:spPr>
            <a:xfrm flipV="1">
              <a:off x="1329" y="8689"/>
              <a:ext cx="1105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1303" y="6994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8" name="直接连接符 27"/>
            <p:cNvCxnSpPr/>
            <p:nvPr/>
          </p:nvCxnSpPr>
          <p:spPr>
            <a:xfrm flipH="1">
              <a:off x="5586" y="6994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9" name="直接连接符 28"/>
            <p:cNvCxnSpPr/>
            <p:nvPr/>
          </p:nvCxnSpPr>
          <p:spPr>
            <a:xfrm flipH="1">
              <a:off x="9782" y="6979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0" name="直接连接符 29"/>
            <p:cNvCxnSpPr/>
            <p:nvPr/>
          </p:nvCxnSpPr>
          <p:spPr>
            <a:xfrm flipH="1">
              <a:off x="12333" y="7003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4" name="文本框 3"/>
          <p:cNvSpPr txBox="1"/>
          <p:nvPr/>
        </p:nvSpPr>
        <p:spPr>
          <a:xfrm>
            <a:off x="107315" y="2207260"/>
            <a:ext cx="1682750" cy="15214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0" tIns="71755" rIns="0" bIns="0" rtlCol="0">
            <a:noAutofit/>
          </a:bodyPr>
          <a:p>
            <a:pPr algn="l"/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2  </a:t>
            </a:r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cores</a:t>
            </a:r>
            <a:endParaRPr lang="en-US" altLang="zh-CN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8G </a:t>
            </a:r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mem</a:t>
            </a:r>
            <a:endParaRPr lang="en-US" altLang="zh-CN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5M </a:t>
            </a:r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BW</a:t>
            </a:r>
            <a:endParaRPr lang="en-US" altLang="zh-CN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27630" y="2215515"/>
            <a:ext cx="1705610" cy="151320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0" tIns="71755" rIns="0" bIns="0" rtlCol="0">
            <a:noAutofit/>
          </a:bodyPr>
          <a:p>
            <a:pPr algn="l"/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8  </a:t>
            </a:r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cores</a:t>
            </a:r>
            <a:endParaRPr lang="en-US" altLang="zh-CN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32G </a:t>
            </a:r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mem</a:t>
            </a:r>
            <a:endParaRPr lang="en-US" altLang="zh-CN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10M </a:t>
            </a:r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BW</a:t>
            </a:r>
            <a:endParaRPr lang="en-US" altLang="zh-CN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2T disk</a:t>
            </a:r>
            <a:endParaRPr lang="en-US" altLang="zh-CN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076190" y="2200910"/>
            <a:ext cx="1647825" cy="152146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0" tIns="71755" rIns="0" bIns="0" rtlCol="0">
            <a:noAutofit/>
          </a:bodyPr>
          <a:p>
            <a:pPr algn="l"/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4  </a:t>
            </a:r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cores</a:t>
            </a:r>
            <a:endParaRPr lang="en-US" altLang="zh-CN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8G </a:t>
            </a:r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mem</a:t>
            </a:r>
            <a:endParaRPr lang="en-US" altLang="zh-CN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/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10M </a:t>
            </a:r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BW</a:t>
            </a:r>
            <a:endParaRPr lang="en-US" altLang="zh-CN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1331595" y="188595"/>
            <a:ext cx="7610475" cy="849630"/>
          </a:xfrm>
        </p:spPr>
        <p:txBody>
          <a:bodyPr anchor="ctr"/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4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步：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基于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虚拟机的依赖关系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设置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虚拟机的启动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顺序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283710" y="4256405"/>
            <a:ext cx="1699895" cy="535940"/>
          </a:xfrm>
          <a:prstGeom prst="rect">
            <a:avLst/>
          </a:prstGeom>
          <a:noFill/>
          <a:ln>
            <a:noFill/>
          </a:ln>
        </p:spPr>
        <p:txBody>
          <a:bodyPr wrap="square" lIns="252095" tIns="179705" rIns="252095" bIns="179705" rtlCol="0">
            <a:noAutofit/>
          </a:bodyPr>
          <a:p>
            <a:pPr algn="l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VLAN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395605" y="3434715"/>
            <a:ext cx="1656080" cy="82994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VM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920365" y="3434715"/>
            <a:ext cx="1656080" cy="82994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VM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294630" y="3434715"/>
            <a:ext cx="1656080" cy="82994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VM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236460" y="3723005"/>
            <a:ext cx="1656080" cy="46037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VG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 rot="0">
            <a:off x="1043305" y="4220845"/>
            <a:ext cx="7035800" cy="652780"/>
            <a:chOff x="1303" y="6979"/>
            <a:chExt cx="11080" cy="1724"/>
          </a:xfrm>
        </p:grpSpPr>
        <p:cxnSp>
          <p:nvCxnSpPr>
            <p:cNvPr id="26" name="直接连接符 25"/>
            <p:cNvCxnSpPr/>
            <p:nvPr/>
          </p:nvCxnSpPr>
          <p:spPr>
            <a:xfrm flipV="1">
              <a:off x="1329" y="8689"/>
              <a:ext cx="1105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1303" y="6994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8" name="直接连接符 27"/>
            <p:cNvCxnSpPr/>
            <p:nvPr/>
          </p:nvCxnSpPr>
          <p:spPr>
            <a:xfrm flipH="1">
              <a:off x="5586" y="6994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9" name="直接连接符 28"/>
            <p:cNvCxnSpPr/>
            <p:nvPr/>
          </p:nvCxnSpPr>
          <p:spPr>
            <a:xfrm flipH="1">
              <a:off x="9782" y="6979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0" name="直接连接符 29"/>
            <p:cNvCxnSpPr/>
            <p:nvPr/>
          </p:nvCxnSpPr>
          <p:spPr>
            <a:xfrm flipH="1">
              <a:off x="12333" y="7003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4" name="文本框 3"/>
          <p:cNvSpPr txBox="1"/>
          <p:nvPr/>
        </p:nvSpPr>
        <p:spPr>
          <a:xfrm>
            <a:off x="683260" y="2637155"/>
            <a:ext cx="720000" cy="5359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252095" tIns="179705" rIns="252095" bIns="179705" rtlCol="0">
            <a:noAutofit/>
          </a:bodyPr>
          <a:p>
            <a:pPr algn="l"/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2        </a:t>
            </a:r>
            <a:endParaRPr lang="en-US" altLang="zh-CN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7595870" y="2605405"/>
            <a:ext cx="720000" cy="5359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252095" tIns="179705" rIns="252095" bIns="179705" rtlCol="0">
            <a:noAutofit/>
          </a:bodyPr>
          <a:p>
            <a:pPr algn="l"/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203575" y="2637155"/>
            <a:ext cx="720000" cy="5359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252095" tIns="179705" rIns="252095" bIns="179705" rtlCol="0">
            <a:noAutofit/>
          </a:bodyPr>
          <a:p>
            <a:pPr algn="l"/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3       </a:t>
            </a:r>
            <a:endParaRPr lang="en-US" altLang="zh-CN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5543550" y="2605405"/>
            <a:ext cx="720000" cy="53594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txBody>
          <a:bodyPr wrap="square" lIns="252095" tIns="179705" rIns="252095" bIns="179705" rtlCol="0">
            <a:noAutofit/>
          </a:bodyPr>
          <a:p>
            <a:pPr algn="ctr"/>
            <a:r>
              <a:rPr lang="en-US" altLang="zh-CN" b="1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4       </a:t>
            </a:r>
            <a:endParaRPr lang="en-US" altLang="zh-CN" b="1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1331595" y="94615"/>
            <a:ext cx="7610475" cy="977900"/>
          </a:xfrm>
        </p:spPr>
        <p:txBody>
          <a:bodyPr anchor="ctr"/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5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步：使用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Docker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之类的软件工具将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物理机上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的文件系统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打包成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镜像文件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395605" y="1341120"/>
            <a:ext cx="1656080" cy="80073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tIns="215900" bIns="215900" rtlCol="0">
            <a:spAutoFit/>
          </a:bodyPr>
          <a:p>
            <a:pPr algn="ctr"/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应用程序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916555" y="1341120"/>
            <a:ext cx="1656080" cy="80073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tIns="215900" bIns="215900" rtlCol="0">
            <a:spAutoFit/>
          </a:bodyPr>
          <a:p>
            <a:pPr algn="ctr"/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应用程序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97170" y="1340485"/>
            <a:ext cx="1656080" cy="800735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tIns="215900" bIns="215900" rtlCol="0">
            <a:spAutoFit/>
          </a:bodyPr>
          <a:p>
            <a:pPr algn="ctr"/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应用程序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3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395605" y="2205355"/>
            <a:ext cx="8496935" cy="1438910"/>
            <a:chOff x="623" y="3473"/>
            <a:chExt cx="13381" cy="2266"/>
          </a:xfrm>
        </p:grpSpPr>
        <p:sp>
          <p:nvSpPr>
            <p:cNvPr id="2" name="文本框 1"/>
            <p:cNvSpPr txBox="1"/>
            <p:nvPr/>
          </p:nvSpPr>
          <p:spPr>
            <a:xfrm>
              <a:off x="6746" y="4767"/>
              <a:ext cx="2677" cy="8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52095" tIns="179705" rIns="252095" bIns="179705" rtlCol="0">
              <a:noAutofit/>
            </a:bodyPr>
            <a:p>
              <a:pPr algn="l"/>
              <a:r>
                <a:rPr lang="zh-CN" altLang="en-US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局域网</a:t>
              </a:r>
              <a:endPara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23" y="3473"/>
              <a:ext cx="2608" cy="1307"/>
            </a:xfrm>
            <a:prstGeom prst="rect">
              <a:avLst/>
            </a:prstGeom>
            <a:noFill/>
            <a:ln w="57150" cmpd="dbl">
              <a:solidFill>
                <a:srgbClr val="FF0000"/>
              </a:solidFill>
              <a:prstDash val="solid"/>
            </a:ln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计算机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599" y="3473"/>
              <a:ext cx="2608" cy="1307"/>
            </a:xfrm>
            <a:prstGeom prst="rect">
              <a:avLst/>
            </a:prstGeom>
            <a:noFill/>
            <a:ln w="57150" cmpd="dbl">
              <a:solidFill>
                <a:srgbClr val="FF0000"/>
              </a:solidFill>
              <a:prstDash val="solid"/>
            </a:ln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计算机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338" y="3473"/>
              <a:ext cx="2608" cy="1307"/>
            </a:xfrm>
            <a:prstGeom prst="rect">
              <a:avLst/>
            </a:prstGeom>
            <a:noFill/>
            <a:ln w="57150" cmpd="dbl">
              <a:solidFill>
                <a:srgbClr val="FF0000"/>
              </a:solidFill>
              <a:prstDash val="solid"/>
            </a:ln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计算机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</a:t>
              </a:r>
              <a:endParaRPr 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1396" y="3927"/>
              <a:ext cx="2608" cy="725"/>
            </a:xfrm>
            <a:prstGeom prst="rect">
              <a:avLst/>
            </a:prstGeom>
            <a:noFill/>
            <a:ln w="57150" cmpd="dbl">
              <a:solidFill>
                <a:srgbClr val="FF0000"/>
              </a:solidFill>
              <a:prstDash val="solid"/>
            </a:ln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网关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 rot="0">
              <a:off x="1643" y="4711"/>
              <a:ext cx="11080" cy="1028"/>
              <a:chOff x="1303" y="6979"/>
              <a:chExt cx="11080" cy="1724"/>
            </a:xfrm>
          </p:grpSpPr>
          <p:cxnSp>
            <p:nvCxnSpPr>
              <p:cNvPr id="11" name="直接连接符 10"/>
              <p:cNvCxnSpPr/>
              <p:nvPr/>
            </p:nvCxnSpPr>
            <p:spPr>
              <a:xfrm flipV="1">
                <a:off x="1329" y="8689"/>
                <a:ext cx="11055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直接连接符 11"/>
              <p:cNvCxnSpPr/>
              <p:nvPr/>
            </p:nvCxnSpPr>
            <p:spPr>
              <a:xfrm flipH="1">
                <a:off x="1303" y="6994"/>
                <a:ext cx="0" cy="170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" name="直接连接符 12"/>
              <p:cNvCxnSpPr/>
              <p:nvPr/>
            </p:nvCxnSpPr>
            <p:spPr>
              <a:xfrm flipH="1">
                <a:off x="5586" y="6994"/>
                <a:ext cx="0" cy="170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直接连接符 13"/>
              <p:cNvCxnSpPr/>
              <p:nvPr/>
            </p:nvCxnSpPr>
            <p:spPr>
              <a:xfrm flipH="1">
                <a:off x="9782" y="6979"/>
                <a:ext cx="0" cy="170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" name="直接连接符 16"/>
              <p:cNvCxnSpPr/>
              <p:nvPr/>
            </p:nvCxnSpPr>
            <p:spPr>
              <a:xfrm flipH="1">
                <a:off x="12333" y="7003"/>
                <a:ext cx="0" cy="170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21" name="文本框 20"/>
          <p:cNvSpPr txBox="1"/>
          <p:nvPr/>
        </p:nvSpPr>
        <p:spPr>
          <a:xfrm>
            <a:off x="179705" y="5137150"/>
            <a:ext cx="1656080" cy="829945"/>
          </a:xfrm>
          <a:prstGeom prst="rect">
            <a:avLst/>
          </a:prstGeom>
          <a:noFill/>
          <a:ln w="12700" cmpd="sng">
            <a:solidFill>
              <a:srgbClr val="0001FF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mirror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704465" y="5137150"/>
            <a:ext cx="1656080" cy="829945"/>
          </a:xfrm>
          <a:prstGeom prst="rect">
            <a:avLst/>
          </a:prstGeom>
          <a:noFill/>
          <a:ln w="12700" cmpd="sng">
            <a:solidFill>
              <a:srgbClr val="0001FF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mirror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078730" y="5137150"/>
            <a:ext cx="1656080" cy="829945"/>
          </a:xfrm>
          <a:prstGeom prst="rect">
            <a:avLst/>
          </a:prstGeom>
          <a:noFill/>
          <a:ln w="12700" cmpd="sng">
            <a:solidFill>
              <a:srgbClr val="0001FF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mirror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092315" y="5123180"/>
            <a:ext cx="1656080" cy="829945"/>
          </a:xfrm>
          <a:prstGeom prst="rect">
            <a:avLst/>
          </a:prstGeom>
          <a:noFill/>
          <a:ln w="12700" cmpd="sng">
            <a:solidFill>
              <a:srgbClr val="0001FF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mirror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1" name="下箭头 30"/>
          <p:cNvSpPr/>
          <p:nvPr/>
        </p:nvSpPr>
        <p:spPr>
          <a:xfrm>
            <a:off x="7451725" y="3933190"/>
            <a:ext cx="1151890" cy="863600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2" name="下箭头 41"/>
          <p:cNvSpPr/>
          <p:nvPr/>
        </p:nvSpPr>
        <p:spPr>
          <a:xfrm>
            <a:off x="395605" y="3860800"/>
            <a:ext cx="1151890" cy="863600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3" name="下箭头 42"/>
          <p:cNvSpPr/>
          <p:nvPr/>
        </p:nvSpPr>
        <p:spPr>
          <a:xfrm>
            <a:off x="3131820" y="3860800"/>
            <a:ext cx="1151890" cy="863600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4" name="下箭头 43"/>
          <p:cNvSpPr/>
          <p:nvPr/>
        </p:nvSpPr>
        <p:spPr>
          <a:xfrm>
            <a:off x="5652135" y="3933190"/>
            <a:ext cx="1151890" cy="863600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1331595" y="260985"/>
            <a:ext cx="7623810" cy="833120"/>
          </a:xfrm>
        </p:spPr>
        <p:txBody>
          <a:bodyPr anchor="ctr"/>
          <a:lstStyle/>
          <a:p>
            <a:r>
              <a:rPr lang="zh-CN" altLang="en-US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altLang="zh-CN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6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步：把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镜像文件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上传给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云上对应的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虚拟机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4139565" y="4821555"/>
            <a:ext cx="1699895" cy="535940"/>
          </a:xfrm>
          <a:prstGeom prst="rect">
            <a:avLst/>
          </a:prstGeom>
          <a:noFill/>
          <a:ln>
            <a:noFill/>
          </a:ln>
        </p:spPr>
        <p:txBody>
          <a:bodyPr wrap="square" lIns="252095" tIns="179705" rIns="252095" bIns="179705" rtlCol="0">
            <a:noAutofit/>
          </a:bodyPr>
          <a:p>
            <a:pPr algn="l"/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VLAN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251460" y="3999865"/>
            <a:ext cx="1656080" cy="82994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VM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776220" y="3999865"/>
            <a:ext cx="1656080" cy="82994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VM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150485" y="3999865"/>
            <a:ext cx="1656080" cy="82994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VM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7092315" y="4288155"/>
            <a:ext cx="1656080" cy="460375"/>
          </a:xfrm>
          <a:prstGeom prst="rect">
            <a:avLst/>
          </a:prstGeom>
          <a:noFill/>
          <a:ln w="25400" cmpd="sng">
            <a:solidFill>
              <a:srgbClr val="FF0000"/>
            </a:solidFill>
            <a:prstDash val="dash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VG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5" name="组合 24"/>
          <p:cNvGrpSpPr/>
          <p:nvPr/>
        </p:nvGrpSpPr>
        <p:grpSpPr>
          <a:xfrm rot="0">
            <a:off x="899160" y="4785995"/>
            <a:ext cx="7035800" cy="652780"/>
            <a:chOff x="1303" y="6979"/>
            <a:chExt cx="11080" cy="1724"/>
          </a:xfrm>
        </p:grpSpPr>
        <p:cxnSp>
          <p:nvCxnSpPr>
            <p:cNvPr id="26" name="直接连接符 25"/>
            <p:cNvCxnSpPr/>
            <p:nvPr/>
          </p:nvCxnSpPr>
          <p:spPr>
            <a:xfrm flipV="1">
              <a:off x="1329" y="8689"/>
              <a:ext cx="11055" cy="0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7" name="直接连接符 26"/>
            <p:cNvCxnSpPr/>
            <p:nvPr/>
          </p:nvCxnSpPr>
          <p:spPr>
            <a:xfrm flipH="1">
              <a:off x="1303" y="6994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8" name="直接连接符 27"/>
            <p:cNvCxnSpPr/>
            <p:nvPr/>
          </p:nvCxnSpPr>
          <p:spPr>
            <a:xfrm flipH="1">
              <a:off x="5586" y="6994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29" name="直接连接符 28"/>
            <p:cNvCxnSpPr/>
            <p:nvPr/>
          </p:nvCxnSpPr>
          <p:spPr>
            <a:xfrm flipH="1">
              <a:off x="9782" y="6979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  <p:cxnSp>
          <p:nvCxnSpPr>
            <p:cNvPr id="30" name="直接连接符 29"/>
            <p:cNvCxnSpPr/>
            <p:nvPr/>
          </p:nvCxnSpPr>
          <p:spPr>
            <a:xfrm flipH="1">
              <a:off x="12333" y="7003"/>
              <a:ext cx="0" cy="1701"/>
            </a:xfrm>
            <a:prstGeom prst="line">
              <a:avLst/>
            </a:prstGeom>
            <a:solidFill>
              <a:schemeClr val="accent1"/>
            </a:solidFill>
            <a:ln w="12700" cap="flat" cmpd="sng" algn="ctr">
              <a:solidFill>
                <a:schemeClr val="tx1"/>
              </a:solidFill>
              <a:prstDash val="dash"/>
              <a:round/>
              <a:headEnd type="none" w="med" len="med"/>
              <a:tailEnd type="none" w="med" len="med"/>
            </a:ln>
          </p:spPr>
        </p:cxnSp>
      </p:grpSp>
      <p:sp>
        <p:nvSpPr>
          <p:cNvPr id="31" name="下箭头 30"/>
          <p:cNvSpPr/>
          <p:nvPr/>
        </p:nvSpPr>
        <p:spPr>
          <a:xfrm>
            <a:off x="7523480" y="2795905"/>
            <a:ext cx="1151890" cy="863600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78460" y="1687195"/>
            <a:ext cx="1656080" cy="829945"/>
          </a:xfrm>
          <a:prstGeom prst="rect">
            <a:avLst/>
          </a:prstGeom>
          <a:noFill/>
          <a:ln w="12700" cmpd="sng">
            <a:solidFill>
              <a:srgbClr val="0001FF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mirror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903220" y="1687195"/>
            <a:ext cx="1656080" cy="829945"/>
          </a:xfrm>
          <a:prstGeom prst="rect">
            <a:avLst/>
          </a:prstGeom>
          <a:noFill/>
          <a:ln w="12700" cmpd="sng">
            <a:solidFill>
              <a:srgbClr val="0001FF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mirror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277485" y="1687195"/>
            <a:ext cx="1656080" cy="829945"/>
          </a:xfrm>
          <a:prstGeom prst="rect">
            <a:avLst/>
          </a:prstGeom>
          <a:noFill/>
          <a:ln w="12700" cmpd="sng">
            <a:solidFill>
              <a:srgbClr val="0001FF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mirror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164070" y="1643380"/>
            <a:ext cx="1656080" cy="829945"/>
          </a:xfrm>
          <a:prstGeom prst="rect">
            <a:avLst/>
          </a:prstGeom>
          <a:noFill/>
          <a:ln w="12700" cmpd="sng">
            <a:solidFill>
              <a:srgbClr val="0001FF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mirror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4" name="下箭头 33"/>
          <p:cNvSpPr/>
          <p:nvPr/>
        </p:nvSpPr>
        <p:spPr>
          <a:xfrm>
            <a:off x="5654675" y="2827020"/>
            <a:ext cx="1151890" cy="863600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5" name="下箭头 34"/>
          <p:cNvSpPr/>
          <p:nvPr/>
        </p:nvSpPr>
        <p:spPr>
          <a:xfrm>
            <a:off x="3280410" y="2867660"/>
            <a:ext cx="1151890" cy="863600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6" name="下箭头 35"/>
          <p:cNvSpPr/>
          <p:nvPr/>
        </p:nvSpPr>
        <p:spPr>
          <a:xfrm>
            <a:off x="610870" y="2827020"/>
            <a:ext cx="1151890" cy="863600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1331595" y="188595"/>
            <a:ext cx="7610475" cy="689610"/>
          </a:xfrm>
        </p:spPr>
        <p:txBody>
          <a:bodyPr anchor="ctr"/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第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7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步：在云上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启动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企业信息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系统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51460" y="4076700"/>
            <a:ext cx="1656080" cy="882015"/>
          </a:xfrm>
          <a:prstGeom prst="rect">
            <a:avLst/>
          </a:prstGeom>
          <a:noFill/>
          <a:ln w="25400">
            <a:solidFill>
              <a:srgbClr val="0001FF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VM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A1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772410" y="4076700"/>
            <a:ext cx="1656080" cy="882015"/>
          </a:xfrm>
          <a:prstGeom prst="rect">
            <a:avLst/>
          </a:prstGeom>
          <a:noFill/>
          <a:ln w="25400">
            <a:solidFill>
              <a:srgbClr val="0001FF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VM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153025" y="4076065"/>
            <a:ext cx="1656080" cy="882015"/>
          </a:xfrm>
          <a:prstGeom prst="rect">
            <a:avLst/>
          </a:prstGeom>
          <a:noFill/>
          <a:ln w="25400">
            <a:solidFill>
              <a:srgbClr val="0001FF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VM</a:t>
            </a:r>
            <a:endParaRPr 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A3</a:t>
            </a:r>
            <a:endParaRPr 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251460" y="4940935"/>
            <a:ext cx="8496935" cy="1438910"/>
            <a:chOff x="623" y="3473"/>
            <a:chExt cx="13381" cy="2266"/>
          </a:xfrm>
        </p:grpSpPr>
        <p:sp>
          <p:nvSpPr>
            <p:cNvPr id="2" name="文本框 1"/>
            <p:cNvSpPr txBox="1"/>
            <p:nvPr/>
          </p:nvSpPr>
          <p:spPr>
            <a:xfrm>
              <a:off x="6746" y="4767"/>
              <a:ext cx="2677" cy="8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52095" tIns="179705" rIns="252095" bIns="179705" rtlCol="0">
              <a:noAutofit/>
            </a:bodyPr>
            <a:p>
              <a:pPr algn="l"/>
              <a:r>
                <a:rPr lang="zh-CN" altLang="en-US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局域网</a:t>
              </a:r>
              <a:endPara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23" y="3473"/>
              <a:ext cx="2608" cy="1307"/>
            </a:xfrm>
            <a:prstGeom prst="rect">
              <a:avLst/>
            </a:prstGeom>
            <a:noFill/>
            <a:ln w="57150" cmpd="dbl">
              <a:solidFill>
                <a:srgbClr val="FF0000"/>
              </a:solidFill>
              <a:prstDash val="solid"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Host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x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599" y="3473"/>
              <a:ext cx="2608" cy="1307"/>
            </a:xfrm>
            <a:prstGeom prst="rect">
              <a:avLst/>
            </a:prstGeom>
            <a:noFill/>
            <a:ln w="57150" cmpd="dbl">
              <a:solidFill>
                <a:srgbClr val="FF0000"/>
              </a:solidFill>
              <a:prstDash val="solid"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Host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y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338" y="3473"/>
              <a:ext cx="2608" cy="1307"/>
            </a:xfrm>
            <a:prstGeom prst="rect">
              <a:avLst/>
            </a:prstGeom>
            <a:noFill/>
            <a:ln w="57150" cmpd="dbl">
              <a:solidFill>
                <a:srgbClr val="FF0000"/>
              </a:solidFill>
              <a:prstDash val="solid"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Host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z</a:t>
              </a:r>
              <a:endParaRPr 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1396" y="3475"/>
              <a:ext cx="2608" cy="1307"/>
            </a:xfrm>
            <a:prstGeom prst="rect">
              <a:avLst/>
            </a:prstGeom>
            <a:noFill/>
            <a:ln w="57150" cmpd="dbl">
              <a:solidFill>
                <a:srgbClr val="FF0000"/>
              </a:solidFill>
              <a:prstDash val="solid"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Host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 rot="0">
              <a:off x="1643" y="4711"/>
              <a:ext cx="11080" cy="1028"/>
              <a:chOff x="1303" y="6979"/>
              <a:chExt cx="11080" cy="1724"/>
            </a:xfrm>
          </p:grpSpPr>
          <p:cxnSp>
            <p:nvCxnSpPr>
              <p:cNvPr id="11" name="直接连接符 10"/>
              <p:cNvCxnSpPr/>
              <p:nvPr/>
            </p:nvCxnSpPr>
            <p:spPr>
              <a:xfrm flipV="1">
                <a:off x="1329" y="8689"/>
                <a:ext cx="11055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直接连接符 11"/>
              <p:cNvCxnSpPr/>
              <p:nvPr/>
            </p:nvCxnSpPr>
            <p:spPr>
              <a:xfrm flipH="1">
                <a:off x="1303" y="6994"/>
                <a:ext cx="0" cy="170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" name="直接连接符 12"/>
              <p:cNvCxnSpPr/>
              <p:nvPr/>
            </p:nvCxnSpPr>
            <p:spPr>
              <a:xfrm flipH="1">
                <a:off x="5586" y="6994"/>
                <a:ext cx="0" cy="170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直接连接符 13"/>
              <p:cNvCxnSpPr/>
              <p:nvPr/>
            </p:nvCxnSpPr>
            <p:spPr>
              <a:xfrm flipH="1">
                <a:off x="9782" y="6979"/>
                <a:ext cx="0" cy="170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" name="直接连接符 16"/>
              <p:cNvCxnSpPr/>
              <p:nvPr/>
            </p:nvCxnSpPr>
            <p:spPr>
              <a:xfrm flipH="1">
                <a:off x="12333" y="7003"/>
                <a:ext cx="0" cy="170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" name="文本框 3"/>
          <p:cNvSpPr txBox="1"/>
          <p:nvPr/>
        </p:nvSpPr>
        <p:spPr>
          <a:xfrm>
            <a:off x="7091680" y="4050030"/>
            <a:ext cx="1656080" cy="882015"/>
          </a:xfrm>
          <a:prstGeom prst="rect">
            <a:avLst/>
          </a:prstGeom>
          <a:noFill/>
          <a:ln w="25400">
            <a:solidFill>
              <a:srgbClr val="0001FF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VM</a:t>
            </a:r>
            <a:endParaRPr 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A4</a:t>
            </a:r>
            <a:endParaRPr 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/>
        </p:nvSpPr>
        <p:spPr>
          <a:xfrm>
            <a:off x="179705" y="1124585"/>
            <a:ext cx="6871970" cy="16148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选择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云</a:t>
            </a:r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上的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主机</a:t>
            </a:r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，在其上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创建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en-US" altLang="zh-CN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;</a:t>
            </a:r>
            <a:endParaRPr lang="en-US" altLang="zh-CN" sz="28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操作系统</a:t>
            </a:r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中的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内核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对象；</a:t>
            </a:r>
            <a:endParaRPr lang="zh-CN" altLang="en-US" sz="28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1460" y="3212465"/>
            <a:ext cx="1656080" cy="829945"/>
          </a:xfrm>
          <a:prstGeom prst="rect">
            <a:avLst/>
          </a:prstGeom>
          <a:noFill/>
          <a:ln w="12700" cmpd="sng">
            <a:solidFill>
              <a:srgbClr val="0001FF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mirror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776220" y="3212465"/>
            <a:ext cx="1656080" cy="829945"/>
          </a:xfrm>
          <a:prstGeom prst="rect">
            <a:avLst/>
          </a:prstGeom>
          <a:noFill/>
          <a:ln w="12700" cmpd="sng">
            <a:solidFill>
              <a:srgbClr val="0001FF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mirror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150485" y="3212465"/>
            <a:ext cx="1656080" cy="829945"/>
          </a:xfrm>
          <a:prstGeom prst="rect">
            <a:avLst/>
          </a:prstGeom>
          <a:noFill/>
          <a:ln w="12700" cmpd="sng">
            <a:solidFill>
              <a:srgbClr val="0001FF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mirror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7037070" y="3168650"/>
            <a:ext cx="1656080" cy="829945"/>
          </a:xfrm>
          <a:prstGeom prst="rect">
            <a:avLst/>
          </a:prstGeom>
          <a:noFill/>
          <a:ln w="12700" cmpd="sng">
            <a:solidFill>
              <a:srgbClr val="0001FF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mirror</a:t>
            </a:r>
            <a:endParaRPr lang="en-US" alt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</a:t>
            </a:r>
            <a:endParaRPr lang="en-US" alt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云计算的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架构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36830" y="1700530"/>
            <a:ext cx="1891665" cy="1430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创建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VM</a:t>
            </a:r>
            <a:endParaRPr lang="en-US" alt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释放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VM</a:t>
            </a:r>
            <a:endParaRPr lang="en-US" alt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35860" y="1374775"/>
            <a:ext cx="4169410" cy="920750"/>
          </a:xfrm>
          <a:prstGeom prst="rect">
            <a:avLst/>
          </a:prstGeom>
          <a:noFill/>
          <a:ln w="25400">
            <a:solidFill>
              <a:srgbClr val="0001FF"/>
            </a:solidFill>
          </a:ln>
        </p:spPr>
        <p:txBody>
          <a:bodyPr wrap="square" rtlCol="0" anchor="t">
            <a:noAutofit/>
          </a:bodyPr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Cloud Manager</a:t>
            </a:r>
            <a:endParaRPr lang="en-US" altLang="zh-CN" sz="28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2070" y="3500755"/>
            <a:ext cx="2405380" cy="2664460"/>
            <a:chOff x="623" y="5513"/>
            <a:chExt cx="3788" cy="4196"/>
          </a:xfrm>
        </p:grpSpPr>
        <p:sp>
          <p:nvSpPr>
            <p:cNvPr id="4" name="文本框 3"/>
            <p:cNvSpPr txBox="1"/>
            <p:nvPr/>
          </p:nvSpPr>
          <p:spPr>
            <a:xfrm>
              <a:off x="849" y="7101"/>
              <a:ext cx="3288" cy="1304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>
              <a:noAutofit/>
            </a:bodyPr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sz="28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Agent 1</a:t>
              </a:r>
              <a:endParaRPr lang="en-US" altLang="zh-CN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49" y="5740"/>
              <a:ext cx="1474" cy="10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>
              <a:noAutofit/>
            </a:bodyPr>
            <a:p>
              <a:pPr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VM1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777" y="5740"/>
              <a:ext cx="1474" cy="10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>
              <a:noAutofit/>
            </a:bodyPr>
            <a:p>
              <a:pPr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VM2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190" y="8485"/>
              <a:ext cx="2661" cy="10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sz="28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Host  1</a:t>
              </a:r>
              <a:endParaRPr lang="en-US" altLang="zh-CN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623" y="5513"/>
              <a:ext cx="3789" cy="419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143250" y="3493770"/>
            <a:ext cx="2405380" cy="2664460"/>
            <a:chOff x="623" y="5513"/>
            <a:chExt cx="3788" cy="4196"/>
          </a:xfrm>
        </p:grpSpPr>
        <p:sp>
          <p:nvSpPr>
            <p:cNvPr id="11" name="文本框 10"/>
            <p:cNvSpPr txBox="1"/>
            <p:nvPr/>
          </p:nvSpPr>
          <p:spPr>
            <a:xfrm>
              <a:off x="849" y="7101"/>
              <a:ext cx="3288" cy="1304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>
              <a:noAutofit/>
            </a:bodyPr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sz="28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Agent 2</a:t>
              </a:r>
              <a:endParaRPr lang="en-US" altLang="zh-CN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49" y="5740"/>
              <a:ext cx="1474" cy="10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>
              <a:noAutofit/>
            </a:bodyPr>
            <a:p>
              <a:pPr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VM1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777" y="5740"/>
              <a:ext cx="1474" cy="10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>
              <a:noAutofit/>
            </a:bodyPr>
            <a:p>
              <a:pPr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VM2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190" y="8485"/>
              <a:ext cx="2661" cy="10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sz="28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Host  2</a:t>
              </a:r>
              <a:endParaRPr lang="en-US" altLang="zh-CN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623" y="5513"/>
              <a:ext cx="3789" cy="419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659880" y="3429000"/>
            <a:ext cx="2405380" cy="2664460"/>
            <a:chOff x="623" y="5513"/>
            <a:chExt cx="3788" cy="4196"/>
          </a:xfrm>
        </p:grpSpPr>
        <p:sp>
          <p:nvSpPr>
            <p:cNvPr id="17" name="文本框 16"/>
            <p:cNvSpPr txBox="1"/>
            <p:nvPr/>
          </p:nvSpPr>
          <p:spPr>
            <a:xfrm>
              <a:off x="849" y="7101"/>
              <a:ext cx="3288" cy="1304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>
              <a:noAutofit/>
            </a:bodyPr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sz="28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Agent 3</a:t>
              </a:r>
              <a:endParaRPr lang="en-US" altLang="zh-CN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49" y="5740"/>
              <a:ext cx="1474" cy="10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>
              <a:noAutofit/>
            </a:bodyPr>
            <a:p>
              <a:pPr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VM1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777" y="5740"/>
              <a:ext cx="1474" cy="10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>
              <a:noAutofit/>
            </a:bodyPr>
            <a:p>
              <a:pPr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VM2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190" y="8485"/>
              <a:ext cx="2661" cy="10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sz="28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Host  3</a:t>
              </a:r>
              <a:endParaRPr lang="en-US" altLang="zh-CN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623" y="5513"/>
              <a:ext cx="3789" cy="419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283460" y="2277110"/>
            <a:ext cx="540000" cy="2646045"/>
            <a:chOff x="3596" y="3586"/>
            <a:chExt cx="850" cy="4167"/>
          </a:xfrm>
        </p:grpSpPr>
        <p:cxnSp>
          <p:nvCxnSpPr>
            <p:cNvPr id="22" name="直接连接符 21"/>
            <p:cNvCxnSpPr>
              <a:stCxn id="4" idx="3"/>
            </p:cNvCxnSpPr>
            <p:nvPr/>
          </p:nvCxnSpPr>
          <p:spPr>
            <a:xfrm>
              <a:off x="3596" y="7753"/>
              <a:ext cx="85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直接连接符 22"/>
            <p:cNvCxnSpPr/>
            <p:nvPr/>
          </p:nvCxnSpPr>
          <p:spPr>
            <a:xfrm>
              <a:off x="4365" y="3586"/>
              <a:ext cx="0" cy="413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7" name="组合 26"/>
          <p:cNvGrpSpPr/>
          <p:nvPr/>
        </p:nvGrpSpPr>
        <p:grpSpPr>
          <a:xfrm>
            <a:off x="4693285" y="2295525"/>
            <a:ext cx="1188085" cy="2640330"/>
            <a:chOff x="2497" y="3595"/>
            <a:chExt cx="1871" cy="4158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3446" y="7753"/>
              <a:ext cx="85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直接连接符 28"/>
            <p:cNvCxnSpPr/>
            <p:nvPr/>
          </p:nvCxnSpPr>
          <p:spPr>
            <a:xfrm flipH="1">
              <a:off x="4322" y="4493"/>
              <a:ext cx="0" cy="326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直接连接符 29"/>
            <p:cNvCxnSpPr/>
            <p:nvPr/>
          </p:nvCxnSpPr>
          <p:spPr>
            <a:xfrm>
              <a:off x="2497" y="4511"/>
              <a:ext cx="1871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直接连接符 30"/>
            <p:cNvCxnSpPr/>
            <p:nvPr/>
          </p:nvCxnSpPr>
          <p:spPr>
            <a:xfrm>
              <a:off x="2497" y="3595"/>
              <a:ext cx="0" cy="90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33" name="直接连接符 32"/>
          <p:cNvCxnSpPr/>
          <p:nvPr/>
        </p:nvCxnSpPr>
        <p:spPr>
          <a:xfrm>
            <a:off x="6198870" y="4869180"/>
            <a:ext cx="648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直接连接符 35"/>
          <p:cNvCxnSpPr/>
          <p:nvPr/>
        </p:nvCxnSpPr>
        <p:spPr>
          <a:xfrm>
            <a:off x="6227445" y="2277110"/>
            <a:ext cx="0" cy="259207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1331595" y="188595"/>
            <a:ext cx="7610475" cy="689610"/>
          </a:xfrm>
        </p:spPr>
        <p:txBody>
          <a:bodyPr anchor="ctr"/>
          <a:lstStyle/>
          <a:p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云服务管理器</a:t>
            </a:r>
            <a:r>
              <a:rPr lang="zh-CN" altLang="en-US" sz="3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启动</a:t>
            </a:r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altLang="en-US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的过程</a:t>
            </a:r>
            <a:endParaRPr lang="zh-CN" altLang="en-US" sz="3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91440" y="4371340"/>
            <a:ext cx="1656080" cy="882015"/>
          </a:xfrm>
          <a:prstGeom prst="rect">
            <a:avLst/>
          </a:prstGeom>
          <a:noFill/>
          <a:ln w="25400">
            <a:solidFill>
              <a:srgbClr val="0001FF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VM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A1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612390" y="4371340"/>
            <a:ext cx="1656080" cy="882015"/>
          </a:xfrm>
          <a:prstGeom prst="rect">
            <a:avLst/>
          </a:prstGeom>
          <a:noFill/>
          <a:ln w="25400">
            <a:solidFill>
              <a:srgbClr val="0001FF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VM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993005" y="4370705"/>
            <a:ext cx="1656080" cy="882015"/>
          </a:xfrm>
          <a:prstGeom prst="rect">
            <a:avLst/>
          </a:prstGeom>
          <a:noFill/>
          <a:ln w="25400">
            <a:solidFill>
              <a:srgbClr val="0001FF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VM</a:t>
            </a:r>
            <a:endParaRPr 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A3</a:t>
            </a:r>
            <a:endParaRPr 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5" name="组合 14"/>
          <p:cNvGrpSpPr/>
          <p:nvPr/>
        </p:nvGrpSpPr>
        <p:grpSpPr>
          <a:xfrm>
            <a:off x="91440" y="5235575"/>
            <a:ext cx="8496935" cy="1438910"/>
            <a:chOff x="623" y="3473"/>
            <a:chExt cx="13381" cy="2266"/>
          </a:xfrm>
        </p:grpSpPr>
        <p:sp>
          <p:nvSpPr>
            <p:cNvPr id="2" name="文本框 1"/>
            <p:cNvSpPr txBox="1"/>
            <p:nvPr/>
          </p:nvSpPr>
          <p:spPr>
            <a:xfrm>
              <a:off x="6746" y="4767"/>
              <a:ext cx="2677" cy="844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252095" tIns="179705" rIns="252095" bIns="179705" rtlCol="0">
              <a:noAutofit/>
            </a:bodyPr>
            <a:p>
              <a:pPr algn="l"/>
              <a:r>
                <a:rPr lang="zh-CN" altLang="en-US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</a:rPr>
                <a:t>局域网</a:t>
              </a:r>
              <a:endPara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623" y="3473"/>
              <a:ext cx="2608" cy="1307"/>
            </a:xfrm>
            <a:prstGeom prst="rect">
              <a:avLst/>
            </a:prstGeom>
            <a:noFill/>
            <a:ln w="57150" cmpd="dbl">
              <a:solidFill>
                <a:srgbClr val="FF0000"/>
              </a:solidFill>
              <a:prstDash val="solid"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Host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x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599" y="3473"/>
              <a:ext cx="2608" cy="1307"/>
            </a:xfrm>
            <a:prstGeom prst="rect">
              <a:avLst/>
            </a:prstGeom>
            <a:noFill/>
            <a:ln w="57150" cmpd="dbl">
              <a:solidFill>
                <a:srgbClr val="FF0000"/>
              </a:solidFill>
              <a:prstDash val="solid"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Host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y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8338" y="3473"/>
              <a:ext cx="2608" cy="1307"/>
            </a:xfrm>
            <a:prstGeom prst="rect">
              <a:avLst/>
            </a:prstGeom>
            <a:noFill/>
            <a:ln w="57150" cmpd="dbl">
              <a:solidFill>
                <a:srgbClr val="FF0000"/>
              </a:solidFill>
              <a:prstDash val="solid"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Host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z</a:t>
              </a:r>
              <a:endParaRPr 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6" name="文本框 15"/>
            <p:cNvSpPr txBox="1"/>
            <p:nvPr/>
          </p:nvSpPr>
          <p:spPr>
            <a:xfrm>
              <a:off x="11396" y="3475"/>
              <a:ext cx="2608" cy="1307"/>
            </a:xfrm>
            <a:prstGeom prst="rect">
              <a:avLst/>
            </a:prstGeom>
            <a:noFill/>
            <a:ln w="57150" cmpd="dbl">
              <a:solidFill>
                <a:srgbClr val="FF0000"/>
              </a:solidFill>
              <a:prstDash val="solid"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Host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g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 rot="0">
              <a:off x="1643" y="4711"/>
              <a:ext cx="11080" cy="1028"/>
              <a:chOff x="1303" y="6979"/>
              <a:chExt cx="11080" cy="1724"/>
            </a:xfrm>
          </p:grpSpPr>
          <p:cxnSp>
            <p:nvCxnSpPr>
              <p:cNvPr id="11" name="直接连接符 10"/>
              <p:cNvCxnSpPr/>
              <p:nvPr/>
            </p:nvCxnSpPr>
            <p:spPr>
              <a:xfrm flipV="1">
                <a:off x="1329" y="8689"/>
                <a:ext cx="11055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2" name="直接连接符 11"/>
              <p:cNvCxnSpPr/>
              <p:nvPr/>
            </p:nvCxnSpPr>
            <p:spPr>
              <a:xfrm flipH="1">
                <a:off x="1303" y="6994"/>
                <a:ext cx="0" cy="170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3" name="直接连接符 12"/>
              <p:cNvCxnSpPr/>
              <p:nvPr/>
            </p:nvCxnSpPr>
            <p:spPr>
              <a:xfrm flipH="1">
                <a:off x="5586" y="6994"/>
                <a:ext cx="0" cy="170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4" name="直接连接符 13"/>
              <p:cNvCxnSpPr/>
              <p:nvPr/>
            </p:nvCxnSpPr>
            <p:spPr>
              <a:xfrm flipH="1">
                <a:off x="9782" y="6979"/>
                <a:ext cx="0" cy="170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7" name="直接连接符 16"/>
              <p:cNvCxnSpPr/>
              <p:nvPr/>
            </p:nvCxnSpPr>
            <p:spPr>
              <a:xfrm flipH="1">
                <a:off x="12333" y="7003"/>
                <a:ext cx="0" cy="1701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4" name="文本框 3"/>
          <p:cNvSpPr txBox="1"/>
          <p:nvPr/>
        </p:nvSpPr>
        <p:spPr>
          <a:xfrm>
            <a:off x="6931660" y="4344670"/>
            <a:ext cx="1656080" cy="882015"/>
          </a:xfrm>
          <a:prstGeom prst="rect">
            <a:avLst/>
          </a:prstGeom>
          <a:noFill/>
          <a:ln w="25400">
            <a:solidFill>
              <a:srgbClr val="0001FF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VM</a:t>
            </a:r>
            <a:endParaRPr 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A4</a:t>
            </a:r>
            <a:endParaRPr 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91440" y="3507105"/>
            <a:ext cx="1656080" cy="88201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mirror</a:t>
            </a:r>
            <a:endParaRPr lang="en-US" alt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A1</a:t>
            </a:r>
            <a:endParaRPr lang="en-US" alt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2607310" y="3507740"/>
            <a:ext cx="1656080" cy="88201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mirror</a:t>
            </a:r>
            <a:endParaRPr lang="en-US" alt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文本框 32"/>
          <p:cNvSpPr txBox="1"/>
          <p:nvPr/>
        </p:nvSpPr>
        <p:spPr>
          <a:xfrm>
            <a:off x="4987925" y="3507105"/>
            <a:ext cx="1656080" cy="88201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mirror</a:t>
            </a:r>
            <a:endParaRPr 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A3</a:t>
            </a:r>
            <a:endParaRPr 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4" name="文本框 33"/>
          <p:cNvSpPr txBox="1"/>
          <p:nvPr/>
        </p:nvSpPr>
        <p:spPr>
          <a:xfrm>
            <a:off x="6926580" y="3481070"/>
            <a:ext cx="1656080" cy="88201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mirror</a:t>
            </a:r>
            <a:endParaRPr 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A4</a:t>
            </a:r>
            <a:endParaRPr 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21615" y="1268730"/>
            <a:ext cx="8720455" cy="1567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第一步：确定由哪一台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主机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来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运行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。给主机的</a:t>
            </a:r>
            <a:r>
              <a:rPr lang="en-US" altLang="zh-CN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下达创建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，和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配置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指令。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1331595" y="188595"/>
            <a:ext cx="7610475" cy="689610"/>
          </a:xfrm>
        </p:spPr>
        <p:txBody>
          <a:bodyPr anchor="ctr"/>
          <a:lstStyle/>
          <a:p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云服务管理器</a:t>
            </a:r>
            <a:r>
              <a:rPr lang="zh-CN" altLang="en-US" sz="3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启动</a:t>
            </a:r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altLang="en-US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的过程</a:t>
            </a:r>
            <a:endParaRPr lang="en-US" altLang="zh-CN" sz="3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267585" y="5789295"/>
            <a:ext cx="2942590" cy="512445"/>
          </a:xfrm>
          <a:prstGeom prst="rect">
            <a:avLst/>
          </a:prstGeom>
          <a:noFill/>
          <a:ln w="25400">
            <a:solidFill>
              <a:srgbClr val="0001FF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VM A1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5724525" y="5770880"/>
            <a:ext cx="2942590" cy="512445"/>
          </a:xfrm>
          <a:prstGeom prst="rect">
            <a:avLst/>
          </a:prstGeom>
          <a:noFill/>
          <a:ln w="25400">
            <a:solidFill>
              <a:srgbClr val="0001FF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VM A2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267585" y="6339205"/>
            <a:ext cx="2942590" cy="460375"/>
          </a:xfrm>
          <a:prstGeom prst="rect">
            <a:avLst/>
          </a:prstGeom>
          <a:noFill/>
          <a:ln w="57150" cmpd="dbl">
            <a:solidFill>
              <a:srgbClr val="FF0000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Host x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724525" y="6381750"/>
            <a:ext cx="2942590" cy="460375"/>
          </a:xfrm>
          <a:prstGeom prst="rect">
            <a:avLst/>
          </a:prstGeom>
          <a:noFill/>
          <a:ln w="57150" cmpd="dbl">
            <a:solidFill>
              <a:srgbClr val="FF0000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Hosty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267585" y="5212715"/>
            <a:ext cx="2942590" cy="51244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mirror A1</a:t>
            </a:r>
            <a:endParaRPr lang="en-US" alt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5724525" y="5198745"/>
            <a:ext cx="2942590" cy="51244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mirror 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0" name="表格 19"/>
          <p:cNvGraphicFramePr/>
          <p:nvPr>
            <p:custDataLst>
              <p:tags r:id="rId1"/>
            </p:custDataLst>
          </p:nvPr>
        </p:nvGraphicFramePr>
        <p:xfrm>
          <a:off x="2484120" y="2493010"/>
          <a:ext cx="6050280" cy="2471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25140"/>
                <a:gridCol w="3025140"/>
              </a:tblGrid>
              <a:tr h="4572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VM IP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Host IP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0419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 kern="100">
                          <a:solidFill>
                            <a:srgbClr val="0000FF"/>
                          </a:solidFill>
                          <a:latin typeface="Arial" panose="020B0604020202090204" pitchFamily="34" charset="0"/>
                          <a:ea typeface="新宋体" panose="02010609030101010101" charset="-122"/>
                          <a:cs typeface="Arial" panose="020B0604020202090204" pitchFamily="34" charset="0"/>
                          <a:sym typeface="Times New Roman" panose="02020603050405020304"/>
                        </a:rPr>
                        <a:t>192.168.76.100</a:t>
                      </a:r>
                      <a:endParaRPr lang="en-US" altLang="zh-CN" sz="2400" b="1" kern="100">
                        <a:solidFill>
                          <a:srgbClr val="0000FF"/>
                        </a:solidFill>
                        <a:latin typeface="Arial" panose="020B0604020202090204" pitchFamily="34" charset="0"/>
                        <a:ea typeface="新宋体" panose="02010609030101010101" charset="-122"/>
                        <a:cs typeface="Arial" panose="020B0604020202090204" pitchFamily="34" charset="0"/>
                        <a:sym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 kern="100">
                          <a:solidFill>
                            <a:srgbClr val="FF0000"/>
                          </a:solidFill>
                          <a:latin typeface="Arial" panose="020B0604020202090204" pitchFamily="34" charset="0"/>
                          <a:ea typeface="新宋体" panose="02010609030101010101" charset="-122"/>
                          <a:cs typeface="Arial" panose="020B0604020202090204" pitchFamily="34" charset="0"/>
                          <a:sym typeface="Times New Roman" panose="02020603050405020304"/>
                        </a:rPr>
                        <a:t>129.95.37.23</a:t>
                      </a:r>
                      <a:endParaRPr lang="en-US" altLang="zh-CN" sz="2400" b="1" kern="100">
                        <a:solidFill>
                          <a:srgbClr val="FF0000"/>
                        </a:solidFill>
                        <a:latin typeface="Arial" panose="020B0604020202090204" pitchFamily="34" charset="0"/>
                        <a:ea typeface="新宋体" panose="02010609030101010101" charset="-122"/>
                        <a:cs typeface="Arial" panose="020B0604020202090204" pitchFamily="34" charset="0"/>
                        <a:sym typeface="Times New Roman" panose="02020603050405020304"/>
                      </a:endParaRPr>
                    </a:p>
                  </a:txBody>
                  <a:tcPr/>
                </a:tc>
              </a:tr>
              <a:tr h="5035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 kern="100">
                          <a:solidFill>
                            <a:srgbClr val="0000FF"/>
                          </a:solidFill>
                          <a:latin typeface="Arial" panose="020B0604020202090204" pitchFamily="34" charset="0"/>
                          <a:ea typeface="新宋体" panose="02010609030101010101" charset="-122"/>
                          <a:cs typeface="Arial" panose="020B0604020202090204" pitchFamily="34" charset="0"/>
                          <a:sym typeface="Times New Roman" panose="02020603050405020304"/>
                        </a:rPr>
                        <a:t>192.168.76.101</a:t>
                      </a:r>
                      <a:endParaRPr lang="en-US" altLang="zh-CN" sz="2400" b="1" kern="100">
                        <a:solidFill>
                          <a:srgbClr val="0000FF"/>
                        </a:solidFill>
                        <a:latin typeface="Arial" panose="020B0604020202090204" pitchFamily="34" charset="0"/>
                        <a:ea typeface="新宋体" panose="02010609030101010101" charset="-122"/>
                        <a:cs typeface="Arial" panose="020B0604020202090204" pitchFamily="34" charset="0"/>
                        <a:sym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 kern="100">
                          <a:solidFill>
                            <a:srgbClr val="FF0000"/>
                          </a:solidFill>
                          <a:latin typeface="Arial" panose="020B0604020202090204" pitchFamily="34" charset="0"/>
                          <a:ea typeface="新宋体" panose="02010609030101010101" charset="-122"/>
                          <a:cs typeface="Arial" panose="020B0604020202090204" pitchFamily="34" charset="0"/>
                          <a:sym typeface="Times New Roman" panose="02020603050405020304"/>
                        </a:rPr>
                        <a:t>129.95.37.45</a:t>
                      </a:r>
                      <a:endParaRPr lang="en-US" altLang="zh-CN" sz="2400" b="1" kern="100">
                        <a:solidFill>
                          <a:srgbClr val="FF0000"/>
                        </a:solidFill>
                        <a:latin typeface="Arial" panose="020B0604020202090204" pitchFamily="34" charset="0"/>
                        <a:ea typeface="新宋体" panose="02010609030101010101" charset="-122"/>
                        <a:cs typeface="Arial" panose="020B0604020202090204" pitchFamily="34" charset="0"/>
                        <a:sym typeface="Times New Roman" panose="02020603050405020304"/>
                      </a:endParaRPr>
                    </a:p>
                  </a:txBody>
                  <a:tcPr/>
                </a:tc>
              </a:tr>
              <a:tr h="50292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 kern="100">
                          <a:solidFill>
                            <a:srgbClr val="0000FF"/>
                          </a:solidFill>
                          <a:latin typeface="Arial" panose="020B0604020202090204" pitchFamily="34" charset="0"/>
                          <a:ea typeface="新宋体" panose="02010609030101010101" charset="-122"/>
                          <a:cs typeface="Arial" panose="020B0604020202090204" pitchFamily="34" charset="0"/>
                          <a:sym typeface="Times New Roman" panose="02020603050405020304"/>
                        </a:rPr>
                        <a:t>192.168.76.102</a:t>
                      </a:r>
                      <a:endParaRPr lang="en-US" altLang="zh-CN" sz="2400" b="1" kern="100">
                        <a:solidFill>
                          <a:srgbClr val="0000FF"/>
                        </a:solidFill>
                        <a:latin typeface="Arial" panose="020B0604020202090204" pitchFamily="34" charset="0"/>
                        <a:ea typeface="新宋体" panose="02010609030101010101" charset="-122"/>
                        <a:cs typeface="Arial" panose="020B0604020202090204" pitchFamily="34" charset="0"/>
                        <a:sym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 kern="100">
                          <a:solidFill>
                            <a:srgbClr val="FF0000"/>
                          </a:solidFill>
                          <a:latin typeface="Arial" panose="020B0604020202090204" pitchFamily="34" charset="0"/>
                          <a:ea typeface="新宋体" panose="02010609030101010101" charset="-122"/>
                          <a:cs typeface="Arial" panose="020B0604020202090204" pitchFamily="34" charset="0"/>
                          <a:sym typeface="Times New Roman" panose="02020603050405020304"/>
                        </a:rPr>
                        <a:t>129.95.37.93</a:t>
                      </a:r>
                      <a:endParaRPr lang="en-US" altLang="zh-CN" sz="2400" b="1" kern="100">
                        <a:solidFill>
                          <a:srgbClr val="FF0000"/>
                        </a:solidFill>
                        <a:latin typeface="Arial" panose="020B0604020202090204" pitchFamily="34" charset="0"/>
                        <a:ea typeface="新宋体" panose="02010609030101010101" charset="-122"/>
                        <a:cs typeface="Arial" panose="020B0604020202090204" pitchFamily="34" charset="0"/>
                        <a:sym typeface="Times New Roman" panose="02020603050405020304"/>
                      </a:endParaRPr>
                    </a:p>
                  </a:txBody>
                  <a:tcPr/>
                </a:tc>
              </a:tr>
              <a:tr h="50355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 kern="100">
                          <a:solidFill>
                            <a:srgbClr val="0000FF"/>
                          </a:solidFill>
                          <a:latin typeface="Arial" panose="020B0604020202090204" pitchFamily="34" charset="0"/>
                          <a:ea typeface="新宋体" panose="02010609030101010101" charset="-122"/>
                          <a:cs typeface="Arial" panose="020B0604020202090204" pitchFamily="34" charset="0"/>
                          <a:sym typeface="Times New Roman" panose="02020603050405020304"/>
                        </a:rPr>
                        <a:t>192.168.76.103</a:t>
                      </a:r>
                      <a:endParaRPr lang="en-US" altLang="zh-CN" sz="2400" b="1" kern="100">
                        <a:solidFill>
                          <a:srgbClr val="0000FF"/>
                        </a:solidFill>
                        <a:latin typeface="Arial" panose="020B0604020202090204" pitchFamily="34" charset="0"/>
                        <a:ea typeface="新宋体" panose="02010609030101010101" charset="-122"/>
                        <a:cs typeface="Arial" panose="020B0604020202090204" pitchFamily="34" charset="0"/>
                        <a:sym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 b="1" kern="100">
                          <a:solidFill>
                            <a:srgbClr val="FF0000"/>
                          </a:solidFill>
                          <a:latin typeface="Arial" panose="020B0604020202090204" pitchFamily="34" charset="0"/>
                          <a:ea typeface="新宋体" panose="02010609030101010101" charset="-122"/>
                          <a:cs typeface="Arial" panose="020B0604020202090204" pitchFamily="34" charset="0"/>
                          <a:sym typeface="Times New Roman" panose="02020603050405020304"/>
                        </a:rPr>
                        <a:t>129.95.37.11</a:t>
                      </a:r>
                      <a:endParaRPr lang="en-US" altLang="zh-CN" sz="2400" b="1" kern="100">
                        <a:solidFill>
                          <a:srgbClr val="FF0000"/>
                        </a:solidFill>
                        <a:latin typeface="Arial" panose="020B0604020202090204" pitchFamily="34" charset="0"/>
                        <a:ea typeface="新宋体" panose="02010609030101010101" charset="-122"/>
                        <a:cs typeface="Arial" panose="020B0604020202090204" pitchFamily="34" charset="0"/>
                        <a:sym typeface="Times New Roman" panose="020206030504050203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221615" y="1268730"/>
            <a:ext cx="8720455" cy="1567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第二步：</a:t>
            </a:r>
            <a:r>
              <a:rPr lang="en-US" altLang="zh-CN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初始化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sz="2800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ipAddrMapTable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成员变量；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1331595" y="188595"/>
            <a:ext cx="7610475" cy="689610"/>
          </a:xfrm>
        </p:spPr>
        <p:txBody>
          <a:bodyPr anchor="ctr"/>
          <a:lstStyle/>
          <a:p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云服务管理器</a:t>
            </a:r>
            <a:r>
              <a:rPr lang="zh-CN" altLang="en-US" sz="3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启动</a:t>
            </a:r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altLang="en-US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的过程</a:t>
            </a:r>
            <a:endParaRPr lang="en-US" altLang="zh-CN" sz="3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2670" y="5243830"/>
            <a:ext cx="2942590" cy="512445"/>
          </a:xfrm>
          <a:prstGeom prst="rect">
            <a:avLst/>
          </a:prstGeom>
          <a:noFill/>
          <a:ln w="25400">
            <a:solidFill>
              <a:srgbClr val="0001FF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VM A1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99610" y="5225415"/>
            <a:ext cx="2942590" cy="512445"/>
          </a:xfrm>
          <a:prstGeom prst="rect">
            <a:avLst/>
          </a:prstGeom>
          <a:noFill/>
          <a:ln w="25400">
            <a:solidFill>
              <a:srgbClr val="0001FF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VM A2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42670" y="5793740"/>
            <a:ext cx="2942590" cy="460375"/>
          </a:xfrm>
          <a:prstGeom prst="rect">
            <a:avLst/>
          </a:prstGeom>
          <a:noFill/>
          <a:ln w="57150" cmpd="dbl">
            <a:solidFill>
              <a:srgbClr val="FF0000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Host x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99610" y="5836285"/>
            <a:ext cx="2942590" cy="460375"/>
          </a:xfrm>
          <a:prstGeom prst="rect">
            <a:avLst/>
          </a:prstGeom>
          <a:noFill/>
          <a:ln w="57150" cmpd="dbl">
            <a:solidFill>
              <a:srgbClr val="FF0000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Hosty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42670" y="4667250"/>
            <a:ext cx="2942590" cy="51244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mirror A1</a:t>
            </a:r>
            <a:endParaRPr lang="en-US" alt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499610" y="4653280"/>
            <a:ext cx="2942590" cy="51244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mirror 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21615" y="1268730"/>
            <a:ext cx="8720455" cy="156718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第三步：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初始化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sz="2800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</a:t>
            </a:r>
            <a:r>
              <a:rPr lang="en-US" altLang="zh-CN" sz="2800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</a:t>
            </a:r>
            <a:r>
              <a:rPr lang="en-US" altLang="zh-CN" sz="2800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umeMapTable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成员变量；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79070" y="2637155"/>
          <a:ext cx="8352155" cy="110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78780"/>
                <a:gridCol w="2873375"/>
              </a:tblGrid>
              <a:tr h="5346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virtulDir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  <a:sym typeface="+mn-ea"/>
                        </a:rPr>
                        <a:t>realDir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  <a:sym typeface="+mn-ea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746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/usr/mySQL/database</a:t>
                      </a:r>
                      <a:endParaRPr lang="zh-CN" altLang="en-US" sz="2400" b="1" kern="10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/usr/NFS/PCs/A</a:t>
                      </a:r>
                      <a:endParaRPr lang="zh-CN" altLang="en-US" sz="2400" b="1" kern="10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1331595" y="188595"/>
            <a:ext cx="7610475" cy="689610"/>
          </a:xfrm>
        </p:spPr>
        <p:txBody>
          <a:bodyPr anchor="ctr"/>
          <a:lstStyle/>
          <a:p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云服务管理器</a:t>
            </a:r>
            <a:r>
              <a:rPr lang="zh-CN" altLang="en-US" sz="3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启动</a:t>
            </a:r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altLang="en-US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的过程</a:t>
            </a:r>
            <a:endParaRPr lang="en-US" altLang="zh-CN" sz="32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042670" y="5602605"/>
            <a:ext cx="2942590" cy="512445"/>
          </a:xfrm>
          <a:prstGeom prst="rect">
            <a:avLst/>
          </a:prstGeom>
          <a:noFill/>
          <a:ln w="25400">
            <a:solidFill>
              <a:srgbClr val="0001FF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VM A1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4499610" y="5584190"/>
            <a:ext cx="2942590" cy="512445"/>
          </a:xfrm>
          <a:prstGeom prst="rect">
            <a:avLst/>
          </a:prstGeom>
          <a:noFill/>
          <a:ln w="25400">
            <a:solidFill>
              <a:srgbClr val="0001FF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VM A2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1042670" y="6152515"/>
            <a:ext cx="2942590" cy="460375"/>
          </a:xfrm>
          <a:prstGeom prst="rect">
            <a:avLst/>
          </a:prstGeom>
          <a:noFill/>
          <a:ln w="57150" cmpd="dbl">
            <a:solidFill>
              <a:srgbClr val="FF0000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Host x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4499610" y="6195060"/>
            <a:ext cx="2942590" cy="460375"/>
          </a:xfrm>
          <a:prstGeom prst="rect">
            <a:avLst/>
          </a:prstGeom>
          <a:noFill/>
          <a:ln w="57150" cmpd="dbl">
            <a:solidFill>
              <a:srgbClr val="FF0000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Hosty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042670" y="5026025"/>
            <a:ext cx="2942590" cy="51244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mirror A1</a:t>
            </a:r>
            <a:endParaRPr lang="en-US" alt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4499610" y="5012055"/>
            <a:ext cx="2942590" cy="51244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mirror 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51460" y="1101725"/>
            <a:ext cx="8720455" cy="209486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第四步：在主机上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</a:t>
            </a:r>
            <a:r>
              <a:rPr lang="en-US" altLang="zh-CN" sz="2800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创建</a:t>
            </a:r>
            <a:r>
              <a:rPr lang="en-US" altLang="zh-CN" sz="2800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root目录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初始化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sz="2800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mountedDir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成员变量；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下载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镜像文件，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解包至</a:t>
            </a:r>
            <a:r>
              <a:rPr lang="en-US" altLang="zh-CN" sz="2800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root目录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</a:t>
            </a:r>
            <a:endParaRPr lang="zh-CN" altLang="en-US" sz="2800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179705" y="3555365"/>
          <a:ext cx="8352155" cy="110934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9665"/>
                <a:gridCol w="4682490"/>
              </a:tblGrid>
              <a:tr h="53467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virtulDir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4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  <a:sym typeface="+mn-ea"/>
                        </a:rPr>
                        <a:t>realDir</a:t>
                      </a:r>
                      <a:endParaRPr lang="en-US" altLang="zh-CN" sz="2400"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  <a:sym typeface="+mn-ea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7467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/</a:t>
                      </a:r>
                      <a:endParaRPr lang="zh-CN" altLang="en-US" sz="2400" b="1" kern="10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b="1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en-US" altLang="zh-CN" sz="2400" b="1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var/vm</a:t>
                      </a:r>
                      <a:r>
                        <a:rPr lang="zh-CN" altLang="en-US" sz="2400" b="1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/</a:t>
                      </a:r>
                      <a:r>
                        <a:rPr lang="en-US" altLang="zh-CN" sz="2400" b="1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container2</a:t>
                      </a:r>
                      <a:endParaRPr lang="en-US" altLang="zh-CN" sz="2400" b="1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1061720" y="57785"/>
            <a:ext cx="8181975" cy="1158240"/>
          </a:xfrm>
        </p:spPr>
        <p:txBody>
          <a:bodyPr anchor="ctr"/>
          <a:lstStyle/>
          <a:p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云服务管理器</a:t>
            </a:r>
            <a:r>
              <a:rPr lang="zh-CN" altLang="en-US" sz="3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启动</a:t>
            </a:r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altLang="en-US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的过程</a:t>
            </a:r>
            <a:endParaRPr lang="zh-CN" altLang="en-US" sz="3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1460" y="1628775"/>
            <a:ext cx="8708390" cy="4471035"/>
          </a:xfrm>
          <a:prstGeom prst="rect">
            <a:avLst/>
          </a:prstGeom>
          <a:noFill/>
          <a:ln w="25400">
            <a:noFill/>
          </a:ln>
        </p:spPr>
        <p:txBody>
          <a:bodyPr wrap="square" tIns="71755" bIns="71755" rtlCol="0">
            <a:noAutofit/>
          </a:bodyPr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五步：为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创建</a:t>
            </a:r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一个</a:t>
            </a:r>
            <a:r>
              <a:rPr lang="en-US" altLang="zh-CN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Namespace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CGroup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给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分配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硬件资源，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以实现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主机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之间的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隔离。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创建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一个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子进程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，将其与创建的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VM，Namespace，CGroup内核对象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关联。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让创建的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子进程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执行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虚拟机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startup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</a:rPr>
              <a:t>这个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shell脚本程序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1061720" y="57785"/>
            <a:ext cx="8181975" cy="1158240"/>
          </a:xfrm>
        </p:spPr>
        <p:txBody>
          <a:bodyPr anchor="ctr"/>
          <a:lstStyle/>
          <a:p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云服务管理器</a:t>
            </a:r>
            <a:r>
              <a:rPr lang="zh-CN" altLang="en-US" sz="3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启动</a:t>
            </a:r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altLang="en-US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的过程</a:t>
            </a:r>
            <a:endParaRPr lang="zh-CN" altLang="en-US" sz="3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1460" y="1628775"/>
            <a:ext cx="8708390" cy="3298190"/>
          </a:xfrm>
          <a:prstGeom prst="rect">
            <a:avLst/>
          </a:prstGeom>
          <a:noFill/>
          <a:ln w="25400">
            <a:noFill/>
          </a:ln>
        </p:spPr>
        <p:txBody>
          <a:bodyPr wrap="square" tIns="71755" bIns="71755" rtlCol="0">
            <a:noAutofit/>
          </a:bodyPr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第六步：启动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虚拟机：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创建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一个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子进程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，将其与创建的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VM，Namespace，CGroup内核对象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关联。</a:t>
            </a:r>
            <a:endParaRPr lang="zh-CN" altLang="en-US"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让创建的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子进程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执行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虚拟机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startup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</a:rPr>
              <a:t>这个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shell脚本程序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zh-CN" altLang="en-US"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1061720" y="57785"/>
            <a:ext cx="8181975" cy="1158240"/>
          </a:xfrm>
        </p:spPr>
        <p:txBody>
          <a:bodyPr anchor="ctr"/>
          <a:lstStyle/>
          <a:p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云服务管理器</a:t>
            </a:r>
            <a:r>
              <a:rPr lang="zh-CN" altLang="en-US" sz="32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启动</a:t>
            </a:r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altLang="en-US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的过程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2" name="表格 1"/>
          <p:cNvGraphicFramePr/>
          <p:nvPr>
            <p:custDataLst>
              <p:tags r:id="rId1"/>
            </p:custDataLst>
          </p:nvPr>
        </p:nvGraphicFramePr>
        <p:xfrm>
          <a:off x="1403350" y="3500755"/>
          <a:ext cx="7030085" cy="14382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64740"/>
                <a:gridCol w="1240155"/>
                <a:gridCol w="1050925"/>
              </a:tblGrid>
              <a:tr h="3962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VM IP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  <a:sym typeface="+mn-ea"/>
                        </a:rPr>
                        <a:t>VM </a:t>
                      </a: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  <a:sym typeface="+mn-ea"/>
                        </a:rPr>
                        <a:t>port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  <a:sym typeface="+mn-ea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>
                          <a:solidFill>
                            <a:schemeClr val="tx1"/>
                          </a:solidFill>
                          <a:latin typeface="Arial" panose="020B0604020202090204" pitchFamily="34" charset="0"/>
                          <a:cs typeface="Arial" panose="020B0604020202090204" pitchFamily="34" charset="0"/>
                        </a:rPr>
                        <a:t>port</a:t>
                      </a:r>
                      <a:endParaRPr lang="en-US" altLang="zh-CN" sz="2000">
                        <a:solidFill>
                          <a:schemeClr val="tx1"/>
                        </a:solidFill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5207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 kern="100">
                          <a:solidFill>
                            <a:srgbClr val="0000FF"/>
                          </a:solidFill>
                          <a:latin typeface="Arial" panose="020B0604020202090204" pitchFamily="34" charset="0"/>
                          <a:ea typeface="新宋体" panose="02010609030101010101" charset="-122"/>
                          <a:cs typeface="Arial" panose="020B0604020202090204" pitchFamily="34" charset="0"/>
                          <a:sym typeface="Times New Roman" panose="02020603050405020304"/>
                        </a:rPr>
                        <a:t>192.168.76.100</a:t>
                      </a:r>
                      <a:endParaRPr lang="en-US" altLang="zh-CN" sz="2000" b="1" kern="100">
                        <a:solidFill>
                          <a:srgbClr val="0000FF"/>
                        </a:solidFill>
                        <a:latin typeface="Arial" panose="020B0604020202090204" pitchFamily="34" charset="0"/>
                        <a:ea typeface="新宋体" panose="02010609030101010101" charset="-122"/>
                        <a:cs typeface="Arial" panose="020B0604020202090204" pitchFamily="34" charset="0"/>
                        <a:sym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 kern="100">
                          <a:solidFill>
                            <a:srgbClr val="0000FF"/>
                          </a:solidFill>
                          <a:latin typeface="Arial" panose="020B0604020202090204" pitchFamily="34" charset="0"/>
                          <a:ea typeface="新宋体" panose="02010609030101010101" charset="-122"/>
                          <a:cs typeface="Arial" panose="020B0604020202090204" pitchFamily="34" charset="0"/>
                          <a:sym typeface="Times New Roman" panose="02020603050405020304"/>
                        </a:rPr>
                        <a:t>80</a:t>
                      </a:r>
                      <a:endParaRPr lang="en-US" altLang="zh-CN" sz="2000" b="1" kern="100">
                        <a:solidFill>
                          <a:srgbClr val="0000FF"/>
                        </a:solidFill>
                        <a:latin typeface="Arial" panose="020B0604020202090204" pitchFamily="34" charset="0"/>
                        <a:ea typeface="新宋体" panose="02010609030101010101" charset="-122"/>
                        <a:cs typeface="Arial" panose="020B0604020202090204" pitchFamily="34" charset="0"/>
                        <a:sym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 kern="100">
                          <a:solidFill>
                            <a:srgbClr val="FF0000"/>
                          </a:solidFill>
                          <a:latin typeface="Arial" panose="020B0604020202090204" pitchFamily="34" charset="0"/>
                          <a:ea typeface="新宋体" panose="02010609030101010101" charset="-122"/>
                          <a:cs typeface="Arial" panose="020B0604020202090204" pitchFamily="34" charset="0"/>
                          <a:sym typeface="Times New Roman" panose="02020603050405020304"/>
                        </a:rPr>
                        <a:t>824</a:t>
                      </a:r>
                      <a:endParaRPr lang="en-US" altLang="zh-CN" sz="2000" b="1" kern="100">
                        <a:solidFill>
                          <a:srgbClr val="FF0000"/>
                        </a:solidFill>
                        <a:latin typeface="Arial" panose="020B0604020202090204" pitchFamily="34" charset="0"/>
                        <a:ea typeface="新宋体" panose="02010609030101010101" charset="-122"/>
                        <a:cs typeface="Arial" panose="020B0604020202090204" pitchFamily="34" charset="0"/>
                        <a:sym typeface="Times New Roman" panose="02020603050405020304"/>
                      </a:endParaRPr>
                    </a:p>
                  </a:txBody>
                  <a:tcPr/>
                </a:tc>
              </a:tr>
              <a:tr h="521335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 kern="100">
                          <a:solidFill>
                            <a:srgbClr val="0000FF"/>
                          </a:solidFill>
                          <a:latin typeface="Arial" panose="020B0604020202090204" pitchFamily="34" charset="0"/>
                          <a:ea typeface="新宋体" panose="02010609030101010101" charset="-122"/>
                          <a:cs typeface="Arial" panose="020B0604020202090204" pitchFamily="34" charset="0"/>
                          <a:sym typeface="Times New Roman" panose="02020603050405020304"/>
                        </a:rPr>
                        <a:t>192.168.76.101</a:t>
                      </a:r>
                      <a:endParaRPr lang="en-US" altLang="zh-CN" sz="2000" b="1" kern="100">
                        <a:solidFill>
                          <a:srgbClr val="0000FF"/>
                        </a:solidFill>
                        <a:latin typeface="Arial" panose="020B0604020202090204" pitchFamily="34" charset="0"/>
                        <a:ea typeface="新宋体" panose="02010609030101010101" charset="-122"/>
                        <a:cs typeface="Arial" panose="020B0604020202090204" pitchFamily="34" charset="0"/>
                        <a:sym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 kern="100">
                          <a:solidFill>
                            <a:srgbClr val="0000FF"/>
                          </a:solidFill>
                          <a:latin typeface="Arial" panose="020B0604020202090204" pitchFamily="34" charset="0"/>
                          <a:ea typeface="新宋体" panose="02010609030101010101" charset="-122"/>
                          <a:cs typeface="Arial" panose="020B0604020202090204" pitchFamily="34" charset="0"/>
                          <a:sym typeface="Times New Roman" panose="02020603050405020304"/>
                        </a:rPr>
                        <a:t>24</a:t>
                      </a:r>
                      <a:endParaRPr lang="en-US" altLang="zh-CN" sz="2000" b="1" kern="100">
                        <a:solidFill>
                          <a:srgbClr val="0000FF"/>
                        </a:solidFill>
                        <a:latin typeface="Arial" panose="020B0604020202090204" pitchFamily="34" charset="0"/>
                        <a:ea typeface="新宋体" panose="02010609030101010101" charset="-122"/>
                        <a:cs typeface="Arial" panose="020B0604020202090204" pitchFamily="34" charset="0"/>
                        <a:sym typeface="Times New Roman" panose="02020603050405020304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 sz="2000" b="1" kern="100">
                          <a:solidFill>
                            <a:srgbClr val="FF0000"/>
                          </a:solidFill>
                          <a:latin typeface="Arial" panose="020B0604020202090204" pitchFamily="34" charset="0"/>
                          <a:ea typeface="新宋体" panose="02010609030101010101" charset="-122"/>
                          <a:cs typeface="Arial" panose="020B0604020202090204" pitchFamily="34" charset="0"/>
                          <a:sym typeface="Times New Roman" panose="02020603050405020304"/>
                        </a:rPr>
                        <a:t>3306</a:t>
                      </a:r>
                      <a:endParaRPr lang="en-US" altLang="zh-CN" sz="2000" b="1" kern="100">
                        <a:solidFill>
                          <a:srgbClr val="FF0000"/>
                        </a:solidFill>
                        <a:latin typeface="Arial" panose="020B0604020202090204" pitchFamily="34" charset="0"/>
                        <a:ea typeface="新宋体" panose="02010609030101010101" charset="-122"/>
                        <a:cs typeface="Arial" panose="020B0604020202090204" pitchFamily="34" charset="0"/>
                        <a:sym typeface="Times New Roman" panose="02020603050405020304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107315" y="1125220"/>
            <a:ext cx="8909050" cy="2082165"/>
          </a:xfrm>
          <a:prstGeom prst="rect">
            <a:avLst/>
          </a:prstGeom>
          <a:noFill/>
          <a:ln w="25400">
            <a:noFill/>
          </a:ln>
        </p:spPr>
        <p:txBody>
          <a:bodyPr wrap="square" tIns="71755" bIns="71755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第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七步：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捕获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应用程序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</a:t>
            </a:r>
            <a:r>
              <a:rPr lang="en-US" altLang="zh-CN" sz="2800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bind</a:t>
            </a:r>
            <a:r>
              <a:rPr lang="zh-CN" altLang="en-US" sz="2800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调用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初始化</a:t>
            </a:r>
            <a:r>
              <a:rPr lang="zh-CN" altLang="en-US" sz="2800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虚拟局域网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上每个</a:t>
            </a:r>
            <a:r>
              <a:rPr lang="zh-CN" altLang="en-US" sz="2800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sz="2800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portMapTable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成员变量，完成</a:t>
            </a:r>
            <a:r>
              <a:rPr lang="zh-CN" altLang="en-US" sz="2800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服务器侦听端口号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虚实映射</a:t>
            </a: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2800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1042670" y="5746115"/>
            <a:ext cx="2942590" cy="512445"/>
          </a:xfrm>
          <a:prstGeom prst="rect">
            <a:avLst/>
          </a:prstGeom>
          <a:noFill/>
          <a:ln w="25400">
            <a:solidFill>
              <a:srgbClr val="0001FF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VM A1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499610" y="5727700"/>
            <a:ext cx="2942590" cy="512445"/>
          </a:xfrm>
          <a:prstGeom prst="rect">
            <a:avLst/>
          </a:prstGeom>
          <a:noFill/>
          <a:ln w="25400">
            <a:solidFill>
              <a:srgbClr val="0001FF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VM A2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1042670" y="6296025"/>
            <a:ext cx="2942590" cy="460375"/>
          </a:xfrm>
          <a:prstGeom prst="rect">
            <a:avLst/>
          </a:prstGeom>
          <a:noFill/>
          <a:ln w="57150" cmpd="dbl">
            <a:solidFill>
              <a:srgbClr val="FF0000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Host x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4499610" y="6338570"/>
            <a:ext cx="2942590" cy="460375"/>
          </a:xfrm>
          <a:prstGeom prst="rect">
            <a:avLst/>
          </a:prstGeom>
          <a:noFill/>
          <a:ln w="57150" cmpd="dbl">
            <a:solidFill>
              <a:srgbClr val="FF0000"/>
            </a:solidFill>
            <a:prstDash val="solid"/>
          </a:ln>
        </p:spPr>
        <p:txBody>
          <a:bodyPr wrap="square" rtlCol="0">
            <a:sp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Hosty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42670" y="5169535"/>
            <a:ext cx="2942590" cy="51244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mirror A1</a:t>
            </a:r>
            <a:endParaRPr lang="en-US" alt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4499610" y="5155565"/>
            <a:ext cx="2942590" cy="512445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tIns="71755" bIns="71755" rtlCol="0">
            <a:spAutoFit/>
          </a:bodyPr>
          <a:p>
            <a:pPr algn="ctr"/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mirror 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A2</a:t>
            </a:r>
            <a:endParaRPr lang="en-US" alt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虚拟机（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VM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）的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数据结构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6830" y="2069465"/>
            <a:ext cx="9051925" cy="38696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成员变量：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VM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根目录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mounted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Dir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//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namesapce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虚拟机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所驻主机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映射表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ipAddrMapTable;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卷的虚目录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实目录的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映射表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volumeMapTable;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虚拟局域网中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服务器虚实端口号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映射表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portMapTable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孩子表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childList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   creatorProcess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539115" y="6021070"/>
            <a:ext cx="8419465" cy="73723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负责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成员变量的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初始化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以及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更新；</a:t>
            </a:r>
            <a:endParaRPr lang="zh-CN" altLang="en-US"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323215" y="1268730"/>
            <a:ext cx="4813935" cy="69088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tIns="0" bIns="0" rtlCol="0" anchor="t">
            <a:no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9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</a:t>
            </a:r>
            <a:r>
              <a:rPr lang="zh-CN" altLang="en-US" sz="2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一种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内核对象；</a:t>
            </a:r>
            <a:endParaRPr lang="zh-CN" altLang="en-US"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启动虚拟机的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含义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70510" y="1772920"/>
            <a:ext cx="8720455" cy="379412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2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sz="28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开机时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要启动的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应用程序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，其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启动脚本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放在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startup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这个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shell脚本文件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中，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启动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就是执行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startup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这个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shell脚本文件</a:t>
            </a:r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暂停虚拟机的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含义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315" y="1268730"/>
            <a:ext cx="9119235" cy="547370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VM，Namsespace，CGroup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都是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操作系统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内核对象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三者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并无直接联系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。三者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都是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进程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成员变量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，它们之间的联系通过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进程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来体现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暂停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，其实是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暂停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进程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；进程是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内核对象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，有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成员变量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vm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Agent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持有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自己创建的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vm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句柄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，因此可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暂停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vm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关联的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进程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执行；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当然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操作系统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要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提供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暂停函数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云计算的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架构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-36830" y="1700530"/>
            <a:ext cx="1891665" cy="1430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创建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VM</a:t>
            </a:r>
            <a:endParaRPr lang="en-US" alt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释放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VM</a:t>
            </a:r>
            <a:endParaRPr lang="en-US" alt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435860" y="1374775"/>
            <a:ext cx="4169410" cy="920750"/>
          </a:xfrm>
          <a:prstGeom prst="rect">
            <a:avLst/>
          </a:prstGeom>
          <a:noFill/>
          <a:ln w="25400">
            <a:solidFill>
              <a:srgbClr val="0001FF"/>
            </a:solidFill>
          </a:ln>
        </p:spPr>
        <p:txBody>
          <a:bodyPr wrap="square" rtlCol="0" anchor="t">
            <a:noAutofit/>
          </a:bodyPr>
          <a:p>
            <a:pPr algn="ctr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altLang="zh-CN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Cloud Manager</a:t>
            </a:r>
            <a:endParaRPr lang="en-US" altLang="zh-CN" sz="28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9" name="组合 8"/>
          <p:cNvGrpSpPr/>
          <p:nvPr/>
        </p:nvGrpSpPr>
        <p:grpSpPr>
          <a:xfrm>
            <a:off x="52070" y="3500755"/>
            <a:ext cx="2405380" cy="2664460"/>
            <a:chOff x="623" y="5513"/>
            <a:chExt cx="3788" cy="4196"/>
          </a:xfrm>
        </p:grpSpPr>
        <p:sp>
          <p:nvSpPr>
            <p:cNvPr id="4" name="文本框 3"/>
            <p:cNvSpPr txBox="1"/>
            <p:nvPr/>
          </p:nvSpPr>
          <p:spPr>
            <a:xfrm>
              <a:off x="849" y="7101"/>
              <a:ext cx="3288" cy="1304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>
              <a:noAutofit/>
            </a:bodyPr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sz="28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Agent 1</a:t>
              </a:r>
              <a:endParaRPr lang="en-US" altLang="zh-CN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5" name="文本框 4"/>
            <p:cNvSpPr txBox="1"/>
            <p:nvPr/>
          </p:nvSpPr>
          <p:spPr>
            <a:xfrm>
              <a:off x="849" y="5740"/>
              <a:ext cx="1474" cy="10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>
              <a:noAutofit/>
            </a:bodyPr>
            <a:p>
              <a:pPr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VM1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2777" y="5740"/>
              <a:ext cx="1474" cy="10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>
              <a:noAutofit/>
            </a:bodyPr>
            <a:p>
              <a:pPr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VM2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1190" y="8485"/>
              <a:ext cx="2661" cy="10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sz="28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Host  1</a:t>
              </a:r>
              <a:endParaRPr lang="en-US" altLang="zh-CN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623" y="5513"/>
              <a:ext cx="3789" cy="419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</p:grpSp>
      <p:grpSp>
        <p:nvGrpSpPr>
          <p:cNvPr id="10" name="组合 9"/>
          <p:cNvGrpSpPr/>
          <p:nvPr/>
        </p:nvGrpSpPr>
        <p:grpSpPr>
          <a:xfrm>
            <a:off x="3143250" y="3493770"/>
            <a:ext cx="2405380" cy="2664460"/>
            <a:chOff x="623" y="5513"/>
            <a:chExt cx="3788" cy="4196"/>
          </a:xfrm>
        </p:grpSpPr>
        <p:sp>
          <p:nvSpPr>
            <p:cNvPr id="11" name="文本框 10"/>
            <p:cNvSpPr txBox="1"/>
            <p:nvPr/>
          </p:nvSpPr>
          <p:spPr>
            <a:xfrm>
              <a:off x="849" y="7101"/>
              <a:ext cx="3288" cy="1304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>
              <a:noAutofit/>
            </a:bodyPr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sz="28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Agent 2</a:t>
              </a:r>
              <a:endParaRPr lang="en-US" altLang="zh-CN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849" y="5740"/>
              <a:ext cx="1474" cy="10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>
              <a:noAutofit/>
            </a:bodyPr>
            <a:p>
              <a:pPr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VM1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3" name="文本框 12"/>
            <p:cNvSpPr txBox="1"/>
            <p:nvPr/>
          </p:nvSpPr>
          <p:spPr>
            <a:xfrm>
              <a:off x="2777" y="5740"/>
              <a:ext cx="1474" cy="10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>
              <a:noAutofit/>
            </a:bodyPr>
            <a:p>
              <a:pPr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VM2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4" name="文本框 13"/>
            <p:cNvSpPr txBox="1"/>
            <p:nvPr/>
          </p:nvSpPr>
          <p:spPr>
            <a:xfrm>
              <a:off x="1190" y="8485"/>
              <a:ext cx="2661" cy="10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sz="28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Host  2</a:t>
              </a:r>
              <a:endParaRPr lang="en-US" altLang="zh-CN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623" y="5513"/>
              <a:ext cx="3789" cy="419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</p:grpSp>
      <p:grpSp>
        <p:nvGrpSpPr>
          <p:cNvPr id="16" name="组合 15"/>
          <p:cNvGrpSpPr/>
          <p:nvPr/>
        </p:nvGrpSpPr>
        <p:grpSpPr>
          <a:xfrm>
            <a:off x="6659880" y="3429000"/>
            <a:ext cx="2405380" cy="2664460"/>
            <a:chOff x="623" y="5513"/>
            <a:chExt cx="3788" cy="4196"/>
          </a:xfrm>
        </p:grpSpPr>
        <p:sp>
          <p:nvSpPr>
            <p:cNvPr id="17" name="文本框 16"/>
            <p:cNvSpPr txBox="1"/>
            <p:nvPr/>
          </p:nvSpPr>
          <p:spPr>
            <a:xfrm>
              <a:off x="849" y="7101"/>
              <a:ext cx="3288" cy="1304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>
              <a:noAutofit/>
            </a:bodyPr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sz="2800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Agent 3</a:t>
              </a:r>
              <a:endParaRPr lang="en-US" altLang="zh-CN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8" name="文本框 17"/>
            <p:cNvSpPr txBox="1"/>
            <p:nvPr/>
          </p:nvSpPr>
          <p:spPr>
            <a:xfrm>
              <a:off x="849" y="5740"/>
              <a:ext cx="1474" cy="10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>
              <a:noAutofit/>
            </a:bodyPr>
            <a:p>
              <a:pPr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VM1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777" y="5740"/>
              <a:ext cx="1474" cy="107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 anchor="t">
              <a:noAutofit/>
            </a:bodyPr>
            <a:p>
              <a:pPr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VM2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1190" y="8485"/>
              <a:ext cx="2661" cy="107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 anchor="t">
              <a:noAutofit/>
            </a:bodyPr>
            <a:p>
              <a:pPr algn="ctr">
                <a:lnSpc>
                  <a:spcPct val="150000"/>
                </a:lnSpc>
                <a:spcBef>
                  <a:spcPts val="0"/>
                </a:spcBef>
                <a:spcAft>
                  <a:spcPts val="1800"/>
                </a:spcAft>
                <a:buClr>
                  <a:srgbClr val="FF0000"/>
                </a:buClr>
                <a:buFont typeface="Wingdings" panose="05000000000000000000" charset="0"/>
              </a:pPr>
              <a:r>
                <a:rPr lang="en-US" altLang="zh-CN" sz="2800" b="1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Host  3</a:t>
              </a:r>
              <a:endParaRPr lang="en-US" altLang="zh-CN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sp>
          <p:nvSpPr>
            <p:cNvPr id="21" name="矩形 20"/>
            <p:cNvSpPr/>
            <p:nvPr/>
          </p:nvSpPr>
          <p:spPr>
            <a:xfrm>
              <a:off x="623" y="5513"/>
              <a:ext cx="3789" cy="4196"/>
            </a:xfrm>
            <a:prstGeom prst="rect">
              <a:avLst/>
            </a:prstGeom>
            <a:noFill/>
            <a:ln w="952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</p:grpSp>
      <p:grpSp>
        <p:nvGrpSpPr>
          <p:cNvPr id="26" name="组合 25"/>
          <p:cNvGrpSpPr/>
          <p:nvPr/>
        </p:nvGrpSpPr>
        <p:grpSpPr>
          <a:xfrm>
            <a:off x="2283460" y="2277110"/>
            <a:ext cx="540000" cy="2646045"/>
            <a:chOff x="3596" y="3586"/>
            <a:chExt cx="850" cy="4167"/>
          </a:xfrm>
        </p:grpSpPr>
        <p:cxnSp>
          <p:nvCxnSpPr>
            <p:cNvPr id="22" name="直接连接符 21"/>
            <p:cNvCxnSpPr>
              <a:stCxn id="4" idx="3"/>
            </p:cNvCxnSpPr>
            <p:nvPr/>
          </p:nvCxnSpPr>
          <p:spPr>
            <a:xfrm>
              <a:off x="3596" y="7753"/>
              <a:ext cx="85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" name="直接连接符 22"/>
            <p:cNvCxnSpPr/>
            <p:nvPr/>
          </p:nvCxnSpPr>
          <p:spPr>
            <a:xfrm>
              <a:off x="4365" y="3586"/>
              <a:ext cx="0" cy="413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7" name="组合 26"/>
          <p:cNvGrpSpPr/>
          <p:nvPr/>
        </p:nvGrpSpPr>
        <p:grpSpPr>
          <a:xfrm>
            <a:off x="4693285" y="2295525"/>
            <a:ext cx="1188085" cy="2640330"/>
            <a:chOff x="2497" y="3595"/>
            <a:chExt cx="1871" cy="4158"/>
          </a:xfrm>
        </p:grpSpPr>
        <p:cxnSp>
          <p:nvCxnSpPr>
            <p:cNvPr id="28" name="直接连接符 27"/>
            <p:cNvCxnSpPr/>
            <p:nvPr/>
          </p:nvCxnSpPr>
          <p:spPr>
            <a:xfrm>
              <a:off x="3446" y="7753"/>
              <a:ext cx="850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" name="直接连接符 28"/>
            <p:cNvCxnSpPr/>
            <p:nvPr/>
          </p:nvCxnSpPr>
          <p:spPr>
            <a:xfrm flipH="1">
              <a:off x="4322" y="4493"/>
              <a:ext cx="0" cy="326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直接连接符 29"/>
            <p:cNvCxnSpPr/>
            <p:nvPr/>
          </p:nvCxnSpPr>
          <p:spPr>
            <a:xfrm>
              <a:off x="2497" y="4511"/>
              <a:ext cx="1871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1" name="直接连接符 30"/>
            <p:cNvCxnSpPr/>
            <p:nvPr/>
          </p:nvCxnSpPr>
          <p:spPr>
            <a:xfrm>
              <a:off x="2497" y="3595"/>
              <a:ext cx="0" cy="90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cxnSp>
        <p:nvCxnSpPr>
          <p:cNvPr id="33" name="直接连接符 32"/>
          <p:cNvCxnSpPr/>
          <p:nvPr/>
        </p:nvCxnSpPr>
        <p:spPr>
          <a:xfrm>
            <a:off x="6198870" y="4869180"/>
            <a:ext cx="648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6" name="直接连接符 35"/>
          <p:cNvCxnSpPr/>
          <p:nvPr/>
        </p:nvCxnSpPr>
        <p:spPr>
          <a:xfrm>
            <a:off x="6227445" y="2277110"/>
            <a:ext cx="0" cy="259207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1009015" y="188595"/>
            <a:ext cx="8134985" cy="805180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云管理器维护的客户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虚拟局域网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/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虚拟机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251460" y="1412240"/>
          <a:ext cx="8655050" cy="4140200"/>
        </p:xfrm>
        <a:graphic>
          <a:graphicData uri="http://schemas.openxmlformats.org/drawingml/2006/table">
            <a:tbl>
              <a:tblPr/>
              <a:tblGrid>
                <a:gridCol w="1035685"/>
                <a:gridCol w="1303020"/>
                <a:gridCol w="1290955"/>
                <a:gridCol w="1725295"/>
                <a:gridCol w="1705610"/>
                <a:gridCol w="1594485"/>
              </a:tblGrid>
              <a:tr h="73533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客户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id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虚拟局域网</a:t>
                      </a: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id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90204" pitchFamily="34" charset="0"/>
                        </a:rPr>
                        <a:t>虚拟机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90204" pitchFamily="34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altLang="zh-CN" sz="20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90204" pitchFamily="34" charset="0"/>
                        </a:rPr>
                        <a:t>id</a:t>
                      </a:r>
                      <a:endParaRPr lang="en-US" altLang="zh-CN" sz="20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90204" pitchFamily="34" charset="0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微软雅黑" panose="020B0503020204020204" charset="-122"/>
                          <a:ea typeface="微软雅黑" panose="020B0503020204020204" charset="-122"/>
                          <a:cs typeface="Arial" panose="020B0604020202090204" pitchFamily="34" charset="0"/>
                          <a:sym typeface="+mn-ea"/>
                        </a:rPr>
                        <a:t>所需资源</a:t>
                      </a: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90204" pitchFamily="34" charset="0"/>
                      </a:endParaRPr>
                    </a:p>
                    <a:p>
                      <a:pPr indent="0" algn="ctr">
                        <a:buNone/>
                      </a:pPr>
                      <a:endParaRPr lang="zh-CN" altLang="en-US" sz="2000" b="1">
                        <a:latin typeface="微软雅黑" panose="020B0503020204020204" charset="-122"/>
                        <a:ea typeface="微软雅黑" panose="020B0503020204020204" charset="-122"/>
                        <a:cs typeface="Arial" panose="020B0604020202090204" pitchFamily="34" charset="0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所驻主机</a:t>
                      </a:r>
                      <a:endParaRPr lang="zh-CN" altLang="en-US" sz="2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虚拟机</a:t>
                      </a: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IP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3415">
                <a:tc rowSpan="9"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2000" b="1">
                          <a:solidFill>
                            <a:srgbClr val="FF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  <a:cs typeface="Arial" panose="020B0604020202090204" pitchFamily="34" charset="0"/>
                        </a:rPr>
                        <a:t>c</a:t>
                      </a:r>
                      <a:r>
                        <a:rPr lang="en-US" sz="2000" b="1">
                          <a:solidFill>
                            <a:srgbClr val="FF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  <a:cs typeface="Arial" panose="020B0604020202090204" pitchFamily="34" charset="0"/>
                        </a:rPr>
                        <a:t>1</a:t>
                      </a:r>
                      <a:endParaRPr lang="en-US" sz="2000" b="0">
                        <a:latin typeface="Arial" panose="020B0604020202090204" pitchFamily="34" charset="0"/>
                        <a:cs typeface="Arial" panose="020B0604020202090204" pitchFamily="34" charset="0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8"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  <a:cs typeface="Arial" panose="020B0604020202090204" pitchFamily="34" charset="0"/>
                        </a:rPr>
                        <a:t>vn1</a:t>
                      </a:r>
                      <a:endParaRPr lang="en-US" sz="2000" b="1">
                        <a:solidFill>
                          <a:srgbClr val="FF0000"/>
                        </a:solidFill>
                        <a:latin typeface="Arial" panose="020B0604020202090204" pitchFamily="34" charset="0"/>
                        <a:ea typeface="微软雅黑" panose="020B0503020204020204" charset="-122"/>
                        <a:cs typeface="Arial" panose="020B0604020202090204" pitchFamily="34" charset="0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  <a:cs typeface="Arial" panose="020B0604020202090204" pitchFamily="34" charset="0"/>
                        </a:rPr>
                        <a:t>vm1</a:t>
                      </a:r>
                      <a:endParaRPr lang="en-US" sz="2000" b="1">
                        <a:solidFill>
                          <a:srgbClr val="FF0000"/>
                        </a:solidFill>
                        <a:latin typeface="Arial" panose="020B0604020202090204" pitchFamily="34" charset="0"/>
                        <a:ea typeface="微软雅黑" panose="020B0503020204020204" charset="-122"/>
                        <a:cs typeface="Arial" panose="020B0604020202090204" pitchFamily="34" charset="0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8 cores，32G mem</a:t>
                      </a:r>
                      <a:endParaRPr lang="en-US" altLang="en-US" sz="2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20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宋体" pitchFamily="2" charset="-122"/>
                        </a:rPr>
                        <a:t>r1:c1</a:t>
                      </a:r>
                      <a:endParaRPr lang="en-US" altLang="zh-CN" sz="2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p>
                      <a:pPr indent="0">
                        <a:buNone/>
                      </a:pPr>
                      <a:r>
                        <a:rPr lang="en-US" altLang="en-US" sz="16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宋体" pitchFamily="2" charset="-122"/>
                        </a:rPr>
                        <a:t>192.1.168.7</a:t>
                      </a:r>
                      <a:endParaRPr lang="en-US" altLang="en-US" sz="16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p>
                      <a:pPr indent="0">
                        <a:buNone/>
                      </a:pPr>
                      <a:endParaRPr lang="en-US" altLang="en-US" sz="2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5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  <a:cs typeface="Arial" panose="020B0604020202090204" pitchFamily="34" charset="0"/>
                          <a:sym typeface="+mn-ea"/>
                        </a:rPr>
                        <a:t>vm2</a:t>
                      </a:r>
                      <a:endParaRPr lang="en-US" altLang="en-US" sz="2000" b="1">
                        <a:solidFill>
                          <a:srgbClr val="FF0000"/>
                        </a:solidFill>
                        <a:latin typeface="Arial" panose="020B0604020202090204" pitchFamily="34" charset="0"/>
                        <a:ea typeface="微软雅黑" panose="020B0503020204020204" charset="-122"/>
                        <a:cs typeface="Arial" panose="020B0604020202090204" pitchFamily="34" charset="0"/>
                        <a:sym typeface="+mn-ea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p>
                      <a:pPr indent="0">
                        <a:buNone/>
                      </a:pPr>
                      <a:endParaRPr lang="en-US" altLang="zh-CN" sz="2000" b="1">
                        <a:solidFill>
                          <a:srgbClr val="0001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4810"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endParaRPr lang="en-US" altLang="en-US" sz="2000" b="1">
                        <a:solidFill>
                          <a:srgbClr val="0001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4">
                  <a:txBody>
                    <a:bodyPr/>
                    <a:p>
                      <a:pPr indent="0">
                        <a:buNone/>
                      </a:pPr>
                      <a:endParaRPr lang="en-US" altLang="en-US" sz="2000" b="1">
                        <a:solidFill>
                          <a:srgbClr val="0001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p>
                      <a:pPr indent="0">
                        <a:buNone/>
                      </a:pPr>
                      <a:endParaRPr lang="en-US" altLang="zh-CN" sz="2000" b="1">
                        <a:solidFill>
                          <a:srgbClr val="0001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0"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>
                        <a:buNone/>
                      </a:pPr>
                      <a:endParaRPr lang="en-US" altLang="en-US" sz="2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84175"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  <a:cs typeface="Arial" panose="020B0604020202090204" pitchFamily="34" charset="0"/>
                          <a:sym typeface="+mn-ea"/>
                        </a:rPr>
                        <a:t>vm3</a:t>
                      </a:r>
                      <a:endParaRPr lang="en-US" altLang="en-US" sz="2000" b="1">
                        <a:solidFill>
                          <a:srgbClr val="FF0000"/>
                        </a:solidFill>
                        <a:latin typeface="Arial" panose="020B0604020202090204" pitchFamily="34" charset="0"/>
                        <a:ea typeface="微软雅黑" panose="020B0503020204020204" charset="-122"/>
                        <a:cs typeface="Arial" panose="020B0604020202090204" pitchFamily="34" charset="0"/>
                        <a:sym typeface="+mn-ea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37540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2000" b="1">
                          <a:solidFill>
                            <a:srgbClr val="FF0000"/>
                          </a:solidFill>
                          <a:latin typeface="Arial" panose="020B0604020202090204" pitchFamily="34" charset="0"/>
                          <a:ea typeface="微软雅黑" panose="020B0503020204020204" charset="-122"/>
                          <a:cs typeface="Arial" panose="020B0604020202090204" pitchFamily="34" charset="0"/>
                        </a:rPr>
                        <a:t>vn2</a:t>
                      </a:r>
                      <a:endParaRPr lang="en-US" altLang="zh-CN" sz="2000" b="1">
                        <a:solidFill>
                          <a:srgbClr val="FF0000"/>
                        </a:solidFill>
                        <a:latin typeface="Arial" panose="020B0604020202090204" pitchFamily="34" charset="0"/>
                        <a:ea typeface="微软雅黑" panose="020B0503020204020204" charset="-122"/>
                        <a:cs typeface="Arial" panose="020B0604020202090204" pitchFamily="34" charset="0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altLang="zh-CN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altLang="en-US" sz="2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黑体" panose="02010609060101010101" pitchFamily="49" charset="-122"/>
                        <a:sym typeface="+mn-ea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黑体" panose="02010609060101010101" pitchFamily="49" charset="-122"/>
                        <a:sym typeface="+mn-ea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黑体" panose="02010609060101010101" pitchFamily="49" charset="-122"/>
                        <a:sym typeface="+mn-ea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91515">
                <a:tc rowSpan="2">
                  <a:txBody>
                    <a:bodyPr/>
                    <a:p>
                      <a:pPr indent="0">
                        <a:buNone/>
                      </a:pPr>
                      <a:r>
                        <a:rPr lang="en-US" altLang="zh-CN" sz="2000" b="1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c</a:t>
                      </a:r>
                      <a:r>
                        <a:rPr lang="en-US" sz="2000" b="1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</a:t>
                      </a:r>
                      <a:r>
                        <a:rPr lang="en-US" altLang="zh-CN" sz="2000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 </a:t>
                      </a:r>
                      <a:endParaRPr lang="en-US" altLang="zh-CN" sz="2000" b="0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vn1</a:t>
                      </a:r>
                      <a:endParaRPr lang="en-US" altLang="zh-CN" sz="2000" b="1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..............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altLang="en-US" sz="2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黑体" panose="02010609060101010101" pitchFamily="49" charset="-122"/>
                        <a:sym typeface="+mn-ea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黑体" panose="02010609060101010101" pitchFamily="49" charset="-122"/>
                        <a:sym typeface="+mn-ea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黑体" panose="02010609060101010101" pitchFamily="49" charset="-122"/>
                        <a:sym typeface="+mn-ea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653415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>
                        <a:buNone/>
                      </a:pPr>
                      <a:r>
                        <a:rPr lang="en-US" sz="2000" b="1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vn2</a:t>
                      </a:r>
                      <a:endParaRPr lang="en-US" sz="2000" b="1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r>
                        <a:rPr lang="en-US" altLang="zh-CN" sz="2000"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  <a:sym typeface="+mn-ea"/>
                        </a:rPr>
                        <a:t>.............</a:t>
                      </a:r>
                      <a:endParaRPr lang="en-US" altLang="zh-CN" sz="2000"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  <a:sym typeface="+mn-ea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altLang="en-US" sz="20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黑体" panose="02010609060101010101" pitchFamily="49" charset="-122"/>
                        <a:sym typeface="+mn-ea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黑体" panose="02010609060101010101" pitchFamily="49" charset="-122"/>
                        <a:sym typeface="+mn-ea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黑体" panose="02010609060101010101" pitchFamily="49" charset="-122"/>
                        <a:sym typeface="+mn-ea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323215" y="6021705"/>
            <a:ext cx="8077835" cy="5219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indent="0" eaLnBrk="1" hangingPunct="1">
              <a:lnSpc>
                <a:spcPct val="100000"/>
              </a:lnSpc>
              <a:spcBef>
                <a:spcPct val="40000"/>
              </a:spcBef>
              <a:buFont typeface="Wingdings" panose="05000000000000000000" charset="0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客户在云上安装一应用程序时，要做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哪些工作？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1066800" y="152400"/>
            <a:ext cx="7620000" cy="804863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云管理器维护的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资源信息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6" name="表格 5"/>
          <p:cNvGraphicFramePr/>
          <p:nvPr>
            <p:custDataLst>
              <p:tags r:id="rId1"/>
            </p:custDataLst>
          </p:nvPr>
        </p:nvGraphicFramePr>
        <p:xfrm>
          <a:off x="73660" y="1484630"/>
          <a:ext cx="9104630" cy="4500880"/>
        </p:xfrm>
        <a:graphic>
          <a:graphicData uri="http://schemas.openxmlformats.org/drawingml/2006/table">
            <a:tbl>
              <a:tblPr/>
              <a:tblGrid>
                <a:gridCol w="819785"/>
                <a:gridCol w="1252855"/>
                <a:gridCol w="1722120"/>
                <a:gridCol w="1250315"/>
                <a:gridCol w="1434465"/>
                <a:gridCol w="1014095"/>
                <a:gridCol w="1610995"/>
              </a:tblGrid>
              <a:tr h="627380"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区域</a:t>
                      </a:r>
                      <a:endParaRPr lang="zh-CN" altLang="en-US" sz="20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altLang="zh-CN" sz="20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id</a:t>
                      </a:r>
                      <a:endParaRPr lang="en-US" altLang="zh-CN" sz="20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计算机</a:t>
                      </a:r>
                      <a:endParaRPr lang="zh-CN" altLang="en-US" sz="20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altLang="zh-CN" sz="20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id</a:t>
                      </a:r>
                      <a:endParaRPr lang="en-US" altLang="zh-CN" sz="20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资源</a:t>
                      </a:r>
                      <a:endParaRPr lang="zh-CN" altLang="en-US" sz="20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总量</a:t>
                      </a:r>
                      <a:endParaRPr lang="zh-CN" altLang="en-US" sz="20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已用</a:t>
                      </a:r>
                      <a:endParaRPr lang="zh-CN" altLang="en-US" sz="20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资源</a:t>
                      </a:r>
                      <a:r>
                        <a:rPr lang="zh-CN" altLang="en-US" sz="20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量</a:t>
                      </a:r>
                      <a:endParaRPr lang="zh-CN" altLang="en-US" sz="20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剩余</a:t>
                      </a:r>
                      <a:endParaRPr lang="zh-CN" altLang="en-US" sz="20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资源量</a:t>
                      </a:r>
                      <a:endParaRPr lang="zh-CN" altLang="en-US" sz="2000" b="1"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zh-CN" sz="2000" b="1">
                          <a:solidFill>
                            <a:srgbClr val="0001FF"/>
                          </a:solidFill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IP</a:t>
                      </a:r>
                      <a:r>
                        <a:rPr lang="zh-CN" altLang="en-US" sz="2000" b="1">
                          <a:solidFill>
                            <a:srgbClr val="0001FF"/>
                          </a:solidFill>
                          <a:latin typeface="Arial" panose="020B0604020202090204" pitchFamily="34" charset="0"/>
                          <a:ea typeface="宋体" pitchFamily="2" charset="-122"/>
                          <a:cs typeface="Arial" panose="020B0604020202090204" pitchFamily="34" charset="0"/>
                        </a:rPr>
                        <a:t>地址</a:t>
                      </a:r>
                      <a:endParaRPr lang="zh-CN" altLang="en-US" sz="2000" b="1">
                        <a:solidFill>
                          <a:srgbClr val="0001FF"/>
                        </a:solidFill>
                        <a:latin typeface="Arial" panose="020B0604020202090204" pitchFamily="34" charset="0"/>
                        <a:ea typeface="宋体" pitchFamily="2" charset="-122"/>
                        <a:cs typeface="Arial" panose="020B0604020202090204" pitchFamily="34" charset="0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solidFill>
                            <a:srgbClr val="0001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运行的</a:t>
                      </a:r>
                      <a:r>
                        <a:rPr lang="zh-CN" altLang="en-US" sz="2000" b="1">
                          <a:solidFill>
                            <a:srgbClr val="0001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虚拟机</a:t>
                      </a:r>
                      <a:endParaRPr lang="zh-CN" altLang="en-US" sz="2000" b="1">
                        <a:solidFill>
                          <a:srgbClr val="0001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532130">
                <a:tc rowSpan="5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区1</a:t>
                      </a:r>
                      <a:r>
                        <a:rPr lang="en-US" altLang="zh-CN" sz="2000">
                          <a:latin typeface="Calibri" panose="020F0502020204030204" charset="0"/>
                        </a:rPr>
                        <a:t> </a:t>
                      </a:r>
                      <a:endParaRPr lang="en-US" sz="2000" b="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主机</a:t>
                      </a:r>
                      <a:r>
                        <a:rPr lang="en-US" sz="2000" b="1">
                          <a:solidFill>
                            <a:srgbClr val="FF000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</a:t>
                      </a:r>
                      <a:endParaRPr lang="en-US" sz="2000" b="0"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sz="2000">
                          <a:latin typeface="宋体" pitchFamily="2" charset="-122"/>
                          <a:ea typeface="宋体" pitchFamily="2" charset="-122"/>
                          <a:cs typeface="宋体" pitchFamily="2" charset="-122"/>
                          <a:sym typeface="+mn-ea"/>
                        </a:rPr>
                        <a:t>【32 cores，64G mem】</a:t>
                      </a:r>
                      <a:endParaRPr lang="en-US" sz="2000" b="0">
                        <a:latin typeface="宋体" pitchFamily="2" charset="-122"/>
                        <a:ea typeface="宋体" pitchFamily="2" charset="-122"/>
                        <a:cs typeface="宋体" pitchFamily="2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8 cores</a:t>
                      </a:r>
                      <a:endParaRPr lang="en-US" altLang="en-US" sz="20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altLang="en-US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48G mem</a:t>
                      </a:r>
                      <a:endParaRPr lang="en-US" altLang="en-US" sz="20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  <a:sym typeface="+mn-ea"/>
                        </a:rPr>
                        <a:t>24 cores</a:t>
                      </a:r>
                      <a:endParaRPr lang="en-US" altLang="en-US" sz="20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altLang="en-US" sz="2000" b="1">
                          <a:solidFill>
                            <a:schemeClr val="tx1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  <a:sym typeface="+mn-ea"/>
                        </a:rPr>
                        <a:t>16G mem</a:t>
                      </a:r>
                      <a:endParaRPr lang="en-US" altLang="en-US" sz="2000" b="1">
                        <a:solidFill>
                          <a:schemeClr val="tx1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  <a:sym typeface="+mn-ea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3"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2000" b="1">
                          <a:solidFill>
                            <a:srgbClr val="0001FF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192.1.6.9</a:t>
                      </a:r>
                      <a:endParaRPr lang="en-US" altLang="en-US" sz="2000" b="1">
                        <a:solidFill>
                          <a:srgbClr val="0001FF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2000" b="1">
                          <a:solidFill>
                            <a:srgbClr val="FF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c1:vn1:vm1</a:t>
                      </a:r>
                      <a:endParaRPr lang="en-US" altLang="en-US" sz="2000" b="1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390525"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2000" b="1">
                          <a:solidFill>
                            <a:srgbClr val="FF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  <a:sym typeface="+mn-ea"/>
                        </a:rPr>
                        <a:t>c2:vn1:vm3</a:t>
                      </a:r>
                      <a:endParaRPr lang="en-US" altLang="en-US" sz="2000" b="1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28625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r>
                        <a:rPr lang="en-US" altLang="en-US" sz="2000" b="1">
                          <a:solidFill>
                            <a:srgbClr val="FF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  <a:sym typeface="+mn-ea"/>
                        </a:rPr>
                        <a:t>c3:vn1:vm1</a:t>
                      </a:r>
                      <a:endParaRPr lang="en-US" altLang="en-US" sz="2000" b="1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</a:tr>
              <a:tr h="478790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solidFill>
                            <a:srgbClr val="FF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主机</a:t>
                      </a:r>
                      <a:r>
                        <a:rPr lang="en-US" sz="2000" b="1">
                          <a:solidFill>
                            <a:srgbClr val="FF0000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</a:t>
                      </a:r>
                      <a:endParaRPr lang="en-US" sz="2000" b="1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95300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2000" b="1"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61645">
                <a:tc rowSpan="4">
                  <a:txBody>
                    <a:bodyPr/>
                    <a:p>
                      <a:pPr indent="0" algn="ctr">
                        <a:buNone/>
                      </a:pPr>
                      <a:endParaRPr lang="en-US" sz="2000" b="1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 algn="ctr">
                        <a:buNone/>
                      </a:pPr>
                      <a:endParaRPr lang="en-US" sz="2000" b="1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sz="2000" b="1">
                          <a:solidFill>
                            <a:srgbClr val="0000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区2</a:t>
                      </a:r>
                      <a:endParaRPr lang="en-US" sz="2000" b="1">
                        <a:solidFill>
                          <a:srgbClr val="0000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pPr indent="0" algn="ctr">
                        <a:buNone/>
                      </a:pPr>
                      <a:r>
                        <a:rPr lang="en-US" altLang="zh-CN" sz="2000">
                          <a:solidFill>
                            <a:srgbClr val="0000FF"/>
                          </a:solidFill>
                          <a:latin typeface="Calibri" panose="020F0502020204030204" charset="0"/>
                        </a:rPr>
                        <a:t> </a:t>
                      </a:r>
                      <a:endParaRPr lang="en-US" altLang="zh-CN" sz="2000" b="0">
                        <a:solidFill>
                          <a:srgbClr val="0000FF"/>
                        </a:solidFill>
                        <a:latin typeface="Calibri" panose="020F0502020204030204" charset="0"/>
                        <a:cs typeface="Calibri" panose="020F0502020204030204" charset="0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solidFill>
                            <a:srgbClr val="0000FF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主机</a:t>
                      </a:r>
                      <a:r>
                        <a:rPr lang="en-US" sz="2000" b="1">
                          <a:solidFill>
                            <a:srgbClr val="0000FF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1</a:t>
                      </a:r>
                      <a:endParaRPr lang="en-US" sz="2000" b="1">
                        <a:solidFill>
                          <a:srgbClr val="0000FF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8930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9895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r>
                        <a:rPr lang="zh-CN" altLang="en-US" sz="2000" b="1">
                          <a:solidFill>
                            <a:srgbClr val="0000FF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主机</a:t>
                      </a:r>
                      <a:r>
                        <a:rPr lang="en-US" sz="2000" b="1">
                          <a:solidFill>
                            <a:srgbClr val="0000FF"/>
                          </a:solidFill>
                          <a:latin typeface="黑体" panose="02010609060101010101" pitchFamily="49" charset="-122"/>
                          <a:ea typeface="黑体" panose="02010609060101010101" pitchFamily="49" charset="-122"/>
                          <a:cs typeface="黑体" panose="02010609060101010101" pitchFamily="49" charset="-122"/>
                        </a:rPr>
                        <a:t>2</a:t>
                      </a:r>
                      <a:endParaRPr lang="en-US" sz="2000" b="1">
                        <a:solidFill>
                          <a:srgbClr val="0000FF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rowSpan="2">
                  <a:txBody>
                    <a:bodyPr/>
                    <a:p>
                      <a:pPr indent="0" algn="ctr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ctr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327660"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0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vMerge="1"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p>
                      <a:pPr indent="0" algn="l">
                        <a:buNone/>
                      </a:pPr>
                      <a:endParaRPr lang="en-US" altLang="en-US" sz="2000" b="1">
                        <a:solidFill>
                          <a:srgbClr val="FF0000"/>
                        </a:solidFill>
                        <a:latin typeface="黑体" panose="02010609060101010101" pitchFamily="49" charset="-122"/>
                        <a:ea typeface="黑体" panose="02010609060101010101" pitchFamily="49" charset="-122"/>
                        <a:cs typeface="黑体" panose="02010609060101010101" pitchFamily="49" charset="-122"/>
                      </a:endParaRPr>
                    </a:p>
                  </a:txBody>
                  <a:tcPr marL="68580" marR="68580" marT="0" marB="0" vert="horz" anchor="ctr" anchorCtr="1">
                    <a:lnL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L>
                    <a:lnR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R>
                    <a:lnT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T>
                    <a:lnB w="12700" cap="flat" cmpd="sng">
                      <a:solidFill>
                        <a:srgbClr val="080000"/>
                      </a:solidFill>
                      <a:prstDash val="solid"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5" name="文本框 14"/>
          <p:cNvSpPr txBox="1"/>
          <p:nvPr>
            <p:custDataLst>
              <p:tags r:id="rId2"/>
            </p:custDataLst>
          </p:nvPr>
        </p:nvSpPr>
        <p:spPr>
          <a:xfrm>
            <a:off x="73660" y="6093460"/>
            <a:ext cx="4423410" cy="6813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algn="l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还记得计算机的即插即用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吗？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4572000" y="6094095"/>
            <a:ext cx="4193540" cy="6813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</a:pP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DHCP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服务器，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telnet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服务器</a:t>
            </a: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Rectangle 2"/>
          <p:cNvSpPr>
            <a:spLocks noGrp="1"/>
          </p:cNvSpPr>
          <p:nvPr>
            <p:ph type="title"/>
          </p:nvPr>
        </p:nvSpPr>
        <p:spPr>
          <a:xfrm>
            <a:off x="1049338" y="250190"/>
            <a:ext cx="7772400" cy="914400"/>
          </a:xfrm>
        </p:spPr>
        <p:txBody>
          <a:bodyPr vert="horz" wrap="square" lIns="91440" tIns="45720" rIns="91440" bIns="45720" anchor="ctr"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去中心化计算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：中心化服务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403" name="Rectangle 3"/>
          <p:cNvSpPr>
            <a:spLocks noGrp="1"/>
          </p:cNvSpPr>
          <p:nvPr>
            <p:ph type="body"/>
          </p:nvPr>
        </p:nvSpPr>
        <p:spPr>
          <a:xfrm>
            <a:off x="179705" y="1917065"/>
            <a:ext cx="8820150" cy="3945255"/>
          </a:xfrm>
        </p:spPr>
        <p:txBody>
          <a:bodyPr vert="horz" wrap="square" lIns="91440" tIns="45720" rIns="91440" bIns="45720" anchor="t"/>
          <a:p>
            <a:pPr latinLnBrk="0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中心化系统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：服务由一个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提供方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掌控</a:t>
            </a:r>
            <a:r>
              <a:rPr lang="en-US" altLang="zh-CN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;</a:t>
            </a:r>
            <a:endParaRPr lang="en-US" altLang="zh-CN" sz="2400" b="1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latinLnBrk="0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客户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基于对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服务提供方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的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信任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来使用其服务系统；</a:t>
            </a:r>
            <a:endParaRPr lang="zh-CN" altLang="en-US" sz="2400" b="1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latinLnBrk="0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数据的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维护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由服务提供方负责；</a:t>
            </a:r>
            <a:endParaRPr lang="zh-CN" altLang="en-US" sz="2400" b="1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latinLnBrk="0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数据的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正确性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，以及服务的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公平性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都以客户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信任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服务提供方作为前提；</a:t>
            </a:r>
            <a:endParaRPr lang="zh-CN" altLang="en-US" sz="2400" b="1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latinLnBrk="0">
              <a:lnSpc>
                <a:spcPct val="120000"/>
              </a:lnSpc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由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单点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提供，一旦出现单点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故障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，服务对客户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不可用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Rectangle 2"/>
          <p:cNvSpPr>
            <a:spLocks noGrp="1"/>
          </p:cNvSpPr>
          <p:nvPr>
            <p:ph type="title"/>
          </p:nvPr>
        </p:nvSpPr>
        <p:spPr>
          <a:xfrm>
            <a:off x="1049338" y="250190"/>
            <a:ext cx="7772400" cy="914400"/>
          </a:xfrm>
        </p:spPr>
        <p:txBody>
          <a:bodyPr vert="horz" wrap="square" lIns="91440" tIns="45720" rIns="91440" bIns="45720" anchor="ctr"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去中心化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计算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403" name="Rectangle 3"/>
          <p:cNvSpPr>
            <a:spLocks noGrp="1"/>
          </p:cNvSpPr>
          <p:nvPr>
            <p:ph type="body"/>
          </p:nvPr>
        </p:nvSpPr>
        <p:spPr>
          <a:xfrm>
            <a:off x="0" y="1340485"/>
            <a:ext cx="9143365" cy="5487035"/>
          </a:xfrm>
        </p:spPr>
        <p:txBody>
          <a:bodyPr vert="horz" wrap="square" lIns="91440" tIns="45720" rIns="91440" bIns="45720" anchor="t"/>
          <a:p>
            <a:pPr latinLnBrk="0">
              <a:lnSpc>
                <a:spcPct val="140000"/>
              </a:lnSpc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去中心化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系统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不再由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单个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节点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构成，而是由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多个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副本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构成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。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不同的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副本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归属于不同的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服务提供方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。</a:t>
            </a:r>
            <a:endParaRPr lang="zh-CN" altLang="en-US" sz="2400" b="1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0" indent="0" latinLnBrk="0">
              <a:lnSpc>
                <a:spcPct val="140000"/>
              </a:lnSpc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None/>
            </a:pP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有3个明显的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新特质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：</a:t>
            </a:r>
            <a:endParaRPr lang="zh-CN" altLang="en-US" sz="2400" b="1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latinLnBrk="0">
              <a:lnSpc>
                <a:spcPct val="140000"/>
              </a:lnSpc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任何事情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不再由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单一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的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服务提供方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说了算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，而是由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多个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服务提供方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共同商议决定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endParaRPr lang="zh-CN" altLang="en-US" sz="2400" b="1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latinLnBrk="0">
              <a:lnSpc>
                <a:spcPct val="140000"/>
              </a:lnSpc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在正常副本超过半数的前提下，任何一个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副本/服务提供方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对于服务的提供而言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不再是必不可少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，而是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可有可无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endParaRPr lang="zh-CN" altLang="en-US" sz="2400" b="1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latinLnBrk="0">
              <a:lnSpc>
                <a:spcPct val="140000"/>
              </a:lnSpc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系统中即使有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恶意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副本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，想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捣乱，破坏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系统一致性，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都不会得逞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Rectangle 2"/>
          <p:cNvSpPr>
            <a:spLocks noGrp="1"/>
          </p:cNvSpPr>
          <p:nvPr>
            <p:ph type="title"/>
          </p:nvPr>
        </p:nvSpPr>
        <p:spPr>
          <a:xfrm>
            <a:off x="1049338" y="250190"/>
            <a:ext cx="7772400" cy="914400"/>
          </a:xfrm>
        </p:spPr>
        <p:txBody>
          <a:bodyPr vert="horz" wrap="square" lIns="91440" tIns="45720" rIns="91440" bIns="45720" anchor="ctr"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去中心化应用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区块链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403" name="Rectangle 3"/>
          <p:cNvSpPr>
            <a:spLocks noGrp="1"/>
          </p:cNvSpPr>
          <p:nvPr>
            <p:ph type="body"/>
          </p:nvPr>
        </p:nvSpPr>
        <p:spPr>
          <a:xfrm>
            <a:off x="107315" y="1628775"/>
            <a:ext cx="8963660" cy="4852670"/>
          </a:xfrm>
        </p:spPr>
        <p:txBody>
          <a:bodyPr vert="horz" wrap="square" lIns="91440" tIns="45720" rIns="91440" bIns="45720" anchor="t"/>
          <a:p>
            <a:pPr latinLnBrk="0">
              <a:lnSpc>
                <a:spcPct val="140000"/>
              </a:lnSpc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比特币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（Bitcoin），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以太坊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（Ethereum），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树图区块链</a:t>
            </a:r>
            <a:r>
              <a:rPr lang="en-US" altLang="zh-CN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Conflux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endParaRPr lang="zh-CN" altLang="en-US" sz="2400" b="1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latinLnBrk="0">
              <a:lnSpc>
                <a:spcPct val="140000"/>
              </a:lnSpc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任何一个企业都可往系统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添加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副本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成为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服务的一个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提供方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。</a:t>
            </a:r>
            <a:endParaRPr lang="zh-CN" altLang="en-US" sz="2400" b="1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latinLnBrk="0">
              <a:lnSpc>
                <a:spcPct val="140000"/>
              </a:lnSpc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只需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提供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计算机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下载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服务软件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运行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服务程序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。服务程序启动之后，便执行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同步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操作，从现有节点读取已有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数据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。</a:t>
            </a:r>
            <a:endParaRPr lang="zh-CN" altLang="en-US" sz="2400" b="1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latinLnBrk="0">
              <a:lnSpc>
                <a:spcPct val="140000"/>
              </a:lnSpc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服务软件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通过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开源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来向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客户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证明其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可信和可行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。</a:t>
            </a:r>
            <a:endParaRPr lang="zh-CN" altLang="en-US" sz="2400" b="1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latinLnBrk="0">
              <a:lnSpc>
                <a:spcPct val="140000"/>
              </a:lnSpc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系统还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设计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了一套</a:t>
            </a:r>
            <a:r>
              <a:rPr lang="zh-CN" altLang="en-US" sz="24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激励机制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：招引企业加盟，成为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服务提供方</a:t>
            </a:r>
            <a:endParaRPr lang="zh-CN" altLang="en-US" sz="2400" b="1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Rectangle 2"/>
          <p:cNvSpPr>
            <a:spLocks noGrp="1"/>
          </p:cNvSpPr>
          <p:nvPr>
            <p:ph type="title"/>
          </p:nvPr>
        </p:nvSpPr>
        <p:spPr>
          <a:xfrm>
            <a:off x="1049338" y="250190"/>
            <a:ext cx="7772400" cy="914400"/>
          </a:xfrm>
        </p:spPr>
        <p:txBody>
          <a:bodyPr vert="horz" wrap="square" lIns="91440" tIns="45720" rIns="91440" bIns="45720" anchor="ctr"/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分布式一致性共识协议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Paxos</a:t>
            </a:r>
            <a:endParaRPr 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403" name="Rectangle 3"/>
          <p:cNvSpPr>
            <a:spLocks noGrp="1"/>
          </p:cNvSpPr>
          <p:nvPr>
            <p:ph type="body"/>
          </p:nvPr>
        </p:nvSpPr>
        <p:spPr>
          <a:xfrm>
            <a:off x="107315" y="1412875"/>
            <a:ext cx="8820150" cy="5275580"/>
          </a:xfrm>
        </p:spPr>
        <p:txBody>
          <a:bodyPr vert="horz" wrap="square" lIns="91440" tIns="45720" rIns="91440" bIns="45720" anchor="t"/>
          <a:p>
            <a:pPr latinLnBrk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1990年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，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Leslie Lampor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t论文</a:t>
            </a:r>
            <a:r>
              <a:rPr lang="en-US" altLang="zh-CN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“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The Part-Time Parliament</a:t>
            </a:r>
            <a:r>
              <a:rPr lang="en-US" altLang="zh-CN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”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，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审稿人觉得这个背景太复杂了，要求删去，Lamport不乐意就没继续投稿了</a:t>
            </a:r>
            <a:r>
              <a:rPr lang="en-US" altLang="zh-CN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;</a:t>
            </a:r>
            <a:endParaRPr lang="en-US" altLang="zh-CN" sz="2400" b="1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latinLnBrk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1998年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，Lamport再次整理算法进行投稿，但是大家还是不太理解，因此也没有引出多少水花</a:t>
            </a:r>
            <a:r>
              <a:rPr lang="en-US" altLang="zh-CN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;</a:t>
            </a:r>
            <a:endParaRPr lang="en-US" altLang="zh-CN" sz="2400" b="1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latinLnBrk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2001年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，Lamport第三次发表简化版的相关论文</a:t>
            </a:r>
            <a:r>
              <a:rPr lang="en-US" altLang="zh-CN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“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Paxos Made Simple</a:t>
            </a:r>
            <a:r>
              <a:rPr lang="en-US" altLang="zh-CN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”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，去掉了希腊城邦的背景</a:t>
            </a:r>
            <a:r>
              <a:rPr lang="en-US" altLang="zh-CN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;</a:t>
            </a:r>
            <a:endParaRPr lang="en-US" altLang="zh-CN" sz="2400" b="1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latinLnBrk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2006年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，Google使用Paxos的理念实现了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分布式系统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，该算法才被大众所理解和追捧。</a:t>
            </a:r>
            <a:endParaRPr lang="zh-CN" altLang="en-US" sz="2400" b="1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latinLnBrk="0">
              <a:lnSpc>
                <a:spcPct val="120000"/>
              </a:lnSpc>
              <a:spcBef>
                <a:spcPts val="1200"/>
              </a:spcBef>
              <a:spcAft>
                <a:spcPts val="0"/>
              </a:spcAft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2013年</a:t>
            </a:r>
            <a:r>
              <a:rPr lang="en-US" altLang="zh-CN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,</a:t>
            </a:r>
            <a:r>
              <a:rPr lang="zh-CN" altLang="en-US" sz="24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Lamport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因此贡献获得了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图灵奖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02" name="Rectangle 2"/>
          <p:cNvSpPr>
            <a:spLocks noGrp="1"/>
          </p:cNvSpPr>
          <p:nvPr>
            <p:ph type="title"/>
          </p:nvPr>
        </p:nvSpPr>
        <p:spPr>
          <a:xfrm>
            <a:off x="1049338" y="250190"/>
            <a:ext cx="7772400" cy="914400"/>
          </a:xfrm>
        </p:spPr>
        <p:txBody>
          <a:bodyPr vert="horz" wrap="square" lIns="91440" tIns="45720" rIns="91440" bIns="45720" anchor="ctr"/>
          <a:p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 Paxos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协调者选举协议</a:t>
            </a:r>
            <a:endParaRPr 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2403" name="Rectangle 3"/>
          <p:cNvSpPr>
            <a:spLocks noGrp="1"/>
          </p:cNvSpPr>
          <p:nvPr>
            <p:ph type="body"/>
          </p:nvPr>
        </p:nvSpPr>
        <p:spPr>
          <a:xfrm>
            <a:off x="71755" y="1744980"/>
            <a:ext cx="8822055" cy="4897120"/>
          </a:xfrm>
        </p:spPr>
        <p:txBody>
          <a:bodyPr vert="horz" wrap="square" lIns="91440" tIns="45720" rIns="91440" bIns="45720" anchor="t"/>
          <a:p>
            <a:pPr latinLnBrk="0">
              <a:lnSpc>
                <a:spcPct val="150000"/>
              </a:lnSpc>
              <a:spcBef>
                <a:spcPts val="18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ZooKeeper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是一个分布式的，开放源码的分布式应用程序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协调服务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，是Google的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Chubby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一个开源的实现，是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Hadoop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Hbase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的重要组件。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atinLnBrk="0">
              <a:lnSpc>
                <a:spcPct val="150000"/>
              </a:lnSpc>
              <a:spcBef>
                <a:spcPts val="1800"/>
              </a:spcBef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它是一个为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应用提供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一致性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服务的软件，提供的功能包括：配置维护、域名服务、分布式同步、组服务等。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atinLnBrk="0">
              <a:lnSpc>
                <a:spcPct val="150000"/>
              </a:lnSpc>
              <a:spcBef>
                <a:spcPts val="1800"/>
              </a:spcBef>
            </a:pP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ZooKeeper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是以</a:t>
            </a:r>
            <a:r>
              <a:rPr lang="zh-CN" altLang="en-US" sz="24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Paxos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算法为基础；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1066800" y="175895"/>
            <a:ext cx="8063230" cy="914400"/>
          </a:xfrm>
        </p:spPr>
        <p:txBody>
          <a:bodyPr vert="horz" wrap="square" lIns="91440" tIns="45720" rIns="91440" bIns="45720" anchor="ctr"/>
          <a:p>
            <a:pPr eaLnBrk="1" hangingPunct="1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分布式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数据库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副本一致性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问题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6" name="内容占位符 45"/>
          <p:cNvSpPr/>
          <p:nvPr>
            <p:ph idx="1"/>
          </p:nvPr>
        </p:nvSpPr>
        <p:spPr>
          <a:xfrm>
            <a:off x="35560" y="5300980"/>
            <a:ext cx="8953500" cy="1455420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p>
            <a:r>
              <a:rPr lang="zh-CN" altLang="en-US" sz="2800"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对于</a:t>
            </a:r>
            <a:r>
              <a:rPr lang="zh-CN" altLang="en-US" sz="2800" b="1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副本1，2，3各自</a:t>
            </a:r>
            <a:r>
              <a:rPr lang="zh-CN" altLang="en-US" sz="2800"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收到的</a:t>
            </a:r>
            <a:r>
              <a:rPr lang="zh-CN" altLang="en-US" sz="2800" b="1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事务请求</a:t>
            </a:r>
            <a:r>
              <a:rPr lang="zh-CN" altLang="en-US" sz="2800"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，要给其</a:t>
            </a:r>
            <a:r>
              <a:rPr lang="zh-CN" altLang="en-US" sz="2800" b="1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分配</a:t>
            </a:r>
            <a:r>
              <a:rPr lang="zh-CN" altLang="en-US" sz="2800" b="1">
                <a:solidFill>
                  <a:schemeClr val="tx1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一个</a:t>
            </a:r>
            <a:r>
              <a:rPr lang="zh-CN" altLang="en-US" sz="2800" b="1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全局唯一的</a:t>
            </a:r>
            <a:r>
              <a:rPr lang="en-US" altLang="zh-CN" sz="2800" b="1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id</a:t>
            </a:r>
            <a:r>
              <a:rPr lang="zh-CN" altLang="en-US" sz="2800"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，每个副本都</a:t>
            </a:r>
            <a:r>
              <a:rPr lang="zh-CN" altLang="en-US" sz="2800" b="1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以一样的顺序将所有</a:t>
            </a:r>
            <a:r>
              <a:rPr lang="zh-CN" altLang="en-US" sz="2800" b="1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事务</a:t>
            </a:r>
            <a:r>
              <a:rPr lang="zh-CN" altLang="en-US" sz="2800" b="1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放入自己的</a:t>
            </a:r>
            <a:r>
              <a:rPr lang="zh-CN" altLang="en-US" sz="2800" b="1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globalQueue</a:t>
            </a:r>
            <a:r>
              <a:rPr lang="zh-CN" altLang="en-US" sz="2800" b="1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，保持</a:t>
            </a:r>
            <a:r>
              <a:rPr lang="zh-CN" altLang="en-US" sz="2800" b="1">
                <a:solidFill>
                  <a:srgbClr val="0000FF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3个副本</a:t>
            </a:r>
            <a:r>
              <a:rPr lang="zh-CN" altLang="en-US" sz="2800" b="1">
                <a:solidFill>
                  <a:srgbClr val="FF0000"/>
                </a:solidFill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一致</a:t>
            </a:r>
            <a:r>
              <a:rPr lang="zh-CN" altLang="en-US" sz="2800"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；</a:t>
            </a:r>
            <a:endParaRPr lang="zh-CN" altLang="en-US" sz="2800"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endParaRPr lang="zh-CN" altLang="en-US" sz="2800"/>
          </a:p>
        </p:txBody>
      </p:sp>
      <p:sp>
        <p:nvSpPr>
          <p:cNvPr id="66" name="文本框 25"/>
          <p:cNvSpPr txBox="1"/>
          <p:nvPr/>
        </p:nvSpPr>
        <p:spPr>
          <a:xfrm>
            <a:off x="883920" y="3007360"/>
            <a:ext cx="1125220" cy="9366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108000" rIns="0" bIns="0" rtlCol="0">
            <a:noAutofit/>
          </a:bodyPr>
          <a:lstStyle/>
          <a:p>
            <a:pPr algn="ctr" rtl="0"/>
            <a:r>
              <a:rPr lang="en-US" altLang="zh-CN" sz="2000" kern="100">
                <a:latin typeface="Calibri" panose="020F0502020204030204"/>
                <a:ea typeface="宋体" pitchFamily="2" charset="-122"/>
                <a:cs typeface="Times New Roman" panose="02020603050405020304"/>
                <a:sym typeface="Times New Roman" panose="02020603050405020304"/>
              </a:rPr>
              <a:t>服务器</a:t>
            </a:r>
            <a:endParaRPr lang="en-US" altLang="zh-CN" sz="2000" kern="100">
              <a:latin typeface="Calibri" panose="020F0502020204030204"/>
              <a:ea typeface="宋体" pitchFamily="2" charset="-122"/>
              <a:cs typeface="Times New Roman" panose="02020603050405020304"/>
              <a:sym typeface="Times New Roman" panose="02020603050405020304"/>
            </a:endParaRPr>
          </a:p>
          <a:p>
            <a:pPr algn="ctr" rtl="0"/>
            <a:r>
              <a:rPr lang="en-US" altLang="zh-CN" sz="2000" kern="100">
                <a:latin typeface="Calibri" panose="020F0502020204030204"/>
                <a:ea typeface="宋体" pitchFamily="2" charset="-122"/>
                <a:cs typeface="Times New Roman" panose="02020603050405020304"/>
                <a:sym typeface="Times New Roman" panose="02020603050405020304"/>
              </a:rPr>
              <a:t>副本1</a:t>
            </a:r>
            <a:endParaRPr lang="en-US" altLang="zh-CN" sz="2000" kern="100">
              <a:latin typeface="Calibri" panose="020F0502020204030204"/>
              <a:ea typeface="宋体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3" name="文本框 31"/>
          <p:cNvSpPr txBox="1"/>
          <p:nvPr/>
        </p:nvSpPr>
        <p:spPr>
          <a:xfrm>
            <a:off x="1904365" y="1774825"/>
            <a:ext cx="1939925" cy="5257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indent="0" algn="l" eaLnBrk="1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kern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用户的事务请求T</a:t>
            </a:r>
            <a:endParaRPr lang="en-US" altLang="zh-CN" sz="2000" b="1" kern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grpSp>
        <p:nvGrpSpPr>
          <p:cNvPr id="149" name="组合 27"/>
          <p:cNvGrpSpPr/>
          <p:nvPr/>
        </p:nvGrpSpPr>
        <p:grpSpPr>
          <a:xfrm rot="0">
            <a:off x="1092835" y="3909060"/>
            <a:ext cx="6635115" cy="997585"/>
            <a:chOff x="963" y="6083"/>
            <a:chExt cx="9414" cy="626"/>
          </a:xfrm>
        </p:grpSpPr>
        <p:cxnSp>
          <p:nvCxnSpPr>
            <p:cNvPr id="150" name="直接箭头连接符 20"/>
            <p:cNvCxnSpPr/>
            <p:nvPr/>
          </p:nvCxnSpPr>
          <p:spPr>
            <a:xfrm flipV="1">
              <a:off x="10377" y="6100"/>
              <a:ext cx="0" cy="5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51" name="直接箭头连接符 21"/>
            <p:cNvCxnSpPr/>
            <p:nvPr/>
          </p:nvCxnSpPr>
          <p:spPr>
            <a:xfrm flipV="1">
              <a:off x="4716" y="6083"/>
              <a:ext cx="0" cy="626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52" name="直接箭头连接符 23"/>
            <p:cNvCxnSpPr/>
            <p:nvPr/>
          </p:nvCxnSpPr>
          <p:spPr>
            <a:xfrm flipV="1">
              <a:off x="963" y="6110"/>
              <a:ext cx="0" cy="593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3" name="直接箭头连接符 24"/>
            <p:cNvCxnSpPr/>
            <p:nvPr/>
          </p:nvCxnSpPr>
          <p:spPr>
            <a:xfrm flipH="1" flipV="1">
              <a:off x="963" y="6699"/>
              <a:ext cx="941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4" name="组合 28"/>
          <p:cNvGrpSpPr/>
          <p:nvPr/>
        </p:nvGrpSpPr>
        <p:grpSpPr>
          <a:xfrm rot="0" flipH="1">
            <a:off x="1297940" y="3938905"/>
            <a:ext cx="5544820" cy="709930"/>
            <a:chOff x="963" y="6108"/>
            <a:chExt cx="9414" cy="605"/>
          </a:xfrm>
        </p:grpSpPr>
        <p:cxnSp>
          <p:nvCxnSpPr>
            <p:cNvPr id="155" name="直接箭头连接符 29"/>
            <p:cNvCxnSpPr/>
            <p:nvPr/>
          </p:nvCxnSpPr>
          <p:spPr>
            <a:xfrm flipV="1">
              <a:off x="10377" y="6112"/>
              <a:ext cx="0" cy="5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56" name="直接箭头连接符 34"/>
            <p:cNvCxnSpPr/>
            <p:nvPr/>
          </p:nvCxnSpPr>
          <p:spPr>
            <a:xfrm flipV="1">
              <a:off x="992" y="6119"/>
              <a:ext cx="0" cy="5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57" name="直接箭头连接符 35"/>
            <p:cNvCxnSpPr/>
            <p:nvPr/>
          </p:nvCxnSpPr>
          <p:spPr>
            <a:xfrm flipV="1">
              <a:off x="5869" y="6108"/>
              <a:ext cx="0" cy="59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" name="直接箭头连接符 36"/>
            <p:cNvCxnSpPr/>
            <p:nvPr/>
          </p:nvCxnSpPr>
          <p:spPr>
            <a:xfrm flipH="1" flipV="1">
              <a:off x="963" y="6699"/>
              <a:ext cx="941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59" name="组合 37"/>
          <p:cNvGrpSpPr/>
          <p:nvPr/>
        </p:nvGrpSpPr>
        <p:grpSpPr>
          <a:xfrm rot="0" flipH="1">
            <a:off x="1847215" y="3937000"/>
            <a:ext cx="5544820" cy="840740"/>
            <a:chOff x="963" y="6116"/>
            <a:chExt cx="9414" cy="594"/>
          </a:xfrm>
        </p:grpSpPr>
        <p:cxnSp>
          <p:nvCxnSpPr>
            <p:cNvPr id="160" name="直接箭头连接符 38"/>
            <p:cNvCxnSpPr/>
            <p:nvPr/>
          </p:nvCxnSpPr>
          <p:spPr>
            <a:xfrm flipV="1">
              <a:off x="10377" y="6116"/>
              <a:ext cx="0" cy="5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61" name="直接箭头连接符 39"/>
            <p:cNvCxnSpPr/>
            <p:nvPr/>
          </p:nvCxnSpPr>
          <p:spPr>
            <a:xfrm flipV="1">
              <a:off x="5952" y="6116"/>
              <a:ext cx="0" cy="59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62" name="直接箭头连接符 40"/>
            <p:cNvCxnSpPr/>
            <p:nvPr/>
          </p:nvCxnSpPr>
          <p:spPr>
            <a:xfrm flipV="1">
              <a:off x="993" y="6128"/>
              <a:ext cx="0" cy="579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3" name="直接箭头连接符 41"/>
            <p:cNvCxnSpPr/>
            <p:nvPr/>
          </p:nvCxnSpPr>
          <p:spPr>
            <a:xfrm flipH="1" flipV="1">
              <a:off x="963" y="6699"/>
              <a:ext cx="9411" cy="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4" name="文本框 25"/>
          <p:cNvSpPr txBox="1"/>
          <p:nvPr/>
        </p:nvSpPr>
        <p:spPr>
          <a:xfrm>
            <a:off x="3503295" y="2982595"/>
            <a:ext cx="1125220" cy="9366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108000" rIns="0" bIns="0" rtlCol="0">
            <a:noAutofit/>
          </a:bodyPr>
          <a:lstStyle/>
          <a:p>
            <a:pPr algn="ctr" rtl="0"/>
            <a:r>
              <a:rPr lang="en-US" altLang="zh-CN" sz="2000" kern="100">
                <a:latin typeface="Calibri" panose="020F0502020204030204"/>
                <a:ea typeface="宋体" pitchFamily="2" charset="-122"/>
                <a:cs typeface="Times New Roman" panose="02020603050405020304"/>
                <a:sym typeface="Times New Roman" panose="02020603050405020304"/>
              </a:rPr>
              <a:t>服务器</a:t>
            </a:r>
            <a:endParaRPr lang="en-US" altLang="zh-CN" sz="2000" kern="100">
              <a:latin typeface="Calibri" panose="020F0502020204030204"/>
              <a:ea typeface="宋体" pitchFamily="2" charset="-122"/>
              <a:cs typeface="Times New Roman" panose="02020603050405020304"/>
              <a:sym typeface="Times New Roman" panose="02020603050405020304"/>
            </a:endParaRPr>
          </a:p>
          <a:p>
            <a:pPr algn="ctr" rtl="0"/>
            <a:r>
              <a:rPr lang="en-US" altLang="zh-CN" sz="2000" kern="100">
                <a:latin typeface="Calibri" panose="020F0502020204030204"/>
                <a:ea typeface="宋体" pitchFamily="2" charset="-122"/>
                <a:cs typeface="Times New Roman" panose="02020603050405020304"/>
                <a:sym typeface="Times New Roman" panose="02020603050405020304"/>
              </a:rPr>
              <a:t>副本</a:t>
            </a:r>
            <a:r>
              <a:rPr lang="en-US" altLang="zh-CN" sz="2000" kern="100">
                <a:latin typeface="Calibri" panose="020F0502020204030204"/>
                <a:ea typeface="宋体" pitchFamily="2" charset="-122"/>
                <a:cs typeface="Times New Roman" panose="02020603050405020304"/>
                <a:sym typeface="Times New Roman" panose="02020603050405020304"/>
              </a:rPr>
              <a:t>2</a:t>
            </a:r>
            <a:endParaRPr lang="en-US" altLang="zh-CN" sz="2000" kern="100">
              <a:latin typeface="Calibri" panose="020F0502020204030204"/>
              <a:ea typeface="宋体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1" name="文本框 31"/>
          <p:cNvSpPr txBox="1"/>
          <p:nvPr/>
        </p:nvSpPr>
        <p:spPr>
          <a:xfrm>
            <a:off x="-32385" y="2440940"/>
            <a:ext cx="1607820" cy="426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just" rtl="0"/>
            <a:r>
              <a:rPr lang="en-US" altLang="zh-CN" sz="2000" kern="100">
                <a:latin typeface="Times New Roman" panose="02020603050405020304"/>
                <a:ea typeface="宋体" pitchFamily="2" charset="-122"/>
                <a:cs typeface="Times New Roman" panose="02020603050405020304"/>
                <a:sym typeface="Times New Roman" panose="02020603050405020304"/>
              </a:rPr>
              <a:t>receiveQueue</a:t>
            </a:r>
            <a:endParaRPr lang="en-US" altLang="zh-CN" sz="2000" kern="100">
              <a:latin typeface="Times New Roman" panose="02020603050405020304"/>
              <a:ea typeface="宋体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187" name="直接箭头连接符 14"/>
          <p:cNvCxnSpPr/>
          <p:nvPr/>
        </p:nvCxnSpPr>
        <p:spPr>
          <a:xfrm flipH="1">
            <a:off x="4028440" y="2002790"/>
            <a:ext cx="1270" cy="5854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88" name="直接箭头连接符 14"/>
          <p:cNvCxnSpPr/>
          <p:nvPr/>
        </p:nvCxnSpPr>
        <p:spPr>
          <a:xfrm flipH="1">
            <a:off x="3880485" y="2412365"/>
            <a:ext cx="1270" cy="5854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200" name="组合 200"/>
          <p:cNvGrpSpPr/>
          <p:nvPr/>
        </p:nvGrpSpPr>
        <p:grpSpPr>
          <a:xfrm rot="0">
            <a:off x="2060575" y="2798445"/>
            <a:ext cx="283210" cy="997585"/>
            <a:chOff x="3693" y="3447"/>
            <a:chExt cx="285" cy="966"/>
          </a:xfrm>
        </p:grpSpPr>
        <p:cxnSp>
          <p:nvCxnSpPr>
            <p:cNvPr id="173" name="直接箭头连接符 14"/>
            <p:cNvCxnSpPr/>
            <p:nvPr/>
          </p:nvCxnSpPr>
          <p:spPr>
            <a:xfrm flipH="1">
              <a:off x="3693" y="3447"/>
              <a:ext cx="0" cy="9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174" name="直接箭头连接符 14"/>
            <p:cNvCxnSpPr/>
            <p:nvPr/>
          </p:nvCxnSpPr>
          <p:spPr>
            <a:xfrm flipH="1">
              <a:off x="3978" y="3449"/>
              <a:ext cx="0" cy="9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176" name="矩形 176"/>
            <p:cNvSpPr/>
            <p:nvPr/>
          </p:nvSpPr>
          <p:spPr>
            <a:xfrm>
              <a:off x="3720" y="4261"/>
              <a:ext cx="229" cy="11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</p:sp>
        <p:sp>
          <p:nvSpPr>
            <p:cNvPr id="175" name="矩形 175"/>
            <p:cNvSpPr/>
            <p:nvPr/>
          </p:nvSpPr>
          <p:spPr>
            <a:xfrm>
              <a:off x="3722" y="4095"/>
              <a:ext cx="229" cy="113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</p:sp>
        <p:sp>
          <p:nvSpPr>
            <p:cNvPr id="172" name="矩形 172"/>
            <p:cNvSpPr/>
            <p:nvPr/>
          </p:nvSpPr>
          <p:spPr>
            <a:xfrm>
              <a:off x="3722" y="3937"/>
              <a:ext cx="229" cy="113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</p:sp>
        <p:sp>
          <p:nvSpPr>
            <p:cNvPr id="182" name="矩形 182"/>
            <p:cNvSpPr/>
            <p:nvPr/>
          </p:nvSpPr>
          <p:spPr>
            <a:xfrm>
              <a:off x="3715" y="3789"/>
              <a:ext cx="229" cy="113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</p:sp>
        <p:sp>
          <p:nvSpPr>
            <p:cNvPr id="183" name="矩形 183"/>
            <p:cNvSpPr/>
            <p:nvPr/>
          </p:nvSpPr>
          <p:spPr>
            <a:xfrm>
              <a:off x="3724" y="3647"/>
              <a:ext cx="229" cy="113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</p:sp>
        <p:sp>
          <p:nvSpPr>
            <p:cNvPr id="184" name="矩形 184"/>
            <p:cNvSpPr/>
            <p:nvPr/>
          </p:nvSpPr>
          <p:spPr>
            <a:xfrm>
              <a:off x="3721" y="3487"/>
              <a:ext cx="229" cy="11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</p:sp>
      </p:grpSp>
      <p:cxnSp>
        <p:nvCxnSpPr>
          <p:cNvPr id="189" name="直接箭头连接符 14"/>
          <p:cNvCxnSpPr/>
          <p:nvPr/>
        </p:nvCxnSpPr>
        <p:spPr>
          <a:xfrm flipH="1">
            <a:off x="4163695" y="2414270"/>
            <a:ext cx="1270" cy="5854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grpSp>
        <p:nvGrpSpPr>
          <p:cNvPr id="201" name="组合 201"/>
          <p:cNvGrpSpPr/>
          <p:nvPr/>
        </p:nvGrpSpPr>
        <p:grpSpPr>
          <a:xfrm rot="0">
            <a:off x="4679950" y="2773680"/>
            <a:ext cx="283210" cy="997585"/>
            <a:chOff x="3693" y="3447"/>
            <a:chExt cx="285" cy="966"/>
          </a:xfrm>
        </p:grpSpPr>
        <p:cxnSp>
          <p:nvCxnSpPr>
            <p:cNvPr id="202" name="直接箭头连接符 14"/>
            <p:cNvCxnSpPr/>
            <p:nvPr/>
          </p:nvCxnSpPr>
          <p:spPr>
            <a:xfrm flipH="1">
              <a:off x="3693" y="3447"/>
              <a:ext cx="0" cy="9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cxnSp>
          <p:nvCxnSpPr>
            <p:cNvPr id="203" name="直接箭头连接符 14"/>
            <p:cNvCxnSpPr/>
            <p:nvPr/>
          </p:nvCxnSpPr>
          <p:spPr>
            <a:xfrm flipH="1">
              <a:off x="3978" y="3449"/>
              <a:ext cx="0" cy="964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miter lim="800000"/>
              <a:headEnd type="none" w="med" len="med"/>
              <a:tailEnd type="none" w="med" len="med"/>
            </a:ln>
          </p:spPr>
        </p:cxnSp>
        <p:sp>
          <p:nvSpPr>
            <p:cNvPr id="204" name="矩形 176"/>
            <p:cNvSpPr/>
            <p:nvPr/>
          </p:nvSpPr>
          <p:spPr>
            <a:xfrm>
              <a:off x="3720" y="4261"/>
              <a:ext cx="229" cy="11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</p:sp>
        <p:sp>
          <p:nvSpPr>
            <p:cNvPr id="205" name="矩形 175"/>
            <p:cNvSpPr/>
            <p:nvPr/>
          </p:nvSpPr>
          <p:spPr>
            <a:xfrm>
              <a:off x="3722" y="4095"/>
              <a:ext cx="229" cy="113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</p:sp>
        <p:sp>
          <p:nvSpPr>
            <p:cNvPr id="206" name="矩形 172"/>
            <p:cNvSpPr/>
            <p:nvPr/>
          </p:nvSpPr>
          <p:spPr>
            <a:xfrm>
              <a:off x="3722" y="3937"/>
              <a:ext cx="229" cy="113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</p:sp>
        <p:sp>
          <p:nvSpPr>
            <p:cNvPr id="207" name="矩形 182"/>
            <p:cNvSpPr/>
            <p:nvPr/>
          </p:nvSpPr>
          <p:spPr>
            <a:xfrm>
              <a:off x="3715" y="3789"/>
              <a:ext cx="229" cy="113"/>
            </a:xfrm>
            <a:prstGeom prst="rect">
              <a:avLst/>
            </a:prstGeom>
            <a:solidFill>
              <a:srgbClr val="0000FF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</p:sp>
        <p:sp>
          <p:nvSpPr>
            <p:cNvPr id="208" name="矩形 183"/>
            <p:cNvSpPr/>
            <p:nvPr/>
          </p:nvSpPr>
          <p:spPr>
            <a:xfrm>
              <a:off x="3724" y="3647"/>
              <a:ext cx="229" cy="113"/>
            </a:xfrm>
            <a:prstGeom prst="rect">
              <a:avLst/>
            </a:prstGeom>
            <a:solidFill>
              <a:srgbClr val="00FF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</p:sp>
        <p:sp>
          <p:nvSpPr>
            <p:cNvPr id="209" name="矩形 184"/>
            <p:cNvSpPr/>
            <p:nvPr/>
          </p:nvSpPr>
          <p:spPr>
            <a:xfrm>
              <a:off x="3721" y="3487"/>
              <a:ext cx="229" cy="113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</p:sp>
      </p:grpSp>
      <p:sp>
        <p:nvSpPr>
          <p:cNvPr id="190" name="矩形 168"/>
          <p:cNvSpPr/>
          <p:nvPr/>
        </p:nvSpPr>
        <p:spPr>
          <a:xfrm>
            <a:off x="3907155" y="2757170"/>
            <a:ext cx="226695" cy="116840"/>
          </a:xfrm>
          <a:prstGeom prst="rect">
            <a:avLst/>
          </a:prstGeom>
          <a:pattFill prst="wdUpDiag">
            <a:fgClr>
              <a:srgbClr val="00FF00"/>
            </a:fgClr>
            <a:bgClr>
              <a:schemeClr val="bg1"/>
            </a:bgClr>
          </a:pattFill>
          <a:ln>
            <a:solidFill>
              <a:srgbClr val="00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5" name="文本框 25"/>
          <p:cNvSpPr txBox="1"/>
          <p:nvPr/>
        </p:nvSpPr>
        <p:spPr>
          <a:xfrm>
            <a:off x="6628130" y="3009265"/>
            <a:ext cx="1125220" cy="9366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lIns="0" tIns="108000" rIns="0" bIns="0" rtlCol="0">
            <a:noAutofit/>
          </a:bodyPr>
          <a:lstStyle/>
          <a:p>
            <a:pPr algn="ctr" rtl="0"/>
            <a:r>
              <a:rPr lang="en-US" altLang="zh-CN" sz="2000" kern="100">
                <a:latin typeface="Calibri" panose="020F0502020204030204"/>
                <a:ea typeface="宋体" pitchFamily="2" charset="-122"/>
                <a:cs typeface="Times New Roman" panose="02020603050405020304"/>
                <a:sym typeface="Times New Roman" panose="02020603050405020304"/>
              </a:rPr>
              <a:t>服务器</a:t>
            </a:r>
            <a:endParaRPr lang="en-US" altLang="zh-CN" sz="2000" kern="100">
              <a:latin typeface="Calibri" panose="020F0502020204030204"/>
              <a:ea typeface="宋体" pitchFamily="2" charset="-122"/>
              <a:cs typeface="Times New Roman" panose="02020603050405020304"/>
              <a:sym typeface="Times New Roman" panose="02020603050405020304"/>
            </a:endParaRPr>
          </a:p>
          <a:p>
            <a:pPr algn="ctr" rtl="0"/>
            <a:r>
              <a:rPr lang="en-US" altLang="zh-CN" sz="2000" kern="100">
                <a:latin typeface="Calibri" panose="020F0502020204030204"/>
                <a:ea typeface="宋体" pitchFamily="2" charset="-122"/>
                <a:cs typeface="Times New Roman" panose="02020603050405020304"/>
                <a:sym typeface="Times New Roman" panose="02020603050405020304"/>
              </a:rPr>
              <a:t>副本</a:t>
            </a:r>
            <a:r>
              <a:rPr lang="en-US" altLang="zh-CN" sz="2000" kern="100">
                <a:latin typeface="Calibri" panose="020F0502020204030204"/>
                <a:ea typeface="宋体" pitchFamily="2" charset="-122"/>
                <a:cs typeface="Times New Roman" panose="02020603050405020304"/>
                <a:sym typeface="Times New Roman" panose="02020603050405020304"/>
              </a:rPr>
              <a:t>3</a:t>
            </a:r>
            <a:endParaRPr lang="en-US" altLang="zh-CN" sz="2000" kern="100">
              <a:latin typeface="Calibri" panose="020F0502020204030204"/>
              <a:ea typeface="宋体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1" name="矩形 177"/>
          <p:cNvSpPr/>
          <p:nvPr/>
        </p:nvSpPr>
        <p:spPr>
          <a:xfrm>
            <a:off x="3901440" y="2586990"/>
            <a:ext cx="226695" cy="116840"/>
          </a:xfrm>
          <a:prstGeom prst="rect">
            <a:avLst/>
          </a:prstGeom>
          <a:pattFill prst="wdUpDiag">
            <a:fgClr>
              <a:srgbClr val="00FF00"/>
            </a:fgClr>
            <a:bgClr>
              <a:schemeClr val="bg1"/>
            </a:bgClr>
          </a:pattFill>
          <a:ln>
            <a:solidFill>
              <a:srgbClr val="00FF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cxnSp>
        <p:nvCxnSpPr>
          <p:cNvPr id="194" name="直接箭头连接符 14"/>
          <p:cNvCxnSpPr/>
          <p:nvPr/>
        </p:nvCxnSpPr>
        <p:spPr>
          <a:xfrm flipH="1">
            <a:off x="7219315" y="2030095"/>
            <a:ext cx="1270" cy="5854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220" name="文本框 31"/>
          <p:cNvSpPr txBox="1"/>
          <p:nvPr/>
        </p:nvSpPr>
        <p:spPr>
          <a:xfrm>
            <a:off x="2310765" y="2421255"/>
            <a:ext cx="1529080" cy="3937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just" rtl="0"/>
            <a:r>
              <a:rPr lang="en-US" altLang="zh-CN" sz="2000" kern="100">
                <a:latin typeface="Times New Roman" panose="02020603050405020304"/>
                <a:ea typeface="宋体" pitchFamily="2" charset="-122"/>
                <a:cs typeface="Times New Roman" panose="02020603050405020304"/>
                <a:sym typeface="Times New Roman" panose="02020603050405020304"/>
              </a:rPr>
              <a:t>receiveQueue</a:t>
            </a:r>
            <a:endParaRPr lang="en-US" altLang="zh-CN" sz="2000" kern="100">
              <a:latin typeface="Times New Roman" panose="02020603050405020304"/>
              <a:ea typeface="宋体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195" name="直接箭头连接符 14"/>
          <p:cNvCxnSpPr/>
          <p:nvPr/>
        </p:nvCxnSpPr>
        <p:spPr>
          <a:xfrm flipH="1">
            <a:off x="7070725" y="2439035"/>
            <a:ext cx="1270" cy="5854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11" name="直接箭头连接符 14"/>
          <p:cNvCxnSpPr/>
          <p:nvPr/>
        </p:nvCxnSpPr>
        <p:spPr>
          <a:xfrm flipH="1">
            <a:off x="7812405" y="2737485"/>
            <a:ext cx="0" cy="9956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221" name="文本框 31"/>
          <p:cNvSpPr txBox="1"/>
          <p:nvPr/>
        </p:nvSpPr>
        <p:spPr>
          <a:xfrm>
            <a:off x="5423535" y="2412365"/>
            <a:ext cx="1623060" cy="421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just" rtl="0"/>
            <a:r>
              <a:rPr lang="en-US" altLang="zh-CN" sz="2000" kern="100">
                <a:latin typeface="Times New Roman" panose="02020603050405020304"/>
                <a:ea typeface="宋体" pitchFamily="2" charset="-122"/>
                <a:cs typeface="Times New Roman" panose="02020603050405020304"/>
                <a:sym typeface="Times New Roman" panose="02020603050405020304"/>
              </a:rPr>
              <a:t>receiveQueue</a:t>
            </a:r>
            <a:endParaRPr lang="en-US" altLang="zh-CN" sz="2000" kern="100">
              <a:latin typeface="Times New Roman" panose="02020603050405020304"/>
              <a:ea typeface="宋体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196" name="直接箭头连接符 14"/>
          <p:cNvCxnSpPr/>
          <p:nvPr/>
        </p:nvCxnSpPr>
        <p:spPr>
          <a:xfrm flipH="1">
            <a:off x="7353300" y="2440940"/>
            <a:ext cx="1270" cy="5854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212" name="直接箭头连接符 14"/>
          <p:cNvCxnSpPr/>
          <p:nvPr/>
        </p:nvCxnSpPr>
        <p:spPr>
          <a:xfrm flipH="1">
            <a:off x="8095615" y="2739390"/>
            <a:ext cx="0" cy="99568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97" name="矩形 168"/>
          <p:cNvSpPr/>
          <p:nvPr/>
        </p:nvSpPr>
        <p:spPr>
          <a:xfrm>
            <a:off x="7098030" y="2783840"/>
            <a:ext cx="226695" cy="116840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13" name="矩形 176"/>
          <p:cNvSpPr/>
          <p:nvPr/>
        </p:nvSpPr>
        <p:spPr>
          <a:xfrm>
            <a:off x="7840345" y="3578225"/>
            <a:ext cx="226695" cy="1168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98" name="矩形 177"/>
          <p:cNvSpPr/>
          <p:nvPr/>
        </p:nvSpPr>
        <p:spPr>
          <a:xfrm>
            <a:off x="7091680" y="2613660"/>
            <a:ext cx="226695" cy="116840"/>
          </a:xfrm>
          <a:prstGeom prst="rect">
            <a:avLst/>
          </a:prstGeom>
          <a:pattFill prst="wdUpDiag">
            <a:fgClr>
              <a:srgbClr val="FF0000"/>
            </a:fgClr>
            <a:bgClr>
              <a:schemeClr val="bg1"/>
            </a:bgClr>
          </a:pattFill>
          <a:ln>
            <a:solidFill>
              <a:srgbClr val="FF0000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14" name="矩形 175"/>
          <p:cNvSpPr/>
          <p:nvPr/>
        </p:nvSpPr>
        <p:spPr>
          <a:xfrm>
            <a:off x="7841615" y="3406775"/>
            <a:ext cx="226695" cy="11684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15" name="矩形 172"/>
          <p:cNvSpPr/>
          <p:nvPr/>
        </p:nvSpPr>
        <p:spPr>
          <a:xfrm>
            <a:off x="7841615" y="3243580"/>
            <a:ext cx="226695" cy="11684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16" name="矩形 182"/>
          <p:cNvSpPr/>
          <p:nvPr/>
        </p:nvSpPr>
        <p:spPr>
          <a:xfrm>
            <a:off x="7834630" y="3090545"/>
            <a:ext cx="226695" cy="116840"/>
          </a:xfrm>
          <a:prstGeom prst="rect">
            <a:avLst/>
          </a:prstGeom>
          <a:solidFill>
            <a:srgbClr val="0000FF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17" name="矩形 183"/>
          <p:cNvSpPr/>
          <p:nvPr/>
        </p:nvSpPr>
        <p:spPr>
          <a:xfrm>
            <a:off x="7843520" y="2943860"/>
            <a:ext cx="226695" cy="116840"/>
          </a:xfrm>
          <a:prstGeom prst="rect">
            <a:avLst/>
          </a:prstGeom>
          <a:solidFill>
            <a:srgbClr val="00FF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22" name="文本框 31"/>
          <p:cNvSpPr txBox="1"/>
          <p:nvPr/>
        </p:nvSpPr>
        <p:spPr>
          <a:xfrm>
            <a:off x="2058670" y="3856355"/>
            <a:ext cx="1520825" cy="37719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just" rtl="0"/>
            <a:r>
              <a:rPr lang="en-US" altLang="zh-CN" sz="2000" kern="100">
                <a:latin typeface="Times New Roman" panose="02020603050405020304"/>
                <a:ea typeface="宋体" pitchFamily="2" charset="-122"/>
                <a:cs typeface="Times New Roman" panose="02020603050405020304"/>
                <a:sym typeface="Times New Roman" panose="02020603050405020304"/>
              </a:rPr>
              <a:t>globalQueue</a:t>
            </a:r>
            <a:endParaRPr lang="en-US" altLang="zh-CN" sz="2000" kern="100">
              <a:latin typeface="Times New Roman" panose="02020603050405020304"/>
              <a:ea typeface="宋体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8" name="矩形 184"/>
          <p:cNvSpPr/>
          <p:nvPr/>
        </p:nvSpPr>
        <p:spPr>
          <a:xfrm>
            <a:off x="7841615" y="2778760"/>
            <a:ext cx="226695" cy="1168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23" name="文本框 31"/>
          <p:cNvSpPr txBox="1"/>
          <p:nvPr/>
        </p:nvSpPr>
        <p:spPr>
          <a:xfrm>
            <a:off x="4651375" y="3822065"/>
            <a:ext cx="1542415" cy="41084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just" rtl="0"/>
            <a:r>
              <a:rPr lang="en-US" altLang="zh-CN" sz="2000" kern="100">
                <a:latin typeface="Times New Roman" panose="02020603050405020304"/>
                <a:ea typeface="宋体" pitchFamily="2" charset="-122"/>
                <a:cs typeface="Times New Roman" panose="02020603050405020304"/>
                <a:sym typeface="Times New Roman" panose="02020603050405020304"/>
              </a:rPr>
              <a:t>globalQueue</a:t>
            </a:r>
            <a:endParaRPr lang="en-US" altLang="zh-CN" sz="2000" kern="100">
              <a:latin typeface="Times New Roman" panose="02020603050405020304"/>
              <a:ea typeface="宋体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4" name="文本框 31"/>
          <p:cNvSpPr txBox="1"/>
          <p:nvPr/>
        </p:nvSpPr>
        <p:spPr>
          <a:xfrm>
            <a:off x="7725410" y="3820795"/>
            <a:ext cx="1557020" cy="412115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algn="just" rtl="0"/>
            <a:r>
              <a:rPr lang="en-US" altLang="zh-CN" sz="2000" kern="100">
                <a:latin typeface="Times New Roman" panose="02020603050405020304"/>
                <a:ea typeface="宋体" pitchFamily="2" charset="-122"/>
                <a:cs typeface="Times New Roman" panose="02020603050405020304"/>
                <a:sym typeface="Times New Roman" panose="02020603050405020304"/>
              </a:rPr>
              <a:t>globalQueue</a:t>
            </a:r>
            <a:endParaRPr lang="en-US" altLang="zh-CN" sz="2000" kern="100">
              <a:latin typeface="Times New Roman" panose="02020603050405020304"/>
              <a:ea typeface="宋体" pitchFamily="2" charset="-122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146" name="直接箭头连接符 14"/>
          <p:cNvCxnSpPr/>
          <p:nvPr/>
        </p:nvCxnSpPr>
        <p:spPr>
          <a:xfrm flipH="1">
            <a:off x="1624965" y="2009140"/>
            <a:ext cx="1270" cy="5854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66" name="直接箭头连接符 14"/>
          <p:cNvCxnSpPr/>
          <p:nvPr/>
        </p:nvCxnSpPr>
        <p:spPr>
          <a:xfrm flipH="1">
            <a:off x="1477645" y="2418080"/>
            <a:ext cx="1270" cy="5854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cxnSp>
        <p:nvCxnSpPr>
          <p:cNvPr id="167" name="直接箭头连接符 14"/>
          <p:cNvCxnSpPr/>
          <p:nvPr/>
        </p:nvCxnSpPr>
        <p:spPr>
          <a:xfrm flipH="1">
            <a:off x="1760855" y="2420620"/>
            <a:ext cx="1270" cy="5854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none" w="med" len="med"/>
          </a:ln>
        </p:spPr>
      </p:cxnSp>
      <p:sp>
        <p:nvSpPr>
          <p:cNvPr id="168" name="矩形 168"/>
          <p:cNvSpPr/>
          <p:nvPr/>
        </p:nvSpPr>
        <p:spPr>
          <a:xfrm>
            <a:off x="1504315" y="2763520"/>
            <a:ext cx="226695" cy="116840"/>
          </a:xfrm>
          <a:prstGeom prst="rect">
            <a:avLst/>
          </a:prstGeom>
          <a:pattFill prst="wdUpDiag">
            <a:fgClr>
              <a:srgbClr val="0000FF"/>
            </a:fgClr>
            <a:bgClr>
              <a:schemeClr val="bg1"/>
            </a:bgClr>
          </a:pattFill>
          <a:ln>
            <a:solidFill>
              <a:srgbClr val="000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7" name="矩形 177"/>
          <p:cNvSpPr/>
          <p:nvPr/>
        </p:nvSpPr>
        <p:spPr>
          <a:xfrm>
            <a:off x="1498600" y="2592705"/>
            <a:ext cx="226695" cy="116840"/>
          </a:xfrm>
          <a:prstGeom prst="rect">
            <a:avLst/>
          </a:prstGeom>
          <a:pattFill prst="wdUpDiag">
            <a:fgClr>
              <a:srgbClr val="0000FF"/>
            </a:fgClr>
            <a:bgClr>
              <a:schemeClr val="bg1"/>
            </a:bgClr>
          </a:pattFill>
          <a:ln>
            <a:solidFill>
              <a:srgbClr val="0000FF"/>
            </a:solidFill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25" name="文本框 31"/>
          <p:cNvSpPr txBox="1"/>
          <p:nvPr/>
        </p:nvSpPr>
        <p:spPr>
          <a:xfrm>
            <a:off x="5075555" y="1831340"/>
            <a:ext cx="1939925" cy="52578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>
            <a:noAutofit/>
          </a:bodyPr>
          <a:lstStyle/>
          <a:p>
            <a:pPr marL="0" indent="0" algn="l" eaLnBrk="1" fontAlgn="base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000" b="1" kern="12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用户的事务请求T</a:t>
            </a:r>
            <a:endParaRPr lang="en-US" altLang="zh-CN" sz="2000" b="1" kern="12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Paxos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协议的本质：各自为政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与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一人作主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对立与统一（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辩证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法）</a:t>
            </a:r>
            <a:endParaRPr lang="zh-CN" altLang="en-US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194310" y="2132965"/>
            <a:ext cx="8949690" cy="3285490"/>
          </a:xfrm>
          <a:ln w="28575">
            <a:noFill/>
            <a:miter/>
          </a:ln>
        </p:spPr>
        <p:txBody>
          <a:bodyPr vert="horz" wrap="square" lIns="91440" tIns="45720" rIns="91440" bIns="45720" anchor="t"/>
          <a:p>
            <a:pPr marL="0" indent="0" eaLnBrk="1" hangingPunct="1">
              <a:lnSpc>
                <a:spcPct val="130000"/>
              </a:lnSpc>
              <a:spcBef>
                <a:spcPts val="50"/>
              </a:spcBef>
              <a:spcAft>
                <a:spcPts val="1500"/>
              </a:spcAft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各自为政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：每个副本独立接收事务请求</a:t>
            </a:r>
            <a:r>
              <a:rPr 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，广播给其它副本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ts val="50"/>
              </a:spcBef>
              <a:spcAft>
                <a:spcPts val="1500"/>
              </a:spcAft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一人做主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：分配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ts val="50"/>
              </a:spcBef>
              <a:spcAft>
                <a:spcPts val="1500"/>
              </a:spcAft>
              <a:buNone/>
            </a:pP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解决办法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协商与共识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(Consensus)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1386840" y="304800"/>
            <a:ext cx="7743190" cy="914400"/>
          </a:xfrm>
        </p:spPr>
        <p:txBody>
          <a:bodyPr vert="horz" wrap="square" lIns="91440" tIns="45720" rIns="91440" bIns="45720" anchor="ctr"/>
          <a:p>
            <a:pPr eaLnBrk="1" hangingPunct="1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问题：如何给收到的事务请求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分配一个全局唯一的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</a:t>
            </a:r>
            <a:endParaRPr lang="en-US" altLang="zh-CN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3563620" y="4431665"/>
            <a:ext cx="5470525" cy="2131695"/>
          </a:xfrm>
          <a:solidFill>
            <a:schemeClr val="accent1">
              <a:lumMod val="20000"/>
              <a:lumOff val="80000"/>
            </a:schemeClr>
          </a:solidFill>
          <a:ln w="28575">
            <a:noFill/>
            <a:miter/>
          </a:ln>
        </p:spPr>
        <p:txBody>
          <a:bodyPr vert="horz" wrap="square" lIns="91440" tIns="45720" rIns="91440" bIns="45720" anchor="t"/>
          <a:p>
            <a:pPr marL="0" indent="0" eaLnBrk="1" hangingPunct="1">
              <a:lnSpc>
                <a:spcPct val="150000"/>
              </a:lnSpc>
              <a:spcBef>
                <a:spcPct val="70000"/>
              </a:spcBef>
              <a:buNone/>
            </a:pPr>
            <a:r>
              <a:rPr lang="en-US" altLang="zh-CN" sz="28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3</a:t>
            </a:r>
            <a:r>
              <a:rPr lang="zh-CN" altLang="en-US" sz="28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个</a:t>
            </a:r>
            <a:r>
              <a:rPr lang="zh-CN" altLang="en-US" sz="28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副本</a:t>
            </a:r>
            <a:r>
              <a:rPr lang="zh-CN" altLang="en-US" sz="28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中的任意一个，</a:t>
            </a:r>
            <a:r>
              <a:rPr lang="zh-CN" altLang="en-US" sz="28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对</a:t>
            </a:r>
            <a:r>
              <a:rPr lang="zh-CN" altLang="en-US" sz="2800" b="1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收到的事务，如何才能给其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分配</a:t>
            </a:r>
            <a:r>
              <a:rPr lang="zh-CN" altLang="en-US" sz="2800"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一个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全局唯一的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id</a:t>
            </a:r>
            <a:r>
              <a:rPr lang="en-US" altLang="zh-CN" sz="2800" b="1">
                <a:solidFill>
                  <a:schemeClr val="tx1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？</a:t>
            </a:r>
            <a:r>
              <a:rPr lang="en-US" altLang="zh-CN" sz="2800" b="1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id</a:t>
            </a:r>
            <a:r>
              <a:rPr lang="zh-CN" altLang="en-US" sz="2800" b="1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要求连续！</a:t>
            </a:r>
            <a:endParaRPr lang="zh-CN" altLang="en-US" sz="2800" b="1">
              <a:solidFill>
                <a:srgbClr val="FF0000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</p:txBody>
      </p:sp>
      <p:cxnSp>
        <p:nvCxnSpPr>
          <p:cNvPr id="2" name="直接箭头连接符 1"/>
          <p:cNvCxnSpPr/>
          <p:nvPr/>
        </p:nvCxnSpPr>
        <p:spPr>
          <a:xfrm flipV="1">
            <a:off x="611505" y="1628775"/>
            <a:ext cx="8243570" cy="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</p:spPr>
      </p:cxnSp>
      <p:sp>
        <p:nvSpPr>
          <p:cNvPr id="18" name="文本框 17"/>
          <p:cNvSpPr txBox="1"/>
          <p:nvPr/>
        </p:nvSpPr>
        <p:spPr>
          <a:xfrm>
            <a:off x="56515" y="2814955"/>
            <a:ext cx="116967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事务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7974965" y="1700530"/>
            <a:ext cx="91821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时间</a:t>
            </a:r>
            <a:endParaRPr lang="zh-CN" altLang="en-US"/>
          </a:p>
        </p:txBody>
      </p:sp>
      <p:sp>
        <p:nvSpPr>
          <p:cNvPr id="26" name="文本框 25"/>
          <p:cNvSpPr txBox="1"/>
          <p:nvPr/>
        </p:nvSpPr>
        <p:spPr>
          <a:xfrm>
            <a:off x="328295" y="5229225"/>
            <a:ext cx="2726690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副本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收到的事务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390525" y="4561205"/>
            <a:ext cx="2743835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副本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收到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的事务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179705" y="4580890"/>
            <a:ext cx="144145" cy="360045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179705" y="5300980"/>
            <a:ext cx="144145" cy="360045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rgbClr val="FF0000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2" name="文本框 31"/>
          <p:cNvSpPr txBox="1"/>
          <p:nvPr/>
        </p:nvSpPr>
        <p:spPr>
          <a:xfrm>
            <a:off x="390525" y="5949315"/>
            <a:ext cx="2602230" cy="46037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副本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收到的事务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179705" y="5949315"/>
            <a:ext cx="144145" cy="360045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grpSp>
        <p:nvGrpSpPr>
          <p:cNvPr id="17" name="组合 16"/>
          <p:cNvGrpSpPr/>
          <p:nvPr/>
        </p:nvGrpSpPr>
        <p:grpSpPr>
          <a:xfrm>
            <a:off x="1331595" y="2420620"/>
            <a:ext cx="7561580" cy="1216420"/>
            <a:chOff x="509" y="3580"/>
            <a:chExt cx="11908" cy="1916"/>
          </a:xfrm>
        </p:grpSpPr>
        <p:cxnSp>
          <p:nvCxnSpPr>
            <p:cNvPr id="5" name="直接箭头连接符 4"/>
            <p:cNvCxnSpPr/>
            <p:nvPr/>
          </p:nvCxnSpPr>
          <p:spPr>
            <a:xfrm>
              <a:off x="509" y="4606"/>
              <a:ext cx="11680" cy="0"/>
            </a:xfrm>
            <a:prstGeom prst="straightConnector1">
              <a:avLst/>
            </a:prstGeom>
            <a:solidFill>
              <a:schemeClr val="accent1"/>
            </a:solidFill>
            <a:ln w="25400" cap="flat" cmpd="sng" algn="ctr">
              <a:solidFill>
                <a:schemeClr val="tx1"/>
              </a:solidFill>
              <a:prstDash val="solid"/>
              <a:miter lim="800000"/>
              <a:headEnd type="none" w="lg" len="lg"/>
              <a:tailEnd type="none" w="lg" len="lg"/>
            </a:ln>
          </p:spPr>
        </p:cxnSp>
        <p:sp>
          <p:nvSpPr>
            <p:cNvPr id="12" name="文本框 11"/>
            <p:cNvSpPr txBox="1"/>
            <p:nvPr/>
          </p:nvSpPr>
          <p:spPr>
            <a:xfrm>
              <a:off x="850" y="3580"/>
              <a:ext cx="11567" cy="72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，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，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3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，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 4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，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 5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，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 6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，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7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，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8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，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9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，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10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，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11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，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12</a:t>
              </a:r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，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13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3582" y="4306"/>
              <a:ext cx="227" cy="567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20" name="矩形 19"/>
            <p:cNvSpPr/>
            <p:nvPr/>
          </p:nvSpPr>
          <p:spPr>
            <a:xfrm>
              <a:off x="6083" y="4280"/>
              <a:ext cx="227" cy="567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3" name="矩形 42"/>
            <p:cNvSpPr/>
            <p:nvPr/>
          </p:nvSpPr>
          <p:spPr>
            <a:xfrm>
              <a:off x="4474" y="4315"/>
              <a:ext cx="227" cy="56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cxnSp>
          <p:nvCxnSpPr>
            <p:cNvPr id="45" name="直接连接符 44"/>
            <p:cNvCxnSpPr>
              <a:stCxn id="6" idx="2"/>
            </p:cNvCxnSpPr>
            <p:nvPr/>
          </p:nvCxnSpPr>
          <p:spPr>
            <a:xfrm flipH="1">
              <a:off x="8674" y="4872"/>
              <a:ext cx="0" cy="624"/>
            </a:xfrm>
            <a:prstGeom prst="line">
              <a:avLst/>
            </a:prstGeom>
            <a:solidFill>
              <a:schemeClr val="accent1"/>
            </a:solidFill>
            <a:ln w="6350" cap="flat" cmpd="sng" algn="ctr">
              <a:solidFill>
                <a:schemeClr val="accent1">
                  <a:shade val="50000"/>
                </a:schemeClr>
              </a:solidFill>
              <a:prstDash val="sysDot"/>
              <a:round/>
              <a:headEnd type="none" w="med" len="med"/>
              <a:tailEnd type="none" w="med" len="med"/>
            </a:ln>
          </p:spPr>
        </p:cxnSp>
        <p:sp>
          <p:nvSpPr>
            <p:cNvPr id="6" name="矩形 5"/>
            <p:cNvSpPr/>
            <p:nvPr/>
          </p:nvSpPr>
          <p:spPr>
            <a:xfrm>
              <a:off x="8607" y="4305"/>
              <a:ext cx="227" cy="567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5253" y="4277"/>
              <a:ext cx="227" cy="567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6870" y="4309"/>
              <a:ext cx="227" cy="567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9666" y="4309"/>
              <a:ext cx="227" cy="567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0541" y="4309"/>
              <a:ext cx="227" cy="567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1505" y="4313"/>
              <a:ext cx="227" cy="567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7795" y="4333"/>
              <a:ext cx="227" cy="56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957" y="4307"/>
              <a:ext cx="227" cy="567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7" name="矩形 6"/>
            <p:cNvSpPr/>
            <p:nvPr/>
          </p:nvSpPr>
          <p:spPr>
            <a:xfrm>
              <a:off x="1849" y="4316"/>
              <a:ext cx="227" cy="567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5" name="矩形 14"/>
            <p:cNvSpPr/>
            <p:nvPr/>
          </p:nvSpPr>
          <p:spPr>
            <a:xfrm>
              <a:off x="2628" y="4278"/>
              <a:ext cx="227" cy="567"/>
            </a:xfrm>
            <a:prstGeom prst="rect">
              <a:avLst/>
            </a:prstGeom>
            <a:solidFill>
              <a:schemeClr val="tx1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处理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方法</a:t>
            </a:r>
            <a:endParaRPr lang="zh-CN" altLang="en-US" sz="4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179705" y="1628775"/>
            <a:ext cx="8949690" cy="4718685"/>
          </a:xfrm>
          <a:ln w="28575">
            <a:noFill/>
            <a:miter/>
          </a:ln>
        </p:spPr>
        <p:txBody>
          <a:bodyPr vert="horz" wrap="square" lIns="91440" tIns="45720" rIns="91440" bIns="45720" anchor="t"/>
          <a:p>
            <a:pPr marL="0" indent="0" eaLnBrk="1" hangingPunct="1">
              <a:lnSpc>
                <a:spcPct val="130000"/>
              </a:lnSpc>
              <a:spcBef>
                <a:spcPts val="50"/>
              </a:spcBef>
              <a:spcAft>
                <a:spcPts val="1500"/>
              </a:spcAft>
              <a:buNone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每个副本都有一个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计数器：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</a:rPr>
              <a:t>idCount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；记下当前已分配的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最后一个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；初始值为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ts val="50"/>
              </a:spcBef>
              <a:spcAft>
                <a:spcPts val="1500"/>
              </a:spcAft>
              <a:buNone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每个副本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从外部收到一个事务请求时，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自认为应该给其分配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idCount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+1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ts val="50"/>
              </a:spcBef>
              <a:spcAft>
                <a:spcPts val="1500"/>
              </a:spcAft>
              <a:buNone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这个分配不一定正确，因为自己的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idCount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可能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因故障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落伍于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全局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id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eaLnBrk="1" hangingPunct="1">
              <a:lnSpc>
                <a:spcPct val="130000"/>
              </a:lnSpc>
              <a:spcBef>
                <a:spcPts val="50"/>
              </a:spcBef>
              <a:spcAft>
                <a:spcPts val="1500"/>
              </a:spcAft>
              <a:buNone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这个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分配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要进行一轮</a:t>
            </a:r>
            <a:r>
              <a:rPr lang="en-US" altLang="zh-CN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全局表决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才行；表决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有可能不通过；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1066800" y="175895"/>
            <a:ext cx="8063230" cy="914400"/>
          </a:xfrm>
        </p:spPr>
        <p:txBody>
          <a:bodyPr vert="horz" wrap="square" lIns="91440" tIns="45720" rIns="91440" bIns="45720" anchor="ctr"/>
          <a:p>
            <a:pPr eaLnBrk="1" hangingPunct="1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副本一致性共识算法：</a:t>
            </a:r>
            <a:r>
              <a:rPr 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回合的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交互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6" name="内容占位符 45"/>
          <p:cNvSpPr/>
          <p:nvPr>
            <p:ph idx="1"/>
          </p:nvPr>
        </p:nvSpPr>
        <p:spPr>
          <a:xfrm>
            <a:off x="-36830" y="5805170"/>
            <a:ext cx="7831455" cy="655955"/>
          </a:xfrm>
          <a:solidFill>
            <a:schemeClr val="accent6">
              <a:lumMod val="20000"/>
              <a:lumOff val="80000"/>
            </a:schemeClr>
          </a:solidFill>
        </p:spPr>
        <p:txBody>
          <a:bodyPr/>
          <a:p>
            <a:pPr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</a:t>
            </a: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收到的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</a:t>
            </a:r>
            <a:r>
              <a:rPr lang="zh-CN" altLang="en-US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事务请求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获取一个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全局唯一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 sz="24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id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endParaRPr lang="zh-CN" altLang="en-US" sz="24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48" name="组合 47"/>
          <p:cNvGrpSpPr/>
          <p:nvPr/>
        </p:nvGrpSpPr>
        <p:grpSpPr>
          <a:xfrm>
            <a:off x="180340" y="1483995"/>
            <a:ext cx="8881110" cy="3984625"/>
            <a:chOff x="56" y="3169"/>
            <a:chExt cx="13986" cy="6275"/>
          </a:xfrm>
        </p:grpSpPr>
        <p:sp>
          <p:nvSpPr>
            <p:cNvPr id="7" name="文本框 6"/>
            <p:cNvSpPr txBox="1"/>
            <p:nvPr/>
          </p:nvSpPr>
          <p:spPr>
            <a:xfrm>
              <a:off x="2491" y="3371"/>
              <a:ext cx="1274" cy="1464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noAutofit/>
            </a:bodyPr>
            <a:p>
              <a:pPr algn="ctr"/>
              <a:r>
                <a:rPr lang="zh-CN" altLang="en-US"/>
                <a:t>副本</a:t>
              </a:r>
              <a:r>
                <a:rPr lang="en-US" altLang="zh-CN"/>
                <a:t>1</a:t>
              </a:r>
              <a:endParaRPr lang="en-US" altLang="zh-CN"/>
            </a:p>
          </p:txBody>
        </p:sp>
        <p:sp>
          <p:nvSpPr>
            <p:cNvPr id="15" name="文本框 14"/>
            <p:cNvSpPr txBox="1"/>
            <p:nvPr/>
          </p:nvSpPr>
          <p:spPr>
            <a:xfrm>
              <a:off x="2573" y="5233"/>
              <a:ext cx="1274" cy="125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noAutofit/>
            </a:bodyPr>
            <a:p>
              <a:pPr algn="ctr"/>
              <a:r>
                <a:rPr lang="zh-CN" altLang="en-US"/>
                <a:t>副本</a:t>
              </a:r>
              <a:r>
                <a:rPr lang="en-US" altLang="zh-CN"/>
                <a:t>2</a:t>
              </a:r>
              <a:endParaRPr lang="en-US" altLang="zh-CN"/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2657" y="6728"/>
              <a:ext cx="1274" cy="122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noAutofit/>
            </a:bodyPr>
            <a:p>
              <a:pPr algn="ctr"/>
              <a:r>
                <a:rPr lang="zh-CN" altLang="en-US"/>
                <a:t>副本</a:t>
              </a:r>
              <a:r>
                <a:rPr lang="en-US" altLang="zh-CN"/>
                <a:t>3</a:t>
              </a:r>
              <a:endParaRPr lang="en-US" altLang="zh-CN"/>
            </a:p>
          </p:txBody>
        </p:sp>
        <p:sp>
          <p:nvSpPr>
            <p:cNvPr id="19" name="文本框 18"/>
            <p:cNvSpPr txBox="1"/>
            <p:nvPr/>
          </p:nvSpPr>
          <p:spPr>
            <a:xfrm>
              <a:off x="2719" y="8306"/>
              <a:ext cx="1274" cy="113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noAutofit/>
            </a:bodyPr>
            <a:p>
              <a:pPr algn="ctr"/>
              <a:r>
                <a:rPr lang="zh-CN" altLang="en-US"/>
                <a:t>副本</a:t>
              </a:r>
              <a:r>
                <a:rPr lang="en-US" altLang="zh-CN"/>
                <a:t>4</a:t>
              </a:r>
              <a:endParaRPr lang="en-US" altLang="zh-CN"/>
            </a:p>
          </p:txBody>
        </p:sp>
        <p:sp>
          <p:nvSpPr>
            <p:cNvPr id="21" name="文本框 20"/>
            <p:cNvSpPr txBox="1"/>
            <p:nvPr/>
          </p:nvSpPr>
          <p:spPr>
            <a:xfrm>
              <a:off x="186" y="5881"/>
              <a:ext cx="1274" cy="1214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noAutofit/>
            </a:bodyPr>
            <a:p>
              <a:pPr algn="ctr"/>
              <a:r>
                <a:rPr lang="zh-CN" altLang="en-US"/>
                <a:t>副本</a:t>
              </a:r>
              <a:r>
                <a:rPr lang="en-US" altLang="zh-CN" i="1">
                  <a:cs typeface="Times New Roman" panose="02020603050405020304" pitchFamily="18" charset="0"/>
                </a:rPr>
                <a:t>x</a:t>
              </a:r>
              <a:endParaRPr lang="en-US" altLang="zh-CN" i="1">
                <a:cs typeface="Times New Roman" panose="02020603050405020304" pitchFamily="18" charset="0"/>
              </a:endParaRPr>
            </a:p>
          </p:txBody>
        </p:sp>
        <p:cxnSp>
          <p:nvCxnSpPr>
            <p:cNvPr id="22" name="直接箭头连接符 21"/>
            <p:cNvCxnSpPr/>
            <p:nvPr/>
          </p:nvCxnSpPr>
          <p:spPr>
            <a:xfrm flipV="1">
              <a:off x="1421" y="4338"/>
              <a:ext cx="1071" cy="1588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24" name="直接箭头连接符 23"/>
            <p:cNvCxnSpPr>
              <a:endCxn id="15" idx="1"/>
            </p:cNvCxnSpPr>
            <p:nvPr/>
          </p:nvCxnSpPr>
          <p:spPr>
            <a:xfrm flipV="1">
              <a:off x="1453" y="5861"/>
              <a:ext cx="1120" cy="287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25" name="直接箭头连接符 24"/>
            <p:cNvCxnSpPr>
              <a:stCxn id="21" idx="3"/>
              <a:endCxn id="17" idx="1"/>
            </p:cNvCxnSpPr>
            <p:nvPr/>
          </p:nvCxnSpPr>
          <p:spPr>
            <a:xfrm>
              <a:off x="1460" y="6488"/>
              <a:ext cx="1197" cy="850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26" name="直接箭头连接符 25"/>
            <p:cNvCxnSpPr/>
            <p:nvPr/>
          </p:nvCxnSpPr>
          <p:spPr>
            <a:xfrm>
              <a:off x="1421" y="6606"/>
              <a:ext cx="1367" cy="1701"/>
            </a:xfrm>
            <a:prstGeom prst="straightConnector1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grpSp>
          <p:nvGrpSpPr>
            <p:cNvPr id="30" name="组合 29"/>
            <p:cNvGrpSpPr/>
            <p:nvPr/>
          </p:nvGrpSpPr>
          <p:grpSpPr>
            <a:xfrm rot="0">
              <a:off x="6359" y="3193"/>
              <a:ext cx="2759" cy="5983"/>
              <a:chOff x="2438" y="3734"/>
              <a:chExt cx="3541" cy="5983"/>
            </a:xfrm>
          </p:grpSpPr>
          <p:sp>
            <p:nvSpPr>
              <p:cNvPr id="28" name="文本框 27"/>
              <p:cNvSpPr txBox="1"/>
              <p:nvPr/>
            </p:nvSpPr>
            <p:spPr>
              <a:xfrm>
                <a:off x="3911" y="3734"/>
                <a:ext cx="1754" cy="137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/>
                  <a:t>副本</a:t>
                </a:r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32" name="文本框 31"/>
              <p:cNvSpPr txBox="1"/>
              <p:nvPr/>
            </p:nvSpPr>
            <p:spPr>
              <a:xfrm>
                <a:off x="4026" y="5740"/>
                <a:ext cx="1754" cy="110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/>
                  <a:t>副本</a:t>
                </a:r>
                <a:r>
                  <a:rPr lang="en-US" altLang="zh-CN"/>
                  <a:t>2</a:t>
                </a:r>
                <a:endParaRPr lang="en-US" altLang="zh-CN"/>
              </a:p>
            </p:txBody>
          </p:sp>
          <p:sp>
            <p:nvSpPr>
              <p:cNvPr id="29" name="文本框 28"/>
              <p:cNvSpPr txBox="1"/>
              <p:nvPr/>
            </p:nvSpPr>
            <p:spPr>
              <a:xfrm>
                <a:off x="4139" y="7214"/>
                <a:ext cx="1754" cy="113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/>
                  <a:t>副本</a:t>
                </a:r>
                <a:r>
                  <a:rPr lang="en-US" altLang="zh-CN"/>
                  <a:t>3</a:t>
                </a:r>
                <a:endParaRPr lang="en-US" altLang="zh-CN"/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4225" y="8575"/>
                <a:ext cx="1754" cy="1142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/>
                  <a:t>副本</a:t>
                </a:r>
                <a:r>
                  <a:rPr lang="en-US" altLang="zh-CN"/>
                  <a:t>4</a:t>
                </a:r>
                <a:endParaRPr lang="en-US" altLang="zh-CN"/>
              </a:p>
            </p:txBody>
          </p:sp>
          <p:cxnSp>
            <p:nvCxnSpPr>
              <p:cNvPr id="36" name="直接箭头连接符 35"/>
              <p:cNvCxnSpPr/>
              <p:nvPr/>
            </p:nvCxnSpPr>
            <p:spPr>
              <a:xfrm flipV="1">
                <a:off x="2438" y="4946"/>
                <a:ext cx="1474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37" name="直接箭头连接符 36"/>
              <p:cNvCxnSpPr>
                <a:endCxn id="32" idx="1"/>
              </p:cNvCxnSpPr>
              <p:nvPr/>
            </p:nvCxnSpPr>
            <p:spPr>
              <a:xfrm flipV="1">
                <a:off x="2483" y="6292"/>
                <a:ext cx="1542" cy="62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38" name="直接箭头连接符 37"/>
              <p:cNvCxnSpPr>
                <a:stCxn id="54" idx="3"/>
                <a:endCxn id="29" idx="1"/>
              </p:cNvCxnSpPr>
              <p:nvPr/>
            </p:nvCxnSpPr>
            <p:spPr>
              <a:xfrm>
                <a:off x="2494" y="7134"/>
                <a:ext cx="1644" cy="650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39" name="直接箭头连接符 38"/>
              <p:cNvCxnSpPr/>
              <p:nvPr/>
            </p:nvCxnSpPr>
            <p:spPr>
              <a:xfrm>
                <a:off x="2438" y="7214"/>
                <a:ext cx="1882" cy="170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</p:grpSp>
        <p:sp>
          <p:nvSpPr>
            <p:cNvPr id="40" name="文本框 39"/>
            <p:cNvSpPr txBox="1"/>
            <p:nvPr/>
          </p:nvSpPr>
          <p:spPr>
            <a:xfrm>
              <a:off x="56" y="4379"/>
              <a:ext cx="2372" cy="13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solidFill>
                    <a:srgbClr val="0001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proposal</a:t>
              </a:r>
              <a:endParaRPr lang="en-US" altLang="zh-CN" b="1">
                <a:solidFill>
                  <a:srgbClr val="0001FF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pPr algn="ctr"/>
              <a:r>
                <a:rPr lang="en-US" altLang="zh-CN" b="1">
                  <a:solidFill>
                    <a:srgbClr val="0001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&lt;id&gt;</a:t>
              </a:r>
              <a:endParaRPr lang="en-US" altLang="zh-CN" b="1">
                <a:solidFill>
                  <a:srgbClr val="0001FF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41" name="组合 40"/>
            <p:cNvGrpSpPr/>
            <p:nvPr/>
          </p:nvGrpSpPr>
          <p:grpSpPr>
            <a:xfrm rot="0">
              <a:off x="3797" y="4606"/>
              <a:ext cx="3383" cy="4255"/>
              <a:chOff x="5046" y="4606"/>
              <a:chExt cx="4342" cy="4255"/>
            </a:xfrm>
          </p:grpSpPr>
          <p:cxnSp>
            <p:nvCxnSpPr>
              <p:cNvPr id="42" name="直接箭头连接符 41"/>
              <p:cNvCxnSpPr/>
              <p:nvPr/>
            </p:nvCxnSpPr>
            <p:spPr>
              <a:xfrm>
                <a:off x="5046" y="4606"/>
                <a:ext cx="1587" cy="154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45" name="直接箭头连接符 44"/>
              <p:cNvCxnSpPr>
                <a:stCxn id="15" idx="3"/>
              </p:cNvCxnSpPr>
              <p:nvPr/>
            </p:nvCxnSpPr>
            <p:spPr>
              <a:xfrm>
                <a:off x="5110" y="5861"/>
                <a:ext cx="1489" cy="42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47" name="直接箭头连接符 46"/>
              <p:cNvCxnSpPr/>
              <p:nvPr/>
            </p:nvCxnSpPr>
            <p:spPr>
              <a:xfrm flipV="1">
                <a:off x="5212" y="6605"/>
                <a:ext cx="1421" cy="81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52" name="直接箭头连接符 51"/>
              <p:cNvCxnSpPr/>
              <p:nvPr/>
            </p:nvCxnSpPr>
            <p:spPr>
              <a:xfrm flipV="1">
                <a:off x="5298" y="6718"/>
                <a:ext cx="1448" cy="204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sp>
            <p:nvSpPr>
              <p:cNvPr id="54" name="文本框 53"/>
              <p:cNvSpPr txBox="1"/>
              <p:nvPr/>
            </p:nvSpPr>
            <p:spPr>
              <a:xfrm>
                <a:off x="6636" y="5971"/>
                <a:ext cx="1755" cy="124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/>
                  <a:t>副本</a:t>
                </a:r>
                <a:r>
                  <a:rPr lang="en-US" altLang="zh-CN" i="1">
                    <a:cs typeface="Times New Roman" panose="02020603050405020304" pitchFamily="18" charset="0"/>
                  </a:rPr>
                  <a:t>x</a:t>
                </a:r>
                <a:endParaRPr lang="en-US" altLang="zh-CN" i="1">
                  <a:cs typeface="Times New Roman" panose="02020603050405020304" pitchFamily="18" charset="0"/>
                </a:endParaRPr>
              </a:p>
            </p:txBody>
          </p:sp>
          <p:sp>
            <p:nvSpPr>
              <p:cNvPr id="56" name="文本框 55"/>
              <p:cNvSpPr txBox="1"/>
              <p:nvPr/>
            </p:nvSpPr>
            <p:spPr>
              <a:xfrm>
                <a:off x="5195" y="7554"/>
                <a:ext cx="4193" cy="13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b="1">
                    <a:solidFill>
                      <a:srgbClr val="FF0000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vote</a:t>
                </a:r>
                <a:endParaRPr lang="en-US" altLang="zh-CN" b="1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/>
                <a:r>
                  <a:rPr lang="en-US" altLang="zh-CN" b="1">
                    <a:solidFill>
                      <a:srgbClr val="FF0000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&lt;id, option&gt;</a:t>
                </a:r>
                <a:endParaRPr lang="en-US" altLang="zh-CN" b="1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sp>
          <p:nvSpPr>
            <p:cNvPr id="59" name="文本框 58"/>
            <p:cNvSpPr txBox="1"/>
            <p:nvPr/>
          </p:nvSpPr>
          <p:spPr>
            <a:xfrm>
              <a:off x="4591" y="3812"/>
              <a:ext cx="2848" cy="13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solidFill>
                    <a:srgbClr val="0001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decision</a:t>
              </a:r>
              <a:endParaRPr lang="en-US" altLang="zh-CN" b="1">
                <a:solidFill>
                  <a:srgbClr val="0001FF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pPr algn="ctr"/>
              <a:r>
                <a:rPr lang="en-US" altLang="zh-CN" b="1">
                  <a:solidFill>
                    <a:srgbClr val="0001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&lt;id, trx&gt;</a:t>
              </a:r>
              <a:endParaRPr lang="en-US" altLang="zh-CN" b="1">
                <a:solidFill>
                  <a:srgbClr val="0001FF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  <p:grpSp>
          <p:nvGrpSpPr>
            <p:cNvPr id="61" name="组合 60"/>
            <p:cNvGrpSpPr/>
            <p:nvPr/>
          </p:nvGrpSpPr>
          <p:grpSpPr>
            <a:xfrm rot="0">
              <a:off x="8889" y="4490"/>
              <a:ext cx="2378" cy="4031"/>
              <a:chOff x="5045" y="4904"/>
              <a:chExt cx="3918" cy="4031"/>
            </a:xfrm>
          </p:grpSpPr>
          <p:cxnSp>
            <p:nvCxnSpPr>
              <p:cNvPr id="62" name="直接箭头连接符 61"/>
              <p:cNvCxnSpPr/>
              <p:nvPr/>
            </p:nvCxnSpPr>
            <p:spPr>
              <a:xfrm>
                <a:off x="5045" y="4904"/>
                <a:ext cx="1588" cy="1247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63" name="直接箭头连接符 62"/>
              <p:cNvCxnSpPr/>
              <p:nvPr/>
            </p:nvCxnSpPr>
            <p:spPr>
              <a:xfrm>
                <a:off x="5098" y="5947"/>
                <a:ext cx="1489" cy="423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64" name="直接箭头连接符 63"/>
              <p:cNvCxnSpPr/>
              <p:nvPr/>
            </p:nvCxnSpPr>
            <p:spPr>
              <a:xfrm flipV="1">
                <a:off x="5212" y="6605"/>
                <a:ext cx="1421" cy="81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65" name="直接箭头连接符 64"/>
              <p:cNvCxnSpPr/>
              <p:nvPr/>
            </p:nvCxnSpPr>
            <p:spPr>
              <a:xfrm flipV="1">
                <a:off x="5298" y="6718"/>
                <a:ext cx="1448" cy="204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sp>
            <p:nvSpPr>
              <p:cNvPr id="66" name="文本框 65"/>
              <p:cNvSpPr txBox="1"/>
              <p:nvPr/>
            </p:nvSpPr>
            <p:spPr>
              <a:xfrm>
                <a:off x="6637" y="5971"/>
                <a:ext cx="2326" cy="1294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/>
                  <a:t>副本</a:t>
                </a:r>
                <a:r>
                  <a:rPr lang="en-US" altLang="zh-CN" i="1">
                    <a:cs typeface="Times New Roman" panose="02020603050405020304" pitchFamily="18" charset="0"/>
                  </a:rPr>
                  <a:t>x</a:t>
                </a:r>
                <a:endParaRPr lang="en-US" altLang="zh-CN" i="1">
                  <a:cs typeface="Times New Roman" panose="02020603050405020304" pitchFamily="18" charset="0"/>
                </a:endParaRPr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5812" y="7628"/>
                <a:ext cx="2682" cy="13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p>
                <a:pPr algn="ctr"/>
                <a:r>
                  <a:rPr lang="en-US" altLang="zh-CN" b="1">
                    <a:solidFill>
                      <a:srgbClr val="FF0000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ack</a:t>
                </a:r>
                <a:endParaRPr lang="en-US" altLang="zh-CN" b="1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/>
                <a:r>
                  <a:rPr lang="en-US" altLang="zh-CN" b="1">
                    <a:solidFill>
                      <a:srgbClr val="FF0000"/>
                    </a:solidFill>
                    <a:latin typeface="Arial" panose="020B0604020202090204" pitchFamily="34" charset="0"/>
                    <a:cs typeface="Arial" panose="020B0604020202090204" pitchFamily="34" charset="0"/>
                  </a:rPr>
                  <a:t>&lt;id&gt;</a:t>
                </a:r>
                <a:endParaRPr lang="en-US" altLang="zh-CN" b="1">
                  <a:solidFill>
                    <a:srgbClr val="FF0000"/>
                  </a:solidFill>
                  <a:latin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 rot="0">
              <a:off x="11283" y="3169"/>
              <a:ext cx="2759" cy="5941"/>
              <a:chOff x="2438" y="3895"/>
              <a:chExt cx="3541" cy="5941"/>
            </a:xfrm>
          </p:grpSpPr>
          <p:sp>
            <p:nvSpPr>
              <p:cNvPr id="69" name="文本框 68"/>
              <p:cNvSpPr txBox="1"/>
              <p:nvPr/>
            </p:nvSpPr>
            <p:spPr>
              <a:xfrm>
                <a:off x="3911" y="3895"/>
                <a:ext cx="1754" cy="132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/>
                  <a:t>副本</a:t>
                </a:r>
                <a:r>
                  <a:rPr lang="en-US" altLang="zh-CN"/>
                  <a:t>1</a:t>
                </a:r>
                <a:endParaRPr lang="en-US" altLang="zh-CN"/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4026" y="5465"/>
                <a:ext cx="1754" cy="1190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/>
                  <a:t>副本</a:t>
                </a:r>
                <a:r>
                  <a:rPr lang="en-US" altLang="zh-CN"/>
                  <a:t>2</a:t>
                </a:r>
                <a:endParaRPr lang="en-US" altLang="zh-CN"/>
              </a:p>
            </p:txBody>
          </p:sp>
          <p:sp>
            <p:nvSpPr>
              <p:cNvPr id="77" name="文本框 76"/>
              <p:cNvSpPr txBox="1"/>
              <p:nvPr/>
            </p:nvSpPr>
            <p:spPr>
              <a:xfrm>
                <a:off x="4139" y="6932"/>
                <a:ext cx="1754" cy="1219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/>
                  <a:t>副本</a:t>
                </a:r>
                <a:r>
                  <a:rPr lang="en-US" altLang="zh-CN"/>
                  <a:t>3</a:t>
                </a:r>
                <a:endParaRPr lang="en-US" altLang="zh-CN"/>
              </a:p>
            </p:txBody>
          </p:sp>
          <p:sp>
            <p:nvSpPr>
              <p:cNvPr id="81" name="文本框 80"/>
              <p:cNvSpPr txBox="1"/>
              <p:nvPr/>
            </p:nvSpPr>
            <p:spPr>
              <a:xfrm>
                <a:off x="4225" y="8575"/>
                <a:ext cx="1754" cy="126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square" rtlCol="0">
                <a:noAutofit/>
              </a:bodyPr>
              <a:p>
                <a:pPr algn="ctr"/>
                <a:r>
                  <a:rPr lang="zh-CN" altLang="en-US"/>
                  <a:t>副本</a:t>
                </a:r>
                <a:r>
                  <a:rPr lang="en-US" altLang="zh-CN"/>
                  <a:t>4</a:t>
                </a:r>
                <a:endParaRPr lang="en-US" altLang="zh-CN"/>
              </a:p>
            </p:txBody>
          </p:sp>
          <p:cxnSp>
            <p:nvCxnSpPr>
              <p:cNvPr id="82" name="直接箭头连接符 81"/>
              <p:cNvCxnSpPr/>
              <p:nvPr/>
            </p:nvCxnSpPr>
            <p:spPr>
              <a:xfrm flipV="1">
                <a:off x="2438" y="4946"/>
                <a:ext cx="1474" cy="1588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83" name="直接箭头连接符 82"/>
              <p:cNvCxnSpPr>
                <a:endCxn id="70" idx="1"/>
              </p:cNvCxnSpPr>
              <p:nvPr/>
            </p:nvCxnSpPr>
            <p:spPr>
              <a:xfrm flipV="1">
                <a:off x="2483" y="6060"/>
                <a:ext cx="1542" cy="626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84" name="直接箭头连接符 83"/>
              <p:cNvCxnSpPr>
                <a:endCxn id="77" idx="1"/>
              </p:cNvCxnSpPr>
              <p:nvPr/>
            </p:nvCxnSpPr>
            <p:spPr>
              <a:xfrm>
                <a:off x="2491" y="6817"/>
                <a:ext cx="1648" cy="725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  <p:cxnSp>
            <p:nvCxnSpPr>
              <p:cNvPr id="85" name="直接箭头连接符 84"/>
              <p:cNvCxnSpPr/>
              <p:nvPr/>
            </p:nvCxnSpPr>
            <p:spPr>
              <a:xfrm>
                <a:off x="2438" y="7214"/>
                <a:ext cx="1882" cy="1701"/>
              </a:xfrm>
              <a:prstGeom prst="straightConnector1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arrow" w="med" len="med"/>
              </a:ln>
            </p:spPr>
          </p:cxnSp>
        </p:grpSp>
        <p:sp>
          <p:nvSpPr>
            <p:cNvPr id="86" name="文本框 85"/>
            <p:cNvSpPr txBox="1"/>
            <p:nvPr/>
          </p:nvSpPr>
          <p:spPr>
            <a:xfrm>
              <a:off x="9695" y="3812"/>
              <a:ext cx="2797" cy="1307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altLang="zh-CN" b="1">
                  <a:solidFill>
                    <a:srgbClr val="0001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validation</a:t>
              </a:r>
              <a:endParaRPr lang="en-US" altLang="zh-CN" b="1">
                <a:solidFill>
                  <a:srgbClr val="0001FF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  <a:p>
              <a:pPr algn="ctr"/>
              <a:r>
                <a:rPr lang="en-US" altLang="zh-CN" b="1">
                  <a:solidFill>
                    <a:srgbClr val="0001FF"/>
                  </a:solidFill>
                  <a:latin typeface="Arial" panose="020B0604020202090204" pitchFamily="34" charset="0"/>
                  <a:cs typeface="Arial" panose="020B0604020202090204" pitchFamily="34" charset="0"/>
                </a:rPr>
                <a:t>&lt;id&gt;</a:t>
              </a:r>
              <a:endParaRPr lang="en-US" altLang="zh-CN" b="1">
                <a:solidFill>
                  <a:srgbClr val="0001FF"/>
                </a:solidFill>
                <a:latin typeface="Arial" panose="020B0604020202090204" pitchFamily="34" charset="0"/>
                <a:cs typeface="Arial" panose="020B0604020202090204" pitchFamily="34" charset="0"/>
              </a:endParaRPr>
            </a:p>
          </p:txBody>
        </p:sp>
      </p:grp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全局唯一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</a:rPr>
              <a:t>id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的获取过程：共识</a:t>
            </a:r>
            <a:endParaRPr lang="zh-CN" altLang="en-US" sz="4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107950" y="1628775"/>
            <a:ext cx="8949690" cy="5159375"/>
          </a:xfrm>
          <a:ln w="28575">
            <a:noFill/>
            <a:miter/>
          </a:ln>
        </p:spPr>
        <p:txBody>
          <a:bodyPr vert="horz" wrap="square" lIns="91440" tIns="45720" rIns="91440" bIns="45720" anchor="t"/>
          <a:p>
            <a:pPr marL="0" indent="0" eaLnBrk="1" hangingPunct="1">
              <a:lnSpc>
                <a:spcPct val="130000"/>
              </a:lnSpc>
              <a:spcBef>
                <a:spcPts val="50"/>
              </a:spcBef>
              <a:spcAft>
                <a:spcPts val="1500"/>
              </a:spcAft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proposer(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申请者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在系统中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广播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proposal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消息，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附带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要申请的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eaLnBrk="1" hangingPunct="1">
              <a:lnSpc>
                <a:spcPct val="130000"/>
              </a:lnSpc>
              <a:spcBef>
                <a:spcPts val="50"/>
              </a:spcBef>
              <a:spcAft>
                <a:spcPts val="1500"/>
              </a:spcAft>
              <a:buNone/>
            </a:pP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acceptor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proposal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投票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：每个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id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副本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有且仅有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一张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赞成票。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hangingPunct="1">
              <a:lnSpc>
                <a:spcPct val="130000"/>
              </a:lnSpc>
              <a:spcBef>
                <a:spcPts val="50"/>
              </a:spcBef>
              <a:spcAft>
                <a:spcPts val="1500"/>
              </a:spcAft>
              <a:buNone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proposer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得到超过半数的赞成票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，即表示申请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成功，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将该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分配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给自己收到的一个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事务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然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后广播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该事务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2800" b="1" i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marL="0" indent="0" eaLnBrk="1" hangingPunct="1">
              <a:lnSpc>
                <a:spcPct val="130000"/>
              </a:lnSpc>
              <a:spcBef>
                <a:spcPts val="50"/>
              </a:spcBef>
              <a:spcAft>
                <a:spcPts val="1500"/>
              </a:spcAft>
              <a:buNone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其它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副本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收到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带id的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事务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之后，将其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放入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globalQueue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然后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回复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ack消息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eaLnBrk="1" hangingPunct="1">
              <a:spcBef>
                <a:spcPct val="70000"/>
              </a:spcBef>
              <a:buNone/>
            </a:pP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全局唯一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</a:rPr>
              <a:t>id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的获取过程：即共识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过程</a:t>
            </a:r>
            <a:endParaRPr lang="zh-CN" altLang="en-US" sz="4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125730" y="1556385"/>
            <a:ext cx="9018270" cy="5261610"/>
          </a:xfrm>
          <a:ln w="28575">
            <a:noFill/>
            <a:miter/>
          </a:ln>
        </p:spPr>
        <p:txBody>
          <a:bodyPr vert="horz" wrap="square" lIns="91440" tIns="45720" rIns="91440" bIns="45720" anchor="t"/>
          <a:p>
            <a:pPr eaLnBrk="1" hangingPunct="1">
              <a:lnSpc>
                <a:spcPct val="130000"/>
              </a:lnSpc>
              <a:spcBef>
                <a:spcPts val="5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proposer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得到超过半数的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ack消息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后：超过半数的副本已将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带id的事务放入到了globalQueue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30000"/>
              </a:lnSpc>
              <a:spcBef>
                <a:spcPts val="5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于是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广播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Validation消息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30000"/>
              </a:lnSpc>
              <a:spcBef>
                <a:spcPts val="5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acceptor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关联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事务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，将其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validation属性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设置为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TRUE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30000"/>
              </a:lnSpc>
              <a:spcBef>
                <a:spcPts val="5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globalQueue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中，仅只有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validation属性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RUE的事务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可被执行；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eaLnBrk="1" hangingPunct="1">
              <a:spcBef>
                <a:spcPct val="70000"/>
              </a:spcBef>
              <a:buNone/>
            </a:pP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为什么一个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副本的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</a:rPr>
              <a:t>idCount</a:t>
            </a:r>
            <a:br>
              <a:rPr lang="en-US" altLang="zh-CN" sz="4000" dirty="0"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会落伍于全局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</a:rPr>
              <a:t>id?</a:t>
            </a:r>
            <a:endParaRPr lang="en-US" altLang="zh-CN" sz="4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107950" y="1844675"/>
            <a:ext cx="8949690" cy="4340860"/>
          </a:xfrm>
          <a:ln w="28575">
            <a:noFill/>
            <a:miter/>
          </a:ln>
        </p:spPr>
        <p:txBody>
          <a:bodyPr vert="horz" wrap="square" lIns="91440" tIns="45720" rIns="91440" bIns="45720" anchor="t"/>
          <a:p>
            <a:pPr eaLnBrk="1" hangingPunct="1">
              <a:lnSpc>
                <a:spcPct val="130000"/>
              </a:lnSpc>
              <a:spcBef>
                <a:spcPts val="5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有两种类型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：副本故障，网络故障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。因此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id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不要求全票通过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仅只要求超过半数的副本认可。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30000"/>
              </a:lnSpc>
              <a:spcBef>
                <a:spcPts val="5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效果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：降低了认可要求，增强了系统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可用性。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30000"/>
              </a:lnSpc>
              <a:spcBef>
                <a:spcPts val="5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带来的问题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：在故障恢复后，其</a:t>
            </a:r>
            <a:r>
              <a:rPr lang="en-US" altLang="zh-CN" sz="2800" b="1" i="1" dirty="0">
                <a:solidFill>
                  <a:srgbClr val="0000FF"/>
                </a:solidFill>
                <a:latin typeface="Times New Roman" panose="02020603050405020304" pitchFamily="18" charset="0"/>
                <a:ea typeface="微软雅黑" panose="020B0503020204020204" charset="-122"/>
                <a:cs typeface="Times New Roman" panose="02020603050405020304" pitchFamily="18" charset="0"/>
                <a:sym typeface="+mn-ea"/>
              </a:rPr>
              <a:t>idCount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落后于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全局id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sz="2800" b="1" i="1" dirty="0">
              <a:solidFill>
                <a:srgbClr val="0000FF"/>
              </a:solidFill>
              <a:latin typeface="Times New Roman" panose="02020603050405020304" pitchFamily="18" charset="0"/>
              <a:ea typeface="微软雅黑" panose="020B0503020204020204" charset="-122"/>
              <a:cs typeface="Times New Roman" panose="02020603050405020304" pitchFamily="18" charset="0"/>
              <a:sym typeface="+mn-ea"/>
            </a:endParaRPr>
          </a:p>
          <a:p>
            <a:pPr eaLnBrk="1" hangingPunct="1">
              <a:lnSpc>
                <a:spcPct val="130000"/>
              </a:lnSpc>
              <a:spcBef>
                <a:spcPts val="5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解决办法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：每个副本要得到一个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全局id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，都需要在系统中通过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表决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取得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共识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（consensus）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eaLnBrk="1" hangingPunct="1">
              <a:spcBef>
                <a:spcPct val="70000"/>
              </a:spcBef>
              <a:buNone/>
            </a:pP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1066800" y="304800"/>
            <a:ext cx="8018145" cy="914400"/>
          </a:xfrm>
        </p:spPr>
        <p:txBody>
          <a:bodyPr vert="horz" wrap="square" lIns="91440" tIns="45720" rIns="91440" bIns="45720" anchor="ctr"/>
          <a:p>
            <a:pPr eaLnBrk="1" hangingPunct="1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共识过程中的两种角色之一：申请者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179705" y="1700530"/>
            <a:ext cx="8964295" cy="4619625"/>
          </a:xfrm>
          <a:ln w="28575">
            <a:noFill/>
            <a:miter/>
          </a:ln>
        </p:spPr>
        <p:txBody>
          <a:bodyPr vert="horz" wrap="square" lIns="91440" tIns="45720" rIns="91440" bIns="45720" anchor="t"/>
          <a:p>
            <a:pPr eaLnBrk="1" hangingPunct="1">
              <a:lnSpc>
                <a:spcPct val="150000"/>
              </a:lnSpc>
              <a:spcBef>
                <a:spcPct val="70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申请者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当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收到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一个事务请求时，要为其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申请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一个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全局唯一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。如果申请者在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FREE状态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，便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广播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一个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proposal消息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，启动申请过程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ct val="70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广播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一个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proposal消息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要求送达超过半数的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副本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，才算成功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ct val="70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广播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proposal消息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后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进入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PROPOSING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状态。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1066800" y="304800"/>
            <a:ext cx="8018145" cy="914400"/>
          </a:xfrm>
        </p:spPr>
        <p:txBody>
          <a:bodyPr vert="horz" wrap="square" lIns="91440" tIns="45720" rIns="91440" bIns="45720" anchor="ctr"/>
          <a:p>
            <a:pPr eaLnBrk="1" hangingPunct="1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共识过程中的两种角色之二：投票者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35560" y="2072005"/>
            <a:ext cx="8964295" cy="2967990"/>
          </a:xfrm>
          <a:ln w="28575">
            <a:noFill/>
            <a:miter/>
          </a:ln>
        </p:spPr>
        <p:txBody>
          <a:bodyPr vert="horz" wrap="square" lIns="91440" tIns="45720" rIns="91440" bIns="45720" anchor="t"/>
          <a:p>
            <a:pPr eaLnBrk="1" hangingPunct="1">
              <a:lnSpc>
                <a:spcPct val="150000"/>
              </a:lnSpc>
              <a:spcBef>
                <a:spcPct val="70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acceptor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FREE状态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收到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一个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proposal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消息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时，就把自己的这张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赞成票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投给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申请者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ct val="70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由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FREE状态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进入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VOTING状态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1066800" y="304800"/>
            <a:ext cx="8018145" cy="914400"/>
          </a:xfrm>
        </p:spPr>
        <p:txBody>
          <a:bodyPr vert="horz" wrap="square" lIns="91440" tIns="45720" rIns="91440" bIns="45720" anchor="ctr"/>
          <a:p>
            <a:pPr eaLnBrk="1" hangingPunct="1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无故障情形下，共识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的推进</a:t>
            </a:r>
            <a:endParaRPr lang="en-US" altLang="zh-CN" sz="4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107315" y="1556385"/>
            <a:ext cx="8964295" cy="4933315"/>
          </a:xfrm>
          <a:ln w="28575">
            <a:noFill/>
            <a:miter/>
          </a:ln>
        </p:spPr>
        <p:txBody>
          <a:bodyPr vert="horz" wrap="square" lIns="91440" tIns="45720" rIns="91440" bIns="45720" anchor="t"/>
          <a:p>
            <a:pPr eaLnBrk="1" hangingPunct="1">
              <a:lnSpc>
                <a:spcPct val="150000"/>
              </a:lnSpc>
              <a:spcBef>
                <a:spcPct val="70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申请者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PROPOSING状态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等待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vote消息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。如果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收到了超过半数的赞成票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，便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广播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一个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decision消息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ct val="70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广播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一个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decision&lt;id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trx&gt;消息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要求送达超过半数的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副本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，才算成功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ct val="70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广播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decision消息</a:t>
            </a:r>
            <a:r>
              <a:rPr lang="zh-CN" altLang="en-US" sz="28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后，由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PROPOSING状态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进入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DECIDING状态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1066800" y="304800"/>
            <a:ext cx="8018145" cy="914400"/>
          </a:xfrm>
        </p:spPr>
        <p:txBody>
          <a:bodyPr vert="horz" wrap="square" lIns="91440" tIns="45720" rIns="91440" bIns="45720" anchor="ctr"/>
          <a:p>
            <a:pPr eaLnBrk="1" hangingPunct="1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无故障情形下，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共识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的推进</a:t>
            </a:r>
            <a:endParaRPr lang="en-US" altLang="zh-CN" sz="4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107315" y="2132965"/>
            <a:ext cx="8964295" cy="3187700"/>
          </a:xfrm>
          <a:ln w="28575">
            <a:noFill/>
            <a:miter/>
          </a:ln>
        </p:spPr>
        <p:txBody>
          <a:bodyPr vert="horz" wrap="square" lIns="91440" tIns="45720" rIns="91440" bIns="45720" anchor="t"/>
          <a:p>
            <a:pPr eaLnBrk="1" hangingPunct="1">
              <a:lnSpc>
                <a:spcPct val="150000"/>
              </a:lnSpc>
              <a:spcBef>
                <a:spcPct val="70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投票者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VOTING状态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等待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decision消息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一旦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收到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decision消息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，便给申请者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发送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一个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ack消息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ct val="70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发送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ack消息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后，由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VOTING状态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进入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VALIDATING状态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，等待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validation消息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1066800" y="304800"/>
            <a:ext cx="8018145" cy="914400"/>
          </a:xfrm>
        </p:spPr>
        <p:txBody>
          <a:bodyPr vert="horz" wrap="square" lIns="91440" tIns="45720" rIns="91440" bIns="45720" anchor="ctr"/>
          <a:p>
            <a:pPr eaLnBrk="1" hangingPunct="1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无故障情形下，共识的推进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4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107315" y="2132965"/>
            <a:ext cx="8964295" cy="3111500"/>
          </a:xfrm>
          <a:ln w="28575">
            <a:noFill/>
            <a:miter/>
          </a:ln>
        </p:spPr>
        <p:txBody>
          <a:bodyPr vert="horz" wrap="square" lIns="91440" tIns="45720" rIns="91440" bIns="45720" anchor="t"/>
          <a:p>
            <a:pPr eaLnBrk="1" hangingPunct="1">
              <a:lnSpc>
                <a:spcPct val="150000"/>
              </a:lnSpc>
              <a:spcBef>
                <a:spcPct val="70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申请者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DECIDING状态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等待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ack消息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。如果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收到了超过半数的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ack消息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，便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广播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一个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validation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消息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ct val="70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广播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validation消息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后，由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DECIDING状态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回到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FREE状态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1066800" y="304800"/>
            <a:ext cx="8018145" cy="914400"/>
          </a:xfrm>
        </p:spPr>
        <p:txBody>
          <a:bodyPr vert="horz" wrap="square" lIns="91440" tIns="45720" rIns="91440" bIns="45720" anchor="ctr"/>
          <a:p>
            <a:pPr eaLnBrk="1" hangingPunct="1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无故障情形下，共识的推进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4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120650" y="1988820"/>
            <a:ext cx="8964295" cy="1605915"/>
          </a:xfrm>
          <a:ln w="28575">
            <a:noFill/>
            <a:miter/>
          </a:ln>
        </p:spPr>
        <p:txBody>
          <a:bodyPr vert="horz" wrap="square" lIns="91440" tIns="45720" rIns="91440" bIns="45720" anchor="t"/>
          <a:p>
            <a:pPr eaLnBrk="1" hangingPunct="1">
              <a:lnSpc>
                <a:spcPct val="150000"/>
              </a:lnSpc>
              <a:spcBef>
                <a:spcPct val="70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投票者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在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VALIDATING状态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等待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validation消息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r>
              <a:rPr lang="zh-CN" altLang="en-US" sz="28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一旦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收到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validation消息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，便将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globalQueue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中的对应事务的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validation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属性修改为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TRUE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，表示至少查过半数的副本收到了该事务，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共识完成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，可以执行该事务了。副本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回到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FREE状态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1066800" y="304800"/>
            <a:ext cx="8018145" cy="914400"/>
          </a:xfrm>
        </p:spPr>
        <p:txBody>
          <a:bodyPr vert="horz" wrap="square" lIns="91440" tIns="45720" rIns="91440" bIns="45720" anchor="ctr"/>
          <a:p>
            <a:pPr eaLnBrk="1" hangingPunct="1"/>
            <a:r>
              <a:rPr lang="en-US" altLang="zh-CN" sz="4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VALIDATING</a:t>
            </a:r>
            <a:r>
              <a:rPr lang="zh-CN" altLang="en-US" sz="4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环节的必不可少</a:t>
            </a:r>
            <a:r>
              <a:rPr lang="zh-CN" altLang="en-US" sz="4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性</a:t>
            </a:r>
            <a:endParaRPr lang="zh-CN" altLang="en-US" sz="4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173990" y="2060575"/>
            <a:ext cx="8964295" cy="2945130"/>
          </a:xfrm>
          <a:ln w="28575">
            <a:noFill/>
            <a:miter/>
          </a:ln>
        </p:spPr>
        <p:txBody>
          <a:bodyPr vert="horz" wrap="square" lIns="91440" tIns="45720" rIns="91440" bIns="45720" anchor="t"/>
          <a:p>
            <a:pPr eaLnBrk="1" hangingPunct="1">
              <a:lnSpc>
                <a:spcPct val="150000"/>
              </a:lnSpc>
              <a:spcBef>
                <a:spcPct val="70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一个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副本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收到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decision消息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，表明就序号分配而言，达成了共识，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但是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并不表示超过半数的副本收到了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decision消息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。一个副本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只有收到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v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alidation消息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，才表明超过半数的副本收到了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decision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消息。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1066800" y="304800"/>
            <a:ext cx="8018145" cy="914400"/>
          </a:xfrm>
        </p:spPr>
        <p:txBody>
          <a:bodyPr vert="horz" wrap="square" lIns="91440" tIns="45720" rIns="91440" bIns="45720" anchor="ctr"/>
          <a:p>
            <a:pPr eaLnBrk="1" hangingPunct="1"/>
            <a:r>
              <a:rPr lang="en-US" altLang="zh-CN" sz="4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VALIDATING</a:t>
            </a:r>
            <a:r>
              <a:rPr lang="zh-CN" altLang="en-US" sz="40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环节的必不可少</a:t>
            </a:r>
            <a:endParaRPr lang="zh-CN" altLang="en-US" sz="40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7411" name="Rectangle 3"/>
          <p:cNvSpPr>
            <a:spLocks noGrp="1"/>
          </p:cNvSpPr>
          <p:nvPr>
            <p:ph idx="1"/>
          </p:nvPr>
        </p:nvSpPr>
        <p:spPr>
          <a:xfrm>
            <a:off x="173990" y="2060575"/>
            <a:ext cx="8964295" cy="2945130"/>
          </a:xfrm>
          <a:ln w="28575">
            <a:noFill/>
            <a:miter/>
          </a:ln>
        </p:spPr>
        <p:txBody>
          <a:bodyPr vert="horz" wrap="square" lIns="91440" tIns="45720" rIns="91440" bIns="45720" anchor="t"/>
          <a:p>
            <a:pPr eaLnBrk="1" hangingPunct="1">
              <a:lnSpc>
                <a:spcPct val="150000"/>
              </a:lnSpc>
              <a:spcBef>
                <a:spcPct val="70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一个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副本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收到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decision消息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，表明就序号分配而言，达成了共识，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但是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并不表示超过半数的副本收到了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decision消息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。一个副本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只有收到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v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alidation消息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，才表明超过半数的副本收到了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decision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消息。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Rectangle 2"/>
          <p:cNvSpPr>
            <a:spLocks noGrp="1"/>
          </p:cNvSpPr>
          <p:nvPr>
            <p:ph type="title"/>
          </p:nvPr>
        </p:nvSpPr>
        <p:spPr>
          <a:xfrm>
            <a:off x="1331595" y="404495"/>
            <a:ext cx="8018145" cy="914400"/>
          </a:xfrm>
        </p:spPr>
        <p:txBody>
          <a:bodyPr vert="horz" wrap="square" lIns="91440" tIns="45720" rIns="91440" bIns="45720" anchor="ctr"/>
          <a:p>
            <a:pPr eaLnBrk="1" hangingPunct="1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无故障时的副本状态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机</a:t>
            </a:r>
            <a:endParaRPr lang="zh-CN" altLang="en-US" sz="4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75850931" name="组合 19"/>
          <p:cNvGrpSpPr/>
          <p:nvPr/>
        </p:nvGrpSpPr>
        <p:grpSpPr>
          <a:xfrm>
            <a:off x="1492885" y="1539875"/>
            <a:ext cx="6726555" cy="4959350"/>
            <a:chOff x="0" y="0"/>
            <a:chExt cx="2692550" cy="2011045"/>
          </a:xfrm>
        </p:grpSpPr>
        <p:cxnSp>
          <p:nvCxnSpPr>
            <p:cNvPr id="1888607632" name="直接箭头连接符 49"/>
            <p:cNvCxnSpPr/>
            <p:nvPr/>
          </p:nvCxnSpPr>
          <p:spPr>
            <a:xfrm flipH="1">
              <a:off x="1974850" y="152400"/>
              <a:ext cx="717550" cy="0"/>
            </a:xfrm>
            <a:prstGeom prst="straightConnector1">
              <a:avLst/>
            </a:prstGeom>
            <a:noFill/>
            <a:ln w="25400" cap="flat" cmpd="sng" algn="ctr">
              <a:solidFill>
                <a:srgbClr val="0000FF"/>
              </a:solidFill>
              <a:prstDash val="solid"/>
              <a:miter lim="800000"/>
              <a:tailEnd type="triangle" w="med" len="lg"/>
            </a:ln>
            <a:effectLst/>
          </p:spPr>
        </p:cxnSp>
        <p:grpSp>
          <p:nvGrpSpPr>
            <p:cNvPr id="1306503343" name="组合 18"/>
            <p:cNvGrpSpPr/>
            <p:nvPr/>
          </p:nvGrpSpPr>
          <p:grpSpPr>
            <a:xfrm>
              <a:off x="0" y="0"/>
              <a:ext cx="2692550" cy="2011045"/>
              <a:chOff x="0" y="0"/>
              <a:chExt cx="2692550" cy="2011045"/>
            </a:xfrm>
          </p:grpSpPr>
          <p:cxnSp>
            <p:nvCxnSpPr>
              <p:cNvPr id="923338864" name="直接箭头连接符 49"/>
              <p:cNvCxnSpPr/>
              <p:nvPr/>
            </p:nvCxnSpPr>
            <p:spPr>
              <a:xfrm flipV="1">
                <a:off x="1003300" y="882650"/>
                <a:ext cx="576000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rgbClr val="0000FF"/>
                </a:solidFill>
                <a:prstDash val="solid"/>
                <a:miter lim="800000"/>
                <a:tailEnd type="triangle" w="med" len="lg"/>
              </a:ln>
              <a:effectLst/>
            </p:spPr>
          </p:cxnSp>
          <p:sp>
            <p:nvSpPr>
              <p:cNvPr id="1349410666" name="文本框 25"/>
              <p:cNvSpPr txBox="1"/>
              <p:nvPr/>
            </p:nvSpPr>
            <p:spPr>
              <a:xfrm>
                <a:off x="704850" y="0"/>
                <a:ext cx="1282700" cy="292100"/>
              </a:xfrm>
              <a:prstGeom prst="rect">
                <a:avLst/>
              </a:prstGeom>
              <a:solidFill>
                <a:sysClr val="window" lastClr="FFFFFF"/>
              </a:solidFill>
              <a:ln w="25400">
                <a:solidFill>
                  <a:srgbClr val="0000FF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r>
                  <a:rPr lang="en-US" altLang="zh-CN" b="1" kern="100">
                    <a:latin typeface="Calibri" panose="020F0502020204030204"/>
                    <a:ea typeface="宋体" pitchFamily="2" charset="-122"/>
                    <a:cs typeface="Times New Roman" panose="02020603050405020304"/>
                    <a:sym typeface="Times New Roman" panose="02020603050405020304"/>
                  </a:rPr>
                  <a:t>FREE</a:t>
                </a:r>
                <a:endParaRPr lang="en-US" altLang="zh-CN" b="1" kern="100">
                  <a:latin typeface="Calibri" panose="020F0502020204030204"/>
                  <a:ea typeface="宋体" pitchFamily="2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012862208" name="文本框 44"/>
              <p:cNvSpPr txBox="1"/>
              <p:nvPr/>
            </p:nvSpPr>
            <p:spPr>
              <a:xfrm>
                <a:off x="1600200" y="768350"/>
                <a:ext cx="646430" cy="296545"/>
              </a:xfrm>
              <a:prstGeom prst="rect">
                <a:avLst/>
              </a:prstGeom>
              <a:solidFill>
                <a:sysClr val="window" lastClr="FFFFFF"/>
              </a:solidFill>
              <a:ln w="25400">
                <a:solidFill>
                  <a:srgbClr val="0000FF"/>
                </a:solidFill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noAutofit/>
              </a:bodyPr>
              <a:lstStyle/>
              <a:p>
                <a:pPr algn="ctr"/>
                <a:r>
                  <a:rPr lang="en-US" altLang="zh-CN" b="1" kern="100">
                    <a:latin typeface="Calibri" panose="020F0502020204030204"/>
                    <a:ea typeface="宋体" pitchFamily="2" charset="-122"/>
                    <a:cs typeface="Times New Roman" panose="02020603050405020304"/>
                    <a:sym typeface="Times New Roman" panose="02020603050405020304"/>
                  </a:rPr>
                  <a:t>VOTING</a:t>
                </a:r>
                <a:endParaRPr lang="en-US" altLang="zh-CN" b="1" kern="100">
                  <a:latin typeface="Calibri" panose="020F0502020204030204"/>
                  <a:ea typeface="宋体" pitchFamily="2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338335922" name="文本框 14"/>
              <p:cNvSpPr txBox="1"/>
              <p:nvPr/>
            </p:nvSpPr>
            <p:spPr>
              <a:xfrm>
                <a:off x="1828800" y="438150"/>
                <a:ext cx="574675" cy="226060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noAutofit/>
              </a:bodyPr>
              <a:lstStyle/>
              <a:p>
                <a:pPr algn="just"/>
                <a:r>
                  <a:rPr lang="en-US" altLang="zh-CN" b="1" kern="100">
                    <a:latin typeface="Calibri" panose="020F0502020204030204"/>
                    <a:ea typeface="宋体" pitchFamily="2" charset="-122"/>
                    <a:cs typeface="Times New Roman" panose="02020603050405020304"/>
                    <a:sym typeface="Times New Roman" panose="02020603050405020304"/>
                  </a:rPr>
                  <a:t>proposal</a:t>
                </a:r>
                <a:endParaRPr lang="en-US" altLang="zh-CN" b="1" kern="100">
                  <a:latin typeface="Calibri" panose="020F0502020204030204"/>
                  <a:ea typeface="宋体" pitchFamily="2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354052122" name="文本框 44"/>
              <p:cNvSpPr txBox="1"/>
              <p:nvPr/>
            </p:nvSpPr>
            <p:spPr>
              <a:xfrm>
                <a:off x="152400" y="774700"/>
                <a:ext cx="820420" cy="296545"/>
              </a:xfrm>
              <a:prstGeom prst="rect">
                <a:avLst/>
              </a:prstGeom>
              <a:solidFill>
                <a:sysClr val="window" lastClr="FFFFFF"/>
              </a:solidFill>
              <a:ln w="25400">
                <a:solidFill>
                  <a:srgbClr val="0000FF"/>
                </a:solidFill>
              </a:ln>
              <a:effectLst/>
            </p:spPr>
            <p:txBody>
    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    <a:noAutofit/>
              </a:bodyPr>
              <a:lstStyle/>
              <a:p>
                <a:pPr algn="ctr"/>
                <a:r>
                  <a:rPr lang="en-US" altLang="zh-CN" b="1" kern="100">
                    <a:latin typeface="Calibri" panose="020F0502020204030204"/>
                    <a:ea typeface="宋体" pitchFamily="2" charset="-122"/>
                    <a:cs typeface="Times New Roman" panose="02020603050405020304"/>
                    <a:sym typeface="Times New Roman" panose="02020603050405020304"/>
                  </a:rPr>
                  <a:t>PROPOSING</a:t>
                </a:r>
                <a:endParaRPr lang="en-US" altLang="zh-CN" b="1" kern="100">
                  <a:latin typeface="Calibri" panose="020F0502020204030204"/>
                  <a:ea typeface="宋体" pitchFamily="2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961585572" name="文本框 15"/>
              <p:cNvSpPr txBox="1"/>
              <p:nvPr/>
            </p:nvSpPr>
            <p:spPr>
              <a:xfrm>
                <a:off x="825583" y="482511"/>
                <a:ext cx="448377" cy="198187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noAutofit/>
              </a:bodyPr>
              <a:lstStyle/>
              <a:p>
                <a:pPr algn="just"/>
                <a:r>
                  <a:rPr lang="en-US" altLang="zh-CN" b="1" kern="100">
                    <a:latin typeface="Calibri" panose="020F0502020204030204"/>
                    <a:ea typeface="宋体" pitchFamily="2" charset="-122"/>
                    <a:cs typeface="Times New Roman" panose="02020603050405020304"/>
                    <a:sym typeface="Times New Roman" panose="02020603050405020304"/>
                  </a:rPr>
                  <a:t>事务</a:t>
                </a:r>
                <a:endParaRPr lang="en-US" altLang="zh-CN" b="1" kern="100">
                  <a:latin typeface="Calibri" panose="020F0502020204030204"/>
                  <a:ea typeface="宋体" pitchFamily="2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181581151" name="文本框 380"/>
              <p:cNvSpPr txBox="1"/>
              <p:nvPr/>
            </p:nvSpPr>
            <p:spPr>
              <a:xfrm>
                <a:off x="971550" y="901700"/>
                <a:ext cx="662305" cy="198120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noAutofit/>
              </a:bodyPr>
              <a:lstStyle/>
              <a:p>
                <a:pPr algn="ctr"/>
                <a:r>
                  <a:rPr lang="en-US" altLang="zh-CN" b="1" kern="100">
                    <a:latin typeface="Calibri" panose="020F0502020204030204"/>
                    <a:ea typeface="宋体" pitchFamily="2" charset="-122"/>
                    <a:cs typeface="Times New Roman" panose="02020603050405020304"/>
                    <a:sym typeface="Times New Roman" panose="02020603050405020304"/>
                  </a:rPr>
                  <a:t>竞争失败</a:t>
                </a:r>
                <a:endParaRPr lang="en-US" altLang="zh-CN" b="1" kern="100">
                  <a:latin typeface="Calibri" panose="020F0502020204030204"/>
                  <a:ea typeface="宋体" pitchFamily="2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847818593" name="文本框 380"/>
              <p:cNvSpPr txBox="1"/>
              <p:nvPr/>
            </p:nvSpPr>
            <p:spPr>
              <a:xfrm>
                <a:off x="1886030" y="1282727"/>
                <a:ext cx="673582" cy="198187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noAutofit/>
              </a:bodyPr>
              <a:lstStyle/>
              <a:p>
                <a:pPr algn="l"/>
                <a:r>
                  <a:rPr lang="en-US" altLang="zh-CN" b="1" kern="100">
                    <a:latin typeface="Calibri" panose="020F0502020204030204"/>
                    <a:ea typeface="宋体" pitchFamily="2" charset="-122"/>
                    <a:cs typeface="Times New Roman" panose="02020603050405020304"/>
                    <a:sym typeface="Times New Roman" panose="02020603050405020304"/>
                  </a:rPr>
                  <a:t>decision</a:t>
                </a:r>
                <a:endParaRPr lang="en-US" altLang="zh-CN" b="1" kern="100">
                  <a:latin typeface="Calibri" panose="020F0502020204030204"/>
                  <a:ea typeface="宋体" pitchFamily="2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867305717" name="文本框 44"/>
              <p:cNvSpPr txBox="1"/>
              <p:nvPr/>
            </p:nvSpPr>
            <p:spPr>
              <a:xfrm>
                <a:off x="184150" y="1708150"/>
                <a:ext cx="820420" cy="296545"/>
              </a:xfrm>
              <a:prstGeom prst="rect">
                <a:avLst/>
              </a:prstGeom>
              <a:solidFill>
                <a:sysClr val="window" lastClr="FFFFFF"/>
              </a:solidFill>
              <a:ln w="25400">
                <a:solidFill>
                  <a:srgbClr val="0000FF"/>
                </a:solidFill>
              </a:ln>
              <a:effectLst/>
            </p:spPr>
            <p:txBody>
    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    <a:noAutofit/>
              </a:bodyPr>
              <a:lstStyle/>
              <a:p>
                <a:pPr algn="ctr"/>
                <a:r>
                  <a:rPr lang="en-US" altLang="zh-CN" b="1" kern="100">
                    <a:latin typeface="Calibri" panose="020F0502020204030204"/>
                    <a:ea typeface="宋体" pitchFamily="2" charset="-122"/>
                    <a:cs typeface="Times New Roman" panose="02020603050405020304"/>
                    <a:sym typeface="Times New Roman" panose="02020603050405020304"/>
                  </a:rPr>
                  <a:t>DECIDING</a:t>
                </a:r>
                <a:endParaRPr lang="en-US" altLang="zh-CN" b="1" kern="100">
                  <a:latin typeface="Calibri" panose="020F0502020204030204"/>
                  <a:ea typeface="宋体" pitchFamily="2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398558517" name="文本框 44"/>
              <p:cNvSpPr txBox="1"/>
              <p:nvPr/>
            </p:nvSpPr>
            <p:spPr>
              <a:xfrm>
                <a:off x="1555750" y="1714500"/>
                <a:ext cx="820420" cy="296545"/>
              </a:xfrm>
              <a:prstGeom prst="rect">
                <a:avLst/>
              </a:prstGeom>
              <a:solidFill>
                <a:sysClr val="window" lastClr="FFFFFF"/>
              </a:solidFill>
              <a:ln w="25400">
                <a:solidFill>
                  <a:srgbClr val="0000FF"/>
                </a:solidFill>
              </a:ln>
              <a:effectLst/>
            </p:spPr>
            <p:txBody>
              <a:bodyPr rot="0" spcFirstLastPara="0" vertOverflow="overflow" horzOverflow="overflow" vert="horz" wrap="square" lIns="0" tIns="45720" rIns="0" bIns="45720" numCol="1" spcCol="0" rtlCol="0" fromWordArt="0" anchor="t" anchorCtr="0" forceAA="0" compatLnSpc="1">
                <a:noAutofit/>
              </a:bodyPr>
              <a:lstStyle/>
              <a:p>
                <a:pPr algn="ctr"/>
                <a:r>
                  <a:rPr lang="en-US" altLang="zh-CN" b="1" kern="100">
                    <a:latin typeface="Calibri" panose="020F0502020204030204"/>
                    <a:ea typeface="宋体" pitchFamily="2" charset="-122"/>
                    <a:cs typeface="Times New Roman" panose="02020603050405020304"/>
                    <a:sym typeface="Times New Roman" panose="02020603050405020304"/>
                  </a:rPr>
                  <a:t>VALIDATING</a:t>
                </a:r>
                <a:endParaRPr lang="en-US" altLang="zh-CN" b="1" kern="100">
                  <a:latin typeface="Calibri" panose="020F0502020204030204"/>
                  <a:ea typeface="宋体" pitchFamily="2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cxnSp>
            <p:nvCxnSpPr>
              <p:cNvPr id="1858275197" name="直接箭头连接符 49"/>
              <p:cNvCxnSpPr/>
              <p:nvPr/>
            </p:nvCxnSpPr>
            <p:spPr>
              <a:xfrm flipH="1">
                <a:off x="765218" y="1069975"/>
                <a:ext cx="635" cy="647700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0000FF"/>
                </a:solidFill>
                <a:prstDash val="solid"/>
                <a:miter lim="800000"/>
                <a:tailEnd type="triangle" w="med" len="lg"/>
              </a:ln>
              <a:effectLst/>
            </p:spPr>
          </p:cxnSp>
          <p:cxnSp>
            <p:nvCxnSpPr>
              <p:cNvPr id="168269444" name="直接箭头连接符 49"/>
              <p:cNvCxnSpPr/>
              <p:nvPr/>
            </p:nvCxnSpPr>
            <p:spPr>
              <a:xfrm>
                <a:off x="1847850" y="1066800"/>
                <a:ext cx="635" cy="648000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0000FF"/>
                </a:solidFill>
                <a:prstDash val="solid"/>
                <a:miter lim="800000"/>
                <a:tailEnd type="triangle" w="med" len="lg"/>
              </a:ln>
              <a:effectLst/>
            </p:spPr>
          </p:cxnSp>
          <p:cxnSp>
            <p:nvCxnSpPr>
              <p:cNvPr id="1938498913" name="直接箭头连接符 49"/>
              <p:cNvCxnSpPr/>
              <p:nvPr/>
            </p:nvCxnSpPr>
            <p:spPr>
              <a:xfrm>
                <a:off x="0" y="133350"/>
                <a:ext cx="683895" cy="635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0000FF"/>
                </a:solidFill>
                <a:prstDash val="solid"/>
                <a:miter lim="800000"/>
                <a:tailEnd type="triangle" w="med" len="lg"/>
              </a:ln>
              <a:effectLst/>
            </p:spPr>
          </p:cxnSp>
          <p:sp>
            <p:nvSpPr>
              <p:cNvPr id="214304102" name="文本框 351"/>
              <p:cNvSpPr txBox="1"/>
              <p:nvPr/>
            </p:nvSpPr>
            <p:spPr>
              <a:xfrm>
                <a:off x="2032000" y="139700"/>
                <a:ext cx="615950" cy="226060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noAutofit/>
              </a:bodyPr>
              <a:lstStyle/>
              <a:p>
                <a:pPr algn="l"/>
                <a:r>
                  <a:rPr lang="en-US" altLang="zh-CN" b="1" kern="100">
                    <a:latin typeface="Calibri" panose="020F0502020204030204"/>
                    <a:ea typeface="宋体" pitchFamily="2" charset="-122"/>
                    <a:cs typeface="Times New Roman" panose="02020603050405020304"/>
                    <a:sym typeface="Times New Roman" panose="02020603050405020304"/>
                  </a:rPr>
                  <a:t>validation</a:t>
                </a:r>
                <a:endParaRPr lang="en-US" altLang="zh-CN" b="1" kern="100">
                  <a:latin typeface="Calibri" panose="020F0502020204030204"/>
                  <a:ea typeface="宋体" pitchFamily="2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241943536" name="文本框 351"/>
              <p:cNvSpPr txBox="1"/>
              <p:nvPr/>
            </p:nvSpPr>
            <p:spPr>
              <a:xfrm>
                <a:off x="38100" y="146050"/>
                <a:ext cx="601345" cy="404495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noAutofit/>
              </a:bodyPr>
              <a:lstStyle/>
              <a:p>
                <a:pPr algn="ctr"/>
                <a:r>
                  <a:rPr lang="en-US" altLang="zh-CN" b="1" i="1" kern="100">
                    <a:latin typeface="Times New Roman" panose="02020603050405020304"/>
                    <a:ea typeface="宋体" pitchFamily="2" charset="-122"/>
                    <a:cs typeface="Times New Roman" panose="02020603050405020304"/>
                    <a:sym typeface="Times New Roman" panose="02020603050405020304"/>
                  </a:rPr>
                  <a:t>ackNum</a:t>
                </a:r>
                <a:r>
                  <a:rPr lang="en-US" altLang="zh-CN" b="1" kern="100">
                    <a:latin typeface="Calibri" panose="020F0502020204030204"/>
                    <a:ea typeface="宋体" pitchFamily="2" charset="-122"/>
                    <a:cs typeface="Times New Roman" panose="02020603050405020304"/>
                    <a:sym typeface="Times New Roman" panose="02020603050405020304"/>
                  </a:rPr>
                  <a:t> </a:t>
                </a:r>
                <a:endParaRPr lang="en-US" altLang="zh-CN" b="1" kern="100">
                  <a:latin typeface="Calibri" panose="020F0502020204030204"/>
                  <a:ea typeface="宋体" pitchFamily="2" charset="-122"/>
                  <a:cs typeface="Times New Roman" panose="02020603050405020304"/>
                  <a:sym typeface="Times New Roman" panose="02020603050405020304"/>
                </a:endParaRPr>
              </a:p>
              <a:p>
                <a:pPr algn="ctr"/>
                <a:r>
                  <a:rPr lang="en-US" altLang="zh-CN" b="1" kern="100">
                    <a:latin typeface="Calibri" panose="020F0502020204030204"/>
                    <a:ea typeface="宋体" pitchFamily="2" charset="-122"/>
                    <a:cs typeface="Times New Roman" panose="02020603050405020304"/>
                    <a:sym typeface="Times New Roman" panose="02020603050405020304"/>
                  </a:rPr>
                  <a:t>=</a:t>
                </a:r>
                <a:r>
                  <a:rPr lang="en-US" altLang="zh-CN" b="1" i="1" kern="100">
                    <a:latin typeface="Times New Roman" panose="02020603050405020304"/>
                    <a:ea typeface="宋体" pitchFamily="2" charset="-122"/>
                    <a:cs typeface="Times New Roman" panose="02020603050405020304"/>
                    <a:sym typeface="Times New Roman" panose="02020603050405020304"/>
                  </a:rPr>
                  <a:t>f</a:t>
                </a:r>
                <a:r>
                  <a:rPr lang="en-US" altLang="zh-CN" b="1" kern="100">
                    <a:latin typeface="Calibri" panose="020F0502020204030204"/>
                    <a:ea typeface="宋体" pitchFamily="2" charset="-122"/>
                    <a:cs typeface="Times New Roman" panose="02020603050405020304"/>
                    <a:sym typeface="Times New Roman" panose="02020603050405020304"/>
                  </a:rPr>
                  <a:t>+1</a:t>
                </a:r>
                <a:endParaRPr lang="en-US" altLang="zh-CN" b="1" kern="100">
                  <a:latin typeface="Calibri" panose="020F0502020204030204"/>
                  <a:ea typeface="宋体" pitchFamily="2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1889439227" name="文本框 351"/>
              <p:cNvSpPr txBox="1"/>
              <p:nvPr/>
            </p:nvSpPr>
            <p:spPr>
              <a:xfrm>
                <a:off x="139038" y="1188186"/>
                <a:ext cx="614866" cy="419016"/>
              </a:xfrm>
              <a:prstGeom prst="rect">
                <a:avLst/>
              </a:prstGeom>
              <a:noFill/>
              <a:ln w="6350">
                <a:noFill/>
              </a:ln>
              <a:effectLst/>
            </p:spPr>
            <p:txBody>
              <a:bodyPr rot="0" spcFirstLastPara="0" vertOverflow="overflow" horzOverflow="overflow" vert="horz" wrap="square" lIns="0" tIns="0" rIns="0" bIns="0" numCol="1" spcCol="0" rtlCol="0" fromWordArt="0" anchor="t" anchorCtr="0" forceAA="0" compatLnSpc="1">
                <a:noAutofit/>
              </a:bodyPr>
              <a:lstStyle/>
              <a:p>
                <a:pPr algn="l"/>
                <a:r>
                  <a:rPr lang="en-US" altLang="zh-CN" b="1" i="1" kern="100">
                    <a:latin typeface="Times New Roman" panose="02020603050405020304"/>
                    <a:ea typeface="宋体" pitchFamily="2" charset="-122"/>
                    <a:cs typeface="Times New Roman" panose="02020603050405020304"/>
                    <a:sym typeface="Times New Roman" panose="02020603050405020304"/>
                  </a:rPr>
                  <a:t>agreeNum</a:t>
                </a:r>
                <a:endParaRPr lang="en-US" altLang="zh-CN" b="1" i="1" kern="100">
                  <a:latin typeface="Times New Roman" panose="02020603050405020304"/>
                  <a:ea typeface="宋体" pitchFamily="2" charset="-122"/>
                  <a:cs typeface="Times New Roman" panose="02020603050405020304"/>
                  <a:sym typeface="Times New Roman" panose="02020603050405020304"/>
                </a:endParaRPr>
              </a:p>
              <a:p>
                <a:pPr algn="l"/>
                <a:r>
                  <a:rPr lang="en-US" altLang="zh-CN" b="1" kern="100">
                    <a:latin typeface="Calibri" panose="020F0502020204030204"/>
                    <a:ea typeface="宋体" pitchFamily="2" charset="-122"/>
                    <a:cs typeface="Times New Roman" panose="02020603050405020304"/>
                    <a:sym typeface="Times New Roman" panose="02020603050405020304"/>
                  </a:rPr>
                  <a:t> =</a:t>
                </a:r>
                <a:r>
                  <a:rPr lang="en-US" altLang="zh-CN" b="1" i="1" kern="100">
                    <a:latin typeface="Times New Roman" panose="02020603050405020304"/>
                    <a:ea typeface="宋体" pitchFamily="2" charset="-122"/>
                    <a:cs typeface="Times New Roman" panose="02020603050405020304"/>
                    <a:sym typeface="Times New Roman" panose="02020603050405020304"/>
                  </a:rPr>
                  <a:t>f</a:t>
                </a:r>
                <a:r>
                  <a:rPr lang="en-US" altLang="zh-CN" b="1" kern="100">
                    <a:latin typeface="Calibri" panose="020F0502020204030204"/>
                    <a:ea typeface="宋体" pitchFamily="2" charset="-122"/>
                    <a:cs typeface="Times New Roman" panose="02020603050405020304"/>
                    <a:sym typeface="Times New Roman" panose="02020603050405020304"/>
                  </a:rPr>
                  <a:t>+1</a:t>
                </a:r>
                <a:endParaRPr lang="en-US" altLang="zh-CN" b="1" kern="100">
                  <a:latin typeface="Calibri" panose="020F0502020204030204"/>
                  <a:ea typeface="宋体" pitchFamily="2" charset="-122"/>
                  <a:cs typeface="Times New Roman" panose="02020603050405020304"/>
                  <a:sym typeface="Times New Roman" panose="02020603050405020304"/>
                </a:endParaRPr>
              </a:p>
              <a:p>
                <a:pPr algn="l"/>
                <a:r>
                  <a:rPr lang="en-US" altLang="zh-CN" b="1" kern="100">
                    <a:latin typeface="Calibri" panose="020F0502020204030204"/>
                    <a:ea typeface="宋体" pitchFamily="2" charset="-122"/>
                    <a:cs typeface="Times New Roman" panose="02020603050405020304"/>
                    <a:sym typeface="Times New Roman" panose="02020603050405020304"/>
                  </a:rPr>
                  <a:t> </a:t>
                </a:r>
                <a:endParaRPr lang="en-US" altLang="zh-CN" b="1" kern="100">
                  <a:latin typeface="Calibri" panose="020F0502020204030204"/>
                  <a:ea typeface="宋体" pitchFamily="2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cxnSp>
            <p:nvCxnSpPr>
              <p:cNvPr id="1412639681" name="直接箭头连接符 49"/>
              <p:cNvCxnSpPr/>
              <p:nvPr/>
            </p:nvCxnSpPr>
            <p:spPr>
              <a:xfrm flipH="1">
                <a:off x="781050" y="285750"/>
                <a:ext cx="0" cy="503555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0000FF"/>
                </a:solidFill>
                <a:prstDash val="solid"/>
                <a:miter lim="800000"/>
                <a:tailEnd type="triangle" w="med" len="lg"/>
              </a:ln>
              <a:effectLst/>
            </p:spPr>
          </p:cxnSp>
          <p:cxnSp>
            <p:nvCxnSpPr>
              <p:cNvPr id="2022126038" name="直接箭头连接符 49"/>
              <p:cNvCxnSpPr/>
              <p:nvPr/>
            </p:nvCxnSpPr>
            <p:spPr>
              <a:xfrm flipV="1">
                <a:off x="2368550" y="1835150"/>
                <a:ext cx="324000" cy="0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0000FF"/>
                </a:solidFill>
                <a:prstDash val="solid"/>
                <a:miter lim="800000"/>
                <a:tailEnd type="none" w="med" len="lg"/>
              </a:ln>
              <a:effectLst/>
            </p:spPr>
          </p:cxnSp>
          <p:cxnSp>
            <p:nvCxnSpPr>
              <p:cNvPr id="1384697676" name="直接箭头连接符 49"/>
              <p:cNvCxnSpPr/>
              <p:nvPr/>
            </p:nvCxnSpPr>
            <p:spPr>
              <a:xfrm>
                <a:off x="2692400" y="139700"/>
                <a:ext cx="0" cy="1692000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0000FF"/>
                </a:solidFill>
                <a:prstDash val="solid"/>
                <a:miter lim="800000"/>
                <a:tailEnd type="none" w="med" len="lg"/>
              </a:ln>
              <a:effectLst/>
            </p:spPr>
          </p:cxnSp>
          <p:cxnSp>
            <p:nvCxnSpPr>
              <p:cNvPr id="640447197" name="直接箭头连接符 49"/>
              <p:cNvCxnSpPr/>
              <p:nvPr/>
            </p:nvCxnSpPr>
            <p:spPr>
              <a:xfrm>
                <a:off x="0" y="133350"/>
                <a:ext cx="0" cy="1770373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0000FF"/>
                </a:solidFill>
                <a:prstDash val="solid"/>
                <a:miter lim="800000"/>
                <a:tailEnd type="none" w="med" len="lg"/>
              </a:ln>
              <a:effectLst/>
            </p:spPr>
          </p:cxnSp>
          <p:cxnSp>
            <p:nvCxnSpPr>
              <p:cNvPr id="638200791" name="直接箭头连接符 49"/>
              <p:cNvCxnSpPr/>
              <p:nvPr/>
            </p:nvCxnSpPr>
            <p:spPr>
              <a:xfrm>
                <a:off x="0" y="1892300"/>
                <a:ext cx="180000" cy="0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0000FF"/>
                </a:solidFill>
                <a:prstDash val="solid"/>
                <a:miter lim="800000"/>
                <a:tailEnd type="none" w="med" len="lg"/>
              </a:ln>
              <a:effectLst/>
            </p:spPr>
          </p:cxnSp>
          <p:cxnSp>
            <p:nvCxnSpPr>
              <p:cNvPr id="345138996" name="直接箭头连接符 49"/>
              <p:cNvCxnSpPr/>
              <p:nvPr/>
            </p:nvCxnSpPr>
            <p:spPr>
              <a:xfrm flipH="1">
                <a:off x="1803400" y="292100"/>
                <a:ext cx="0" cy="481741"/>
              </a:xfrm>
              <a:prstGeom prst="straightConnector1">
                <a:avLst/>
              </a:prstGeom>
              <a:noFill/>
              <a:ln w="25400" cap="flat" cmpd="sng" algn="ctr">
                <a:solidFill>
                  <a:srgbClr val="0000FF"/>
                </a:solidFill>
                <a:prstDash val="solid"/>
                <a:miter lim="800000"/>
                <a:tailEnd type="triangle" w="med" len="lg"/>
              </a:ln>
              <a:effectLst/>
            </p:spPr>
          </p:cxnSp>
        </p:grpSp>
      </p:grp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t"/>
          <a:lstStyle/>
          <a:p>
            <a:pPr algn="r"/>
            <a:fld id="{9A0DB2DC-4C9A-4742-B13C-FB6460FD3503}" type="slidenum">
              <a:rPr lang="en-US" altLang="zh-CN" sz="1400" dirty="0">
                <a:solidFill>
                  <a:srgbClr val="000000"/>
                </a:solidFill>
                <a:latin typeface="Comic Sans MS" panose="030F0902030302020204" pitchFamily="66" charset="0"/>
              </a:rPr>
            </a:fld>
            <a:endParaRPr lang="en-US" altLang="zh-CN" sz="1400" dirty="0">
              <a:solidFill>
                <a:srgbClr val="0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32770" name="矩形 3"/>
          <p:cNvSpPr/>
          <p:nvPr/>
        </p:nvSpPr>
        <p:spPr>
          <a:xfrm>
            <a:off x="1462405" y="116205"/>
            <a:ext cx="717550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计算方式的</a:t>
            </a:r>
            <a:r>
              <a:rPr lang="zh-CN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演进</a:t>
            </a:r>
            <a:endParaRPr lang="zh-CN" sz="3600" b="1" dirty="0">
              <a:solidFill>
                <a:srgbClr val="3333CC"/>
              </a:solidFill>
              <a:latin typeface="微软雅黑" panose="020B0503020204020204" charset="-122"/>
              <a:ea typeface="微软雅黑" panose="020B0503020204020204" charset="-122"/>
              <a:sym typeface="宋体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1125" y="2405380"/>
            <a:ext cx="2186305" cy="5219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单机计算</a:t>
            </a:r>
            <a:endParaRPr lang="zh-CN" altLang="en-US" sz="28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09900" y="2405380"/>
            <a:ext cx="2536825" cy="5219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集群计算</a:t>
            </a:r>
            <a:endParaRPr lang="zh-CN" altLang="en-US" sz="28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38240" y="2434590"/>
            <a:ext cx="2256790" cy="5219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云计算</a:t>
            </a:r>
            <a:endParaRPr lang="zh-CN" altLang="en-US" sz="28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155575" y="3213100"/>
            <a:ext cx="2087880" cy="10147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algn="l"/>
            <a:r>
              <a:rPr lang="zh-CN" altLang="en-US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关键问题：</a:t>
            </a:r>
            <a:endParaRPr lang="zh-CN" altLang="en-US" sz="2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50"/>
              </a:spcAft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功能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实现；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2988945" y="3141345"/>
            <a:ext cx="1880870" cy="230695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大规模：</a:t>
            </a:r>
            <a:endParaRPr lang="zh-CN" altLang="en-US" sz="2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用户</a:t>
            </a: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量；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数据量；</a:t>
            </a:r>
            <a:endParaRPr lang="zh-CN" altLang="en-US" sz="240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zh-CN" altLang="en-US" sz="240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访问量</a:t>
            </a:r>
            <a:r>
              <a:rPr lang="zh-CN" altLang="en-US" sz="240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sz="24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030595" y="3133725"/>
            <a:ext cx="2992120" cy="11988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出法点：</a:t>
            </a:r>
            <a:endParaRPr lang="zh-CN" altLang="en-US" sz="2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</a:pP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共享经济，降低成本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5547360" y="2545080"/>
            <a:ext cx="690880" cy="272415"/>
          </a:xfrm>
          <a:prstGeom prst="rightArrow">
            <a:avLst>
              <a:gd name="adj1" fmla="val 50000"/>
              <a:gd name="adj2" fmla="val 80666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2298065" y="2545080"/>
            <a:ext cx="690880" cy="272415"/>
          </a:xfrm>
          <a:prstGeom prst="rightArrow">
            <a:avLst>
              <a:gd name="adj1" fmla="val 50000"/>
              <a:gd name="adj2" fmla="val 80666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238875" y="1397000"/>
            <a:ext cx="2712720" cy="645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任何业务都可承接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009900" y="1402080"/>
            <a:ext cx="2537460" cy="645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工厂大规模生产</a:t>
            </a:r>
            <a:endParaRPr lang="zh-CN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11125" y="1400810"/>
            <a:ext cx="2150110" cy="645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个体作坊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4" name="右箭头 13"/>
          <p:cNvSpPr/>
          <p:nvPr/>
        </p:nvSpPr>
        <p:spPr>
          <a:xfrm>
            <a:off x="2261235" y="1562735"/>
            <a:ext cx="770890" cy="347980"/>
          </a:xfrm>
          <a:prstGeom prst="rightArrow">
            <a:avLst>
              <a:gd name="adj1" fmla="val 50000"/>
              <a:gd name="adj2" fmla="val 80666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6" name="右箭头 15"/>
          <p:cNvSpPr/>
          <p:nvPr/>
        </p:nvSpPr>
        <p:spPr>
          <a:xfrm>
            <a:off x="5568950" y="1617345"/>
            <a:ext cx="712470" cy="358775"/>
          </a:xfrm>
          <a:prstGeom prst="rightArrow">
            <a:avLst>
              <a:gd name="adj1" fmla="val 50000"/>
              <a:gd name="adj2" fmla="val 80666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"/>
            </p:custDataLst>
          </p:nvPr>
        </p:nvSpPr>
        <p:spPr>
          <a:xfrm>
            <a:off x="5147945" y="4725035"/>
            <a:ext cx="3907155" cy="645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依据</a:t>
            </a:r>
            <a:r>
              <a:rPr lang="zh-CN" altLang="en-US" sz="2400" b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规模效应和集约效应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8" name="文本框 17"/>
          <p:cNvSpPr txBox="1"/>
          <p:nvPr>
            <p:custDataLst>
              <p:tags r:id="rId2"/>
            </p:custDataLst>
          </p:nvPr>
        </p:nvSpPr>
        <p:spPr>
          <a:xfrm>
            <a:off x="3564255" y="5762625"/>
            <a:ext cx="5387340" cy="645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4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口号</a:t>
            </a:r>
            <a:r>
              <a:rPr lang="zh-CN" altLang="en-US" sz="2400" b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专业的事情外包给专业公司去做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6732588" y="6380798"/>
            <a:ext cx="1905000" cy="457200"/>
          </a:xfrm>
        </p:spPr>
        <p:txBody>
          <a:bodyPr wrap="square" lIns="91440" tIns="45720" rIns="91440" bIns="45720" anchor="t"/>
          <a:lstStyle/>
          <a:p>
            <a:pPr algn="r"/>
            <a:fld id="{9A0DB2DC-4C9A-4742-B13C-FB6460FD3503}" type="slidenum">
              <a:rPr lang="en-US" altLang="zh-CN" sz="1400" dirty="0">
                <a:solidFill>
                  <a:srgbClr val="000000"/>
                </a:solidFill>
                <a:latin typeface="Comic Sans MS" panose="030F0902030302020204" pitchFamily="66" charset="0"/>
              </a:rPr>
            </a:fld>
            <a:endParaRPr lang="en-US" altLang="zh-CN" sz="1400" dirty="0">
              <a:solidFill>
                <a:srgbClr val="0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32770" name="矩形 3"/>
          <p:cNvSpPr/>
          <p:nvPr/>
        </p:nvSpPr>
        <p:spPr>
          <a:xfrm>
            <a:off x="1462405" y="116205"/>
            <a:ext cx="717550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计算方式演变</a:t>
            </a:r>
            <a:r>
              <a:rPr lang="zh-CN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的</a:t>
            </a:r>
            <a:r>
              <a:rPr lang="zh-CN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准则</a:t>
            </a:r>
            <a:endParaRPr lang="zh-CN" sz="3600" b="1" dirty="0">
              <a:solidFill>
                <a:srgbClr val="3333CC"/>
              </a:solidFill>
              <a:latin typeface="微软雅黑" panose="020B0503020204020204" charset="-122"/>
              <a:ea typeface="微软雅黑" panose="020B0503020204020204" charset="-122"/>
              <a:sym typeface="宋体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11125" y="3266440"/>
            <a:ext cx="2186305" cy="5219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单机计算</a:t>
            </a:r>
            <a:endParaRPr lang="zh-CN" altLang="en-US" sz="28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009900" y="3266440"/>
            <a:ext cx="2536825" cy="5219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集群计算</a:t>
            </a:r>
            <a:endParaRPr lang="zh-CN" altLang="en-US" sz="28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238240" y="3295650"/>
            <a:ext cx="2256790" cy="5219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云计算</a:t>
            </a:r>
            <a:endParaRPr lang="zh-CN" altLang="en-US" sz="28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5560" y="4013835"/>
            <a:ext cx="3069590" cy="521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/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内部的变化性：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Symbol" panose="05050102010706020507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75965" y="4587240"/>
            <a:ext cx="1880870" cy="21583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特质的变化：</a:t>
            </a:r>
            <a:endParaRPr lang="zh-CN" altLang="en-US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高可用性；</a:t>
            </a:r>
            <a:endParaRPr lang="zh-CN" altLang="en-US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高吞吐性；</a:t>
            </a:r>
            <a:endParaRPr lang="zh-CN" altLang="en-US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可扩展性；</a:t>
            </a:r>
            <a:endParaRPr lang="zh-CN" altLang="en-US" sz="2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300470" y="4589145"/>
            <a:ext cx="2505710" cy="11988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成本的变化：</a:t>
            </a:r>
            <a:endParaRPr lang="zh-CN" altLang="en-US" sz="2400" b="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价廉物美；</a:t>
            </a:r>
            <a:endParaRPr lang="zh-CN" altLang="en-US" sz="2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5547360" y="3406140"/>
            <a:ext cx="690880" cy="272415"/>
          </a:xfrm>
          <a:prstGeom prst="rightArrow">
            <a:avLst>
              <a:gd name="adj1" fmla="val 50000"/>
              <a:gd name="adj2" fmla="val 80666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2298065" y="3406140"/>
            <a:ext cx="690880" cy="272415"/>
          </a:xfrm>
          <a:prstGeom prst="rightArrow">
            <a:avLst>
              <a:gd name="adj1" fmla="val 50000"/>
              <a:gd name="adj2" fmla="val 80666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179705" y="1158875"/>
            <a:ext cx="8458200" cy="18453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对外的不变性：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用户看来，始终是一台计算机</a:t>
            </a:r>
            <a:r>
              <a:rPr lang="zh-CN" altLang="en-US" sz="24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：安装、启动、关闭、更新应用程序，查看运行状况；</a:t>
            </a:r>
            <a:endParaRPr lang="zh-CN" altLang="en-US" sz="24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1" name="文本框 10"/>
          <p:cNvSpPr txBox="1"/>
          <p:nvPr>
            <p:custDataLst>
              <p:tags r:id="rId1"/>
            </p:custDataLst>
          </p:nvPr>
        </p:nvSpPr>
        <p:spPr>
          <a:xfrm>
            <a:off x="118745" y="4627245"/>
            <a:ext cx="3069590" cy="120586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5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功能的变化：</a:t>
            </a:r>
            <a:endParaRPr lang="zh-CN" altLang="en-US" sz="2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5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单任务</a:t>
            </a:r>
            <a:r>
              <a:rPr lang="zh-CN" altLang="en-US" sz="24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Symbol" panose="05050102010706020507" charset="0"/>
              </a:rPr>
              <a:t>多任务</a:t>
            </a:r>
            <a:endParaRPr lang="zh-CN" altLang="en-US" sz="24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Symbol" panose="05050102010706020507" charset="0"/>
            </a:endParaRPr>
          </a:p>
        </p:txBody>
      </p:sp>
      <p:sp>
        <p:nvSpPr>
          <p:cNvPr id="12" name="右箭头 11"/>
          <p:cNvSpPr/>
          <p:nvPr>
            <p:custDataLst>
              <p:tags r:id="rId2"/>
            </p:custDataLst>
          </p:nvPr>
        </p:nvSpPr>
        <p:spPr>
          <a:xfrm>
            <a:off x="2411730" y="4796790"/>
            <a:ext cx="690880" cy="443865"/>
          </a:xfrm>
          <a:prstGeom prst="rightArrow">
            <a:avLst>
              <a:gd name="adj1" fmla="val 50000"/>
              <a:gd name="adj2" fmla="val 80666"/>
            </a:avLst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9" name="右箭头 18"/>
          <p:cNvSpPr/>
          <p:nvPr>
            <p:custDataLst>
              <p:tags r:id="rId3"/>
            </p:custDataLst>
          </p:nvPr>
        </p:nvSpPr>
        <p:spPr>
          <a:xfrm>
            <a:off x="5547360" y="4796790"/>
            <a:ext cx="690880" cy="443865"/>
          </a:xfrm>
          <a:prstGeom prst="rightArrow">
            <a:avLst>
              <a:gd name="adj1" fmla="val 50000"/>
              <a:gd name="adj2" fmla="val 80666"/>
            </a:avLst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07950" y="4014470"/>
            <a:ext cx="8529955" cy="2710815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t"/>
          <a:lstStyle/>
          <a:p>
            <a:pPr algn="r"/>
            <a:fld id="{9A0DB2DC-4C9A-4742-B13C-FB6460FD3503}" type="slidenum">
              <a:rPr lang="en-US" altLang="zh-CN" sz="1400" dirty="0">
                <a:solidFill>
                  <a:srgbClr val="000000"/>
                </a:solidFill>
                <a:latin typeface="Comic Sans MS" panose="030F0902030302020204" pitchFamily="66" charset="0"/>
              </a:rPr>
            </a:fld>
            <a:endParaRPr lang="en-US" altLang="zh-CN" sz="1400" dirty="0">
              <a:solidFill>
                <a:srgbClr val="0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32770" name="矩形 3"/>
          <p:cNvSpPr/>
          <p:nvPr/>
        </p:nvSpPr>
        <p:spPr>
          <a:xfrm>
            <a:off x="1043940" y="260985"/>
            <a:ext cx="810450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云计算的本质</a:t>
            </a:r>
            <a:r>
              <a:rPr lang="zh-CN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差异：静态性</a:t>
            </a:r>
            <a:r>
              <a:rPr lang="en-US" altLang="zh-CN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 vs </a:t>
            </a:r>
            <a:r>
              <a:rPr lang="zh-CN" altLang="en-US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动态性</a:t>
            </a:r>
            <a:endParaRPr lang="zh-CN" altLang="en-US" sz="3600" b="1" dirty="0">
              <a:solidFill>
                <a:srgbClr val="3333CC"/>
              </a:solidFill>
              <a:latin typeface="微软雅黑" panose="020B0503020204020204" charset="-122"/>
              <a:ea typeface="微软雅黑" panose="020B0503020204020204" charset="-122"/>
              <a:sym typeface="宋体" pitchFamily="2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21335" y="1699895"/>
            <a:ext cx="2186305" cy="5219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单机计算</a:t>
            </a:r>
            <a:endParaRPr lang="zh-CN" altLang="en-US" sz="28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3420110" y="1699895"/>
            <a:ext cx="2536825" cy="5219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集群计算</a:t>
            </a:r>
            <a:endParaRPr lang="zh-CN" altLang="en-US" sz="28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6648450" y="1729105"/>
            <a:ext cx="2256790" cy="52197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lvl="0" algn="ctr">
              <a:buClrTx/>
              <a:buSzTx/>
              <a:buFontTx/>
            </a:pP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云计算</a:t>
            </a:r>
            <a:endParaRPr lang="zh-CN" altLang="en-US" sz="2800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16865" y="3212465"/>
            <a:ext cx="5248275" cy="737235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应用程序运行在哪一台计算机上：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93535" y="4148455"/>
            <a:ext cx="1838325" cy="12611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</a:pP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实时确定；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直接运行；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3" name="右箭头 12"/>
          <p:cNvSpPr/>
          <p:nvPr/>
        </p:nvSpPr>
        <p:spPr>
          <a:xfrm>
            <a:off x="5957570" y="1839595"/>
            <a:ext cx="690880" cy="272415"/>
          </a:xfrm>
          <a:prstGeom prst="rightArrow">
            <a:avLst>
              <a:gd name="adj1" fmla="val 50000"/>
              <a:gd name="adj2" fmla="val 80666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5" name="右箭头 14"/>
          <p:cNvSpPr/>
          <p:nvPr/>
        </p:nvSpPr>
        <p:spPr>
          <a:xfrm>
            <a:off x="2708275" y="1839595"/>
            <a:ext cx="690880" cy="272415"/>
          </a:xfrm>
          <a:prstGeom prst="rightArrow">
            <a:avLst>
              <a:gd name="adj1" fmla="val 50000"/>
              <a:gd name="adj2" fmla="val 80666"/>
            </a:avLst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" name="右大括号 10"/>
          <p:cNvSpPr/>
          <p:nvPr/>
        </p:nvSpPr>
        <p:spPr>
          <a:xfrm rot="5400000">
            <a:off x="2940050" y="-52070"/>
            <a:ext cx="622300" cy="5566410"/>
          </a:xfrm>
          <a:prstGeom prst="rightBrace">
            <a:avLst>
              <a:gd name="adj1" fmla="val 104155"/>
              <a:gd name="adj2" fmla="val 47438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" name="文本框 11"/>
          <p:cNvSpPr txBox="1"/>
          <p:nvPr>
            <p:custDataLst>
              <p:tags r:id="rId1"/>
            </p:custDataLst>
          </p:nvPr>
        </p:nvSpPr>
        <p:spPr>
          <a:xfrm>
            <a:off x="703580" y="4156710"/>
            <a:ext cx="3365500" cy="119888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事先规划确定；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先安装和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配置，后运行；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右箭头 16"/>
          <p:cNvSpPr/>
          <p:nvPr>
            <p:custDataLst>
              <p:tags r:id="rId2"/>
            </p:custDataLst>
          </p:nvPr>
        </p:nvSpPr>
        <p:spPr>
          <a:xfrm>
            <a:off x="5076190" y="4436745"/>
            <a:ext cx="1055370" cy="715010"/>
          </a:xfrm>
          <a:prstGeom prst="rightArrow">
            <a:avLst>
              <a:gd name="adj1" fmla="val 50000"/>
              <a:gd name="adj2" fmla="val 80666"/>
            </a:avLst>
          </a:prstGeom>
          <a:solidFill>
            <a:schemeClr val="accent6">
              <a:lumMod val="40000"/>
              <a:lumOff val="6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3"/>
            </p:custDataLst>
          </p:nvPr>
        </p:nvSpPr>
        <p:spPr>
          <a:xfrm>
            <a:off x="2277745" y="5733415"/>
            <a:ext cx="1791335" cy="645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配置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文件</a:t>
            </a:r>
            <a:endParaRPr lang="zh-CN" altLang="en-US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4"/>
            </p:custDataLst>
          </p:nvPr>
        </p:nvSpPr>
        <p:spPr>
          <a:xfrm>
            <a:off x="5796280" y="5733415"/>
            <a:ext cx="3207385" cy="64516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wrap="square" rtlCol="0">
            <a:spAutoFit/>
          </a:bodyPr>
          <a:p>
            <a:pPr algn="ctr">
              <a:lnSpc>
                <a:spcPct val="150000"/>
              </a:lnSpc>
            </a:pPr>
            <a:r>
              <a:rPr lang="zh-CN" altLang="en-US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注册中心（</a:t>
            </a:r>
            <a:r>
              <a:rPr lang="en-US" altLang="zh-CN" sz="24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Registry)</a:t>
            </a:r>
            <a:endParaRPr lang="en-US" altLang="zh-CN" sz="24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" name="右箭头 6"/>
          <p:cNvSpPr/>
          <p:nvPr>
            <p:custDataLst>
              <p:tags r:id="rId5"/>
            </p:custDataLst>
          </p:nvPr>
        </p:nvSpPr>
        <p:spPr>
          <a:xfrm>
            <a:off x="4644390" y="5702300"/>
            <a:ext cx="1035685" cy="635635"/>
          </a:xfrm>
          <a:prstGeom prst="rightArrow">
            <a:avLst>
              <a:gd name="adj1" fmla="val 50000"/>
              <a:gd name="adj2" fmla="val 80666"/>
            </a:avLst>
          </a:prstGeom>
          <a:solidFill>
            <a:srgbClr val="0000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6732588" y="5654358"/>
            <a:ext cx="1905000" cy="457200"/>
          </a:xfrm>
        </p:spPr>
        <p:txBody>
          <a:bodyPr wrap="square" lIns="91440" tIns="45720" rIns="91440" bIns="45720" anchor="t"/>
          <a:lstStyle/>
          <a:p>
            <a:pPr algn="r"/>
            <a:fld id="{9A0DB2DC-4C9A-4742-B13C-FB6460FD3503}" type="slidenum">
              <a:rPr lang="en-US" altLang="zh-CN" sz="1400" dirty="0">
                <a:solidFill>
                  <a:srgbClr val="000000"/>
                </a:solidFill>
                <a:latin typeface="Comic Sans MS" panose="030F0902030302020204" pitchFamily="66" charset="0"/>
              </a:rPr>
            </a:fld>
            <a:endParaRPr lang="en-US" altLang="zh-CN" sz="1400" dirty="0">
              <a:solidFill>
                <a:srgbClr val="0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32770" name="矩形 3"/>
          <p:cNvSpPr/>
          <p:nvPr/>
        </p:nvSpPr>
        <p:spPr>
          <a:xfrm>
            <a:off x="1462405" y="116205"/>
            <a:ext cx="7175500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云计算的基本特</a:t>
            </a:r>
            <a:r>
              <a:rPr lang="zh-CN" altLang="en-US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征</a:t>
            </a:r>
            <a:endParaRPr lang="zh-CN" altLang="en-US" sz="3600" b="1" dirty="0">
              <a:solidFill>
                <a:srgbClr val="3333CC"/>
              </a:solidFill>
              <a:latin typeface="微软雅黑" panose="020B0503020204020204" charset="-122"/>
              <a:ea typeface="微软雅黑" panose="020B0503020204020204" charset="-122"/>
              <a:sym typeface="宋体" pitchFamily="2" charset="-122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356100" y="2818130"/>
            <a:ext cx="4412615" cy="28613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超大规模：</a:t>
            </a:r>
            <a:endParaRPr lang="zh-CN" altLang="en-US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   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资源、客户数，服务程序数；</a:t>
            </a:r>
            <a:endParaRPr lang="zh-CN" altLang="en-US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标准化、专业化、自动化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;</a:t>
            </a:r>
            <a:endParaRPr lang="zh-CN" altLang="en-US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全方位监控；</a:t>
            </a:r>
            <a:endParaRPr lang="zh-CN" altLang="en-US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实时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动态部署；</a:t>
            </a:r>
            <a:endParaRPr lang="zh-CN" altLang="en-US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4342" name="Picture 16" descr="the masters of light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5730" y="4077335"/>
            <a:ext cx="3797300" cy="1652270"/>
          </a:xfrm>
          <a:prstGeom prst="rect">
            <a:avLst/>
          </a:prstGeom>
          <a:noFill/>
          <a:ln w="9525">
            <a:noFill/>
          </a:ln>
        </p:spPr>
      </p:pic>
      <p:grpSp>
        <p:nvGrpSpPr>
          <p:cNvPr id="2" name="组合 1"/>
          <p:cNvGrpSpPr/>
          <p:nvPr/>
        </p:nvGrpSpPr>
        <p:grpSpPr>
          <a:xfrm rot="0">
            <a:off x="300355" y="2771775"/>
            <a:ext cx="3602355" cy="1473527"/>
            <a:chOff x="566" y="2768"/>
            <a:chExt cx="3654" cy="3147"/>
          </a:xfrm>
        </p:grpSpPr>
        <p:sp>
          <p:nvSpPr>
            <p:cNvPr id="28676" name="未知"/>
            <p:cNvSpPr/>
            <p:nvPr>
              <p:custDataLst>
                <p:tags r:id="rId3"/>
              </p:custDataLst>
            </p:nvPr>
          </p:nvSpPr>
          <p:spPr>
            <a:xfrm>
              <a:off x="1347" y="4154"/>
              <a:ext cx="1546" cy="827"/>
            </a:xfrm>
            <a:custGeom>
              <a:avLst/>
              <a:gdLst>
                <a:gd name="txL" fmla="*/ 0 w 1996"/>
                <a:gd name="txT" fmla="*/ 0 h 1149"/>
                <a:gd name="txR" fmla="*/ 1996 w 1996"/>
                <a:gd name="txB" fmla="*/ 1149 h 1149"/>
              </a:gdLst>
              <a:ahLst/>
              <a:cxnLst>
                <a:cxn ang="0">
                  <a:pos x="0" y="45"/>
                </a:cxn>
                <a:cxn ang="0">
                  <a:pos x="408" y="862"/>
                </a:cxn>
                <a:cxn ang="0">
                  <a:pos x="862" y="1134"/>
                </a:cxn>
                <a:cxn ang="0">
                  <a:pos x="1316" y="952"/>
                </a:cxn>
                <a:cxn ang="0">
                  <a:pos x="1996" y="0"/>
                </a:cxn>
              </a:cxnLst>
              <a:rect l="txL" t="txT" r="txR" b="txB"/>
              <a:pathLst>
                <a:path w="1996" h="1149">
                  <a:moveTo>
                    <a:pt x="0" y="45"/>
                  </a:moveTo>
                  <a:cubicBezTo>
                    <a:pt x="132" y="363"/>
                    <a:pt x="264" y="681"/>
                    <a:pt x="408" y="862"/>
                  </a:cubicBezTo>
                  <a:cubicBezTo>
                    <a:pt x="552" y="1043"/>
                    <a:pt x="711" y="1119"/>
                    <a:pt x="862" y="1134"/>
                  </a:cubicBezTo>
                  <a:cubicBezTo>
                    <a:pt x="1013" y="1149"/>
                    <a:pt x="1127" y="1141"/>
                    <a:pt x="1316" y="952"/>
                  </a:cubicBezTo>
                  <a:cubicBezTo>
                    <a:pt x="1505" y="763"/>
                    <a:pt x="1750" y="381"/>
                    <a:pt x="1996" y="0"/>
                  </a:cubicBezTo>
                </a:path>
              </a:pathLst>
            </a:custGeom>
            <a:noFill/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lvl="0"/>
              <a:endPara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Arial" panose="020B0604020202090204" pitchFamily="34" charset="0"/>
              </a:endParaRPr>
            </a:p>
          </p:txBody>
        </p:sp>
        <p:sp>
          <p:nvSpPr>
            <p:cNvPr id="28677" name="未知"/>
            <p:cNvSpPr/>
            <p:nvPr>
              <p:custDataLst>
                <p:tags r:id="rId4"/>
              </p:custDataLst>
            </p:nvPr>
          </p:nvSpPr>
          <p:spPr>
            <a:xfrm>
              <a:off x="800" y="3952"/>
              <a:ext cx="1136" cy="978"/>
            </a:xfrm>
            <a:custGeom>
              <a:avLst/>
              <a:gdLst>
                <a:gd name="txL" fmla="*/ 0 w 1996"/>
                <a:gd name="txT" fmla="*/ 0 h 1149"/>
                <a:gd name="txR" fmla="*/ 1996 w 1996"/>
                <a:gd name="txB" fmla="*/ 1149 h 1149"/>
              </a:gdLst>
              <a:ahLst/>
              <a:cxnLst>
                <a:cxn ang="0">
                  <a:pos x="0" y="45"/>
                </a:cxn>
                <a:cxn ang="0">
                  <a:pos x="408" y="862"/>
                </a:cxn>
                <a:cxn ang="0">
                  <a:pos x="862" y="1134"/>
                </a:cxn>
                <a:cxn ang="0">
                  <a:pos x="1316" y="952"/>
                </a:cxn>
                <a:cxn ang="0">
                  <a:pos x="1996" y="0"/>
                </a:cxn>
              </a:cxnLst>
              <a:rect l="txL" t="txT" r="txR" b="txB"/>
              <a:pathLst>
                <a:path w="1996" h="1149">
                  <a:moveTo>
                    <a:pt x="0" y="45"/>
                  </a:moveTo>
                  <a:cubicBezTo>
                    <a:pt x="132" y="363"/>
                    <a:pt x="264" y="681"/>
                    <a:pt x="408" y="862"/>
                  </a:cubicBezTo>
                  <a:cubicBezTo>
                    <a:pt x="552" y="1043"/>
                    <a:pt x="711" y="1119"/>
                    <a:pt x="862" y="1134"/>
                  </a:cubicBezTo>
                  <a:cubicBezTo>
                    <a:pt x="1013" y="1149"/>
                    <a:pt x="1127" y="1141"/>
                    <a:pt x="1316" y="952"/>
                  </a:cubicBezTo>
                  <a:cubicBezTo>
                    <a:pt x="1505" y="763"/>
                    <a:pt x="1750" y="381"/>
                    <a:pt x="1996" y="0"/>
                  </a:cubicBezTo>
                </a:path>
              </a:pathLst>
            </a:custGeom>
            <a:noFill/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lvl="0"/>
              <a:endPara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Arial" panose="020B0604020202090204" pitchFamily="34" charset="0"/>
              </a:endParaRPr>
            </a:p>
          </p:txBody>
        </p:sp>
        <p:sp>
          <p:nvSpPr>
            <p:cNvPr id="28678" name="未知"/>
            <p:cNvSpPr/>
            <p:nvPr>
              <p:custDataLst>
                <p:tags r:id="rId5"/>
              </p:custDataLst>
            </p:nvPr>
          </p:nvSpPr>
          <p:spPr>
            <a:xfrm>
              <a:off x="1392" y="4154"/>
              <a:ext cx="446" cy="583"/>
            </a:xfrm>
            <a:custGeom>
              <a:avLst/>
              <a:gdLst>
                <a:gd name="txL" fmla="*/ 0 w 1996"/>
                <a:gd name="txT" fmla="*/ 0 h 1149"/>
                <a:gd name="txR" fmla="*/ 1996 w 1996"/>
                <a:gd name="txB" fmla="*/ 1149 h 1149"/>
              </a:gdLst>
              <a:ahLst/>
              <a:cxnLst>
                <a:cxn ang="0">
                  <a:pos x="0" y="45"/>
                </a:cxn>
                <a:cxn ang="0">
                  <a:pos x="408" y="862"/>
                </a:cxn>
                <a:cxn ang="0">
                  <a:pos x="862" y="1134"/>
                </a:cxn>
                <a:cxn ang="0">
                  <a:pos x="1316" y="952"/>
                </a:cxn>
                <a:cxn ang="0">
                  <a:pos x="1996" y="0"/>
                </a:cxn>
              </a:cxnLst>
              <a:rect l="txL" t="txT" r="txR" b="txB"/>
              <a:pathLst>
                <a:path w="1996" h="1149">
                  <a:moveTo>
                    <a:pt x="0" y="45"/>
                  </a:moveTo>
                  <a:cubicBezTo>
                    <a:pt x="132" y="363"/>
                    <a:pt x="264" y="681"/>
                    <a:pt x="408" y="862"/>
                  </a:cubicBezTo>
                  <a:cubicBezTo>
                    <a:pt x="552" y="1043"/>
                    <a:pt x="711" y="1119"/>
                    <a:pt x="862" y="1134"/>
                  </a:cubicBezTo>
                  <a:cubicBezTo>
                    <a:pt x="1013" y="1149"/>
                    <a:pt x="1127" y="1141"/>
                    <a:pt x="1316" y="952"/>
                  </a:cubicBezTo>
                  <a:cubicBezTo>
                    <a:pt x="1505" y="763"/>
                    <a:pt x="1750" y="381"/>
                    <a:pt x="1996" y="0"/>
                  </a:cubicBezTo>
                </a:path>
              </a:pathLst>
            </a:custGeom>
            <a:noFill/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lvl="0"/>
              <a:endPara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Arial" panose="020B0604020202090204" pitchFamily="34" charset="0"/>
              </a:endParaRPr>
            </a:p>
          </p:txBody>
        </p:sp>
        <p:sp>
          <p:nvSpPr>
            <p:cNvPr id="28679" name="Cloud"/>
            <p:cNvSpPr>
              <a:spLocks noChangeAspect="1" noEditPoints="1"/>
            </p:cNvSpPr>
            <p:nvPr>
              <p:custDataLst>
                <p:tags r:id="rId6"/>
              </p:custDataLst>
            </p:nvPr>
          </p:nvSpPr>
          <p:spPr>
            <a:xfrm rot="20567651">
              <a:off x="1587" y="2988"/>
              <a:ext cx="1254" cy="1240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2"/>
                </a:cxn>
                <a:cxn ang="0">
                  <a:pos x="6" y="3"/>
                </a:cxn>
                <a:cxn ang="0">
                  <a:pos x="11" y="2"/>
                </a:cxn>
                <a:cxn ang="0">
                  <a:pos x="6" y="0"/>
                </a:cxn>
              </a:cxnLst>
              <a:rect l="txL" t="txT" r="txR" b="txB"/>
              <a:pathLst>
                <a:path w="21600" h="2160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rgbClr val="C0C0C0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lvl="0"/>
              <a:endPara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Arial" panose="020B0604020202090204" pitchFamily="34" charset="0"/>
              </a:endParaRPr>
            </a:p>
          </p:txBody>
        </p:sp>
        <p:sp>
          <p:nvSpPr>
            <p:cNvPr id="28680" name="Cloud"/>
            <p:cNvSpPr>
              <a:spLocks noChangeAspect="1" noEditPoints="1"/>
            </p:cNvSpPr>
            <p:nvPr>
              <p:custDataLst>
                <p:tags r:id="rId7"/>
              </p:custDataLst>
            </p:nvPr>
          </p:nvSpPr>
          <p:spPr>
            <a:xfrm>
              <a:off x="566" y="2997"/>
              <a:ext cx="1254" cy="1240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2"/>
                </a:cxn>
                <a:cxn ang="0">
                  <a:pos x="6" y="3"/>
                </a:cxn>
                <a:cxn ang="0">
                  <a:pos x="11" y="2"/>
                </a:cxn>
                <a:cxn ang="0">
                  <a:pos x="6" y="0"/>
                </a:cxn>
              </a:cxnLst>
              <a:rect l="txL" t="txT" r="txR" b="txB"/>
              <a:pathLst>
                <a:path w="21600" h="2160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lvl="0"/>
              <a:endPara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Arial" panose="020B0604020202090204" pitchFamily="34" charset="0"/>
              </a:endParaRPr>
            </a:p>
          </p:txBody>
        </p:sp>
        <p:sp>
          <p:nvSpPr>
            <p:cNvPr id="28681" name="Cloud"/>
            <p:cNvSpPr>
              <a:spLocks noChangeAspect="1" noEditPoints="1"/>
            </p:cNvSpPr>
            <p:nvPr>
              <p:custDataLst>
                <p:tags r:id="rId8"/>
              </p:custDataLst>
            </p:nvPr>
          </p:nvSpPr>
          <p:spPr>
            <a:xfrm>
              <a:off x="764" y="2914"/>
              <a:ext cx="1254" cy="1240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2"/>
                </a:cxn>
                <a:cxn ang="0">
                  <a:pos x="6" y="3"/>
                </a:cxn>
                <a:cxn ang="0">
                  <a:pos x="11" y="2"/>
                </a:cxn>
                <a:cxn ang="0">
                  <a:pos x="6" y="0"/>
                </a:cxn>
              </a:cxnLst>
              <a:rect l="txL" t="txT" r="txR" b="txB"/>
              <a:pathLst>
                <a:path w="21600" h="2160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lvl="0"/>
              <a:endPara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Arial" panose="020B0604020202090204" pitchFamily="34" charset="0"/>
              </a:endParaRPr>
            </a:p>
          </p:txBody>
        </p:sp>
        <p:sp>
          <p:nvSpPr>
            <p:cNvPr id="28682" name="Cloud"/>
            <p:cNvSpPr>
              <a:spLocks noChangeAspect="1" noEditPoints="1"/>
            </p:cNvSpPr>
            <p:nvPr>
              <p:custDataLst>
                <p:tags r:id="rId9"/>
              </p:custDataLst>
            </p:nvPr>
          </p:nvSpPr>
          <p:spPr>
            <a:xfrm>
              <a:off x="1356" y="2890"/>
              <a:ext cx="1254" cy="1240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2"/>
                </a:cxn>
                <a:cxn ang="0">
                  <a:pos x="6" y="3"/>
                </a:cxn>
                <a:cxn ang="0">
                  <a:pos x="11" y="2"/>
                </a:cxn>
                <a:cxn ang="0">
                  <a:pos x="6" y="0"/>
                </a:cxn>
              </a:cxnLst>
              <a:rect l="txL" t="txT" r="txR" b="txB"/>
              <a:pathLst>
                <a:path w="21600" h="2160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lvl="0"/>
              <a:endPara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Arial" panose="020B0604020202090204" pitchFamily="34" charset="0"/>
              </a:endParaRPr>
            </a:p>
          </p:txBody>
        </p:sp>
        <p:sp>
          <p:nvSpPr>
            <p:cNvPr id="28684" name="Cloud"/>
            <p:cNvSpPr>
              <a:spLocks noChangeAspect="1" noEditPoints="1"/>
            </p:cNvSpPr>
            <p:nvPr>
              <p:custDataLst>
                <p:tags r:id="rId10"/>
              </p:custDataLst>
            </p:nvPr>
          </p:nvSpPr>
          <p:spPr>
            <a:xfrm>
              <a:off x="2212" y="2891"/>
              <a:ext cx="1254" cy="1240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2"/>
                </a:cxn>
                <a:cxn ang="0">
                  <a:pos x="6" y="3"/>
                </a:cxn>
                <a:cxn ang="0">
                  <a:pos x="11" y="2"/>
                </a:cxn>
                <a:cxn ang="0">
                  <a:pos x="6" y="0"/>
                </a:cxn>
              </a:cxnLst>
              <a:rect l="txL" t="txT" r="txR" b="txB"/>
              <a:pathLst>
                <a:path w="21600" h="2160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lvl="0"/>
              <a:endPara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Arial" panose="020B0604020202090204" pitchFamily="34" charset="0"/>
              </a:endParaRPr>
            </a:p>
          </p:txBody>
        </p:sp>
        <p:sp>
          <p:nvSpPr>
            <p:cNvPr id="28685" name="Text Box 13"/>
            <p:cNvSpPr/>
            <p:nvPr>
              <p:custDataLst>
                <p:tags r:id="rId11"/>
              </p:custDataLst>
            </p:nvPr>
          </p:nvSpPr>
          <p:spPr>
            <a:xfrm>
              <a:off x="2290" y="3327"/>
              <a:ext cx="665" cy="1295"/>
            </a:xfrm>
            <a:prstGeom prst="rect">
              <a:avLst/>
            </a:prstGeom>
            <a:noFill/>
            <a:ln w="9525">
              <a:noFill/>
            </a:ln>
          </p:spPr>
          <p:txBody>
            <a:bodyPr tIns="118800" bIns="118800">
              <a:spAutoFit/>
            </a:bodyPr>
            <a:p>
              <a:pPr lvl="0" algn="ctr">
                <a:spcBef>
                  <a:spcPct val="0"/>
                </a:spcBef>
              </a:pPr>
              <a:r>
                <a:rPr lang="zh-CN" altLang="en-US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sym typeface="华文中宋" panose="02010600040101010101" pitchFamily="2" charset="-122"/>
                </a:rPr>
                <a:t>云</a:t>
              </a:r>
              <a:endParaRPr lang="zh-CN" altLang="en-US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686" name="Rectangle 14"/>
            <p:cNvSpPr/>
            <p:nvPr>
              <p:custDataLst>
                <p:tags r:id="rId12"/>
              </p:custDataLst>
            </p:nvPr>
          </p:nvSpPr>
          <p:spPr>
            <a:xfrm>
              <a:off x="764" y="3231"/>
              <a:ext cx="164" cy="680"/>
            </a:xfrm>
            <a:prstGeom prst="rect">
              <a:avLst/>
            </a:prstGeom>
            <a:solidFill>
              <a:schemeClr val="bg1"/>
            </a:solidFill>
            <a:ln w="9525">
              <a:noFill/>
            </a:ln>
          </p:spPr>
          <p:txBody>
            <a:bodyPr wrap="none" anchor="ctr"/>
            <a:p>
              <a:pPr lvl="0"/>
              <a:endPara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Arial" panose="020B0604020202090204" pitchFamily="34" charset="0"/>
              </a:endParaRPr>
            </a:p>
          </p:txBody>
        </p:sp>
        <p:sp>
          <p:nvSpPr>
            <p:cNvPr id="28687" name="Text Box 15"/>
            <p:cNvSpPr/>
            <p:nvPr>
              <p:custDataLst>
                <p:tags r:id="rId13"/>
              </p:custDataLst>
            </p:nvPr>
          </p:nvSpPr>
          <p:spPr>
            <a:xfrm>
              <a:off x="698" y="3376"/>
              <a:ext cx="665" cy="1295"/>
            </a:xfrm>
            <a:prstGeom prst="rect">
              <a:avLst/>
            </a:prstGeom>
            <a:noFill/>
            <a:ln w="9525">
              <a:noFill/>
            </a:ln>
          </p:spPr>
          <p:txBody>
            <a:bodyPr tIns="118800" bIns="118800">
              <a:spAutoFit/>
            </a:bodyPr>
            <a:p>
              <a:pPr lvl="0" algn="ctr">
                <a:spcBef>
                  <a:spcPct val="0"/>
                </a:spcBef>
              </a:pPr>
              <a:r>
                <a:rPr lang="zh-CN" altLang="en-US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sym typeface="华文中宋" panose="02010600040101010101" pitchFamily="2" charset="-122"/>
                </a:rPr>
                <a:t>云</a:t>
              </a:r>
              <a:endParaRPr lang="zh-CN" altLang="en-US" dirty="0">
                <a:latin typeface="楷体_GB2312" pitchFamily="49" charset="-122"/>
                <a:ea typeface="楷体_GB2312" pitchFamily="49" charset="-122"/>
              </a:endParaRPr>
            </a:p>
          </p:txBody>
        </p:sp>
        <p:grpSp>
          <p:nvGrpSpPr>
            <p:cNvPr id="28688" name="Group 16"/>
            <p:cNvGrpSpPr/>
            <p:nvPr/>
          </p:nvGrpSpPr>
          <p:grpSpPr>
            <a:xfrm rot="0">
              <a:off x="734" y="4155"/>
              <a:ext cx="296" cy="193"/>
              <a:chOff x="0" y="0"/>
              <a:chExt cx="408" cy="180"/>
            </a:xfrm>
          </p:grpSpPr>
          <p:sp>
            <p:nvSpPr>
              <p:cNvPr id="28689" name="Rectangle 17"/>
              <p:cNvSpPr/>
              <p:nvPr>
                <p:custDataLst>
                  <p:tags r:id="rId14"/>
                </p:custDataLst>
              </p:nvPr>
            </p:nvSpPr>
            <p:spPr>
              <a:xfrm>
                <a:off x="0" y="89"/>
                <a:ext cx="408" cy="91"/>
              </a:xfrm>
              <a:prstGeom prst="rect">
                <a:avLst/>
              </a:prstGeom>
              <a:solidFill>
                <a:srgbClr val="CCFFCC"/>
              </a:solidFill>
              <a:ln w="952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lvl="0"/>
                <a:endParaRPr lang="zh-CN" altLang="en-US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8690" name="Rectangle 18"/>
              <p:cNvSpPr/>
              <p:nvPr>
                <p:custDataLst>
                  <p:tags r:id="rId15"/>
                </p:custDataLst>
              </p:nvPr>
            </p:nvSpPr>
            <p:spPr>
              <a:xfrm>
                <a:off x="118" y="0"/>
                <a:ext cx="181" cy="91"/>
              </a:xfrm>
              <a:prstGeom prst="rect">
                <a:avLst/>
              </a:prstGeom>
              <a:solidFill>
                <a:srgbClr val="CCFFCC"/>
              </a:solidFill>
              <a:ln w="952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lvl="0"/>
                <a:endParaRPr lang="zh-CN" altLang="en-US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  <a:sym typeface="Arial" panose="020B0604020202090204" pitchFamily="34" charset="0"/>
                </a:endParaRPr>
              </a:p>
            </p:txBody>
          </p:sp>
        </p:grpSp>
        <p:grpSp>
          <p:nvGrpSpPr>
            <p:cNvPr id="28691" name="Group 19"/>
            <p:cNvGrpSpPr/>
            <p:nvPr/>
          </p:nvGrpSpPr>
          <p:grpSpPr>
            <a:xfrm rot="0">
              <a:off x="2676" y="4079"/>
              <a:ext cx="296" cy="193"/>
              <a:chOff x="0" y="0"/>
              <a:chExt cx="408" cy="180"/>
            </a:xfrm>
          </p:grpSpPr>
          <p:sp>
            <p:nvSpPr>
              <p:cNvPr id="28692" name="Rectangle 20"/>
              <p:cNvSpPr/>
              <p:nvPr>
                <p:custDataLst>
                  <p:tags r:id="rId16"/>
                </p:custDataLst>
              </p:nvPr>
            </p:nvSpPr>
            <p:spPr>
              <a:xfrm>
                <a:off x="0" y="89"/>
                <a:ext cx="408" cy="91"/>
              </a:xfrm>
              <a:prstGeom prst="rect">
                <a:avLst/>
              </a:prstGeom>
              <a:solidFill>
                <a:srgbClr val="79C6FF"/>
              </a:solidFill>
              <a:ln w="952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lvl="0"/>
                <a:endParaRPr lang="zh-CN" altLang="en-US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8693" name="Rectangle 21"/>
              <p:cNvSpPr/>
              <p:nvPr>
                <p:custDataLst>
                  <p:tags r:id="rId17"/>
                </p:custDataLst>
              </p:nvPr>
            </p:nvSpPr>
            <p:spPr>
              <a:xfrm>
                <a:off x="118" y="0"/>
                <a:ext cx="181" cy="91"/>
              </a:xfrm>
              <a:prstGeom prst="rect">
                <a:avLst/>
              </a:prstGeom>
              <a:solidFill>
                <a:srgbClr val="79C6FF"/>
              </a:solidFill>
              <a:ln w="952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lvl="0"/>
                <a:endParaRPr lang="zh-CN" altLang="en-US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  <a:sym typeface="Arial" panose="020B0604020202090204" pitchFamily="34" charset="0"/>
                </a:endParaRPr>
              </a:p>
            </p:txBody>
          </p:sp>
        </p:grpSp>
        <p:grpSp>
          <p:nvGrpSpPr>
            <p:cNvPr id="28694" name="Group 22"/>
            <p:cNvGrpSpPr/>
            <p:nvPr/>
          </p:nvGrpSpPr>
          <p:grpSpPr>
            <a:xfrm rot="0">
              <a:off x="1657" y="4079"/>
              <a:ext cx="296" cy="193"/>
              <a:chOff x="0" y="0"/>
              <a:chExt cx="408" cy="180"/>
            </a:xfrm>
          </p:grpSpPr>
          <p:sp>
            <p:nvSpPr>
              <p:cNvPr id="28695" name="Rectangle 23"/>
              <p:cNvSpPr/>
              <p:nvPr>
                <p:custDataLst>
                  <p:tags r:id="rId18"/>
                </p:custDataLst>
              </p:nvPr>
            </p:nvSpPr>
            <p:spPr>
              <a:xfrm>
                <a:off x="0" y="89"/>
                <a:ext cx="408" cy="91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lvl="0"/>
                <a:endParaRPr lang="zh-CN" altLang="en-US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8696" name="Rectangle 24"/>
              <p:cNvSpPr/>
              <p:nvPr>
                <p:custDataLst>
                  <p:tags r:id="rId19"/>
                </p:custDataLst>
              </p:nvPr>
            </p:nvSpPr>
            <p:spPr>
              <a:xfrm>
                <a:off x="118" y="0"/>
                <a:ext cx="181" cy="91"/>
              </a:xfrm>
              <a:prstGeom prst="rect">
                <a:avLst/>
              </a:prstGeom>
              <a:solidFill>
                <a:srgbClr val="FF99CC"/>
              </a:solidFill>
              <a:ln w="952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lvl="0"/>
                <a:endParaRPr lang="zh-CN" altLang="en-US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  <a:sym typeface="Arial" panose="020B0604020202090204" pitchFamily="34" charset="0"/>
                </a:endParaRPr>
              </a:p>
            </p:txBody>
          </p:sp>
        </p:grpSp>
        <p:grpSp>
          <p:nvGrpSpPr>
            <p:cNvPr id="28697" name="Group 25"/>
            <p:cNvGrpSpPr/>
            <p:nvPr/>
          </p:nvGrpSpPr>
          <p:grpSpPr>
            <a:xfrm rot="0">
              <a:off x="1261" y="4088"/>
              <a:ext cx="296" cy="193"/>
              <a:chOff x="0" y="0"/>
              <a:chExt cx="408" cy="180"/>
            </a:xfrm>
          </p:grpSpPr>
          <p:sp>
            <p:nvSpPr>
              <p:cNvPr id="28698" name="Rectangle 26"/>
              <p:cNvSpPr/>
              <p:nvPr>
                <p:custDataLst>
                  <p:tags r:id="rId20"/>
                </p:custDataLst>
              </p:nvPr>
            </p:nvSpPr>
            <p:spPr>
              <a:xfrm>
                <a:off x="0" y="89"/>
                <a:ext cx="408" cy="91"/>
              </a:xfrm>
              <a:prstGeom prst="rect">
                <a:avLst/>
              </a:prstGeom>
              <a:solidFill>
                <a:srgbClr val="00FFFF"/>
              </a:solidFill>
              <a:ln w="952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lvl="0"/>
                <a:endParaRPr lang="zh-CN" altLang="en-US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8699" name="Rectangle 27"/>
              <p:cNvSpPr/>
              <p:nvPr>
                <p:custDataLst>
                  <p:tags r:id="rId21"/>
                </p:custDataLst>
              </p:nvPr>
            </p:nvSpPr>
            <p:spPr>
              <a:xfrm>
                <a:off x="118" y="0"/>
                <a:ext cx="181" cy="91"/>
              </a:xfrm>
              <a:prstGeom prst="rect">
                <a:avLst/>
              </a:prstGeom>
              <a:solidFill>
                <a:srgbClr val="00FFFF"/>
              </a:solidFill>
              <a:ln w="952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lvl="0"/>
                <a:endParaRPr lang="zh-CN" altLang="en-US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  <a:sym typeface="Arial" panose="020B0604020202090204" pitchFamily="34" charset="0"/>
                </a:endParaRPr>
              </a:p>
            </p:txBody>
          </p:sp>
        </p:grpSp>
        <p:sp>
          <p:nvSpPr>
            <p:cNvPr id="28703" name="Text Box 31"/>
            <p:cNvSpPr/>
            <p:nvPr>
              <p:custDataLst>
                <p:tags r:id="rId22"/>
              </p:custDataLst>
            </p:nvPr>
          </p:nvSpPr>
          <p:spPr>
            <a:xfrm>
              <a:off x="867" y="4832"/>
              <a:ext cx="475" cy="769"/>
            </a:xfrm>
            <a:prstGeom prst="rect">
              <a:avLst/>
            </a:prstGeom>
            <a:solidFill>
              <a:srgbClr val="CCFFCC"/>
            </a:solidFill>
            <a:ln w="9525">
              <a:noFill/>
            </a:ln>
          </p:spPr>
          <p:txBody>
            <a:bodyPr wrap="square" lIns="18000" rIns="18000">
              <a:noAutofit/>
            </a:bodyPr>
            <a:p>
              <a:pPr lvl="0" algn="ctr" eaLnBrk="1" hangingPunct="1">
                <a:spcBef>
                  <a:spcPct val="50000"/>
                </a:spcBef>
              </a:pPr>
              <a:r>
                <a:rPr lang="zh-CN" altLang="en-US" sz="1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sym typeface="华文中宋" panose="02010600040101010101" pitchFamily="2" charset="-122"/>
                </a:rPr>
                <a:t>检测</a:t>
              </a:r>
              <a:endParaRPr lang="zh-CN" altLang="en-US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04" name="Text Box 32"/>
            <p:cNvSpPr/>
            <p:nvPr>
              <p:custDataLst>
                <p:tags r:id="rId23"/>
              </p:custDataLst>
            </p:nvPr>
          </p:nvSpPr>
          <p:spPr>
            <a:xfrm>
              <a:off x="1554" y="4736"/>
              <a:ext cx="355" cy="960"/>
            </a:xfrm>
            <a:prstGeom prst="rect">
              <a:avLst/>
            </a:prstGeom>
            <a:solidFill>
              <a:srgbClr val="00FFFF"/>
            </a:solidFill>
            <a:ln w="9525">
              <a:noFill/>
            </a:ln>
          </p:spPr>
          <p:txBody>
            <a:bodyPr wrap="square" lIns="18000" rIns="18000">
              <a:noAutofit/>
            </a:bodyPr>
            <a:p>
              <a:pPr lvl="0" algn="ctr" eaLnBrk="1" hangingPunct="1">
                <a:spcBef>
                  <a:spcPct val="50000"/>
                </a:spcBef>
              </a:pPr>
              <a:r>
                <a:rPr lang="en-US" altLang="x-none" sz="140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sym typeface="华文中宋" panose="02010600040101010101" pitchFamily="2" charset="-122"/>
                </a:rPr>
                <a:t>GPRS</a:t>
              </a:r>
              <a:endParaRPr lang="zh-CN" altLang="en-US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05" name="Text Box 33"/>
            <p:cNvSpPr/>
            <p:nvPr>
              <p:custDataLst>
                <p:tags r:id="rId24"/>
              </p:custDataLst>
            </p:nvPr>
          </p:nvSpPr>
          <p:spPr>
            <a:xfrm>
              <a:off x="1936" y="4970"/>
              <a:ext cx="488" cy="769"/>
            </a:xfrm>
            <a:prstGeom prst="rect">
              <a:avLst/>
            </a:prstGeom>
            <a:solidFill>
              <a:srgbClr val="C0C0C0"/>
            </a:solidFill>
            <a:ln w="9525">
              <a:noFill/>
            </a:ln>
          </p:spPr>
          <p:txBody>
            <a:bodyPr lIns="18000" rIns="18000">
              <a:noAutofit/>
            </a:bodyPr>
            <a:p>
              <a:pPr lvl="0" algn="ctr" eaLnBrk="1" hangingPunct="1">
                <a:spcBef>
                  <a:spcPct val="50000"/>
                </a:spcBef>
              </a:pPr>
              <a:r>
                <a:rPr lang="zh-CN" altLang="en-US" sz="1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sym typeface="华文中宋" panose="02010600040101010101" pitchFamily="2" charset="-122"/>
                </a:rPr>
                <a:t>运输</a:t>
              </a:r>
              <a:endParaRPr lang="zh-CN" altLang="en-US" dirty="0"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8706" name="Text Box 34"/>
            <p:cNvSpPr/>
            <p:nvPr>
              <p:custDataLst>
                <p:tags r:id="rId25"/>
              </p:custDataLst>
            </p:nvPr>
          </p:nvSpPr>
          <p:spPr>
            <a:xfrm>
              <a:off x="2461" y="5223"/>
              <a:ext cx="689" cy="692"/>
            </a:xfrm>
            <a:prstGeom prst="rect">
              <a:avLst/>
            </a:prstGeom>
            <a:solidFill>
              <a:srgbClr val="99CCFF"/>
            </a:solidFill>
            <a:ln w="9525">
              <a:noFill/>
            </a:ln>
          </p:spPr>
          <p:txBody>
            <a:bodyPr wrap="square" lIns="18000" rIns="18000">
              <a:noAutofit/>
            </a:bodyPr>
            <a:p>
              <a:pPr lvl="0" algn="ctr" eaLnBrk="1" hangingPunct="1">
                <a:spcBef>
                  <a:spcPct val="50000"/>
                </a:spcBef>
              </a:pPr>
              <a:r>
                <a:rPr lang="zh-CN" altLang="en-US" sz="1400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sym typeface="华文中宋" panose="02010600040101010101" pitchFamily="2" charset="-122"/>
                </a:rPr>
                <a:t>支付</a:t>
              </a:r>
              <a:endParaRPr lang="zh-CN" altLang="en-US" dirty="0">
                <a:latin typeface="楷体_GB2312" pitchFamily="49" charset="-122"/>
                <a:ea typeface="楷体_GB2312" pitchFamily="49" charset="-122"/>
              </a:endParaRPr>
            </a:p>
          </p:txBody>
        </p:sp>
        <p:grpSp>
          <p:nvGrpSpPr>
            <p:cNvPr id="28707" name="Group 35"/>
            <p:cNvGrpSpPr/>
            <p:nvPr/>
          </p:nvGrpSpPr>
          <p:grpSpPr>
            <a:xfrm rot="0">
              <a:off x="1590" y="3181"/>
              <a:ext cx="526" cy="777"/>
              <a:chOff x="0" y="0"/>
              <a:chExt cx="550" cy="636"/>
            </a:xfrm>
          </p:grpSpPr>
          <p:grpSp>
            <p:nvGrpSpPr>
              <p:cNvPr id="28708" name="Group 36"/>
              <p:cNvGrpSpPr/>
              <p:nvPr/>
            </p:nvGrpSpPr>
            <p:grpSpPr>
              <a:xfrm>
                <a:off x="197" y="545"/>
                <a:ext cx="137" cy="91"/>
                <a:chOff x="0" y="0"/>
                <a:chExt cx="408" cy="180"/>
              </a:xfrm>
            </p:grpSpPr>
            <p:sp>
              <p:nvSpPr>
                <p:cNvPr id="28709" name="Rectangle 37"/>
                <p:cNvSpPr/>
                <p:nvPr>
                  <p:custDataLst>
                    <p:tags r:id="rId26"/>
                  </p:custDataLst>
                </p:nvPr>
              </p:nvSpPr>
              <p:spPr>
                <a:xfrm>
                  <a:off x="1" y="88"/>
                  <a:ext cx="407" cy="92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p>
                  <a:pPr lvl="0"/>
                  <a:endParaRPr lang="zh-CN" altLang="en-US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8710" name="Rectangle 38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118" y="0"/>
                  <a:ext cx="181" cy="92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p>
                  <a:pPr lvl="0"/>
                  <a:endParaRPr lang="zh-CN" altLang="en-US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  <a:sym typeface="Arial" panose="020B0604020202090204" pitchFamily="34" charset="0"/>
                  </a:endParaRPr>
                </a:p>
              </p:txBody>
            </p:sp>
          </p:grpSp>
          <p:grpSp>
            <p:nvGrpSpPr>
              <p:cNvPr id="28711" name="Group 39"/>
              <p:cNvGrpSpPr/>
              <p:nvPr/>
            </p:nvGrpSpPr>
            <p:grpSpPr>
              <a:xfrm rot="19332188">
                <a:off x="378" y="409"/>
                <a:ext cx="152" cy="112"/>
                <a:chOff x="0" y="0"/>
                <a:chExt cx="408" cy="180"/>
              </a:xfrm>
            </p:grpSpPr>
            <p:sp>
              <p:nvSpPr>
                <p:cNvPr id="28712" name="Rectangle 40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-1" y="88"/>
                  <a:ext cx="409" cy="92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p>
                  <a:pPr lvl="0"/>
                  <a:endParaRPr lang="zh-CN" altLang="en-US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8713" name="Rectangle 41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115" y="-3"/>
                  <a:ext cx="181" cy="93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p>
                  <a:pPr lvl="0"/>
                  <a:endParaRPr lang="zh-CN" altLang="en-US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  <a:sym typeface="Arial" panose="020B0604020202090204" pitchFamily="34" charset="0"/>
                  </a:endParaRPr>
                </a:p>
              </p:txBody>
            </p:sp>
          </p:grpSp>
          <p:grpSp>
            <p:nvGrpSpPr>
              <p:cNvPr id="28714" name="Group 42"/>
              <p:cNvGrpSpPr/>
              <p:nvPr/>
            </p:nvGrpSpPr>
            <p:grpSpPr>
              <a:xfrm rot="14789103">
                <a:off x="416" y="166"/>
                <a:ext cx="153" cy="108"/>
                <a:chOff x="0" y="0"/>
                <a:chExt cx="408" cy="180"/>
              </a:xfrm>
            </p:grpSpPr>
            <p:sp>
              <p:nvSpPr>
                <p:cNvPr id="28715" name="Rectangle 43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0" y="89"/>
                  <a:ext cx="408" cy="91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p>
                  <a:pPr lvl="0"/>
                  <a:endParaRPr lang="zh-CN" altLang="en-US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8716" name="Rectangle 44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118" y="0"/>
                  <a:ext cx="181" cy="91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wrap="none" anchor="ctr"/>
                <a:p>
                  <a:pPr lvl="0"/>
                  <a:endParaRPr lang="zh-CN" altLang="en-US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  <a:sym typeface="Arial" panose="020B0604020202090204" pitchFamily="34" charset="0"/>
                  </a:endParaRPr>
                </a:p>
              </p:txBody>
            </p:sp>
          </p:grpSp>
          <p:grpSp>
            <p:nvGrpSpPr>
              <p:cNvPr id="28717" name="Group 45"/>
              <p:cNvGrpSpPr/>
              <p:nvPr/>
            </p:nvGrpSpPr>
            <p:grpSpPr>
              <a:xfrm rot="10800000">
                <a:off x="242" y="0"/>
                <a:ext cx="137" cy="91"/>
                <a:chOff x="0" y="0"/>
                <a:chExt cx="408" cy="180"/>
              </a:xfrm>
            </p:grpSpPr>
            <p:sp>
              <p:nvSpPr>
                <p:cNvPr id="28718" name="Rectangle 46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0" y="89"/>
                  <a:ext cx="408" cy="91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rot="10800000" wrap="none" anchor="ctr"/>
                <a:p>
                  <a:pPr lvl="0"/>
                  <a:endParaRPr lang="zh-CN" altLang="en-US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8719" name="Rectangle 47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118" y="0"/>
                  <a:ext cx="181" cy="91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rot="10800000" wrap="none" anchor="ctr"/>
                <a:p>
                  <a:pPr lvl="0"/>
                  <a:endParaRPr lang="zh-CN" altLang="en-US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  <a:sym typeface="Arial" panose="020B0604020202090204" pitchFamily="34" charset="0"/>
                  </a:endParaRPr>
                </a:p>
              </p:txBody>
            </p:sp>
          </p:grpSp>
          <p:grpSp>
            <p:nvGrpSpPr>
              <p:cNvPr id="28720" name="Group 48"/>
              <p:cNvGrpSpPr/>
              <p:nvPr/>
            </p:nvGrpSpPr>
            <p:grpSpPr>
              <a:xfrm rot="7061970">
                <a:off x="-31" y="143"/>
                <a:ext cx="159" cy="68"/>
                <a:chOff x="0" y="0"/>
                <a:chExt cx="408" cy="180"/>
              </a:xfrm>
            </p:grpSpPr>
            <p:sp>
              <p:nvSpPr>
                <p:cNvPr id="28721" name="Rectangle 49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0" y="89"/>
                  <a:ext cx="408" cy="91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rot="10800000" wrap="none" anchor="ctr"/>
                <a:p>
                  <a:pPr lvl="0"/>
                  <a:endParaRPr lang="zh-CN" altLang="en-US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8722" name="Rectangle 50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118" y="0"/>
                  <a:ext cx="181" cy="91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rot="10800000" wrap="none" anchor="ctr"/>
                <a:p>
                  <a:pPr lvl="0"/>
                  <a:endParaRPr lang="zh-CN" altLang="en-US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  <a:sym typeface="Arial" panose="020B0604020202090204" pitchFamily="34" charset="0"/>
                  </a:endParaRPr>
                </a:p>
              </p:txBody>
            </p:sp>
          </p:grpSp>
          <p:grpSp>
            <p:nvGrpSpPr>
              <p:cNvPr id="28723" name="Group 51"/>
              <p:cNvGrpSpPr/>
              <p:nvPr/>
            </p:nvGrpSpPr>
            <p:grpSpPr>
              <a:xfrm rot="2965132">
                <a:off x="-9" y="398"/>
                <a:ext cx="127" cy="110"/>
                <a:chOff x="0" y="0"/>
                <a:chExt cx="408" cy="180"/>
              </a:xfrm>
            </p:grpSpPr>
            <p:sp>
              <p:nvSpPr>
                <p:cNvPr id="28724" name="Rectangle 52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0" y="89"/>
                  <a:ext cx="408" cy="91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rot="10800000" wrap="none" anchor="ctr"/>
                <a:p>
                  <a:pPr lvl="0"/>
                  <a:endParaRPr lang="zh-CN" altLang="en-US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  <a:sym typeface="Arial" panose="020B0604020202090204" pitchFamily="34" charset="0"/>
                  </a:endParaRPr>
                </a:p>
              </p:txBody>
            </p:sp>
            <p:sp>
              <p:nvSpPr>
                <p:cNvPr id="28725" name="Rectangle 53"/>
                <p:cNvSpPr/>
                <p:nvPr>
                  <p:custDataLst>
                    <p:tags r:id="rId37"/>
                  </p:custDataLst>
                </p:nvPr>
              </p:nvSpPr>
              <p:spPr>
                <a:xfrm>
                  <a:off x="118" y="0"/>
                  <a:ext cx="181" cy="91"/>
                </a:xfrm>
                <a:prstGeom prst="rect">
                  <a:avLst/>
                </a:prstGeom>
                <a:solidFill>
                  <a:srgbClr val="FF99CC"/>
                </a:solidFill>
                <a:ln w="9525" cap="flat" cmpd="sng">
                  <a:solidFill>
                    <a:schemeClr val="bg2"/>
                  </a:solidFill>
                  <a:prstDash val="solid"/>
                  <a:miter/>
                  <a:headEnd type="none" w="med" len="med"/>
                  <a:tailEnd type="none" w="med" len="med"/>
                </a:ln>
              </p:spPr>
              <p:txBody>
                <a:bodyPr rot="10800000" wrap="none" anchor="ctr"/>
                <a:p>
                  <a:pPr lvl="0"/>
                  <a:endParaRPr lang="zh-CN" altLang="en-US">
                    <a:solidFill>
                      <a:srgbClr val="000000"/>
                    </a:solidFill>
                    <a:latin typeface="楷体_GB2312" pitchFamily="49" charset="-122"/>
                    <a:ea typeface="楷体_GB2312" pitchFamily="49" charset="-122"/>
                    <a:sym typeface="Arial" panose="020B0604020202090204" pitchFamily="34" charset="0"/>
                  </a:endParaRPr>
                </a:p>
              </p:txBody>
            </p:sp>
          </p:grpSp>
        </p:grpSp>
        <p:sp>
          <p:nvSpPr>
            <p:cNvPr id="28727" name="Cloud"/>
            <p:cNvSpPr>
              <a:spLocks noChangeAspect="1" noEditPoints="1"/>
            </p:cNvSpPr>
            <p:nvPr>
              <p:custDataLst>
                <p:tags r:id="rId38"/>
              </p:custDataLst>
            </p:nvPr>
          </p:nvSpPr>
          <p:spPr>
            <a:xfrm>
              <a:off x="2966" y="2768"/>
              <a:ext cx="1254" cy="1240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2"/>
                </a:cxn>
                <a:cxn ang="0">
                  <a:pos x="6" y="3"/>
                </a:cxn>
                <a:cxn ang="0">
                  <a:pos x="11" y="2"/>
                </a:cxn>
                <a:cxn ang="0">
                  <a:pos x="6" y="0"/>
                </a:cxn>
              </a:cxnLst>
              <a:rect l="txL" t="txT" r="txR" b="txB"/>
              <a:pathLst>
                <a:path w="21600" h="2160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lvl="0"/>
              <a:endPara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Arial" panose="020B0604020202090204" pitchFamily="34" charset="0"/>
              </a:endParaRPr>
            </a:p>
          </p:txBody>
        </p:sp>
        <p:sp>
          <p:nvSpPr>
            <p:cNvPr id="28728" name="Cloud"/>
            <p:cNvSpPr>
              <a:spLocks noChangeAspect="1" noEditPoints="1"/>
            </p:cNvSpPr>
            <p:nvPr>
              <p:custDataLst>
                <p:tags r:id="rId39"/>
              </p:custDataLst>
            </p:nvPr>
          </p:nvSpPr>
          <p:spPr>
            <a:xfrm>
              <a:off x="2912" y="2890"/>
              <a:ext cx="1254" cy="1240"/>
            </a:xfrm>
            <a:custGeom>
              <a:avLst/>
              <a:gdLst>
                <a:gd name="txL" fmla="*/ 0 w 21600"/>
                <a:gd name="txT" fmla="*/ 0 h 21600"/>
                <a:gd name="txR" fmla="*/ 21600 w 21600"/>
                <a:gd name="txB" fmla="*/ 21600 h 21600"/>
              </a:gdLst>
              <a:ahLst/>
              <a:cxnLst>
                <a:cxn ang="0">
                  <a:pos x="0" y="2"/>
                </a:cxn>
                <a:cxn ang="0">
                  <a:pos x="6" y="3"/>
                </a:cxn>
                <a:cxn ang="0">
                  <a:pos x="11" y="2"/>
                </a:cxn>
                <a:cxn ang="0">
                  <a:pos x="6" y="0"/>
                </a:cxn>
              </a:cxnLst>
              <a:rect l="txL" t="txT" r="txR" b="txB"/>
              <a:pathLst>
                <a:path w="21600" h="2160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/>
            <a:p>
              <a:pPr lvl="0"/>
              <a:endPara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Arial" panose="020B0604020202090204" pitchFamily="34" charset="0"/>
              </a:endParaRPr>
            </a:p>
          </p:txBody>
        </p:sp>
        <p:sp>
          <p:nvSpPr>
            <p:cNvPr id="28729" name="Text Box 57"/>
            <p:cNvSpPr/>
            <p:nvPr>
              <p:custDataLst>
                <p:tags r:id="rId40"/>
              </p:custDataLst>
            </p:nvPr>
          </p:nvSpPr>
          <p:spPr>
            <a:xfrm>
              <a:off x="3134" y="3279"/>
              <a:ext cx="665" cy="1295"/>
            </a:xfrm>
            <a:prstGeom prst="rect">
              <a:avLst/>
            </a:prstGeom>
            <a:noFill/>
            <a:ln w="9525">
              <a:noFill/>
            </a:ln>
          </p:spPr>
          <p:txBody>
            <a:bodyPr tIns="118800" bIns="118800">
              <a:spAutoFit/>
            </a:bodyPr>
            <a:p>
              <a:pPr lvl="0" algn="ctr">
                <a:spcBef>
                  <a:spcPct val="0"/>
                </a:spcBef>
              </a:pPr>
              <a:r>
                <a:rPr lang="zh-CN" altLang="en-US" dirty="0">
                  <a:solidFill>
                    <a:schemeClr val="tx1"/>
                  </a:solidFill>
                  <a:latin typeface="华文中宋" panose="02010600040101010101" pitchFamily="2" charset="-122"/>
                  <a:ea typeface="华文中宋" panose="02010600040101010101" pitchFamily="2" charset="-122"/>
                  <a:sym typeface="华文中宋" panose="02010600040101010101" pitchFamily="2" charset="-122"/>
                </a:rPr>
                <a:t>云</a:t>
              </a:r>
              <a:endParaRPr lang="zh-CN" altLang="en-US" dirty="0">
                <a:latin typeface="楷体_GB2312" pitchFamily="49" charset="-122"/>
                <a:ea typeface="楷体_GB2312" pitchFamily="49" charset="-122"/>
              </a:endParaRPr>
            </a:p>
          </p:txBody>
        </p:sp>
        <p:grpSp>
          <p:nvGrpSpPr>
            <p:cNvPr id="28730" name="Group 58"/>
            <p:cNvGrpSpPr/>
            <p:nvPr/>
          </p:nvGrpSpPr>
          <p:grpSpPr>
            <a:xfrm rot="0">
              <a:off x="3379" y="4105"/>
              <a:ext cx="296" cy="193"/>
              <a:chOff x="0" y="0"/>
              <a:chExt cx="408" cy="180"/>
            </a:xfrm>
          </p:grpSpPr>
          <p:sp>
            <p:nvSpPr>
              <p:cNvPr id="28731" name="Rectangle 59"/>
              <p:cNvSpPr/>
              <p:nvPr>
                <p:custDataLst>
                  <p:tags r:id="rId41"/>
                </p:custDataLst>
              </p:nvPr>
            </p:nvSpPr>
            <p:spPr>
              <a:xfrm>
                <a:off x="0" y="89"/>
                <a:ext cx="408" cy="91"/>
              </a:xfrm>
              <a:prstGeom prst="rect">
                <a:avLst/>
              </a:prstGeom>
              <a:solidFill>
                <a:srgbClr val="CC99FF"/>
              </a:solidFill>
              <a:ln w="952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lvl="0"/>
                <a:endParaRPr lang="zh-CN" altLang="en-US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  <a:sym typeface="Arial" panose="020B0604020202090204" pitchFamily="34" charset="0"/>
                </a:endParaRPr>
              </a:p>
            </p:txBody>
          </p:sp>
          <p:sp>
            <p:nvSpPr>
              <p:cNvPr id="28732" name="Rectangle 60"/>
              <p:cNvSpPr/>
              <p:nvPr>
                <p:custDataLst>
                  <p:tags r:id="rId42"/>
                </p:custDataLst>
              </p:nvPr>
            </p:nvSpPr>
            <p:spPr>
              <a:xfrm>
                <a:off x="118" y="0"/>
                <a:ext cx="181" cy="91"/>
              </a:xfrm>
              <a:prstGeom prst="rect">
                <a:avLst/>
              </a:prstGeom>
              <a:solidFill>
                <a:srgbClr val="CC99FF"/>
              </a:solidFill>
              <a:ln w="9525" cap="flat" cmpd="sng">
                <a:solidFill>
                  <a:schemeClr val="bg2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 lvl="0"/>
                <a:endParaRPr lang="zh-CN" altLang="en-US">
                  <a:solidFill>
                    <a:srgbClr val="000000"/>
                  </a:solidFill>
                  <a:latin typeface="楷体_GB2312" pitchFamily="49" charset="-122"/>
                  <a:ea typeface="楷体_GB2312" pitchFamily="49" charset="-122"/>
                  <a:sym typeface="Arial" panose="020B0604020202090204" pitchFamily="34" charset="0"/>
                </a:endParaRPr>
              </a:p>
            </p:txBody>
          </p:sp>
        </p:grpSp>
        <p:sp>
          <p:nvSpPr>
            <p:cNvPr id="28733" name="未知"/>
            <p:cNvSpPr/>
            <p:nvPr>
              <p:custDataLst>
                <p:tags r:id="rId43"/>
              </p:custDataLst>
            </p:nvPr>
          </p:nvSpPr>
          <p:spPr>
            <a:xfrm>
              <a:off x="1850" y="4250"/>
              <a:ext cx="1746" cy="972"/>
            </a:xfrm>
            <a:custGeom>
              <a:avLst/>
              <a:gdLst>
                <a:gd name="txL" fmla="*/ 0 w 1996"/>
                <a:gd name="txT" fmla="*/ 0 h 1149"/>
                <a:gd name="txR" fmla="*/ 1996 w 1996"/>
                <a:gd name="txB" fmla="*/ 1149 h 1149"/>
              </a:gdLst>
              <a:ahLst/>
              <a:cxnLst>
                <a:cxn ang="0">
                  <a:pos x="0" y="45"/>
                </a:cxn>
                <a:cxn ang="0">
                  <a:pos x="408" y="862"/>
                </a:cxn>
                <a:cxn ang="0">
                  <a:pos x="862" y="1134"/>
                </a:cxn>
                <a:cxn ang="0">
                  <a:pos x="1316" y="952"/>
                </a:cxn>
                <a:cxn ang="0">
                  <a:pos x="1996" y="0"/>
                </a:cxn>
              </a:cxnLst>
              <a:rect l="txL" t="txT" r="txR" b="txB"/>
              <a:pathLst>
                <a:path w="1996" h="1149">
                  <a:moveTo>
                    <a:pt x="0" y="45"/>
                  </a:moveTo>
                  <a:cubicBezTo>
                    <a:pt x="132" y="363"/>
                    <a:pt x="264" y="681"/>
                    <a:pt x="408" y="862"/>
                  </a:cubicBezTo>
                  <a:cubicBezTo>
                    <a:pt x="552" y="1043"/>
                    <a:pt x="711" y="1119"/>
                    <a:pt x="862" y="1134"/>
                  </a:cubicBezTo>
                  <a:cubicBezTo>
                    <a:pt x="1013" y="1149"/>
                    <a:pt x="1127" y="1141"/>
                    <a:pt x="1316" y="952"/>
                  </a:cubicBezTo>
                  <a:cubicBezTo>
                    <a:pt x="1505" y="763"/>
                    <a:pt x="1750" y="381"/>
                    <a:pt x="1996" y="0"/>
                  </a:cubicBezTo>
                </a:path>
              </a:pathLst>
            </a:custGeom>
            <a:noFill/>
            <a:ln w="9525" cap="flat" cmpd="sng">
              <a:solidFill>
                <a:schemeClr val="bg2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 lvl="0"/>
              <a:endParaRPr lang="zh-CN" altLang="en-US">
                <a:solidFill>
                  <a:srgbClr val="000000"/>
                </a:solidFill>
                <a:latin typeface="楷体_GB2312" pitchFamily="49" charset="-122"/>
                <a:ea typeface="楷体_GB2312" pitchFamily="49" charset="-122"/>
                <a:sym typeface="Arial" panose="020B0604020202090204" pitchFamily="34" charset="0"/>
              </a:endParaRP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320675" y="1269365"/>
            <a:ext cx="8683625" cy="645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利用规模效应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集约效应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，实现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客户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与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服务提供者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互利双赢。</a:t>
            </a:r>
            <a:endParaRPr lang="zh-CN" altLang="en-US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44"/>
            </p:custDataLst>
          </p:nvPr>
        </p:nvSpPr>
        <p:spPr>
          <a:xfrm>
            <a:off x="430530" y="6021705"/>
            <a:ext cx="6939915" cy="7372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为什么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使用普通计算机</a:t>
            </a:r>
            <a:r>
              <a:rPr lang="en-US" altLang="zh-CN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，不用高档服务器？</a:t>
            </a:r>
            <a:endParaRPr lang="zh-CN" altLang="en-US"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45"/>
            </p:custDataLst>
          </p:nvPr>
        </p:nvSpPr>
        <p:spPr>
          <a:xfrm>
            <a:off x="2884170" y="2018665"/>
            <a:ext cx="5888355" cy="6451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个体负载</a:t>
            </a:r>
            <a:r>
              <a:rPr lang="zh-CN" altLang="en-US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起伏波动性，整体的平稳性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zh-CN" altLang="en-US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t"/>
          <a:lstStyle/>
          <a:p>
            <a:pPr algn="r"/>
            <a:fld id="{9A0DB2DC-4C9A-4742-B13C-FB6460FD3503}" type="slidenum">
              <a:rPr lang="en-US" altLang="zh-CN" sz="1400" dirty="0">
                <a:solidFill>
                  <a:srgbClr val="000000"/>
                </a:solidFill>
                <a:latin typeface="Comic Sans MS" panose="030F0902030302020204" pitchFamily="66" charset="0"/>
              </a:rPr>
            </a:fld>
            <a:endParaRPr lang="en-US" altLang="zh-CN" sz="1400" dirty="0">
              <a:solidFill>
                <a:srgbClr val="0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32770" name="矩形 3"/>
          <p:cNvSpPr/>
          <p:nvPr/>
        </p:nvSpPr>
        <p:spPr>
          <a:xfrm>
            <a:off x="1043940" y="260985"/>
            <a:ext cx="810450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云计算的现状：</a:t>
            </a:r>
            <a:r>
              <a:rPr lang="zh-CN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逐步推进</a:t>
            </a:r>
            <a:endParaRPr lang="zh-CN" sz="3600" b="1" dirty="0">
              <a:solidFill>
                <a:srgbClr val="3333CC"/>
              </a:solidFill>
              <a:latin typeface="微软雅黑" panose="020B0503020204020204" charset="-122"/>
              <a:ea typeface="微软雅黑" panose="020B0503020204020204" charset="-122"/>
              <a:sym typeface="宋体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79705" y="1196975"/>
            <a:ext cx="8776335" cy="345821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私有云：成熟；</a:t>
            </a:r>
            <a:endParaRPr lang="zh-CN" altLang="en-US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公有云：</a:t>
            </a:r>
            <a:endParaRPr lang="zh-CN" altLang="en-US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首先提供通用服务。例如，存储，计算，</a:t>
            </a:r>
            <a:r>
              <a:rPr lang="en-US" altLang="zh-CN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email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提供通用服务软件，例如，云原生数据库；</a:t>
            </a:r>
            <a:endParaRPr lang="zh-CN" altLang="en-US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提供云开发平台，例如，微信小程序云开发；</a:t>
            </a:r>
            <a:endParaRPr lang="zh-CN" altLang="en-US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安全、法制、配套设施有待推进</a:t>
            </a: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：客户的业务信息系统上云；</a:t>
            </a:r>
            <a:endParaRPr lang="zh-CN" altLang="en-US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9705" y="4797425"/>
            <a:ext cx="5912485" cy="53784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marL="342900" indent="-342900" algn="l">
              <a:lnSpc>
                <a:spcPct val="100000"/>
              </a:lnSpc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巨大的市场，云服务商在发力和投入；</a:t>
            </a:r>
            <a:endParaRPr lang="zh-CN" altLang="en-US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251460" y="5589270"/>
            <a:ext cx="7317105" cy="60452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t">
            <a:noAutofit/>
          </a:bodyPr>
          <a:p>
            <a:pPr marL="342900" indent="-342900" algn="l">
              <a:lnSpc>
                <a:spcPct val="100000"/>
              </a:lnSpc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哪类企业先将自己的业务信息系统上了云？</a:t>
            </a:r>
            <a:endParaRPr lang="zh-CN" altLang="en-US"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t"/>
          <a:lstStyle/>
          <a:p>
            <a:pPr algn="r"/>
            <a:fld id="{9A0DB2DC-4C9A-4742-B13C-FB6460FD3503}" type="slidenum">
              <a:rPr lang="en-US" altLang="zh-CN" sz="1400" dirty="0">
                <a:solidFill>
                  <a:srgbClr val="000000"/>
                </a:solidFill>
                <a:latin typeface="Comic Sans MS" panose="030F0902030302020204" pitchFamily="66" charset="0"/>
              </a:rPr>
            </a:fld>
            <a:endParaRPr lang="en-US" altLang="zh-CN" sz="1400" dirty="0">
              <a:solidFill>
                <a:srgbClr val="0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32770" name="矩形 3"/>
          <p:cNvSpPr/>
          <p:nvPr/>
        </p:nvSpPr>
        <p:spPr>
          <a:xfrm>
            <a:off x="1043940" y="260985"/>
            <a:ext cx="810450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云计算要解决的关键</a:t>
            </a:r>
            <a:r>
              <a:rPr lang="zh-CN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问题</a:t>
            </a:r>
            <a:endParaRPr lang="zh-CN" sz="3600" b="1" dirty="0">
              <a:solidFill>
                <a:srgbClr val="3333CC"/>
              </a:solidFill>
              <a:latin typeface="微软雅黑" panose="020B0503020204020204" charset="-122"/>
              <a:ea typeface="微软雅黑" panose="020B0503020204020204" charset="-122"/>
              <a:sym typeface="宋体" pitchFamily="2" charset="-122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395605" y="1341120"/>
            <a:ext cx="8460105" cy="513778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noAutofit/>
          </a:bodyPr>
          <a:p>
            <a:pPr marL="342900" indent="-342900" algn="l">
              <a:lnSpc>
                <a:spcPct val="200000"/>
              </a:lnSpc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程序能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到处运行；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200000"/>
              </a:lnSpc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程序能到处</a:t>
            </a: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成功运行；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200000"/>
              </a:lnSpc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同一台计算机上的多个程序之间不相互干扰；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 algn="l">
              <a:lnSpc>
                <a:spcPct val="200000"/>
              </a:lnSpc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资源耗光；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 algn="l">
              <a:lnSpc>
                <a:spcPct val="200000"/>
              </a:lnSpc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骚扰对方；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914400" lvl="1" indent="-457200" algn="l">
              <a:lnSpc>
                <a:spcPct val="200000"/>
              </a:lnSpc>
              <a:buClr>
                <a:srgbClr val="FF0000"/>
              </a:buClr>
              <a:buFont typeface="Wingdings" panose="05000000000000000000" charset="0"/>
              <a:buChar char="Ø"/>
            </a:pPr>
            <a:r>
              <a:rPr lang="zh-CN" altLang="en-US" sz="2800" b="1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共享冲突；</a:t>
            </a:r>
            <a:endParaRPr lang="zh-CN" altLang="en-US" sz="2800" b="1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/>
          <a:lstStyle/>
          <a:p>
            <a:pPr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4098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/>
          <a:lstStyle/>
          <a:p>
            <a:pPr eaLnBrk="1" hangingPunct="1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三级虚拟机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6821805" y="2990850"/>
              <a:ext cx="17780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6821805" y="2990850"/>
                <a:ext cx="17780" cy="360"/>
              </a:xfrm>
              <a:prstGeom prst="rect"/>
            </p:spPr>
          </p:pic>
        </mc:Fallback>
      </mc:AlternateContent>
      <p:sp>
        <p:nvSpPr>
          <p:cNvPr id="4" name="内容占位符 3"/>
          <p:cNvSpPr/>
          <p:nvPr>
            <p:ph idx="1"/>
          </p:nvPr>
        </p:nvSpPr>
        <p:spPr>
          <a:xfrm>
            <a:off x="52705" y="1371600"/>
            <a:ext cx="9098280" cy="4316730"/>
          </a:xfrm>
        </p:spPr>
        <p:txBody>
          <a:bodyPr/>
          <a:p>
            <a:pPr>
              <a:lnSpc>
                <a:spcPct val="200000"/>
              </a:lnSpc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用于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支持程序语言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VM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：例如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JVM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，仅只是一个应用程序；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200000"/>
              </a:lnSpc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用于隔离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VM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操作系统实例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，例如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Docker Container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200000"/>
              </a:lnSpc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bare metal VM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用于安装操作系统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，例如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VMWare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/>
          <a:lstStyle/>
          <a:p>
            <a:pPr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4098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/>
          <a:lstStyle/>
          <a:p>
            <a:pPr eaLnBrk="1" hangingPunct="1"/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bare metal VM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6821805" y="2990850"/>
              <a:ext cx="17780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6821805" y="2990850"/>
                <a:ext cx="17780" cy="360"/>
              </a:xfrm>
              <a:prstGeom prst="rect"/>
            </p:spPr>
          </p:pic>
        </mc:Fallback>
      </mc:AlternateContent>
      <p:sp>
        <p:nvSpPr>
          <p:cNvPr id="4" name="内容占位符 3"/>
          <p:cNvSpPr/>
          <p:nvPr>
            <p:ph idx="1"/>
          </p:nvPr>
        </p:nvSpPr>
        <p:spPr>
          <a:xfrm>
            <a:off x="52705" y="1371600"/>
            <a:ext cx="9098280" cy="4316730"/>
          </a:xfrm>
        </p:spPr>
        <p:txBody>
          <a:bodyPr/>
          <a:p>
            <a:pPr>
              <a:lnSpc>
                <a:spcPct val="200000"/>
              </a:lnSpc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先安装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VMware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，充当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Hypervisor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，再安装操作系统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200000"/>
              </a:lnSpc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先安装操作系统，再安装诸如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Visual Box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之类的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VM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支持应用软件，再通过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VM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支持应用软件，来安装操作系统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 lang="en-US" altLang="zh-CN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/>
          <a:lstStyle/>
          <a:p>
            <a:pPr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4098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/>
          <a:lstStyle/>
          <a:p>
            <a:pPr eaLnBrk="1" hangingPunct="1"/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x86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处理器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架构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idx="1"/>
          </p:nvPr>
        </p:nvSpPr>
        <p:spPr>
          <a:xfrm>
            <a:off x="1548130" y="1341120"/>
            <a:ext cx="5887720" cy="2400935"/>
          </a:xfrm>
          <a:ln>
            <a:solidFill>
              <a:schemeClr val="accent1"/>
            </a:solidFill>
          </a:ln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Ring 3 - Applications</a:t>
            </a:r>
            <a:endParaRPr lang="zh-CN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Ring 2 - Extensions</a:t>
            </a:r>
            <a:endParaRPr lang="zh-CN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Ring 1 - Services</a:t>
            </a:r>
            <a:endParaRPr lang="zh-CN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Ring 0 - Kernel</a:t>
            </a:r>
            <a:endParaRPr lang="zh-CN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6821805" y="2990850"/>
              <a:ext cx="17780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6821805" y="2990850"/>
                <a:ext cx="17780" cy="360"/>
              </a:xfrm>
              <a:prstGeom prst="rect"/>
            </p:spPr>
          </p:pic>
        </mc:Fallback>
      </mc:AlternateContent>
      <p:sp>
        <p:nvSpPr>
          <p:cNvPr id="3" name="文本框 2"/>
          <p:cNvSpPr txBox="1"/>
          <p:nvPr/>
        </p:nvSpPr>
        <p:spPr>
          <a:xfrm>
            <a:off x="683895" y="3919220"/>
            <a:ext cx="7954010" cy="286131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Windows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Linux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操作系统并未全部使用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级，仅仅只使用了两级：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Ring 0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Ring3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Ring 0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：内核空间；操作系统内核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Ring 3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：用户空间；应用程序；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两级之间的来回切换：软中断：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INT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iRet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586105" y="152400"/>
            <a:ext cx="8681720" cy="805180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多个应用程序共享一台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计算机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07950" y="1196975"/>
            <a:ext cx="8928735" cy="17532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应用程序：代码和数据：都在存储器中：内存和寄存器；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下一条要执行的指令；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进场上下文</a:t>
            </a:r>
            <a:r>
              <a:rPr lang="en-US" alt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(context);</a:t>
            </a:r>
            <a:endParaRPr lang="en-US" altLang="zh-CN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835785" y="6021705"/>
            <a:ext cx="1574800" cy="72834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tIns="179705" bIns="179705" rtlCol="0">
            <a:spAutoFit/>
          </a:bodyPr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1835785" y="4408170"/>
            <a:ext cx="1504315" cy="95758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tIns="179705" bIns="179705" rtlCol="0">
            <a:noAutofit/>
          </a:bodyPr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Context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838325" y="5373370"/>
            <a:ext cx="1537335" cy="72834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寄存器</a:t>
            </a: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2"/>
            </p:custDataLst>
          </p:nvPr>
        </p:nvSpPr>
        <p:spPr>
          <a:xfrm>
            <a:off x="6948170" y="5877560"/>
            <a:ext cx="1574800" cy="72834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tIns="179705" bIns="179705" rtlCol="0">
            <a:spAutoFit/>
          </a:bodyPr>
          <a:p>
            <a:pPr algn="ctr"/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</a:t>
            </a:r>
            <a:endParaRPr lang="en-US" alt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3"/>
            </p:custDataLst>
          </p:nvPr>
        </p:nvSpPr>
        <p:spPr>
          <a:xfrm>
            <a:off x="6948170" y="4221480"/>
            <a:ext cx="1504315" cy="107696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tIns="179705" bIns="179705" rtlCol="0">
            <a:noAutofit/>
          </a:bodyPr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Context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4"/>
            </p:custDataLst>
          </p:nvPr>
        </p:nvSpPr>
        <p:spPr>
          <a:xfrm>
            <a:off x="6950710" y="5230495"/>
            <a:ext cx="1537335" cy="728345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寄存器</a:t>
            </a: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5"/>
            </p:custDataLst>
          </p:nvPr>
        </p:nvSpPr>
        <p:spPr>
          <a:xfrm>
            <a:off x="3923665" y="1997075"/>
            <a:ext cx="1504315" cy="10947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tIns="179705" bIns="179705" rtlCol="0">
            <a:noAutofit/>
          </a:bodyPr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Context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6"/>
            </p:custDataLst>
          </p:nvPr>
        </p:nvSpPr>
        <p:spPr>
          <a:xfrm>
            <a:off x="5507990" y="2014855"/>
            <a:ext cx="1504315" cy="107696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tIns="179705" bIns="179705" rtlCol="0">
            <a:noAutofit/>
          </a:bodyPr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Context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右箭头 8"/>
          <p:cNvSpPr/>
          <p:nvPr/>
        </p:nvSpPr>
        <p:spPr>
          <a:xfrm rot="19200000">
            <a:off x="3044825" y="3352165"/>
            <a:ext cx="1607185" cy="762635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0" name="右箭头 19"/>
          <p:cNvSpPr/>
          <p:nvPr>
            <p:custDataLst>
              <p:tags r:id="rId7"/>
            </p:custDataLst>
          </p:nvPr>
        </p:nvSpPr>
        <p:spPr>
          <a:xfrm rot="2760000">
            <a:off x="6087110" y="3354070"/>
            <a:ext cx="1298575" cy="762635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586105" y="152400"/>
            <a:ext cx="8681720" cy="805180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多个进程共享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一个网络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7174865" y="4765675"/>
            <a:ext cx="106108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4140200" y="6137910"/>
            <a:ext cx="2411730" cy="252095"/>
          </a:xfrm>
          <a:prstGeom prst="rect">
            <a:avLst/>
          </a:prstGeom>
          <a:noFill/>
          <a:ln w="53975" cap="flat" cmpd="dbl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4281170" y="6154420"/>
            <a:ext cx="467995" cy="144145"/>
          </a:xfrm>
          <a:prstGeom prst="rect">
            <a:avLst/>
          </a:prstGeom>
          <a:solidFill>
            <a:schemeClr val="accent1"/>
          </a:solidFill>
          <a:ln w="53975" cap="flat" cmpd="dbl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866005" y="6179185"/>
            <a:ext cx="467995" cy="144145"/>
          </a:xfrm>
          <a:prstGeom prst="rect">
            <a:avLst/>
          </a:prstGeom>
          <a:solidFill>
            <a:schemeClr val="accent1"/>
          </a:solidFill>
          <a:ln w="53975" cap="flat" cmpd="dbl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5440680" y="6179185"/>
            <a:ext cx="467995" cy="144145"/>
          </a:xfrm>
          <a:prstGeom prst="rect">
            <a:avLst/>
          </a:prstGeom>
          <a:solidFill>
            <a:schemeClr val="accent1"/>
          </a:solidFill>
          <a:ln w="53975" cap="flat" cmpd="dbl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19" name="直接连接符 18"/>
          <p:cNvCxnSpPr/>
          <p:nvPr/>
        </p:nvCxnSpPr>
        <p:spPr>
          <a:xfrm flipH="1">
            <a:off x="3584575" y="5614035"/>
            <a:ext cx="63500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</p:cxnSp>
      <p:sp>
        <p:nvSpPr>
          <p:cNvPr id="28" name="文本框 27"/>
          <p:cNvSpPr txBox="1"/>
          <p:nvPr/>
        </p:nvSpPr>
        <p:spPr>
          <a:xfrm>
            <a:off x="3850640" y="4204970"/>
            <a:ext cx="3694430" cy="400685"/>
          </a:xfrm>
          <a:prstGeom prst="rect">
            <a:avLst/>
          </a:prstGeom>
          <a:noFill/>
          <a:ln w="47625">
            <a:noFill/>
          </a:ln>
        </p:spPr>
        <p:txBody>
          <a:bodyPr wrap="square" tIns="0" bIns="0" rtlCol="0">
            <a:noAutofit/>
          </a:bodyPr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Connection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对象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2165350" y="5213350"/>
            <a:ext cx="1336675" cy="72834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6" name="矩形 35"/>
          <p:cNvSpPr/>
          <p:nvPr>
            <p:custDataLst>
              <p:tags r:id="rId1"/>
            </p:custDataLst>
          </p:nvPr>
        </p:nvSpPr>
        <p:spPr>
          <a:xfrm>
            <a:off x="4152900" y="4764405"/>
            <a:ext cx="2411730" cy="252095"/>
          </a:xfrm>
          <a:prstGeom prst="rect">
            <a:avLst/>
          </a:prstGeom>
          <a:noFill/>
          <a:ln w="53975" cap="flat" cmpd="dbl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4293870" y="4780915"/>
            <a:ext cx="467995" cy="144145"/>
          </a:xfrm>
          <a:prstGeom prst="rect">
            <a:avLst/>
          </a:prstGeom>
          <a:solidFill>
            <a:srgbClr val="00FF00"/>
          </a:solidFill>
          <a:ln w="53975" cap="flat" cmpd="dbl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38" name="矩形 37"/>
          <p:cNvSpPr/>
          <p:nvPr>
            <p:custDataLst>
              <p:tags r:id="rId3"/>
            </p:custDataLst>
          </p:nvPr>
        </p:nvSpPr>
        <p:spPr>
          <a:xfrm>
            <a:off x="4878705" y="4805680"/>
            <a:ext cx="467995" cy="144145"/>
          </a:xfrm>
          <a:prstGeom prst="rect">
            <a:avLst/>
          </a:prstGeom>
          <a:solidFill>
            <a:srgbClr val="00FF00"/>
          </a:solidFill>
          <a:ln w="53975" cap="flat" cmpd="dbl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1" name="文本框 40"/>
          <p:cNvSpPr txBox="1"/>
          <p:nvPr>
            <p:custDataLst>
              <p:tags r:id="rId4"/>
            </p:custDataLst>
          </p:nvPr>
        </p:nvSpPr>
        <p:spPr>
          <a:xfrm>
            <a:off x="7102475" y="6093460"/>
            <a:ext cx="106108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3" name="矩形 42"/>
          <p:cNvSpPr/>
          <p:nvPr>
            <p:custDataLst>
              <p:tags r:id="rId5"/>
            </p:custDataLst>
          </p:nvPr>
        </p:nvSpPr>
        <p:spPr>
          <a:xfrm>
            <a:off x="4150360" y="5506720"/>
            <a:ext cx="2411730" cy="252095"/>
          </a:xfrm>
          <a:prstGeom prst="rect">
            <a:avLst/>
          </a:prstGeom>
          <a:noFill/>
          <a:ln w="53975" cap="flat" cmpd="dbl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4" name="矩形 43"/>
          <p:cNvSpPr/>
          <p:nvPr>
            <p:custDataLst>
              <p:tags r:id="rId6"/>
            </p:custDataLst>
          </p:nvPr>
        </p:nvSpPr>
        <p:spPr>
          <a:xfrm>
            <a:off x="4291330" y="5523230"/>
            <a:ext cx="467995" cy="144145"/>
          </a:xfrm>
          <a:prstGeom prst="rect">
            <a:avLst/>
          </a:prstGeom>
          <a:solidFill>
            <a:srgbClr val="00FF00"/>
          </a:solidFill>
          <a:ln w="53975" cap="flat" cmpd="dbl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48" name="直接连接符 47"/>
          <p:cNvCxnSpPr/>
          <p:nvPr>
            <p:custDataLst>
              <p:tags r:id="rId7"/>
            </p:custDataLst>
          </p:nvPr>
        </p:nvCxnSpPr>
        <p:spPr>
          <a:xfrm flipH="1">
            <a:off x="3502025" y="4837430"/>
            <a:ext cx="635000" cy="71056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</p:cxnSp>
      <p:cxnSp>
        <p:nvCxnSpPr>
          <p:cNvPr id="49" name="直接连接符 48"/>
          <p:cNvCxnSpPr/>
          <p:nvPr>
            <p:custDataLst>
              <p:tags r:id="rId8"/>
            </p:custDataLst>
          </p:nvPr>
        </p:nvCxnSpPr>
        <p:spPr>
          <a:xfrm flipH="1" flipV="1">
            <a:off x="3515360" y="5781040"/>
            <a:ext cx="642620" cy="51752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</p:cxnSp>
      <p:sp>
        <p:nvSpPr>
          <p:cNvPr id="50" name="文本框 49"/>
          <p:cNvSpPr txBox="1"/>
          <p:nvPr>
            <p:custDataLst>
              <p:tags r:id="rId9"/>
            </p:custDataLst>
          </p:nvPr>
        </p:nvSpPr>
        <p:spPr>
          <a:xfrm>
            <a:off x="7102475" y="5481320"/>
            <a:ext cx="106108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ctr"/>
            <a:r>
              <a:rPr lang="zh-CN" alt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</a:t>
            </a:r>
            <a:r>
              <a: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lang="en-US" altLang="zh-CN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1" name="文本框 50"/>
          <p:cNvSpPr txBox="1"/>
          <p:nvPr>
            <p:custDataLst>
              <p:tags r:id="rId10"/>
            </p:custDataLst>
          </p:nvPr>
        </p:nvSpPr>
        <p:spPr>
          <a:xfrm>
            <a:off x="5229860" y="4949825"/>
            <a:ext cx="106108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ctr"/>
            <a:r>
              <a:rPr 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</a:t>
            </a:r>
            <a:endParaRPr 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2" name="文本框 51"/>
          <p:cNvSpPr txBox="1"/>
          <p:nvPr>
            <p:custDataLst>
              <p:tags r:id="rId11"/>
            </p:custDataLst>
          </p:nvPr>
        </p:nvSpPr>
        <p:spPr>
          <a:xfrm>
            <a:off x="5230495" y="5691505"/>
            <a:ext cx="106108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ctr"/>
            <a:r>
              <a:rPr 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25</a:t>
            </a:r>
            <a:endParaRPr 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3" name="文本框 52"/>
          <p:cNvSpPr txBox="1"/>
          <p:nvPr>
            <p:custDataLst>
              <p:tags r:id="rId12"/>
            </p:custDataLst>
          </p:nvPr>
        </p:nvSpPr>
        <p:spPr>
          <a:xfrm>
            <a:off x="4761865" y="6597650"/>
            <a:ext cx="1061085" cy="39878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ctr"/>
            <a:r>
              <a:rPr 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23</a:t>
            </a:r>
            <a:endParaRPr lang="en-US" sz="20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54" name="直接连接符 53"/>
          <p:cNvCxnSpPr/>
          <p:nvPr>
            <p:custDataLst>
              <p:tags r:id="rId13"/>
            </p:custDataLst>
          </p:nvPr>
        </p:nvCxnSpPr>
        <p:spPr>
          <a:xfrm flipH="1" flipV="1">
            <a:off x="1151890" y="5565140"/>
            <a:ext cx="995045" cy="9525"/>
          </a:xfrm>
          <a:prstGeom prst="line">
            <a:avLst/>
          </a:prstGeom>
          <a:solidFill>
            <a:schemeClr val="accent1"/>
          </a:solidFill>
          <a:ln w="730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</p:cxnSp>
      <p:cxnSp>
        <p:nvCxnSpPr>
          <p:cNvPr id="55" name="直接连接符 54"/>
          <p:cNvCxnSpPr/>
          <p:nvPr>
            <p:custDataLst>
              <p:tags r:id="rId14"/>
            </p:custDataLst>
          </p:nvPr>
        </p:nvCxnSpPr>
        <p:spPr>
          <a:xfrm flipH="1">
            <a:off x="6660515" y="4890770"/>
            <a:ext cx="651510" cy="0"/>
          </a:xfrm>
          <a:prstGeom prst="line">
            <a:avLst/>
          </a:prstGeom>
          <a:solidFill>
            <a:schemeClr val="accent1"/>
          </a:solidFill>
          <a:ln w="6350" cap="flat" cmpd="sng" algn="ctr">
            <a:solidFill>
              <a:schemeClr val="tx1"/>
            </a:solidFill>
            <a:prstDash val="solid"/>
            <a:miter lim="800000"/>
            <a:headEnd type="none" w="med" len="med"/>
            <a:tailEnd type="triangle" w="med" len="lg"/>
          </a:ln>
        </p:spPr>
      </p:cxnSp>
      <p:cxnSp>
        <p:nvCxnSpPr>
          <p:cNvPr id="56" name="直接连接符 55"/>
          <p:cNvCxnSpPr/>
          <p:nvPr>
            <p:custDataLst>
              <p:tags r:id="rId15"/>
            </p:custDataLst>
          </p:nvPr>
        </p:nvCxnSpPr>
        <p:spPr>
          <a:xfrm flipV="1">
            <a:off x="6670675" y="5661660"/>
            <a:ext cx="6121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</p:cxnSp>
      <p:cxnSp>
        <p:nvCxnSpPr>
          <p:cNvPr id="57" name="直接连接符 56"/>
          <p:cNvCxnSpPr/>
          <p:nvPr>
            <p:custDataLst>
              <p:tags r:id="rId16"/>
            </p:custDataLst>
          </p:nvPr>
        </p:nvCxnSpPr>
        <p:spPr>
          <a:xfrm flipV="1">
            <a:off x="6660515" y="6293485"/>
            <a:ext cx="61214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</p:cxnSp>
      <p:grpSp>
        <p:nvGrpSpPr>
          <p:cNvPr id="2" name="组合 1"/>
          <p:cNvGrpSpPr/>
          <p:nvPr/>
        </p:nvGrpSpPr>
        <p:grpSpPr>
          <a:xfrm rot="0">
            <a:off x="1547495" y="1196975"/>
            <a:ext cx="6880860" cy="2536190"/>
            <a:chOff x="3252" y="2565"/>
            <a:chExt cx="10836" cy="3994"/>
          </a:xfrm>
        </p:grpSpPr>
        <p:sp>
          <p:nvSpPr>
            <p:cNvPr id="4" name="文本框 3"/>
            <p:cNvSpPr txBox="1"/>
            <p:nvPr>
              <p:custDataLst>
                <p:tags r:id="rId17"/>
              </p:custDataLst>
            </p:nvPr>
          </p:nvSpPr>
          <p:spPr>
            <a:xfrm>
              <a:off x="12417" y="3448"/>
              <a:ext cx="1671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zh-CN" altLang="en-US" sz="20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进程</a:t>
              </a:r>
              <a:r>
                <a:rPr lang="en-US" altLang="zh-CN" sz="20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5" name="组合 4"/>
            <p:cNvGrpSpPr/>
            <p:nvPr/>
          </p:nvGrpSpPr>
          <p:grpSpPr>
            <a:xfrm>
              <a:off x="7638" y="5609"/>
              <a:ext cx="3798" cy="397"/>
              <a:chOff x="7638" y="5609"/>
              <a:chExt cx="3798" cy="397"/>
            </a:xfrm>
          </p:grpSpPr>
          <p:sp>
            <p:nvSpPr>
              <p:cNvPr id="6" name="矩形 5"/>
              <p:cNvSpPr/>
              <p:nvPr>
                <p:custDataLst>
                  <p:tags r:id="rId18"/>
                </p:custDataLst>
              </p:nvPr>
            </p:nvSpPr>
            <p:spPr>
              <a:xfrm>
                <a:off x="7638" y="5609"/>
                <a:ext cx="3798" cy="397"/>
              </a:xfrm>
              <a:prstGeom prst="rect">
                <a:avLst/>
              </a:prstGeom>
              <a:noFill/>
              <a:ln w="53975" cap="flat" cmpd="dbl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7" name="矩形 6"/>
              <p:cNvSpPr/>
              <p:nvPr>
                <p:custDataLst>
                  <p:tags r:id="rId19"/>
                </p:custDataLst>
              </p:nvPr>
            </p:nvSpPr>
            <p:spPr>
              <a:xfrm>
                <a:off x="7860" y="5635"/>
                <a:ext cx="737" cy="227"/>
              </a:xfrm>
              <a:prstGeom prst="rect">
                <a:avLst/>
              </a:prstGeom>
              <a:solidFill>
                <a:schemeClr val="tx1"/>
              </a:solidFill>
              <a:ln w="53975" cap="flat" cmpd="dbl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8" name="矩形 7"/>
              <p:cNvSpPr/>
              <p:nvPr>
                <p:custDataLst>
                  <p:tags r:id="rId20"/>
                </p:custDataLst>
              </p:nvPr>
            </p:nvSpPr>
            <p:spPr>
              <a:xfrm>
                <a:off x="8781" y="5674"/>
                <a:ext cx="737" cy="227"/>
              </a:xfrm>
              <a:prstGeom prst="rect">
                <a:avLst/>
              </a:prstGeom>
              <a:solidFill>
                <a:schemeClr val="tx1"/>
              </a:solidFill>
              <a:ln w="53975" cap="flat" cmpd="dbl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9" name="矩形 8"/>
              <p:cNvSpPr/>
              <p:nvPr>
                <p:custDataLst>
                  <p:tags r:id="rId21"/>
                </p:custDataLst>
              </p:nvPr>
            </p:nvSpPr>
            <p:spPr>
              <a:xfrm>
                <a:off x="9686" y="5674"/>
                <a:ext cx="737" cy="227"/>
              </a:xfrm>
              <a:prstGeom prst="rect">
                <a:avLst/>
              </a:prstGeom>
              <a:solidFill>
                <a:schemeClr val="tx1"/>
              </a:solidFill>
              <a:ln w="53975" cap="flat" cmpd="dbl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</p:grpSp>
        <p:cxnSp>
          <p:nvCxnSpPr>
            <p:cNvPr id="21" name="直接连接符 20"/>
            <p:cNvCxnSpPr/>
            <p:nvPr>
              <p:custDataLst>
                <p:tags r:id="rId22"/>
              </p:custDataLst>
            </p:nvPr>
          </p:nvCxnSpPr>
          <p:spPr>
            <a:xfrm flipV="1">
              <a:off x="6633" y="4784"/>
              <a:ext cx="96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</p:cxnSp>
        <p:sp>
          <p:nvSpPr>
            <p:cNvPr id="22" name="文本框 21"/>
            <p:cNvSpPr txBox="1"/>
            <p:nvPr>
              <p:custDataLst>
                <p:tags r:id="rId23"/>
              </p:custDataLst>
            </p:nvPr>
          </p:nvSpPr>
          <p:spPr>
            <a:xfrm>
              <a:off x="7182" y="2565"/>
              <a:ext cx="5818" cy="631"/>
            </a:xfrm>
            <a:prstGeom prst="rect">
              <a:avLst/>
            </a:prstGeom>
            <a:noFill/>
            <a:ln w="47625">
              <a:noFill/>
            </a:ln>
          </p:spPr>
          <p:txBody>
            <a:bodyPr wrap="square" tIns="0" bIns="0" rtlCol="0">
              <a:noAutofit/>
            </a:bodyPr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Connection</a:t>
              </a:r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对象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4" name="文本框 23"/>
            <p:cNvSpPr txBox="1"/>
            <p:nvPr>
              <p:custDataLst>
                <p:tags r:id="rId24"/>
              </p:custDataLst>
            </p:nvPr>
          </p:nvSpPr>
          <p:spPr>
            <a:xfrm>
              <a:off x="4528" y="4153"/>
              <a:ext cx="2105" cy="1147"/>
            </a:xfrm>
            <a:prstGeom prst="rect">
              <a:avLst/>
            </a:prstGeom>
            <a:solidFill>
              <a:srgbClr val="FF0000"/>
            </a:solidFill>
            <a:ln>
              <a:solidFill>
                <a:srgbClr val="FF0000"/>
              </a:solidFill>
            </a:ln>
          </p:spPr>
          <p:txBody>
            <a:bodyPr wrap="square" tIns="179705" bIns="179705" rtlCol="0">
              <a:spAutoFit/>
            </a:bodyPr>
            <a:p>
              <a:pPr algn="ctr"/>
              <a:r>
                <a:rPr lang="zh-CN" altLang="en-US" b="1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网路</a:t>
              </a:r>
              <a:endPara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25" name="组合 24"/>
            <p:cNvGrpSpPr/>
            <p:nvPr/>
          </p:nvGrpSpPr>
          <p:grpSpPr>
            <a:xfrm>
              <a:off x="7658" y="3446"/>
              <a:ext cx="3798" cy="396"/>
              <a:chOff x="7638" y="5609"/>
              <a:chExt cx="3798" cy="396"/>
            </a:xfrm>
          </p:grpSpPr>
          <p:sp>
            <p:nvSpPr>
              <p:cNvPr id="26" name="矩形 25"/>
              <p:cNvSpPr/>
              <p:nvPr>
                <p:custDataLst>
                  <p:tags r:id="rId25"/>
                </p:custDataLst>
              </p:nvPr>
            </p:nvSpPr>
            <p:spPr>
              <a:xfrm>
                <a:off x="7638" y="5609"/>
                <a:ext cx="3798" cy="397"/>
              </a:xfrm>
              <a:prstGeom prst="rect">
                <a:avLst/>
              </a:prstGeom>
              <a:noFill/>
              <a:ln w="53975" cap="flat" cmpd="dbl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27" name="矩形 26"/>
              <p:cNvSpPr/>
              <p:nvPr>
                <p:custDataLst>
                  <p:tags r:id="rId26"/>
                </p:custDataLst>
              </p:nvPr>
            </p:nvSpPr>
            <p:spPr>
              <a:xfrm>
                <a:off x="7860" y="5635"/>
                <a:ext cx="737" cy="227"/>
              </a:xfrm>
              <a:prstGeom prst="rect">
                <a:avLst/>
              </a:prstGeom>
              <a:solidFill>
                <a:schemeClr val="tx1"/>
              </a:solidFill>
              <a:ln w="53975" cap="flat" cmpd="dbl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29" name="矩形 28"/>
              <p:cNvSpPr/>
              <p:nvPr>
                <p:custDataLst>
                  <p:tags r:id="rId27"/>
                </p:custDataLst>
              </p:nvPr>
            </p:nvSpPr>
            <p:spPr>
              <a:xfrm>
                <a:off x="8781" y="5674"/>
                <a:ext cx="737" cy="227"/>
              </a:xfrm>
              <a:prstGeom prst="rect">
                <a:avLst/>
              </a:prstGeom>
              <a:solidFill>
                <a:schemeClr val="tx1"/>
              </a:solidFill>
              <a:ln w="53975" cap="flat" cmpd="dbl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30" name="矩形 29"/>
              <p:cNvSpPr/>
              <p:nvPr>
                <p:custDataLst>
                  <p:tags r:id="rId28"/>
                </p:custDataLst>
              </p:nvPr>
            </p:nvSpPr>
            <p:spPr>
              <a:xfrm>
                <a:off x="9686" y="5674"/>
                <a:ext cx="737" cy="227"/>
              </a:xfrm>
              <a:prstGeom prst="rect">
                <a:avLst/>
              </a:prstGeom>
              <a:solidFill>
                <a:schemeClr val="tx1"/>
              </a:solidFill>
              <a:ln w="53975" cap="flat" cmpd="dbl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31" name="矩形 30"/>
              <p:cNvSpPr/>
              <p:nvPr>
                <p:custDataLst>
                  <p:tags r:id="rId29"/>
                </p:custDataLst>
              </p:nvPr>
            </p:nvSpPr>
            <p:spPr>
              <a:xfrm>
                <a:off x="10563" y="5674"/>
                <a:ext cx="737" cy="227"/>
              </a:xfrm>
              <a:prstGeom prst="rect">
                <a:avLst/>
              </a:prstGeom>
              <a:solidFill>
                <a:schemeClr val="tx1"/>
              </a:solidFill>
              <a:ln w="53975" cap="flat" cmpd="dbl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32" name="文本框 31"/>
            <p:cNvSpPr txBox="1"/>
            <p:nvPr>
              <p:custDataLst>
                <p:tags r:id="rId30"/>
              </p:custDataLst>
            </p:nvPr>
          </p:nvSpPr>
          <p:spPr>
            <a:xfrm>
              <a:off x="12303" y="5539"/>
              <a:ext cx="1671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zh-CN" altLang="en-US" sz="20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进程</a:t>
              </a:r>
              <a:r>
                <a:rPr lang="en-US" altLang="zh-CN" sz="20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</a:t>
              </a:r>
              <a:endPara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grpSp>
          <p:nvGrpSpPr>
            <p:cNvPr id="33" name="组合 32"/>
            <p:cNvGrpSpPr/>
            <p:nvPr/>
          </p:nvGrpSpPr>
          <p:grpSpPr>
            <a:xfrm>
              <a:off x="7654" y="4615"/>
              <a:ext cx="3798" cy="397"/>
              <a:chOff x="7638" y="5609"/>
              <a:chExt cx="3798" cy="397"/>
            </a:xfrm>
          </p:grpSpPr>
          <p:sp>
            <p:nvSpPr>
              <p:cNvPr id="34" name="矩形 33"/>
              <p:cNvSpPr/>
              <p:nvPr>
                <p:custDataLst>
                  <p:tags r:id="rId31"/>
                </p:custDataLst>
              </p:nvPr>
            </p:nvSpPr>
            <p:spPr>
              <a:xfrm>
                <a:off x="7638" y="5609"/>
                <a:ext cx="3798" cy="397"/>
              </a:xfrm>
              <a:prstGeom prst="rect">
                <a:avLst/>
              </a:prstGeom>
              <a:noFill/>
              <a:ln w="53975" cap="flat" cmpd="dbl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64" name="矩形 63"/>
              <p:cNvSpPr/>
              <p:nvPr>
                <p:custDataLst>
                  <p:tags r:id="rId32"/>
                </p:custDataLst>
              </p:nvPr>
            </p:nvSpPr>
            <p:spPr>
              <a:xfrm>
                <a:off x="7860" y="5635"/>
                <a:ext cx="737" cy="227"/>
              </a:xfrm>
              <a:prstGeom prst="rect">
                <a:avLst/>
              </a:prstGeom>
              <a:solidFill>
                <a:schemeClr val="tx1"/>
              </a:solidFill>
              <a:ln w="53975" cap="flat" cmpd="dbl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65" name="矩形 64"/>
              <p:cNvSpPr/>
              <p:nvPr>
                <p:custDataLst>
                  <p:tags r:id="rId33"/>
                </p:custDataLst>
              </p:nvPr>
            </p:nvSpPr>
            <p:spPr>
              <a:xfrm>
                <a:off x="8781" y="5674"/>
                <a:ext cx="737" cy="227"/>
              </a:xfrm>
              <a:prstGeom prst="rect">
                <a:avLst/>
              </a:prstGeom>
              <a:solidFill>
                <a:schemeClr val="tx1"/>
              </a:solidFill>
              <a:ln w="53975" cap="flat" cmpd="dbl" algn="ctr">
                <a:solidFill>
                  <a:schemeClr val="accent1">
                    <a:shade val="5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</p:grpSp>
        <p:cxnSp>
          <p:nvCxnSpPr>
            <p:cNvPr id="68" name="直接连接符 67"/>
            <p:cNvCxnSpPr/>
            <p:nvPr>
              <p:custDataLst>
                <p:tags r:id="rId34"/>
              </p:custDataLst>
            </p:nvPr>
          </p:nvCxnSpPr>
          <p:spPr>
            <a:xfrm flipV="1">
              <a:off x="6633" y="3645"/>
              <a:ext cx="1020" cy="107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</p:cxnSp>
        <p:cxnSp>
          <p:nvCxnSpPr>
            <p:cNvPr id="69" name="直接连接符 68"/>
            <p:cNvCxnSpPr/>
            <p:nvPr>
              <p:custDataLst>
                <p:tags r:id="rId35"/>
              </p:custDataLst>
            </p:nvPr>
          </p:nvCxnSpPr>
          <p:spPr>
            <a:xfrm>
              <a:off x="6532" y="4833"/>
              <a:ext cx="1065" cy="102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</p:cxnSp>
        <p:sp>
          <p:nvSpPr>
            <p:cNvPr id="70" name="文本框 69"/>
            <p:cNvSpPr txBox="1"/>
            <p:nvPr>
              <p:custDataLst>
                <p:tags r:id="rId36"/>
              </p:custDataLst>
            </p:nvPr>
          </p:nvSpPr>
          <p:spPr>
            <a:xfrm>
              <a:off x="12303" y="4575"/>
              <a:ext cx="1671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zh-CN" altLang="en-US" sz="20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进程</a:t>
              </a:r>
              <a:r>
                <a:rPr lang="en-US" altLang="zh-CN" sz="20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endParaRPr lang="en-US" altLang="zh-CN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1" name="文本框 70"/>
            <p:cNvSpPr txBox="1"/>
            <p:nvPr>
              <p:custDataLst>
                <p:tags r:id="rId37"/>
              </p:custDataLst>
            </p:nvPr>
          </p:nvSpPr>
          <p:spPr>
            <a:xfrm>
              <a:off x="9354" y="3738"/>
              <a:ext cx="1671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sz="20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80</a:t>
              </a:r>
              <a:endParaRPr 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2" name="文本框 71"/>
            <p:cNvSpPr txBox="1"/>
            <p:nvPr>
              <p:custDataLst>
                <p:tags r:id="rId38"/>
              </p:custDataLst>
            </p:nvPr>
          </p:nvSpPr>
          <p:spPr>
            <a:xfrm>
              <a:off x="9355" y="4906"/>
              <a:ext cx="1671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sz="20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25</a:t>
              </a:r>
              <a:endParaRPr 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3" name="文本框 72"/>
            <p:cNvSpPr txBox="1"/>
            <p:nvPr>
              <p:custDataLst>
                <p:tags r:id="rId39"/>
              </p:custDataLst>
            </p:nvPr>
          </p:nvSpPr>
          <p:spPr>
            <a:xfrm>
              <a:off x="9355" y="5931"/>
              <a:ext cx="1671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sz="2000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23</a:t>
              </a:r>
              <a:endParaRPr lang="en-US" sz="20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cxnSp>
          <p:nvCxnSpPr>
            <p:cNvPr id="74" name="直接连接符 73"/>
            <p:cNvCxnSpPr/>
            <p:nvPr>
              <p:custDataLst>
                <p:tags r:id="rId40"/>
              </p:custDataLst>
            </p:nvPr>
          </p:nvCxnSpPr>
          <p:spPr>
            <a:xfrm>
              <a:off x="3252" y="4722"/>
              <a:ext cx="1247" cy="5"/>
            </a:xfrm>
            <a:prstGeom prst="line">
              <a:avLst/>
            </a:prstGeom>
            <a:solidFill>
              <a:schemeClr val="accent1"/>
            </a:solidFill>
            <a:ln w="730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</p:cxnSp>
        <p:cxnSp>
          <p:nvCxnSpPr>
            <p:cNvPr id="75" name="直接连接符 74"/>
            <p:cNvCxnSpPr/>
            <p:nvPr>
              <p:custDataLst>
                <p:tags r:id="rId41"/>
              </p:custDataLst>
            </p:nvPr>
          </p:nvCxnSpPr>
          <p:spPr>
            <a:xfrm flipV="1">
              <a:off x="11532" y="3639"/>
              <a:ext cx="96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</p:cxnSp>
        <p:cxnSp>
          <p:nvCxnSpPr>
            <p:cNvPr id="76" name="直接连接符 75"/>
            <p:cNvCxnSpPr/>
            <p:nvPr>
              <p:custDataLst>
                <p:tags r:id="rId42"/>
              </p:custDataLst>
            </p:nvPr>
          </p:nvCxnSpPr>
          <p:spPr>
            <a:xfrm flipV="1">
              <a:off x="11623" y="4859"/>
              <a:ext cx="96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</p:cxnSp>
        <p:cxnSp>
          <p:nvCxnSpPr>
            <p:cNvPr id="77" name="直接连接符 76"/>
            <p:cNvCxnSpPr/>
            <p:nvPr>
              <p:custDataLst>
                <p:tags r:id="rId43"/>
              </p:custDataLst>
            </p:nvPr>
          </p:nvCxnSpPr>
          <p:spPr>
            <a:xfrm flipV="1">
              <a:off x="11607" y="5854"/>
              <a:ext cx="964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</p:cxnSp>
      </p:grp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971550" y="260985"/>
            <a:ext cx="8131810" cy="805180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软件实现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的虚拟化：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vCPU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vMemory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v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Device</a:t>
            </a:r>
            <a:endParaRPr lang="en-US" altLang="zh-CN" sz="3200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468110" y="2037080"/>
            <a:ext cx="2139315" cy="687705"/>
          </a:xfrm>
          <a:prstGeom prst="rect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tIns="144145" bIns="0" rtlCol="0">
            <a:noAutofit/>
          </a:bodyPr>
          <a:p>
            <a:pPr algn="ctr"/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  <a:endParaRPr lang="zh-CN" altLang="en-US" b="1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"/>
            </p:custDataLst>
          </p:nvPr>
        </p:nvSpPr>
        <p:spPr>
          <a:xfrm>
            <a:off x="251460" y="2853055"/>
            <a:ext cx="2099310" cy="72834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6516370" y="2853055"/>
            <a:ext cx="1975485" cy="72834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操作系统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251460" y="2061210"/>
            <a:ext cx="2139315" cy="687705"/>
          </a:xfrm>
          <a:prstGeom prst="rect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tIns="144145" bIns="0" rtlCol="0">
            <a:noAutofit/>
          </a:bodyPr>
          <a:p>
            <a:pPr algn="ctr"/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</a:t>
            </a:r>
            <a:endParaRPr lang="zh-CN" altLang="en-US" b="1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>
            <p:custDataLst>
              <p:tags r:id="rId4"/>
            </p:custDataLst>
          </p:nvPr>
        </p:nvSpPr>
        <p:spPr>
          <a:xfrm>
            <a:off x="2651760" y="4845685"/>
            <a:ext cx="2564765" cy="687705"/>
          </a:xfrm>
          <a:prstGeom prst="rect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tIns="144145" bIns="0" rtlCol="0">
            <a:noAutofit/>
          </a:bodyPr>
          <a:p>
            <a:pPr algn="ctr"/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虚拟资源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  <a:endParaRPr lang="zh-CN" altLang="en-US" b="1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5"/>
            </p:custDataLst>
          </p:nvPr>
        </p:nvSpPr>
        <p:spPr>
          <a:xfrm>
            <a:off x="179705" y="5637530"/>
            <a:ext cx="2099310" cy="72834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6"/>
            </p:custDataLst>
          </p:nvPr>
        </p:nvSpPr>
        <p:spPr>
          <a:xfrm>
            <a:off x="2700020" y="5661660"/>
            <a:ext cx="2515870" cy="72834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操作系统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3" name="文本框 22"/>
          <p:cNvSpPr txBox="1"/>
          <p:nvPr>
            <p:custDataLst>
              <p:tags r:id="rId7"/>
            </p:custDataLst>
          </p:nvPr>
        </p:nvSpPr>
        <p:spPr>
          <a:xfrm>
            <a:off x="179705" y="4845685"/>
            <a:ext cx="2139315" cy="687705"/>
          </a:xfrm>
          <a:prstGeom prst="rect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tIns="144145" bIns="0" rtlCol="0">
            <a:noAutofit/>
          </a:bodyPr>
          <a:p>
            <a:pPr algn="ctr"/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</a:t>
            </a:r>
            <a:endParaRPr lang="zh-CN" altLang="en-US" b="1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8"/>
            </p:custDataLst>
          </p:nvPr>
        </p:nvSpPr>
        <p:spPr>
          <a:xfrm>
            <a:off x="6402070" y="5661660"/>
            <a:ext cx="2089785" cy="109791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tIns="179705" bIns="179705" rtlCol="0">
            <a:spAutoFit/>
          </a:bodyPr>
          <a:p>
            <a:pPr algn="ctr"/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VMM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Hypervisor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9"/>
            </p:custDataLst>
          </p:nvPr>
        </p:nvSpPr>
        <p:spPr>
          <a:xfrm>
            <a:off x="6372225" y="4845685"/>
            <a:ext cx="2139315" cy="687705"/>
          </a:xfrm>
          <a:prstGeom prst="rect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tIns="144145" bIns="0" rtlCol="0">
            <a:noAutofit/>
          </a:bodyPr>
          <a:p>
            <a:pPr algn="ctr"/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  <a:endParaRPr lang="zh-CN" altLang="en-US" b="1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10"/>
            </p:custDataLst>
          </p:nvPr>
        </p:nvSpPr>
        <p:spPr>
          <a:xfrm>
            <a:off x="539750" y="1268730"/>
            <a:ext cx="2139315" cy="687705"/>
          </a:xfrm>
          <a:prstGeom prst="rect">
            <a:avLst/>
          </a:prstGeom>
          <a:noFill/>
          <a:ln w="47625">
            <a:noFill/>
          </a:ln>
        </p:spPr>
        <p:txBody>
          <a:bodyPr wrap="square" tIns="144145" bIns="0" rtlCol="0">
            <a:noAutofit/>
          </a:bodyPr>
          <a:p>
            <a:pPr algn="ctr"/>
            <a:r>
              <a:rPr lang="en-US" altLang="zh-CN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ring 3</a:t>
            </a:r>
            <a:endParaRPr lang="en-US" altLang="zh-CN" b="1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11"/>
            </p:custDataLst>
          </p:nvPr>
        </p:nvSpPr>
        <p:spPr>
          <a:xfrm>
            <a:off x="6352540" y="1381760"/>
            <a:ext cx="2139315" cy="687705"/>
          </a:xfrm>
          <a:prstGeom prst="rect">
            <a:avLst/>
          </a:prstGeom>
          <a:noFill/>
          <a:ln w="47625">
            <a:noFill/>
          </a:ln>
        </p:spPr>
        <p:txBody>
          <a:bodyPr wrap="square" tIns="144145" bIns="0" rtlCol="0">
            <a:noAutofit/>
          </a:bodyPr>
          <a:p>
            <a:pPr algn="ctr"/>
            <a:r>
              <a:rPr lang="en-US" altLang="zh-CN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ring 0</a:t>
            </a:r>
            <a:endParaRPr lang="en-US" altLang="zh-CN" b="1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5723890" y="1438275"/>
            <a:ext cx="635" cy="199072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下箭头 45"/>
          <p:cNvSpPr/>
          <p:nvPr/>
        </p:nvSpPr>
        <p:spPr>
          <a:xfrm>
            <a:off x="5034280" y="3753485"/>
            <a:ext cx="1367790" cy="72009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47" name="直接连接符 46"/>
          <p:cNvCxnSpPr/>
          <p:nvPr>
            <p:custDataLst>
              <p:tags r:id="rId12"/>
            </p:custDataLst>
          </p:nvPr>
        </p:nvCxnSpPr>
        <p:spPr>
          <a:xfrm flipV="1">
            <a:off x="107315" y="1917065"/>
            <a:ext cx="9036685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直接连接符 57"/>
          <p:cNvCxnSpPr/>
          <p:nvPr>
            <p:custDataLst>
              <p:tags r:id="rId13"/>
            </p:custDataLst>
          </p:nvPr>
        </p:nvCxnSpPr>
        <p:spPr>
          <a:xfrm>
            <a:off x="5720080" y="4797425"/>
            <a:ext cx="635" cy="199072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971550" y="260985"/>
            <a:ext cx="8131810" cy="805180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软件实现的虚拟化：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XEN</a:t>
            </a:r>
            <a:endParaRPr lang="en-US" altLang="zh-CN" sz="3200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40" name="文本框 39"/>
          <p:cNvSpPr txBox="1"/>
          <p:nvPr>
            <p:custDataLst>
              <p:tags r:id="rId1"/>
            </p:custDataLst>
          </p:nvPr>
        </p:nvSpPr>
        <p:spPr>
          <a:xfrm>
            <a:off x="252095" y="1125220"/>
            <a:ext cx="8719185" cy="965835"/>
          </a:xfrm>
          <a:prstGeom prst="rect">
            <a:avLst/>
          </a:prstGeom>
          <a:noFill/>
          <a:ln w="47625">
            <a:noFill/>
          </a:ln>
        </p:spPr>
        <p:txBody>
          <a:bodyPr wrap="square" tIns="144145" bIns="0" rtlCol="0">
            <a:noAutofit/>
          </a:bodyPr>
          <a:p>
            <a:pPr algn="l"/>
            <a:r>
              <a:rPr lang="en-US" altLang="zh-CN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Paravirtualized OS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：将操作系统代码中的敏感指令，修改为</a:t>
            </a:r>
            <a:r>
              <a:rPr lang="en-US" altLang="zh-CN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hypervisor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系统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调用；</a:t>
            </a:r>
            <a:endParaRPr lang="zh-CN" altLang="en-US" b="1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100" name="图片 99"/>
          <p:cNvPicPr/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-107950" y="1988820"/>
            <a:ext cx="9353550" cy="405765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" name="文本框 1"/>
          <p:cNvSpPr txBox="1"/>
          <p:nvPr/>
        </p:nvSpPr>
        <p:spPr>
          <a:xfrm>
            <a:off x="107950" y="5949315"/>
            <a:ext cx="8768080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Domain0是做管理用的虚机，DomainU是用户用的虚机。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KVM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中则为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QEMU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，在VMware中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则为ESXI。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971550" y="260985"/>
            <a:ext cx="8131810" cy="805180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软件实现的虚拟化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 </a:t>
            </a:r>
            <a:r>
              <a:rPr lang="en-US" altLang="zh-CN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Full-Virtualization</a:t>
            </a:r>
            <a:r>
              <a:rPr lang="zh-CN" altLang="en-US" sz="32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sz="3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0" name="文本框 39"/>
          <p:cNvSpPr txBox="1"/>
          <p:nvPr>
            <p:custDataLst>
              <p:tags r:id="rId1"/>
            </p:custDataLst>
          </p:nvPr>
        </p:nvSpPr>
        <p:spPr>
          <a:xfrm>
            <a:off x="339090" y="1268730"/>
            <a:ext cx="8764270" cy="4177030"/>
          </a:xfrm>
          <a:prstGeom prst="rect">
            <a:avLst/>
          </a:prstGeom>
          <a:noFill/>
          <a:ln w="47625">
            <a:noFill/>
          </a:ln>
        </p:spPr>
        <p:txBody>
          <a:bodyPr wrap="square" tIns="144145" bIns="0" rtlCol="0">
            <a:noAutofit/>
          </a:bodyPr>
          <a:p>
            <a:pPr algn="l">
              <a:lnSpc>
                <a:spcPct val="150000"/>
              </a:lnSpc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特权压缩(Ring Compression):又称为特权降级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：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操作系统内核代码中的敏感指令，由于权限标志位，未达要求，执行时，产生异常。</a:t>
            </a:r>
            <a:r>
              <a:rPr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只能解决内核态的特权指令问题，无法解决用户态的特权指令问题。所以还需要另外的 “陷入模拟“。</a:t>
            </a:r>
            <a:endParaRPr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endParaRPr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 algn="l">
              <a:lnSpc>
                <a:spcPct val="150000"/>
              </a:lnSpc>
              <a:buFont typeface="Wingdings" panose="05000000000000000000" charset="0"/>
              <a:buChar char="l"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陷入模拟（Binary translation）</a:t>
            </a:r>
            <a:r>
              <a:rPr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：又称为二进制翻译</a:t>
            </a:r>
            <a:r>
              <a:rPr 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。执行代码时，先扫描翻译，对于敏感指令，则进行替换。</a:t>
            </a:r>
            <a:endParaRPr 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586105" y="152400"/>
            <a:ext cx="8681720" cy="805180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硬件支持的虚拟化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: Intel 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VT-x</a:t>
            </a:r>
            <a:endParaRPr lang="en-US" altLang="zh-CN" sz="3200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4037965" y="1779905"/>
            <a:ext cx="2139315" cy="687705"/>
          </a:xfrm>
          <a:prstGeom prst="rect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tIns="144145" bIns="0" rtlCol="0">
            <a:noAutofit/>
          </a:bodyPr>
          <a:p>
            <a:pPr algn="ctr"/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  <a:endParaRPr lang="zh-CN" altLang="en-US" b="1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4" name="文本框 23"/>
          <p:cNvSpPr txBox="1"/>
          <p:nvPr>
            <p:custDataLst>
              <p:tags r:id="rId1"/>
            </p:custDataLst>
          </p:nvPr>
        </p:nvSpPr>
        <p:spPr>
          <a:xfrm>
            <a:off x="1998345" y="2580005"/>
            <a:ext cx="1588770" cy="72834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4086225" y="2595880"/>
            <a:ext cx="1975485" cy="72834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操作系统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5" name="文本框 14"/>
          <p:cNvSpPr txBox="1"/>
          <p:nvPr>
            <p:custDataLst>
              <p:tags r:id="rId3"/>
            </p:custDataLst>
          </p:nvPr>
        </p:nvSpPr>
        <p:spPr>
          <a:xfrm>
            <a:off x="2070100" y="1788160"/>
            <a:ext cx="1376045" cy="687705"/>
          </a:xfrm>
          <a:prstGeom prst="rect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tIns="144145" bIns="0" rtlCol="0">
            <a:noAutofit/>
          </a:bodyPr>
          <a:p>
            <a:pPr algn="ctr"/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</a:t>
            </a:r>
            <a:endParaRPr lang="zh-CN" altLang="en-US" b="1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0" name="文本框 19"/>
          <p:cNvSpPr txBox="1"/>
          <p:nvPr>
            <p:custDataLst>
              <p:tags r:id="rId4"/>
            </p:custDataLst>
          </p:nvPr>
        </p:nvSpPr>
        <p:spPr>
          <a:xfrm>
            <a:off x="7164705" y="5587365"/>
            <a:ext cx="1525905" cy="64706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tIns="179705" bIns="179705" rtlCol="0">
            <a:noAutofit/>
          </a:bodyPr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应用程序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5" name="文本框 34"/>
          <p:cNvSpPr txBox="1"/>
          <p:nvPr>
            <p:custDataLst>
              <p:tags r:id="rId5"/>
            </p:custDataLst>
          </p:nvPr>
        </p:nvSpPr>
        <p:spPr>
          <a:xfrm>
            <a:off x="4644390" y="5949315"/>
            <a:ext cx="2089785" cy="86614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tIns="179705" bIns="179705" rtlCol="0">
            <a:noAutofit/>
          </a:bodyPr>
          <a:p>
            <a:pPr algn="ctr"/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VMM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ctr"/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Hypervisor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9" name="文本框 38"/>
          <p:cNvSpPr txBox="1"/>
          <p:nvPr>
            <p:custDataLst>
              <p:tags r:id="rId6"/>
            </p:custDataLst>
          </p:nvPr>
        </p:nvSpPr>
        <p:spPr>
          <a:xfrm>
            <a:off x="4608195" y="5261610"/>
            <a:ext cx="2139315" cy="687705"/>
          </a:xfrm>
          <a:prstGeom prst="rect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tIns="144145" bIns="0" rtlCol="0">
            <a:noAutofit/>
          </a:bodyPr>
          <a:p>
            <a:pPr algn="ctr"/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  <a:endParaRPr lang="zh-CN" altLang="en-US" b="1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0" name="文本框 39"/>
          <p:cNvSpPr txBox="1"/>
          <p:nvPr>
            <p:custDataLst>
              <p:tags r:id="rId7"/>
            </p:custDataLst>
          </p:nvPr>
        </p:nvSpPr>
        <p:spPr>
          <a:xfrm>
            <a:off x="1946910" y="1139825"/>
            <a:ext cx="1613535" cy="687705"/>
          </a:xfrm>
          <a:prstGeom prst="rect">
            <a:avLst/>
          </a:prstGeom>
          <a:noFill/>
          <a:ln w="47625">
            <a:noFill/>
          </a:ln>
        </p:spPr>
        <p:txBody>
          <a:bodyPr wrap="square" tIns="144145" bIns="0" rtlCol="0">
            <a:noAutofit/>
          </a:bodyPr>
          <a:p>
            <a:pPr algn="ctr"/>
            <a:r>
              <a:rPr lang="en-US" altLang="zh-CN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ring 3</a:t>
            </a:r>
            <a:endParaRPr lang="en-US" altLang="zh-CN" b="1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>
            <p:custDataLst>
              <p:tags r:id="rId8"/>
            </p:custDataLst>
          </p:nvPr>
        </p:nvSpPr>
        <p:spPr>
          <a:xfrm>
            <a:off x="3922395" y="1124585"/>
            <a:ext cx="2139315" cy="687705"/>
          </a:xfrm>
          <a:prstGeom prst="rect">
            <a:avLst/>
          </a:prstGeom>
          <a:noFill/>
          <a:ln w="47625">
            <a:noFill/>
          </a:ln>
        </p:spPr>
        <p:txBody>
          <a:bodyPr wrap="square" tIns="144145" bIns="0" rtlCol="0">
            <a:noAutofit/>
          </a:bodyPr>
          <a:p>
            <a:pPr algn="ctr"/>
            <a:r>
              <a:rPr lang="en-US" altLang="zh-CN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ring 0</a:t>
            </a:r>
            <a:endParaRPr lang="en-US" altLang="zh-CN" b="1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45" name="直接连接符 44"/>
          <p:cNvCxnSpPr/>
          <p:nvPr/>
        </p:nvCxnSpPr>
        <p:spPr>
          <a:xfrm>
            <a:off x="4499610" y="4077335"/>
            <a:ext cx="635" cy="2710815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下箭头 45"/>
          <p:cNvSpPr/>
          <p:nvPr/>
        </p:nvSpPr>
        <p:spPr>
          <a:xfrm>
            <a:off x="3131820" y="3526155"/>
            <a:ext cx="1367790" cy="542290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2" name="文本框 1"/>
          <p:cNvSpPr txBox="1"/>
          <p:nvPr>
            <p:custDataLst>
              <p:tags r:id="rId9"/>
            </p:custDataLst>
          </p:nvPr>
        </p:nvSpPr>
        <p:spPr>
          <a:xfrm>
            <a:off x="93980" y="6021070"/>
            <a:ext cx="1588770" cy="72834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>
            <p:custDataLst>
              <p:tags r:id="rId10"/>
            </p:custDataLst>
          </p:nvPr>
        </p:nvSpPr>
        <p:spPr>
          <a:xfrm>
            <a:off x="165735" y="5229225"/>
            <a:ext cx="1376045" cy="687705"/>
          </a:xfrm>
          <a:prstGeom prst="rect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tIns="144145" bIns="0" rtlCol="0">
            <a:noAutofit/>
          </a:bodyPr>
          <a:p>
            <a:pPr algn="ctr"/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</a:t>
            </a:r>
            <a:endParaRPr lang="zh-CN" altLang="en-US" b="1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>
            <p:custDataLst>
              <p:tags r:id="rId11"/>
            </p:custDataLst>
          </p:nvPr>
        </p:nvSpPr>
        <p:spPr>
          <a:xfrm>
            <a:off x="42545" y="4580890"/>
            <a:ext cx="1613535" cy="687705"/>
          </a:xfrm>
          <a:prstGeom prst="rect">
            <a:avLst/>
          </a:prstGeom>
          <a:noFill/>
          <a:ln w="47625">
            <a:noFill/>
          </a:ln>
        </p:spPr>
        <p:txBody>
          <a:bodyPr wrap="square" tIns="144145" bIns="0" rtlCol="0">
            <a:noAutofit/>
          </a:bodyPr>
          <a:p>
            <a:pPr algn="ctr"/>
            <a:r>
              <a:rPr lang="en-US" altLang="zh-CN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ring 3</a:t>
            </a:r>
            <a:endParaRPr lang="en-US" altLang="zh-CN" b="1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12"/>
            </p:custDataLst>
          </p:nvPr>
        </p:nvSpPr>
        <p:spPr>
          <a:xfrm>
            <a:off x="1927860" y="5205095"/>
            <a:ext cx="2412365" cy="687705"/>
          </a:xfrm>
          <a:prstGeom prst="rect">
            <a:avLst/>
          </a:prstGeom>
          <a:noFill/>
          <a:ln w="47625">
            <a:solidFill>
              <a:schemeClr val="accent1"/>
            </a:solidFill>
          </a:ln>
        </p:spPr>
        <p:txBody>
          <a:bodyPr wrap="square" tIns="144145" bIns="0" rtlCol="0">
            <a:noAutofit/>
          </a:bodyPr>
          <a:p>
            <a:pPr algn="ctr"/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虚拟资源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  <a:endParaRPr lang="zh-CN" altLang="en-US" b="1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13"/>
            </p:custDataLst>
          </p:nvPr>
        </p:nvSpPr>
        <p:spPr>
          <a:xfrm>
            <a:off x="2110740" y="6021070"/>
            <a:ext cx="1975485" cy="728345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操作系统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文本框 7"/>
          <p:cNvSpPr txBox="1"/>
          <p:nvPr>
            <p:custDataLst>
              <p:tags r:id="rId14"/>
            </p:custDataLst>
          </p:nvPr>
        </p:nvSpPr>
        <p:spPr>
          <a:xfrm>
            <a:off x="4914265" y="4544060"/>
            <a:ext cx="1613535" cy="687705"/>
          </a:xfrm>
          <a:prstGeom prst="rect">
            <a:avLst/>
          </a:prstGeom>
          <a:noFill/>
          <a:ln w="47625">
            <a:noFill/>
          </a:ln>
        </p:spPr>
        <p:txBody>
          <a:bodyPr wrap="square" tIns="144145" bIns="0" rtlCol="0">
            <a:noAutofit/>
          </a:bodyPr>
          <a:p>
            <a:pPr algn="ctr"/>
            <a:r>
              <a:rPr lang="en-US" altLang="zh-CN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ring 0</a:t>
            </a:r>
            <a:endParaRPr lang="en-US" altLang="zh-CN" b="1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9" name="文本框 8"/>
          <p:cNvSpPr txBox="1"/>
          <p:nvPr>
            <p:custDataLst>
              <p:tags r:id="rId15"/>
            </p:custDataLst>
          </p:nvPr>
        </p:nvSpPr>
        <p:spPr>
          <a:xfrm>
            <a:off x="7171055" y="4581525"/>
            <a:ext cx="1447800" cy="687705"/>
          </a:xfrm>
          <a:prstGeom prst="rect">
            <a:avLst/>
          </a:prstGeom>
          <a:noFill/>
          <a:ln w="47625">
            <a:noFill/>
          </a:ln>
        </p:spPr>
        <p:txBody>
          <a:bodyPr wrap="square" tIns="144145" bIns="0" rtlCol="0">
            <a:noAutofit/>
          </a:bodyPr>
          <a:p>
            <a:pPr algn="ctr"/>
            <a:r>
              <a:rPr lang="en-US" altLang="zh-CN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ring 3</a:t>
            </a:r>
            <a:endParaRPr lang="en-US" altLang="zh-CN" b="1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0" name="直接连接符 9"/>
          <p:cNvCxnSpPr/>
          <p:nvPr>
            <p:custDataLst>
              <p:tags r:id="rId16"/>
            </p:custDataLst>
          </p:nvPr>
        </p:nvCxnSpPr>
        <p:spPr>
          <a:xfrm>
            <a:off x="107950" y="4636770"/>
            <a:ext cx="878459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文本框 10"/>
          <p:cNvSpPr txBox="1"/>
          <p:nvPr>
            <p:custDataLst>
              <p:tags r:id="rId17"/>
            </p:custDataLst>
          </p:nvPr>
        </p:nvSpPr>
        <p:spPr>
          <a:xfrm>
            <a:off x="2131695" y="4580890"/>
            <a:ext cx="2139315" cy="687705"/>
          </a:xfrm>
          <a:prstGeom prst="rect">
            <a:avLst/>
          </a:prstGeom>
          <a:noFill/>
          <a:ln w="47625">
            <a:noFill/>
          </a:ln>
        </p:spPr>
        <p:txBody>
          <a:bodyPr wrap="square" tIns="144145" bIns="0" rtlCol="0">
            <a:noAutofit/>
          </a:bodyPr>
          <a:p>
            <a:pPr algn="ctr"/>
            <a:r>
              <a:rPr lang="en-US" altLang="zh-CN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ring 0</a:t>
            </a:r>
            <a:endParaRPr lang="en-US" altLang="zh-CN" b="1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18"/>
            </p:custDataLst>
          </p:nvPr>
        </p:nvCxnSpPr>
        <p:spPr>
          <a:xfrm>
            <a:off x="179705" y="4105910"/>
            <a:ext cx="8784590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文本框 12"/>
          <p:cNvSpPr txBox="1"/>
          <p:nvPr>
            <p:custDataLst>
              <p:tags r:id="rId19"/>
            </p:custDataLst>
          </p:nvPr>
        </p:nvSpPr>
        <p:spPr>
          <a:xfrm>
            <a:off x="234950" y="4016375"/>
            <a:ext cx="3800475" cy="687705"/>
          </a:xfrm>
          <a:prstGeom prst="rect">
            <a:avLst/>
          </a:prstGeom>
          <a:noFill/>
          <a:ln w="47625">
            <a:noFill/>
          </a:ln>
        </p:spPr>
        <p:txBody>
          <a:bodyPr wrap="square" tIns="144145" bIns="0" rtlCol="0">
            <a:noAutofit/>
          </a:bodyPr>
          <a:p>
            <a:pPr algn="ctr"/>
            <a:r>
              <a:rPr lang="en-US" altLang="zh-CN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non root  </a:t>
            </a:r>
            <a:r>
              <a:rPr lang="en-US" altLang="zh-CN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operation</a:t>
            </a:r>
            <a:endParaRPr lang="en-US" altLang="zh-CN" b="1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4" name="文本框 13"/>
          <p:cNvSpPr txBox="1"/>
          <p:nvPr>
            <p:custDataLst>
              <p:tags r:id="rId20"/>
            </p:custDataLst>
          </p:nvPr>
        </p:nvSpPr>
        <p:spPr>
          <a:xfrm>
            <a:off x="4716145" y="4031615"/>
            <a:ext cx="3782695" cy="631190"/>
          </a:xfrm>
          <a:prstGeom prst="rect">
            <a:avLst/>
          </a:prstGeom>
          <a:noFill/>
          <a:ln w="47625">
            <a:noFill/>
          </a:ln>
        </p:spPr>
        <p:txBody>
          <a:bodyPr wrap="square" tIns="144145" bIns="0" rtlCol="0">
            <a:noAutofit/>
          </a:bodyPr>
          <a:p>
            <a:pPr algn="ctr"/>
            <a:r>
              <a:rPr lang="en-US" altLang="zh-CN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root  </a:t>
            </a:r>
            <a:r>
              <a:rPr lang="en-US" altLang="zh-CN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operation</a:t>
            </a:r>
            <a:endParaRPr lang="en-US" altLang="zh-CN" b="1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cxnSp>
        <p:nvCxnSpPr>
          <p:cNvPr id="18" name="直接连接符 17"/>
          <p:cNvCxnSpPr/>
          <p:nvPr>
            <p:custDataLst>
              <p:tags r:id="rId21"/>
            </p:custDataLst>
          </p:nvPr>
        </p:nvCxnSpPr>
        <p:spPr>
          <a:xfrm>
            <a:off x="3836670" y="1207135"/>
            <a:ext cx="0" cy="208788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1066800" y="152400"/>
            <a:ext cx="8047990" cy="805180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是增加功能，而不是修改：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兼容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930" name="Rectangle 3"/>
          <p:cNvSpPr>
            <a:spLocks noGrp="1"/>
          </p:cNvSpPr>
          <p:nvPr>
            <p:ph idx="1"/>
          </p:nvPr>
        </p:nvSpPr>
        <p:spPr>
          <a:xfrm>
            <a:off x="180340" y="1556385"/>
            <a:ext cx="8818245" cy="4910455"/>
          </a:xfrm>
          <a:ln>
            <a:solidFill>
              <a:schemeClr val="accent1"/>
            </a:solidFill>
          </a:ln>
        </p:spPr>
        <p:txBody>
          <a:bodyPr wrap="square" lIns="91440" tIns="45720" rIns="91440" bIns="45720" anchor="t"/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Intel为CPU增加了Virtual-Machine Extensions，简称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VMX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可配置的：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开启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VMX支持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那么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CPU将提供两种运行模式：VMX Root Mode和VMX non-Root Mode，每一种模式都支持ring 0 ～ ring 3。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实模式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 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保护模式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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 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分页模式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charset="0"/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1066800" y="152400"/>
            <a:ext cx="8047990" cy="805180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云服务的三个层次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930" name="Rectangle 3"/>
          <p:cNvSpPr>
            <a:spLocks noGrp="1"/>
          </p:cNvSpPr>
          <p:nvPr>
            <p:ph idx="1"/>
          </p:nvPr>
        </p:nvSpPr>
        <p:spPr>
          <a:xfrm>
            <a:off x="180340" y="1556385"/>
            <a:ext cx="8818245" cy="4910455"/>
          </a:xfrm>
          <a:ln>
            <a:solidFill>
              <a:schemeClr val="accent1"/>
            </a:solidFill>
          </a:ln>
        </p:spPr>
        <p:txBody>
          <a:bodyPr wrap="square" lIns="91440" tIns="45720" rIns="91440" bIns="45720" anchor="t"/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IaaS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云服务商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通过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VMWare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提供</a:t>
            </a:r>
            <a:r>
              <a:rPr lang="en-US" altLang="zh-CN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虚拟裸机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负责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安装自己的操作系统，支撑库，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应用程序；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PaaS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云服务商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提供</a:t>
            </a:r>
            <a:r>
              <a:rPr lang="en-US" altLang="zh-CN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运行平台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（如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node.js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JVM)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负责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安装自己的应用程序；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SaaS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云服务商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提供</a:t>
            </a:r>
            <a:r>
              <a:rPr lang="en-US" altLang="zh-CN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应用程序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（如云原生数据库），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负责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业务数据，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例如数据库设计；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1066800" y="152400"/>
            <a:ext cx="7620000" cy="804863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分布式系统的可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伸缩性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930" name="Rectangle 3"/>
          <p:cNvSpPr>
            <a:spLocks noGrp="1"/>
          </p:cNvSpPr>
          <p:nvPr>
            <p:ph idx="1"/>
          </p:nvPr>
        </p:nvSpPr>
        <p:spPr>
          <a:xfrm>
            <a:off x="179705" y="1196975"/>
            <a:ext cx="8776970" cy="3558540"/>
          </a:xfrm>
          <a:ln>
            <a:solidFill>
              <a:schemeClr val="accent1"/>
            </a:solidFill>
          </a:ln>
        </p:spPr>
        <p:txBody>
          <a:bodyPr wrap="square" lIns="91440" tIns="45720" rIns="91440" bIns="45720" anchor="t"/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数据库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一分为二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：数据量增大，一台计算机容纳不下，便要拆分成两个数据库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数据量大，拆分要时间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合二为一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业务量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增大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增加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新的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副本数量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时，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副本数量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：从一台计算机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迁移至另一计算机上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运行；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None/>
            </a:pP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7" name="文本框 16"/>
          <p:cNvSpPr txBox="1"/>
          <p:nvPr>
            <p:custDataLst>
              <p:tags r:id="rId1"/>
            </p:custDataLst>
          </p:nvPr>
        </p:nvSpPr>
        <p:spPr>
          <a:xfrm>
            <a:off x="467360" y="5589270"/>
            <a:ext cx="7207885" cy="5219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indent="0" eaLnBrk="1" hangingPunct="1">
              <a:lnSpc>
                <a:spcPct val="100000"/>
              </a:lnSpc>
              <a:spcBef>
                <a:spcPct val="40000"/>
              </a:spcBef>
              <a:buFont typeface="Wingdings" panose="05000000000000000000" charset="0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为什么要减少副本？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为什么要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迁移？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467360" y="6237605"/>
            <a:ext cx="7207885" cy="5219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indent="0" eaLnBrk="1" hangingPunct="1">
              <a:lnSpc>
                <a:spcPct val="100000"/>
              </a:lnSpc>
              <a:spcBef>
                <a:spcPct val="40000"/>
              </a:spcBef>
              <a:buFont typeface="Wingdings" panose="05000000000000000000" charset="0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副本的启动一定要快，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为什么？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467360" y="4911090"/>
            <a:ext cx="7207885" cy="5219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indent="0" eaLnBrk="1" hangingPunct="1">
              <a:lnSpc>
                <a:spcPct val="100000"/>
              </a:lnSpc>
              <a:spcBef>
                <a:spcPct val="40000"/>
              </a:spcBef>
              <a:buFont typeface="Wingdings" panose="05000000000000000000" charset="0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拆分期间，数据可用吗？为什么？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1066800" y="152400"/>
            <a:ext cx="7620000" cy="804863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微服务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930" name="Rectangle 3"/>
          <p:cNvSpPr>
            <a:spLocks noGrp="1"/>
          </p:cNvSpPr>
          <p:nvPr>
            <p:ph idx="1"/>
          </p:nvPr>
        </p:nvSpPr>
        <p:spPr>
          <a:xfrm>
            <a:off x="109855" y="1494790"/>
            <a:ext cx="9034145" cy="4431030"/>
          </a:xfrm>
        </p:spPr>
        <p:txBody>
          <a:bodyPr wrap="square" lIns="91440" tIns="45720" rIns="91440" bIns="45720" anchor="t"/>
          <a:p>
            <a:pPr marL="0" indent="0"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None/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服务程序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在云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运行，具有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动态性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在哪一台计算机上运行不能事先确定，要到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运行时实时确定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副本数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也具有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动态变化性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运行可能要从一台计算机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迁移至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另外一台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计算机；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启动要快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时间不能太长。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共享资源（例如端口号）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冲突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，而不能正常运行。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1066800" y="152400"/>
            <a:ext cx="7620000" cy="804863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微服务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930" name="Rectangle 3"/>
          <p:cNvSpPr>
            <a:spLocks noGrp="1"/>
          </p:cNvSpPr>
          <p:nvPr>
            <p:ph idx="1"/>
          </p:nvPr>
        </p:nvSpPr>
        <p:spPr>
          <a:xfrm>
            <a:off x="109855" y="1700530"/>
            <a:ext cx="9034145" cy="3869055"/>
          </a:xfrm>
        </p:spPr>
        <p:txBody>
          <a:bodyPr wrap="square" lIns="91440" tIns="45720" rIns="91440" bIns="45720" anchor="t"/>
          <a:p>
            <a:pPr marL="0" indent="0"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None/>
            </a:pPr>
            <a:r>
              <a:rPr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微，其含义并不就是小，例如微软和微信都不是小系统。微来自于</a:t>
            </a:r>
            <a:r>
              <a:rPr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见微知著</a:t>
            </a:r>
            <a:r>
              <a:rPr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这一词</a:t>
            </a:r>
            <a:r>
              <a:rPr 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None/>
            </a:pPr>
            <a:r>
              <a:rPr 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小处都考虑得仔细和周全的话，整个事情也就很可靠，值得信任。</a:t>
            </a:r>
            <a:endParaRPr lang="zh-CN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1066800" y="152400"/>
            <a:ext cx="7620000" cy="804863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微服务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——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更新快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930" name="Rectangle 3"/>
          <p:cNvSpPr>
            <a:spLocks noGrp="1"/>
          </p:cNvSpPr>
          <p:nvPr>
            <p:ph idx="1"/>
          </p:nvPr>
        </p:nvSpPr>
        <p:spPr>
          <a:xfrm>
            <a:off x="251460" y="1340485"/>
            <a:ext cx="9034145" cy="3869055"/>
          </a:xfrm>
          <a:ln>
            <a:solidFill>
              <a:schemeClr val="accent1"/>
            </a:solidFill>
          </a:ln>
        </p:spPr>
        <p:txBody>
          <a:bodyPr wrap="square" lIns="91440" tIns="45720" rIns="91440" bIns="45720" anchor="t"/>
          <a:p>
            <a:pPr eaLnBrk="1" hangingPunct="1">
              <a:lnSpc>
                <a:spcPct val="10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当程序有bug时需要更新，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当程序结构不合理时也要更新；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当功能要扩展时要更新，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当功能实现要改进时也要更新。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None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程序更新涉及</a:t>
            </a:r>
            <a:r>
              <a:rPr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程序设计开发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程序测试验证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程序上线部署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None/>
            </a:pP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更新要快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不仅是指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每个环节要快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环节之间的流转也要快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95605" y="5733415"/>
            <a:ext cx="7582535" cy="5219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indent="0" eaLnBrk="1" hangingPunct="1">
              <a:lnSpc>
                <a:spcPct val="100000"/>
              </a:lnSpc>
              <a:spcBef>
                <a:spcPct val="40000"/>
              </a:spcBef>
              <a:buFont typeface="Wingdings" panose="05000000000000000000" charset="0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从哪些方面来取得快？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即如何来取得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快？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1066800" y="152400"/>
            <a:ext cx="7620000" cy="804863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更新快的技术手段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930" name="Rectangle 3"/>
          <p:cNvSpPr>
            <a:spLocks noGrp="1"/>
          </p:cNvSpPr>
          <p:nvPr>
            <p:ph idx="1"/>
          </p:nvPr>
        </p:nvSpPr>
        <p:spPr>
          <a:xfrm>
            <a:off x="147955" y="1052830"/>
            <a:ext cx="8896350" cy="3940810"/>
          </a:xfrm>
          <a:ln>
            <a:solidFill>
              <a:schemeClr val="accent1"/>
            </a:solidFill>
          </a:ln>
        </p:spPr>
        <p:txBody>
          <a:bodyPr wrap="square" lIns="91440" tIns="45720" rIns="91440" bIns="45720" anchor="t"/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程序采用</a:t>
            </a:r>
            <a:r>
              <a:rPr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流行框架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来</a:t>
            </a:r>
            <a:r>
              <a:rPr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开发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，代码在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命名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格式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遵循标准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容易理解原有的程序，才会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迅速找到要修改的地方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当一项工作已有标准时，就应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遵循标准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尽量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使用工具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来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自动化</a:t>
            </a:r>
            <a:r>
              <a:rPr 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完成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各环节的工作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环节之间的流转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，将程序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打包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镜像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让运行在虚拟机或者容器中，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于是在每一个后续环节中便可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开箱即用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323850" y="5085080"/>
            <a:ext cx="5855970" cy="5219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indent="0" eaLnBrk="1" hangingPunct="1">
              <a:lnSpc>
                <a:spcPct val="100000"/>
              </a:lnSpc>
              <a:spcBef>
                <a:spcPct val="40000"/>
              </a:spcBef>
              <a:buFont typeface="Wingdings" panose="05000000000000000000" charset="0"/>
              <a:buNone/>
            </a:pPr>
            <a:r>
              <a:rPr sz="28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镜像</a:t>
            </a:r>
            <a:r>
              <a:rPr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跟</a:t>
            </a:r>
            <a:r>
              <a:rPr sz="28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静态编译链接</a:t>
            </a:r>
            <a:r>
              <a:rPr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有什么关系？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>
            <p:custDataLst>
              <p:tags r:id="rId2"/>
            </p:custDataLst>
          </p:nvPr>
        </p:nvSpPr>
        <p:spPr>
          <a:xfrm>
            <a:off x="323850" y="5692775"/>
            <a:ext cx="6184265" cy="5219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indent="0" eaLnBrk="1" hangingPunct="1">
              <a:lnSpc>
                <a:spcPct val="100000"/>
              </a:lnSpc>
              <a:spcBef>
                <a:spcPct val="40000"/>
              </a:spcBef>
              <a:buFont typeface="Wingdings" panose="05000000000000000000" charset="0"/>
              <a:buNone/>
            </a:pPr>
            <a:r>
              <a:rPr sz="28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云函数</a:t>
            </a:r>
            <a:r>
              <a:rPr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sz="28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远程过程调用</a:t>
            </a:r>
            <a:r>
              <a:rPr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有什么异同？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3"/>
            </p:custDataLst>
          </p:nvPr>
        </p:nvSpPr>
        <p:spPr>
          <a:xfrm>
            <a:off x="323850" y="6337935"/>
            <a:ext cx="7966710" cy="5219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indent="0" eaLnBrk="1" hangingPunct="1">
              <a:lnSpc>
                <a:spcPct val="100000"/>
              </a:lnSpc>
              <a:spcBef>
                <a:spcPct val="40000"/>
              </a:spcBef>
              <a:buFont typeface="Wingdings" panose="05000000000000000000" charset="0"/>
              <a:buNone/>
            </a:pPr>
            <a:r>
              <a:rPr 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哪些</a:t>
            </a:r>
            <a:r>
              <a:rPr sz="28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源代码</a:t>
            </a:r>
            <a:r>
              <a:rPr 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可用</a:t>
            </a:r>
            <a:r>
              <a:rPr sz="28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开发</a:t>
            </a:r>
            <a:r>
              <a:rPr sz="28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工具</a:t>
            </a:r>
            <a:r>
              <a:rPr 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自动</a:t>
            </a:r>
            <a:r>
              <a:rPr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生成？</a:t>
            </a:r>
            <a:r>
              <a:rPr 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请举例</a:t>
            </a:r>
            <a:r>
              <a:rPr 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说明。</a:t>
            </a:r>
            <a:endParaRPr lang="zh-CN" sz="2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1066800" y="152400"/>
            <a:ext cx="7620000" cy="804863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替换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vs  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切换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930" name="Rectangle 3"/>
          <p:cNvSpPr>
            <a:spLocks noGrp="1"/>
          </p:cNvSpPr>
          <p:nvPr>
            <p:ph idx="1"/>
          </p:nvPr>
        </p:nvSpPr>
        <p:spPr>
          <a:xfrm>
            <a:off x="107950" y="1196975"/>
            <a:ext cx="8856345" cy="4154170"/>
          </a:xfrm>
          <a:ln>
            <a:solidFill>
              <a:schemeClr val="accent1"/>
            </a:solidFill>
          </a:ln>
        </p:spPr>
        <p:txBody>
          <a:bodyPr wrap="square" lIns="91440" tIns="45720" rIns="91440" bIns="45720" anchor="t"/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更换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关停并卸载</a:t>
            </a:r>
            <a:r>
              <a:rPr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老版本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服务程序，然后安装和启动</a:t>
            </a:r>
            <a:r>
              <a:rPr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新版本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服务程序。采用更换方式时，在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更换期间服务不可用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。服务不可用的时间长，在很多应用场景下不可接收，例如火车站的旅客身份识别服务就是如此。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切换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：在另一台计算机上启动</a:t>
            </a:r>
            <a:r>
              <a:rPr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新版本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服务程序，然后服务网关把客户请求从</a:t>
            </a:r>
            <a:r>
              <a:rPr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老版本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切换至</a:t>
            </a:r>
            <a:r>
              <a:rPr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新版本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。切换完毕之后，再关停和下载老版本服务程序。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47625" y="5805170"/>
            <a:ext cx="7818120" cy="5219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indent="0" eaLnBrk="1" hangingPunct="1">
              <a:lnSpc>
                <a:spcPct val="100000"/>
              </a:lnSpc>
              <a:spcBef>
                <a:spcPct val="40000"/>
              </a:spcBef>
              <a:buFont typeface="Wingdings" panose="05000000000000000000" charset="0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为什么以前不用切换方式？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现在在云上则可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行？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1066800" y="152400"/>
            <a:ext cx="7620000" cy="804863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如何将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大系统</a:t>
            </a:r>
            <a:r>
              <a:rPr lang="zh-CN" altLang="en-US" sz="40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划分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成小系统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930" name="Rectangle 3"/>
          <p:cNvSpPr>
            <a:spLocks noGrp="1"/>
          </p:cNvSpPr>
          <p:nvPr>
            <p:ph idx="1"/>
          </p:nvPr>
        </p:nvSpPr>
        <p:spPr>
          <a:xfrm>
            <a:off x="179070" y="1340485"/>
            <a:ext cx="9176385" cy="3761105"/>
          </a:xfrm>
          <a:ln>
            <a:solidFill>
              <a:schemeClr val="accent1"/>
            </a:solidFill>
          </a:ln>
        </p:spPr>
        <p:txBody>
          <a:bodyPr wrap="square" lIns="91440" tIns="45720" rIns="91440" bIns="45720" anchor="t"/>
          <a:p>
            <a:pPr marL="0" indent="0"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None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应将哪些功能模块划入一个服务程序？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eaLnBrk="1" hangingPunct="1">
              <a:lnSpc>
                <a:spcPct val="15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None/>
            </a:pP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划分的基准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应该是</a:t>
            </a:r>
            <a:r>
              <a:rPr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交互的频率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两个模块如果在</a:t>
            </a:r>
            <a:r>
              <a:rPr 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同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一个程序中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，它俩的交互表现为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函数调用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如果在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不同程序中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，它俩的交互表现为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IPC通信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当交互的两个进程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不同计算机上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时，还需通过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网络通信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0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两台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异构</a:t>
            </a:r>
            <a:r>
              <a:rPr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计算机</a:t>
            </a:r>
            <a:r>
              <a:rPr lang="zh-CN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时，通信的两端还需做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翻译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处理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>
            <p:custDataLst>
              <p:tags r:id="rId1"/>
            </p:custDataLst>
          </p:nvPr>
        </p:nvSpPr>
        <p:spPr>
          <a:xfrm>
            <a:off x="179705" y="5484495"/>
            <a:ext cx="6976745" cy="5219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0" indent="0" eaLnBrk="1" hangingPunct="1">
              <a:lnSpc>
                <a:spcPct val="100000"/>
              </a:lnSpc>
              <a:spcBef>
                <a:spcPct val="40000"/>
              </a:spcBef>
              <a:buFont typeface="Wingdings" panose="05000000000000000000" charset="0"/>
              <a:buNone/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服务运行的地理分布重不重要？</a:t>
            </a: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为什么？</a:t>
            </a:r>
            <a:endParaRPr lang="zh-CN" altLang="en-US" sz="2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/>
          <a:lstStyle/>
          <a:p>
            <a:pPr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4098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/>
          <a:lstStyle/>
          <a:p>
            <a:pPr eaLnBrk="1" hangingPunct="1"/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分布式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计算软件基础理论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idx="1"/>
          </p:nvPr>
        </p:nvSpPr>
        <p:spPr>
          <a:xfrm>
            <a:off x="1835785" y="1121410"/>
            <a:ext cx="5940425" cy="573659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调用；</a:t>
            </a:r>
            <a:endParaRPr lang="zh-CN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进程/线程</a:t>
            </a:r>
            <a:endParaRPr lang="zh-CN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相对寻址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间接寻址</a:t>
            </a:r>
            <a:endParaRPr lang="en-US" altLang="zh-CN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虚拟内存；</a:t>
            </a:r>
            <a:endParaRPr lang="zh-CN" altLang="en-US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函数动态调用</a:t>
            </a:r>
            <a:endParaRPr lang="zh-CN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中断/信号/异常</a:t>
            </a:r>
            <a:endParaRPr lang="zh-CN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消息队列</a:t>
            </a:r>
            <a:endParaRPr lang="zh-CN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抽象，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重定向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虚拟机；</a:t>
            </a:r>
            <a:endParaRPr lang="zh-CN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虚拟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网络；</a:t>
            </a:r>
            <a:endParaRPr lang="zh-CN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6821805" y="2990850"/>
              <a:ext cx="17780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6821805" y="2990850"/>
                <a:ext cx="17780" cy="3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/>
          <a:lstStyle/>
          <a:p>
            <a:pPr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4098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/>
          <a:lstStyle/>
          <a:p>
            <a:pPr eaLnBrk="1" hangingPunct="1"/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集群计算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vs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云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idx="1"/>
          </p:nvPr>
        </p:nvSpPr>
        <p:spPr>
          <a:xfrm>
            <a:off x="-36195" y="1268730"/>
            <a:ext cx="9104630" cy="543941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集群计算与云计算都是</a:t>
            </a:r>
            <a:r>
              <a:rPr lang="zh-CN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分布式计算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，都是将多台计算机通过软件来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虚拟成</a:t>
            </a:r>
            <a:r>
              <a:rPr 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一台</a:t>
            </a:r>
            <a:r>
              <a:rPr lang="zh-CN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计算机</a:t>
            </a:r>
            <a:r>
              <a:rPr lang="zh-CN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来使用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，集群和云平台都</a:t>
            </a:r>
            <a:r>
              <a:rPr lang="zh-CN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属于某个企业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集群上运行的程序通常是集群所属企业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自己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应用程序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。而云上运行的程序则是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客户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应用程序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因此，云上运行的程序数量要比集群上运行的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程序数量多，而且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多种多样，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五花八门，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因此管理复杂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集群上因为运行的程序数量少，因此应用程序的</a:t>
            </a:r>
            <a:r>
              <a:rPr lang="zh-CN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部署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通常具有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静态性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。云上运行的程序数量多，因此其</a:t>
            </a:r>
            <a:r>
              <a:rPr lang="zh-CN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部署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通常具有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动态实时性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/>
          <a:lstStyle/>
          <a:p>
            <a:pPr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4098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/>
          <a:lstStyle/>
          <a:p>
            <a:pPr eaLnBrk="1" hangingPunct="1"/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云计算的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实质</a:t>
            </a:r>
            <a:endParaRPr 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idx="1"/>
          </p:nvPr>
        </p:nvSpPr>
        <p:spPr>
          <a:xfrm>
            <a:off x="-36195" y="1492885"/>
            <a:ext cx="9180195" cy="5215255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云计算的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动机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：通过</a:t>
            </a:r>
            <a:r>
              <a:rPr lang="zh-CN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资源共享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以及</a:t>
            </a:r>
            <a:r>
              <a:rPr lang="zh-CN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规模效应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zh-CN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集约效应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来取得更好的服务质量，取得更高的</a:t>
            </a:r>
            <a:r>
              <a:rPr lang="zh-CN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性价比，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实现价廉物美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云计算中要解决的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核心问题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：程序要能在云上的计算机上到处运行，同一台计算机上的程序相互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隔离。</a:t>
            </a:r>
            <a:endParaRPr 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解决问题的思路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：让运行环境来适应应用程序，而不是让应用程序来适应运行环境。</a:t>
            </a:r>
            <a:endParaRPr 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云计算中的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核心概念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zh-CN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虚拟化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zh-CN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虚拟机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/>
          <a:lstStyle/>
          <a:p>
            <a:pPr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4098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/>
          <a:lstStyle/>
          <a:p>
            <a:pPr eaLnBrk="1" hangingPunct="1"/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超算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，集群计算，分布式计算</a:t>
            </a:r>
            <a:endParaRPr 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idx="1"/>
          </p:nvPr>
        </p:nvSpPr>
        <p:spPr>
          <a:xfrm>
            <a:off x="-36195" y="1268730"/>
            <a:ext cx="9104630" cy="543941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</a:pPr>
            <a:r>
              <a:rPr lang="zh-CN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并行计算</a:t>
            </a:r>
            <a:r>
              <a:rPr 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三种形式</a:t>
            </a:r>
            <a:r>
              <a:rPr 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，具有不同特性。</a:t>
            </a:r>
            <a:endParaRPr lang="zh-CN" b="1" dirty="0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</a:pPr>
            <a:r>
              <a:rPr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超算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用来做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超大规模科学计算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计算结点间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交互频繁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具有处理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器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密集度高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的特点，使用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专有网络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通信。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散热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是其突出问题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超算是一台计算机，其特点：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昂贵，故障多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</a:pPr>
            <a:r>
              <a:rPr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集群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用于数据中心，做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超大规模数据处理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。集群由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同构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的商用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计算机组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合而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成，使用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局域网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联成一个大计算机系统。成员之间在交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互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时，直接进行内存拷贝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，无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须做翻译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。目标：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超大的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处理能力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，超大的存储空间，提供从不间断的服务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与超算系统相比，具有性价比高，运维简单容易，成本低，可扩展性好。</a:t>
            </a:r>
            <a:endParaRPr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灯片编号占位符 5"/>
          <p:cNvSpPr txBox="1">
            <a:spLocks noGrp="1"/>
          </p:cNvSpPr>
          <p:nvPr>
            <p:ph type="sldNum" sz="quarter" idx="12"/>
          </p:nvPr>
        </p:nvSpPr>
        <p:spPr/>
        <p:txBody>
          <a:bodyPr wrap="square" lIns="91440" tIns="45720" rIns="91440" bIns="45720" anchor="t"/>
          <a:lstStyle/>
          <a:p>
            <a:pPr algn="r"/>
            <a:fld id="{9A0DB2DC-4C9A-4742-B13C-FB6460FD3503}" type="slidenum">
              <a:rPr lang="en-US" altLang="zh-CN" sz="1400" b="0" dirty="0"/>
            </a:fld>
            <a:endParaRPr lang="en-US" altLang="zh-CN" sz="1400" b="0" dirty="0"/>
          </a:p>
        </p:txBody>
      </p:sp>
      <p:sp>
        <p:nvSpPr>
          <p:cNvPr id="4098" name="Rectangle 2"/>
          <p:cNvSpPr>
            <a:spLocks noGrp="1"/>
          </p:cNvSpPr>
          <p:nvPr>
            <p:ph type="title"/>
          </p:nvPr>
        </p:nvSpPr>
        <p:spPr/>
        <p:txBody>
          <a:bodyPr wrap="square" lIns="91440" tIns="45720" rIns="91440" bIns="45720" anchor="ctr"/>
          <a:lstStyle/>
          <a:p>
            <a:pPr eaLnBrk="1" hangingPunct="1"/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超算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，集群计算，分布式计算</a:t>
            </a:r>
            <a:endParaRPr 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099" name="Rectangle 3"/>
          <p:cNvSpPr>
            <a:spLocks noGrp="1"/>
          </p:cNvSpPr>
          <p:nvPr>
            <p:ph idx="1"/>
          </p:nvPr>
        </p:nvSpPr>
        <p:spPr>
          <a:xfrm>
            <a:off x="168910" y="1705610"/>
            <a:ext cx="8899525" cy="2827020"/>
          </a:xfrm>
        </p:spPr>
        <p:txBody>
          <a:bodyPr wrap="square" lIns="91440" tIns="45720" rIns="91440" bIns="45720" anchor="t"/>
          <a:lstStyle/>
          <a:p>
            <a:pPr eaLnBrk="1" hangingPunct="1">
              <a:lnSpc>
                <a:spcPct val="150000"/>
              </a:lnSpc>
              <a:spcBef>
                <a:spcPts val="800"/>
              </a:spcBef>
              <a:spcAft>
                <a:spcPts val="800"/>
              </a:spcAft>
            </a:pPr>
            <a:r>
              <a:rPr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分布式系统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是由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自治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异构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成员构成的一种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邦联形式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，即一种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松散型的协同系统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，成员间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采用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WEB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国际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标准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进行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交互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。由于异构性，彼此之间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数据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交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互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时，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要做翻译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相对于集群而言，成员间的数据交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互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具有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低频性</a:t>
            </a:r>
            <a:r>
              <a:rPr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矩形 3"/>
          <p:cNvSpPr/>
          <p:nvPr/>
        </p:nvSpPr>
        <p:spPr>
          <a:xfrm>
            <a:off x="1494790" y="240030"/>
            <a:ext cx="682434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 </a:t>
            </a:r>
            <a:r>
              <a:rPr lang="zh-CN" altLang="en-US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应用程序</a:t>
            </a:r>
            <a:r>
              <a:rPr lang="zh-CN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的</a:t>
            </a:r>
            <a:r>
              <a:rPr lang="zh-CN" altLang="en-US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模块化</a:t>
            </a:r>
            <a:r>
              <a:rPr lang="zh-CN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实现技术</a:t>
            </a:r>
            <a:endParaRPr lang="zh-CN" sz="3600" b="1" dirty="0">
              <a:solidFill>
                <a:srgbClr val="3333CC"/>
              </a:solidFill>
              <a:latin typeface="微软雅黑" panose="020B0503020204020204" charset="-122"/>
              <a:ea typeface="微软雅黑" panose="020B0503020204020204" charset="-122"/>
              <a:sym typeface="宋体" pitchFamily="2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0" y="1124585"/>
            <a:ext cx="9104630" cy="521589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编译时取得代码的确定性和不变性，实现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代码和数据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引用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与运行时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模块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内存地址空间中的加载位置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无关。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相对寻址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：解决模块内部的引用寻址问题。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间接寻址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：解决模块与模块之间的引用寻址问题。对于服务方，链接时，会生成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导出地址表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，填的是相对地址（相对模块的起始位置）；对于客户方，链接时，会生成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导入地址表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。在加载执行时，由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Loader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来填写客户方的导入地址。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 algn="just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虚拟内存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：解决模块代码在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多个进程(线程)间的可共享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问题。</a:t>
            </a:r>
            <a:endParaRPr lang="zh-CN" altLang="en-US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1099820" y="135890"/>
            <a:ext cx="7772400" cy="914400"/>
          </a:xfrm>
        </p:spPr>
        <p:txBody>
          <a:bodyPr anchor="ctr"/>
          <a:lstStyle/>
          <a:p>
            <a:r>
              <a:rPr lang="zh-CN" dirty="0">
                <a:latin typeface="微软雅黑" panose="020B0503020204020204" charset="-122"/>
                <a:ea typeface="微软雅黑" panose="020B0503020204020204" charset="-122"/>
              </a:rPr>
              <a:t>应用程序的加载执行</a:t>
            </a:r>
            <a:endParaRPr 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42" name="内容占位符 2"/>
          <p:cNvSpPr>
            <a:spLocks noGrp="1"/>
          </p:cNvSpPr>
          <p:nvPr>
            <p:ph idx="1"/>
          </p:nvPr>
        </p:nvSpPr>
        <p:spPr>
          <a:xfrm>
            <a:off x="35560" y="1223010"/>
            <a:ext cx="9108440" cy="5521325"/>
          </a:xfrm>
        </p:spPr>
        <p:txBody>
          <a:bodyPr anchor="t"/>
          <a:lstStyle/>
          <a:p>
            <a:pPr marL="0" indent="0" eaLnBrk="1" latinLnBrk="0" hangingPunct="1">
              <a:lnSpc>
                <a:spcPct val="150000"/>
              </a:lnSpc>
              <a:spcBef>
                <a:spcPts val="1800"/>
              </a:spcBef>
              <a:buClr>
                <a:srgbClr val="FF0000"/>
              </a:buClr>
              <a:buFont typeface="Wingdings" panose="05000000000000000000" charset="0"/>
              <a:buNone/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</a:rPr>
              <a:t>在桌面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双击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</a:rPr>
              <a:t>一个可执行文件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(exe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文件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</a:rPr>
              <a:t>)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</a:rPr>
              <a:t>时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,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就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执行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事件处理函数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：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18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创建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(fork)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</a:rPr>
              <a:t>一个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</a:rPr>
              <a:t>子进程</a:t>
            </a:r>
            <a:r>
              <a:rPr lang="zh-CN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18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</a:rPr>
              <a:t>将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exe文件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</a:rPr>
              <a:t>从磁盘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加载到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</a:rPr>
              <a:t>进程虚拟地址空间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18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</a:rPr>
              <a:t>检查exe文件的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import address table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</a:rPr>
              <a:t>看它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依赖于哪些dll文件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</a:rPr>
              <a:t>，然后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加载这些dll文件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</a:rPr>
              <a:t>从其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export address table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中基于名字找到所须函数的地址，回填上述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import address table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eaLnBrk="1" latinLnBrk="0" hangingPunct="1">
              <a:lnSpc>
                <a:spcPct val="150000"/>
              </a:lnSpc>
              <a:spcBef>
                <a:spcPts val="18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</a:rPr>
              <a:t>以此类推，直至所有需要的dll文件都加载完毕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</a:rPr>
              <a:t>然后去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找到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exe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文件的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main函数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的地址，并调用它，把执行交给应用程序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b="1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1099820" y="135890"/>
            <a:ext cx="7772400" cy="914400"/>
          </a:xfrm>
        </p:spPr>
        <p:txBody>
          <a:bodyPr anchor="ctr"/>
          <a:lstStyle/>
          <a:p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cmd</a:t>
            </a:r>
            <a:r>
              <a:rPr lang="zh-CN" sz="3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命令行</a:t>
            </a:r>
            <a:r>
              <a:rPr lang="zh-CN" sz="3200" dirty="0">
                <a:latin typeface="微软雅黑" panose="020B0503020204020204" charset="-122"/>
                <a:ea typeface="微软雅黑" panose="020B0503020204020204" charset="-122"/>
              </a:rPr>
              <a:t>程序中按回车键时执行的代码</a:t>
            </a:r>
            <a:endParaRPr lang="en-US" altLang="zh-CN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42" name="内容占位符 2"/>
          <p:cNvSpPr>
            <a:spLocks noGrp="1"/>
          </p:cNvSpPr>
          <p:nvPr>
            <p:ph idx="1"/>
          </p:nvPr>
        </p:nvSpPr>
        <p:spPr>
          <a:xfrm>
            <a:off x="133350" y="1199515"/>
            <a:ext cx="8891270" cy="5586730"/>
          </a:xfrm>
        </p:spPr>
        <p:txBody>
          <a:bodyPr anchor="t"/>
          <a:lstStyle/>
          <a:p>
            <a:pPr marL="0" lvl="1" indent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en-US" altLang="zh-CN" sz="2400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string</a:t>
            </a: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 szExeName;</a:t>
            </a:r>
            <a:endParaRPr lang="en-US" altLang="zh-CN" sz="2400" dirty="0"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  <a:sym typeface="+mn-ea"/>
            </a:endParaRPr>
          </a:p>
          <a:p>
            <a:pPr marL="0" lvl="1" indent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en-US" altLang="zh-CN" sz="2400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int </a:t>
            </a: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numPara;</a:t>
            </a:r>
            <a:endParaRPr lang="en-US" altLang="zh-CN" sz="2400" dirty="0"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  <a:sym typeface="+mn-ea"/>
            </a:endParaRPr>
          </a:p>
          <a:p>
            <a:pPr marL="0" lvl="1" indent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en-US" altLang="zh-CN" sz="2400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string</a:t>
            </a: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 szParams;</a:t>
            </a:r>
            <a:endParaRPr lang="en-US" altLang="zh-CN" sz="2400" dirty="0"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  <a:sym typeface="+mn-ea"/>
            </a:endParaRPr>
          </a:p>
          <a:p>
            <a:pPr marL="0" lvl="1" indent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en-US" altLang="zh-CN" sz="2400" b="1" dirty="0">
                <a:latin typeface="Times New Roman" panose="02020603050405020304" pitchFamily="18" charset="0"/>
                <a:ea typeface="宋体" pitchFamily="2" charset="-122"/>
                <a:sym typeface="+mn-ea"/>
              </a:rPr>
              <a:t>int   (*pfn)( int, unsigned char *) = 0;</a:t>
            </a:r>
            <a:endParaRPr lang="en-US" altLang="zh-CN" sz="2400" b="1" dirty="0">
              <a:latin typeface="Times New Roman" panose="02020603050405020304" pitchFamily="18" charset="0"/>
              <a:ea typeface="宋体" pitchFamily="2" charset="-122"/>
            </a:endParaRPr>
          </a:p>
          <a:p>
            <a:pPr marL="0" lvl="1" indent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en-US" altLang="zh-CN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  <a:t>int</a:t>
            </a:r>
            <a:r>
              <a:rPr lang="en-US" altLang="zh-CN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 pid = </a:t>
            </a:r>
            <a:r>
              <a:rPr lang="en-US" altLang="zh-CN" sz="2400" b="1" dirty="0">
                <a:solidFill>
                  <a:srgbClr val="FF0000"/>
                </a:solidFill>
                <a:latin typeface="Arial Black" panose="020B0A04020102020204" charset="0"/>
                <a:ea typeface="宋体" pitchFamily="2" charset="-122"/>
                <a:cs typeface="Arial Black" panose="020B0A04020102020204" charset="0"/>
                <a:sym typeface="+mn-ea"/>
              </a:rPr>
              <a:t>fork</a:t>
            </a:r>
            <a:r>
              <a:rPr lang="en-US" altLang="zh-CN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 );</a:t>
            </a:r>
            <a:endParaRPr lang="zh-CN" altLang="en-US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0" indent="0" eaLnBrk="1" latinLnBrk="0" hangingPunct="1">
              <a:lnSpc>
                <a:spcPct val="120000"/>
              </a:lnSpc>
              <a:spcBef>
                <a:spcPts val="0"/>
              </a:spcBef>
              <a:buClr>
                <a:srgbClr val="FF0000"/>
              </a:buClr>
              <a:buNone/>
            </a:pPr>
            <a:r>
              <a:rPr lang="en-US" altLang="zh-CN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if 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（</a:t>
            </a:r>
            <a:r>
              <a:rPr lang="en-US" altLang="zh-CN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pid == 0)   {</a:t>
            </a:r>
            <a:endParaRPr lang="en-US" altLang="zh-CN" b="1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0" lvl="1" indent="0" latinLnBrk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   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HINSTANCE</a:t>
            </a: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h = </a:t>
            </a:r>
            <a:r>
              <a:rPr lang="en-US" altLang="zh-CN" sz="2400" b="1" dirty="0">
                <a:solidFill>
                  <a:srgbClr val="FF0000"/>
                </a:solidFill>
                <a:latin typeface="Arial Black" panose="020B0A04020102020204" charset="0"/>
                <a:ea typeface="宋体" pitchFamily="2" charset="-122"/>
                <a:cs typeface="Arial Black" panose="020B0A04020102020204" charset="0"/>
                <a:sym typeface="+mn-ea"/>
              </a:rPr>
              <a:t>LoadLibrary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( szExeName);</a:t>
            </a:r>
            <a:endParaRPr lang="en-US" altLang="zh-CN" sz="2400" dirty="0"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  <a:p>
            <a:pPr marL="0" lvl="1" indent="0" latinLnBrk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   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if </a:t>
            </a: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(h)  *(FARPROC* )&amp;pfn = </a:t>
            </a:r>
            <a:r>
              <a:rPr lang="en-US" altLang="zh-CN" sz="2400" b="1" dirty="0">
                <a:solidFill>
                  <a:srgbClr val="FF0000"/>
                </a:solidFill>
                <a:latin typeface="Arial Black" panose="020B0A04020102020204" charset="0"/>
                <a:ea typeface="宋体" pitchFamily="2" charset="-122"/>
                <a:cs typeface="Arial Black" panose="020B0A04020102020204" charset="0"/>
                <a:sym typeface="+mn-ea"/>
              </a:rPr>
              <a:t>GetProcAddress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h, “main”);</a:t>
            </a:r>
            <a:endParaRPr lang="en-US" altLang="zh-CN" sz="2400" dirty="0"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  <a:p>
            <a:pPr marL="0" lvl="1" indent="0" latinLnBrk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  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if </a:t>
            </a: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(pfn)  </a:t>
            </a:r>
            <a:r>
              <a:rPr lang="en-US" altLang="zh-CN" sz="2400" b="1" dirty="0">
                <a:solidFill>
                  <a:srgbClr val="FF0000"/>
                </a:solidFill>
                <a:latin typeface="Arial Black" panose="020B0A04020102020204" charset="0"/>
                <a:ea typeface="宋体" pitchFamily="2" charset="-122"/>
                <a:cs typeface="Arial Black" panose="020B0A04020102020204" charset="0"/>
                <a:sym typeface="+mn-ea"/>
              </a:rPr>
              <a:t> try</a:t>
            </a: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{ int result = </a:t>
            </a:r>
            <a:r>
              <a:rPr lang="en-US" altLang="zh-CN" sz="2400" b="1" dirty="0">
                <a:solidFill>
                  <a:srgbClr val="FF0000"/>
                </a:solidFill>
                <a:latin typeface="Arial Black" panose="020B0A04020102020204" charset="0"/>
                <a:ea typeface="宋体" pitchFamily="2" charset="-122"/>
                <a:cs typeface="Arial Black" panose="020B0A04020102020204" charset="0"/>
                <a:sym typeface="+mn-ea"/>
              </a:rPr>
              <a:t>pfn</a:t>
            </a: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(</a:t>
            </a: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numPara, szParams</a:t>
            </a: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); }</a:t>
            </a:r>
            <a:endParaRPr lang="en-US" altLang="zh-CN" sz="2400" dirty="0"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  <a:sym typeface="+mn-ea"/>
            </a:endParaRPr>
          </a:p>
          <a:p>
            <a:pPr marL="0" lvl="0" indent="0" latinLnBrk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  <a:t>}</a:t>
            </a:r>
            <a:endParaRPr lang="en-US" altLang="zh-CN" sz="2400" dirty="0">
              <a:solidFill>
                <a:srgbClr val="0000FF"/>
              </a:solidFill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  <a:p>
            <a:pPr marL="0" lv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  <a:t>else  {</a:t>
            </a:r>
            <a:endParaRPr lang="en-US" altLang="zh-CN" sz="2400" dirty="0">
              <a:solidFill>
                <a:srgbClr val="0000FF"/>
              </a:solidFill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  <a:p>
            <a:pPr marL="0" lv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  <a:t>   .......</a:t>
            </a:r>
            <a:endParaRPr lang="en-US" altLang="zh-CN" sz="2400" b="1" dirty="0">
              <a:solidFill>
                <a:srgbClr val="FF0000"/>
              </a:solidFill>
              <a:latin typeface="Arial Black" panose="020B0A04020102020204" charset="0"/>
              <a:ea typeface="宋体" pitchFamily="2" charset="-122"/>
              <a:cs typeface="Arial Black" panose="020B0A04020102020204" charset="0"/>
            </a:endParaRPr>
          </a:p>
          <a:p>
            <a:pPr marL="0" lvl="0" indent="0" latinLnBrk="0">
              <a:lnSpc>
                <a:spcPct val="100000"/>
              </a:lnSpc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</a:rPr>
              <a:t>}</a:t>
            </a:r>
            <a:endParaRPr lang="en-US" altLang="zh-CN" dirty="0">
              <a:solidFill>
                <a:srgbClr val="0000FF"/>
              </a:solidFill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t"/>
          <a:lstStyle/>
          <a:p>
            <a:pPr algn="r"/>
            <a:fld id="{9A0DB2DC-4C9A-4742-B13C-FB6460FD3503}" type="slidenum">
              <a:rPr lang="en-US" altLang="zh-CN" sz="1400" dirty="0">
                <a:solidFill>
                  <a:srgbClr val="000000"/>
                </a:solidFill>
                <a:latin typeface="Comic Sans MS" panose="030F0902030302020204" pitchFamily="66" charset="0"/>
              </a:rPr>
            </a:fld>
            <a:endParaRPr lang="en-US" altLang="zh-CN" sz="1400" dirty="0">
              <a:solidFill>
                <a:srgbClr val="0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41986" name="矩形 2"/>
          <p:cNvSpPr/>
          <p:nvPr/>
        </p:nvSpPr>
        <p:spPr>
          <a:xfrm>
            <a:off x="99060" y="1262380"/>
            <a:ext cx="5916295" cy="2676525"/>
          </a:xfrm>
          <a:prstGeom prst="rect">
            <a:avLst/>
          </a:prstGeom>
          <a:noFill/>
          <a:ln w="53975" cmpd="dbl">
            <a:solidFill>
              <a:schemeClr val="accent1">
                <a:shade val="50000"/>
              </a:schemeClr>
            </a:solidFill>
            <a:prstDash val="solid"/>
          </a:ln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sz="20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while</a:t>
            </a:r>
            <a:r>
              <a:rPr lang="en-US" sz="2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（1）</a:t>
            </a:r>
            <a:r>
              <a:rPr lang="en-US" sz="20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  {</a:t>
            </a:r>
            <a:endParaRPr lang="en-US" sz="2000" b="1" dirty="0">
              <a:solidFill>
                <a:srgbClr val="0000FF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sz="20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       </a:t>
            </a:r>
            <a:r>
              <a:rPr lang="en-US" sz="2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WaitForMessage</a:t>
            </a:r>
            <a:r>
              <a:rPr lang="en-US" sz="20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( )</a:t>
            </a:r>
            <a:r>
              <a:rPr lang="en-US" sz="20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;</a:t>
            </a:r>
            <a:endParaRPr lang="en-US" sz="2000" b="1" dirty="0">
              <a:solidFill>
                <a:srgbClr val="0000FF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sz="20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      </a:t>
            </a:r>
            <a:r>
              <a:rPr lang="en-US" sz="2000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FetchMessageFromQueue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(msg)</a:t>
            </a:r>
            <a:r>
              <a:rPr lang="en-US" sz="2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;</a:t>
            </a:r>
            <a:endParaRPr lang="en-US" sz="2000" b="1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sz="2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FunList =   </a:t>
            </a:r>
            <a:r>
              <a:rPr lang="en-US" sz="2000" dirty="0" err="1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GetHook</a:t>
            </a:r>
            <a:r>
              <a:rPr lang="en-US" altLang="zh-CN" sz="2000" dirty="0" err="1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ed</a:t>
            </a:r>
            <a:r>
              <a:rPr lang="en-US" sz="2000" dirty="0" err="1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FunList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(msg.</a:t>
            </a:r>
            <a:r>
              <a:rPr lang="en-US" sz="20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Token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)</a:t>
            </a:r>
            <a:r>
              <a:rPr lang="en-US" sz="2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;</a:t>
            </a:r>
            <a:endParaRPr lang="en-US" sz="2000" b="1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sz="20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</a:t>
            </a:r>
            <a:r>
              <a:rPr lang="en-US" sz="20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while</a:t>
            </a:r>
            <a:r>
              <a:rPr lang="en-US" sz="2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(Fun 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= </a:t>
            </a:r>
            <a:r>
              <a:rPr lang="en-US" sz="2000" dirty="0" err="1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FunList.Next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( )</a:t>
            </a:r>
            <a:r>
              <a:rPr lang="en-US" sz="2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 )</a:t>
            </a:r>
            <a:r>
              <a:rPr lang="en-US" sz="20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 </a:t>
            </a:r>
            <a:endParaRPr lang="en-US" sz="2000" b="1" dirty="0">
              <a:solidFill>
                <a:srgbClr val="0000FF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sz="20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           </a:t>
            </a:r>
            <a:r>
              <a:rPr lang="en-US" sz="2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Fun</a:t>
            </a:r>
            <a:r>
              <a:rPr lang="en-US" sz="20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(msg)</a:t>
            </a:r>
            <a:r>
              <a:rPr lang="en-US" sz="20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;</a:t>
            </a:r>
            <a:endParaRPr lang="en-US" sz="2000" b="1" dirty="0">
              <a:solidFill>
                <a:srgbClr val="0000FF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sz="20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}</a:t>
            </a:r>
            <a:endParaRPr lang="en-US" sz="2000" b="1" dirty="0">
              <a:solidFill>
                <a:srgbClr val="0000FF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41987" name="矩形 3"/>
          <p:cNvSpPr/>
          <p:nvPr/>
        </p:nvSpPr>
        <p:spPr>
          <a:xfrm>
            <a:off x="1179830" y="304165"/>
            <a:ext cx="7861300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32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基于异步操作的应用程序框架：消息队列</a:t>
            </a:r>
            <a:endParaRPr lang="zh-CN" sz="32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cxnSp>
        <p:nvCxnSpPr>
          <p:cNvPr id="2" name="直接连接符 1"/>
          <p:cNvCxnSpPr/>
          <p:nvPr/>
        </p:nvCxnSpPr>
        <p:spPr>
          <a:xfrm flipH="1">
            <a:off x="6519545" y="1797685"/>
            <a:ext cx="0" cy="2376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" name="直接连接符 2"/>
          <p:cNvCxnSpPr/>
          <p:nvPr/>
        </p:nvCxnSpPr>
        <p:spPr>
          <a:xfrm flipH="1">
            <a:off x="7238365" y="1741805"/>
            <a:ext cx="0" cy="241200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" name="矩形 3"/>
          <p:cNvSpPr/>
          <p:nvPr/>
        </p:nvSpPr>
        <p:spPr>
          <a:xfrm>
            <a:off x="6561455" y="2535555"/>
            <a:ext cx="648335" cy="360003"/>
          </a:xfrm>
          <a:prstGeom prst="rect">
            <a:avLst/>
          </a:prstGeom>
          <a:solidFill>
            <a:srgbClr val="00FF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6561455" y="3001645"/>
            <a:ext cx="648335" cy="360003"/>
          </a:xfrm>
          <a:prstGeom prst="rect">
            <a:avLst/>
          </a:prstGeom>
          <a:solidFill>
            <a:srgbClr val="FF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561455" y="3449956"/>
            <a:ext cx="648335" cy="332740"/>
          </a:xfrm>
          <a:prstGeom prst="rect">
            <a:avLst/>
          </a:prstGeom>
          <a:solidFill>
            <a:schemeClr val="accent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6871335" y="3782695"/>
            <a:ext cx="0" cy="1008000"/>
          </a:xfrm>
          <a:prstGeom prst="straightConnector1">
            <a:avLst/>
          </a:prstGeom>
          <a:solidFill>
            <a:schemeClr val="accent1"/>
          </a:solidFill>
          <a:ln w="603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</p:spPr>
      </p:cxnSp>
      <p:sp>
        <p:nvSpPr>
          <p:cNvPr id="10" name="文本框 9"/>
          <p:cNvSpPr txBox="1"/>
          <p:nvPr/>
        </p:nvSpPr>
        <p:spPr>
          <a:xfrm>
            <a:off x="7256145" y="3997960"/>
            <a:ext cx="1453515" cy="4603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消息队列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1750" y="4549775"/>
            <a:ext cx="9081135" cy="230695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消息队列</a:t>
            </a:r>
            <a:r>
              <a:rPr 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中的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消息</a:t>
            </a:r>
            <a:r>
              <a:rPr lang="zh-CN" b="1" dirty="0">
                <a:latin typeface="微软雅黑" panose="020B0503020204020204" charset="-122"/>
                <a:ea typeface="微软雅黑" panose="020B0503020204020204" charset="-122"/>
              </a:rPr>
              <a:t>有三类：</a:t>
            </a:r>
            <a:endParaRPr lang="zh-CN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异步操作的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进度和结果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事件：</a:t>
            </a:r>
            <a:r>
              <a:rPr 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例如：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fail/success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/complete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；</a:t>
            </a:r>
            <a:endParaRPr lang="zh-CN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）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用户操作的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行为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事件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例如：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click/select;</a:t>
            </a:r>
            <a:endParaRPr lang="zh-CN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）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对象/组件的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状态变化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事件: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例如：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show/hide/activate</a:t>
            </a:r>
            <a:endParaRPr lang="zh-CN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2" name="直接连接符 11"/>
          <p:cNvCxnSpPr/>
          <p:nvPr/>
        </p:nvCxnSpPr>
        <p:spPr>
          <a:xfrm flipV="1">
            <a:off x="7955915" y="2132330"/>
            <a:ext cx="1224280" cy="635"/>
          </a:xfrm>
          <a:prstGeom prst="line">
            <a:avLst/>
          </a:prstGeom>
          <a:solidFill>
            <a:schemeClr val="accent1"/>
          </a:solidFill>
          <a:ln w="12700" cap="flat" cmpd="sng" algn="ctr">
            <a:solidFill>
              <a:schemeClr val="accent1">
                <a:shade val="50000"/>
              </a:schemeClr>
            </a:solidFill>
            <a:prstDash val="solid"/>
            <a:bevel/>
            <a:headEnd type="none" w="med" len="med"/>
            <a:tailEnd type="triangle" w="med" len="lg"/>
          </a:ln>
        </p:spPr>
      </p:cxnSp>
      <p:sp>
        <p:nvSpPr>
          <p:cNvPr id="16" name="文本框 15"/>
          <p:cNvSpPr txBox="1"/>
          <p:nvPr/>
        </p:nvSpPr>
        <p:spPr>
          <a:xfrm>
            <a:off x="7898765" y="1659255"/>
            <a:ext cx="1209675" cy="39878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altLang="zh-CN" sz="2000" b="1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</a:rPr>
              <a:t>token</a:t>
            </a:r>
            <a:endParaRPr lang="en-US" altLang="zh-CN" sz="2000" b="1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8424545" y="3347720"/>
            <a:ext cx="288290" cy="215900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18" name="直接连接符 17"/>
          <p:cNvCxnSpPr/>
          <p:nvPr/>
        </p:nvCxnSpPr>
        <p:spPr>
          <a:xfrm flipH="1">
            <a:off x="8561070" y="3170555"/>
            <a:ext cx="0" cy="179705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25" name="组合 24"/>
          <p:cNvGrpSpPr/>
          <p:nvPr/>
        </p:nvGrpSpPr>
        <p:grpSpPr>
          <a:xfrm>
            <a:off x="8434705" y="2058035"/>
            <a:ext cx="288290" cy="1080770"/>
            <a:chOff x="13283" y="3241"/>
            <a:chExt cx="454" cy="1702"/>
          </a:xfrm>
        </p:grpSpPr>
        <p:sp>
          <p:nvSpPr>
            <p:cNvPr id="19" name="矩形 18"/>
            <p:cNvSpPr/>
            <p:nvPr/>
          </p:nvSpPr>
          <p:spPr>
            <a:xfrm>
              <a:off x="13283" y="4603"/>
              <a:ext cx="454" cy="340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20" name="弧形 19"/>
            <p:cNvSpPr/>
            <p:nvPr/>
          </p:nvSpPr>
          <p:spPr>
            <a:xfrm rot="5220000">
              <a:off x="13179" y="3865"/>
              <a:ext cx="639" cy="265"/>
            </a:xfrm>
            <a:prstGeom prst="arc">
              <a:avLst>
                <a:gd name="adj1" fmla="val 16200000"/>
                <a:gd name="adj2" fmla="val 5621929"/>
              </a:avLst>
            </a:prstGeom>
            <a:noFill/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cxnSp>
          <p:nvCxnSpPr>
            <p:cNvPr id="21" name="直接连接符 20"/>
            <p:cNvCxnSpPr>
              <a:endCxn id="20" idx="0"/>
            </p:cNvCxnSpPr>
            <p:nvPr/>
          </p:nvCxnSpPr>
          <p:spPr>
            <a:xfrm flipH="1">
              <a:off x="13631" y="3275"/>
              <a:ext cx="0" cy="737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2" name="椭圆 21"/>
            <p:cNvSpPr/>
            <p:nvPr/>
          </p:nvSpPr>
          <p:spPr>
            <a:xfrm>
              <a:off x="13545" y="3241"/>
              <a:ext cx="170" cy="170"/>
            </a:xfrm>
            <a:prstGeom prst="ellipse">
              <a:avLst/>
            </a:prstGeom>
            <a:solidFill>
              <a:srgbClr val="FF0000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cxnSp>
          <p:nvCxnSpPr>
            <p:cNvPr id="23" name="直接连接符 22"/>
            <p:cNvCxnSpPr/>
            <p:nvPr/>
          </p:nvCxnSpPr>
          <p:spPr>
            <a:xfrm flipH="1">
              <a:off x="13498" y="4324"/>
              <a:ext cx="0" cy="283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oval" w="med" len="med"/>
              <a:tailEnd type="oval" w="med" len="med"/>
            </a:ln>
          </p:spPr>
        </p:cxnSp>
      </p:grpSp>
      <p:sp>
        <p:nvSpPr>
          <p:cNvPr id="26" name="任意多边形 25"/>
          <p:cNvSpPr/>
          <p:nvPr/>
        </p:nvSpPr>
        <p:spPr>
          <a:xfrm>
            <a:off x="6088380" y="1387475"/>
            <a:ext cx="823595" cy="1087755"/>
          </a:xfrm>
          <a:custGeom>
            <a:avLst/>
            <a:gdLst>
              <a:gd name="connisteX0" fmla="*/ 796925 w 823643"/>
              <a:gd name="connsiteY0" fmla="*/ 1087600 h 1087600"/>
              <a:gd name="connisteX1" fmla="*/ 796925 w 823643"/>
              <a:gd name="connsiteY1" fmla="*/ 177010 h 1087600"/>
              <a:gd name="connisteX2" fmla="*/ 512445 w 823643"/>
              <a:gd name="connsiteY2" fmla="*/ 20165 h 1087600"/>
              <a:gd name="connisteX3" fmla="*/ 0 w 823643"/>
              <a:gd name="connsiteY3" fmla="*/ 6195 h 1087600"/>
            </a:gdLst>
            <a:ahLst/>
            <a:cxnLst>
              <a:cxn ang="0">
                <a:pos x="connisteX0" y="connsiteY0"/>
              </a:cxn>
              <a:cxn ang="0">
                <a:pos x="connisteX1" y="connsiteY1"/>
              </a:cxn>
              <a:cxn ang="0">
                <a:pos x="connisteX2" y="connsiteY2"/>
              </a:cxn>
              <a:cxn ang="0">
                <a:pos x="connisteX3" y="connsiteY3"/>
              </a:cxn>
            </a:cxnLst>
            <a:rect l="l" t="t" r="r" b="b"/>
            <a:pathLst>
              <a:path w="823643" h="1087600">
                <a:moveTo>
                  <a:pt x="796925" y="1087600"/>
                </a:moveTo>
                <a:cubicBezTo>
                  <a:pt x="802640" y="908530"/>
                  <a:pt x="854075" y="390370"/>
                  <a:pt x="796925" y="177010"/>
                </a:cubicBezTo>
                <a:cubicBezTo>
                  <a:pt x="739775" y="-36350"/>
                  <a:pt x="671830" y="54455"/>
                  <a:pt x="512445" y="20165"/>
                </a:cubicBezTo>
                <a:cubicBezTo>
                  <a:pt x="353060" y="-14125"/>
                  <a:pt x="96520" y="5560"/>
                  <a:pt x="0" y="6195"/>
                </a:cubicBezTo>
              </a:path>
            </a:pathLst>
          </a:custGeom>
          <a:noFill/>
          <a:ln w="47625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lg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grpSp>
        <p:nvGrpSpPr>
          <p:cNvPr id="34" name="组合 33"/>
          <p:cNvGrpSpPr/>
          <p:nvPr/>
        </p:nvGrpSpPr>
        <p:grpSpPr>
          <a:xfrm>
            <a:off x="8820150" y="2045970"/>
            <a:ext cx="288290" cy="1080770"/>
            <a:chOff x="13890" y="3313"/>
            <a:chExt cx="454" cy="1702"/>
          </a:xfrm>
        </p:grpSpPr>
        <p:sp>
          <p:nvSpPr>
            <p:cNvPr id="29" name="矩形 28"/>
            <p:cNvSpPr/>
            <p:nvPr/>
          </p:nvSpPr>
          <p:spPr>
            <a:xfrm>
              <a:off x="13890" y="4675"/>
              <a:ext cx="454" cy="340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0" name="弧形 29"/>
            <p:cNvSpPr/>
            <p:nvPr/>
          </p:nvSpPr>
          <p:spPr>
            <a:xfrm rot="5220000">
              <a:off x="13786" y="3937"/>
              <a:ext cx="639" cy="265"/>
            </a:xfrm>
            <a:prstGeom prst="arc">
              <a:avLst>
                <a:gd name="adj1" fmla="val 16200000"/>
                <a:gd name="adj2" fmla="val 5621929"/>
              </a:avLst>
            </a:prstGeom>
            <a:noFill/>
            <a:ln w="28575" cap="flat" cmpd="sng" algn="ctr">
              <a:solidFill>
                <a:schemeClr val="accent2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cxnSp>
          <p:nvCxnSpPr>
            <p:cNvPr id="31" name="直接连接符 30"/>
            <p:cNvCxnSpPr>
              <a:endCxn id="30" idx="0"/>
            </p:cNvCxnSpPr>
            <p:nvPr/>
          </p:nvCxnSpPr>
          <p:spPr>
            <a:xfrm flipH="1">
              <a:off x="14238" y="3347"/>
              <a:ext cx="0" cy="737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0000FF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32" name="椭圆 31"/>
            <p:cNvSpPr/>
            <p:nvPr/>
          </p:nvSpPr>
          <p:spPr>
            <a:xfrm>
              <a:off x="14152" y="3313"/>
              <a:ext cx="170" cy="170"/>
            </a:xfrm>
            <a:prstGeom prst="ellipse">
              <a:avLst/>
            </a:prstGeom>
            <a:solidFill>
              <a:srgbClr val="0000FF"/>
            </a:solidFill>
            <a:ln w="28575" cap="flat" cmpd="sng" algn="ctr">
              <a:noFill/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cxnSp>
          <p:nvCxnSpPr>
            <p:cNvPr id="33" name="直接连接符 32"/>
            <p:cNvCxnSpPr/>
            <p:nvPr/>
          </p:nvCxnSpPr>
          <p:spPr>
            <a:xfrm flipH="1">
              <a:off x="14105" y="4396"/>
              <a:ext cx="0" cy="283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rgbClr val="0000FF"/>
              </a:solidFill>
              <a:prstDash val="solid"/>
              <a:round/>
              <a:headEnd type="oval" w="med" len="med"/>
              <a:tailEnd type="oval" w="med" len="med"/>
            </a:ln>
          </p:spPr>
        </p:cxn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ldLvl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1099820" y="135890"/>
            <a:ext cx="7924800" cy="914400"/>
          </a:xfrm>
        </p:spPr>
        <p:txBody>
          <a:bodyPr anchor="ctr"/>
          <a:lstStyle/>
          <a:p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中断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</a:rPr>
              <a:t> vs  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</a:t>
            </a:r>
            <a:endParaRPr lang="zh-CN" altLang="en-US" sz="4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42" name="内容占位符 2"/>
          <p:cNvSpPr>
            <a:spLocks noGrp="1"/>
          </p:cNvSpPr>
          <p:nvPr>
            <p:ph idx="1"/>
          </p:nvPr>
        </p:nvSpPr>
        <p:spPr>
          <a:xfrm>
            <a:off x="-94615" y="1340485"/>
            <a:ext cx="9119235" cy="5302250"/>
          </a:xfrm>
        </p:spPr>
        <p:txBody>
          <a:bodyPr anchor="t"/>
          <a:lstStyle/>
          <a:p>
            <a:pPr marL="342900" lvl="1" indent="-342900" latinLnBrk="0">
              <a:lnSpc>
                <a:spcPct val="120000"/>
              </a:lnSpc>
              <a:spcBef>
                <a:spcPts val="0"/>
              </a:spcBef>
              <a:spcAft>
                <a:spcPts val="21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：为模拟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中断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产生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中断处理例程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设置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而提出的一个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操作系统概念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，以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实现应用程序之间的交互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。即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软件实现的中断模拟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lvl="1" indent="309880" latinLnBrk="0">
              <a:lnSpc>
                <a:spcPct val="120000"/>
              </a:lnSpc>
              <a:spcBef>
                <a:spcPts val="0"/>
              </a:spcBef>
              <a:spcAft>
                <a:spcPts val="2100"/>
              </a:spcAft>
              <a:buClr>
                <a:srgbClr val="0000FF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给某进程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线程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产生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信号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API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kill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或者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sigqueue；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lvl="1" indent="309880" latinLnBrk="0">
              <a:lnSpc>
                <a:spcPct val="120000"/>
              </a:lnSpc>
              <a:spcBef>
                <a:spcPts val="0"/>
              </a:spcBef>
              <a:spcAft>
                <a:spcPts val="3200"/>
              </a:spcAft>
              <a:buClr>
                <a:srgbClr val="0000FF"/>
              </a:buClr>
              <a:buFont typeface="Wingdings" panose="05000000000000000000" charset="0"/>
              <a:buChar char="Ø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为某个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信号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设置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处理例程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的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API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signal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或者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sigaction；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lvl="1" indent="-342900" latinLnBrk="0">
              <a:lnSpc>
                <a:spcPct val="120000"/>
              </a:lnSpc>
              <a:spcBef>
                <a:spcPts val="0"/>
              </a:spcBef>
              <a:spcAft>
                <a:spcPts val="21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异常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：某种信号。异常例子：</a:t>
            </a:r>
            <a:endParaRPr lang="en-US" altLang="zh-CN" sz="2400" dirty="0"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  <a:sym typeface="+mn-ea"/>
            </a:endParaRPr>
          </a:p>
          <a:p>
            <a:pPr marL="0" lvl="1" indent="0" latinLnBrk="0">
              <a:lnSpc>
                <a:spcPct val="12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  </a:t>
            </a:r>
            <a:r>
              <a:rPr lang="en-US" altLang="zh-CN" sz="2400" b="1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HINSTANCE</a:t>
            </a: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h =</a:t>
            </a:r>
            <a:r>
              <a:rPr lang="en-US" altLang="zh-CN" sz="2400" dirty="0"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zh-CN" sz="2400" b="1" dirty="0">
                <a:solidFill>
                  <a:schemeClr val="tx1"/>
                </a:solidFill>
                <a:latin typeface="Arial Black" panose="020B0A04020102020204" charset="0"/>
                <a:ea typeface="宋体" pitchFamily="2" charset="-122"/>
                <a:cs typeface="Arial Black" panose="020B0A04020102020204" charset="0"/>
                <a:sym typeface="+mn-ea"/>
              </a:rPr>
              <a:t>LoadLibrary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( szExeName);</a:t>
            </a:r>
            <a:endParaRPr lang="en-US" altLang="zh-CN" sz="2400" dirty="0"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  <a:p>
            <a:pPr marL="0" lvl="1" indent="0" latinLnBrk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   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if </a:t>
            </a: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(h)  *(FARPROC* )&amp;</a:t>
            </a:r>
            <a:r>
              <a:rPr lang="en-US" altLang="zh-CN" sz="2400" b="1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pfn</a:t>
            </a: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= </a:t>
            </a:r>
            <a:r>
              <a:rPr lang="en-US" altLang="zh-CN" sz="2400" b="1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GetProcAddress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(</a:t>
            </a:r>
            <a:r>
              <a:rPr lang="en-US" altLang="zh-CN" sz="2400" dirty="0">
                <a:solidFill>
                  <a:srgbClr val="FF0000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h, “main”);</a:t>
            </a:r>
            <a:endParaRPr lang="en-US" altLang="zh-CN" sz="2400" dirty="0"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  <a:p>
            <a:pPr marL="0" lvl="1" indent="0" latinLnBrk="0">
              <a:lnSpc>
                <a:spcPct val="120000"/>
              </a:lnSpc>
              <a:spcBef>
                <a:spcPts val="0"/>
              </a:spcBef>
              <a:buNone/>
            </a:pP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  </a:t>
            </a:r>
            <a:r>
              <a:rPr lang="en-US" altLang="zh-CN" sz="2400" dirty="0">
                <a:solidFill>
                  <a:srgbClr val="0000FF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if </a:t>
            </a: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(pfn)  </a:t>
            </a:r>
            <a:r>
              <a:rPr lang="en-US" altLang="zh-CN" sz="2400" b="1" dirty="0">
                <a:solidFill>
                  <a:srgbClr val="FF0000"/>
                </a:solidFill>
                <a:latin typeface="Arial Black" panose="020B0A04020102020204" charset="0"/>
                <a:ea typeface="宋体" pitchFamily="2" charset="-122"/>
                <a:cs typeface="Arial Black" panose="020B0A04020102020204" charset="0"/>
                <a:sym typeface="+mn-ea"/>
              </a:rPr>
              <a:t> try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 { </a:t>
            </a:r>
            <a:r>
              <a:rPr lang="en-US" altLang="zh-CN" sz="2400" dirty="0"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int result = pfn(numPara, szParams); </a:t>
            </a:r>
            <a:r>
              <a:rPr lang="en-US" altLang="zh-CN" sz="2400" b="1" dirty="0">
                <a:solidFill>
                  <a:srgbClr val="FF0000"/>
                </a:solidFill>
                <a:latin typeface="Arial" panose="020B0604020202090204" pitchFamily="34" charset="0"/>
                <a:ea typeface="宋体" pitchFamily="2" charset="-122"/>
                <a:cs typeface="Arial" panose="020B0604020202090204" pitchFamily="34" charset="0"/>
                <a:sym typeface="+mn-ea"/>
              </a:rPr>
              <a:t>}</a:t>
            </a:r>
            <a:endParaRPr lang="en-US" altLang="zh-CN" sz="2400" b="1" dirty="0">
              <a:solidFill>
                <a:srgbClr val="FF0000"/>
              </a:solidFill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  <a:sym typeface="+mn-ea"/>
            </a:endParaRPr>
          </a:p>
          <a:p>
            <a:pPr marL="0" lvl="0" indent="0" latinLnBrk="0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dirty="0">
              <a:solidFill>
                <a:srgbClr val="0000FF"/>
              </a:solidFill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8" name="墨迹 7"/>
              <p14:cNvContentPartPr/>
              <p14:nvPr/>
            </p14:nvContentPartPr>
            <p14:xfrm>
              <a:off x="3071495" y="4027170"/>
              <a:ext cx="1778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2"/>
            </p:blipFill>
            <p:spPr>
              <a:xfrm>
                <a:off x="3071495" y="4027170"/>
                <a:ext cx="17780" cy="3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1115695" y="116840"/>
            <a:ext cx="7924800" cy="914400"/>
          </a:xfrm>
        </p:spPr>
        <p:txBody>
          <a:bodyPr anchor="ctr"/>
          <a:lstStyle/>
          <a:p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中断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</a:rPr>
              <a:t> vs 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函数调用</a:t>
            </a:r>
            <a:endParaRPr lang="zh-CN" altLang="en-US" sz="4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42" name="内容占位符 2"/>
          <p:cNvSpPr>
            <a:spLocks noGrp="1"/>
          </p:cNvSpPr>
          <p:nvPr>
            <p:ph idx="1"/>
          </p:nvPr>
        </p:nvSpPr>
        <p:spPr>
          <a:xfrm>
            <a:off x="5219700" y="1102995"/>
            <a:ext cx="3813175" cy="5589270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anchor="t"/>
          <a:lstStyle/>
          <a:p>
            <a:pPr marL="0" lvl="0" indent="0" latinLnBrk="0">
              <a:lnSpc>
                <a:spcPct val="15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中断：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内核空间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和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用户空间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之间的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切换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的唯一机制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  <a:p>
            <a:pPr marL="0" lvl="0" indent="0" latinLnBrk="0">
              <a:lnSpc>
                <a:spcPct val="120000"/>
              </a:lnSpc>
              <a:spcBef>
                <a:spcPts val="0"/>
              </a:spcBef>
              <a:spcAft>
                <a:spcPts val="50"/>
              </a:spcAft>
              <a:buNone/>
            </a:pP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  <a:p>
            <a:pPr marL="0" lvl="0" indent="0" latinLnBrk="0">
              <a:lnSpc>
                <a:spcPct val="15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函数调用：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调用函数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和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被调函数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在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同一空间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中；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  <a:p>
            <a:pPr marL="0" lvl="0" indent="0" latinLnBrk="0">
              <a:lnSpc>
                <a:spcPct val="120000"/>
              </a:lnSpc>
              <a:spcBef>
                <a:spcPts val="0"/>
              </a:spcBef>
              <a:spcAft>
                <a:spcPts val="50"/>
              </a:spcAft>
              <a:buNone/>
            </a:pP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  <a:p>
            <a:pPr marL="0" lvl="0" indent="0" latinLnBrk="0">
              <a:lnSpc>
                <a:spcPct val="15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硬中断：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随机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切换；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  <a:p>
            <a:pPr marL="0" lvl="0" indent="0" latinLnBrk="0">
              <a:lnSpc>
                <a:spcPct val="100000"/>
              </a:lnSpc>
              <a:spcBef>
                <a:spcPts val="0"/>
              </a:spcBef>
              <a:spcAft>
                <a:spcPts val="50"/>
              </a:spcAft>
              <a:buNone/>
            </a:pP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  <a:p>
            <a:pPr marL="0" lvl="0" indent="0" latinLnBrk="0">
              <a:lnSpc>
                <a:spcPct val="150000"/>
              </a:lnSpc>
              <a:spcBef>
                <a:spcPts val="0"/>
              </a:spcBef>
              <a:spcAft>
                <a:spcPts val="50"/>
              </a:spcAft>
              <a:buNone/>
            </a:pP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函数调用：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指定位置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切换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软中断：特殊的函数调用</a:t>
            </a:r>
            <a:endParaRPr lang="zh-CN" altLang="en-US" b="1" dirty="0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271145" y="1529715"/>
            <a:ext cx="2406650" cy="5022850"/>
            <a:chOff x="766" y="2409"/>
            <a:chExt cx="3790" cy="7910"/>
          </a:xfrm>
        </p:grpSpPr>
        <p:cxnSp>
          <p:nvCxnSpPr>
            <p:cNvPr id="3" name="直接连接符 2"/>
            <p:cNvCxnSpPr/>
            <p:nvPr/>
          </p:nvCxnSpPr>
          <p:spPr>
            <a:xfrm flipH="1">
              <a:off x="1711" y="3472"/>
              <a:ext cx="0" cy="684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" name="椭圆 1"/>
            <p:cNvSpPr/>
            <p:nvPr/>
          </p:nvSpPr>
          <p:spPr>
            <a:xfrm>
              <a:off x="1540" y="3856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1541" y="4245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1538" y="4621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539" y="5010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1537" y="5444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538" y="5833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1535" y="6209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1536" y="6575"/>
              <a:ext cx="340" cy="34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1535" y="7001"/>
              <a:ext cx="340" cy="34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1536" y="7390"/>
              <a:ext cx="340" cy="34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533" y="7766"/>
              <a:ext cx="340" cy="34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534" y="8155"/>
              <a:ext cx="340" cy="34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532" y="8589"/>
              <a:ext cx="340" cy="340"/>
            </a:xfrm>
            <a:prstGeom prst="ellipse">
              <a:avLst/>
            </a:prstGeom>
            <a:solidFill>
              <a:schemeClr val="accent4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533" y="8978"/>
              <a:ext cx="340" cy="34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1530" y="9354"/>
              <a:ext cx="340" cy="34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1531" y="9743"/>
              <a:ext cx="340" cy="34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 flipH="1">
              <a:off x="3866" y="3472"/>
              <a:ext cx="0" cy="684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" name="椭圆 27"/>
            <p:cNvSpPr/>
            <p:nvPr/>
          </p:nvSpPr>
          <p:spPr>
            <a:xfrm>
              <a:off x="3695" y="3925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3696" y="4314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3693" y="4690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694" y="5079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3692" y="5513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693" y="5902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3690" y="6278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3691" y="6667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3690" y="7001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3691" y="7390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3688" y="7766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3689" y="8155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3687" y="8589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3688" y="8978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3685" y="9354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3686" y="9743"/>
              <a:ext cx="397" cy="397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99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cxnSp>
          <p:nvCxnSpPr>
            <p:cNvPr id="89" name="直接箭头连接符 88"/>
            <p:cNvCxnSpPr/>
            <p:nvPr/>
          </p:nvCxnSpPr>
          <p:spPr>
            <a:xfrm flipH="1">
              <a:off x="1417" y="4074"/>
              <a:ext cx="0" cy="265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90" name="直接箭头连接符 89"/>
            <p:cNvCxnSpPr/>
            <p:nvPr/>
          </p:nvCxnSpPr>
          <p:spPr>
            <a:xfrm>
              <a:off x="3571" y="4073"/>
              <a:ext cx="0" cy="5749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93" name="文本框 92"/>
            <p:cNvSpPr txBox="1"/>
            <p:nvPr/>
          </p:nvSpPr>
          <p:spPr>
            <a:xfrm>
              <a:off x="766" y="2409"/>
              <a:ext cx="379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函数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A          B   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cxnSp>
          <p:nvCxnSpPr>
            <p:cNvPr id="100" name="直接箭头连接符 99"/>
            <p:cNvCxnSpPr>
              <a:stCxn id="12" idx="6"/>
            </p:cNvCxnSpPr>
            <p:nvPr/>
          </p:nvCxnSpPr>
          <p:spPr>
            <a:xfrm flipV="1">
              <a:off x="1876" y="4061"/>
              <a:ext cx="1638" cy="268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01" name="直接箭头连接符 100"/>
            <p:cNvCxnSpPr>
              <a:endCxn id="16" idx="6"/>
            </p:cNvCxnSpPr>
            <p:nvPr/>
          </p:nvCxnSpPr>
          <p:spPr>
            <a:xfrm flipH="1" flipV="1">
              <a:off x="1875" y="7171"/>
              <a:ext cx="1696" cy="265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grpSp>
        <p:nvGrpSpPr>
          <p:cNvPr id="106" name="组合 105"/>
          <p:cNvGrpSpPr/>
          <p:nvPr/>
        </p:nvGrpSpPr>
        <p:grpSpPr>
          <a:xfrm>
            <a:off x="3203363" y="3075305"/>
            <a:ext cx="1613566" cy="3477260"/>
            <a:chOff x="7709" y="5173"/>
            <a:chExt cx="3251" cy="5476"/>
          </a:xfrm>
        </p:grpSpPr>
        <p:grpSp>
          <p:nvGrpSpPr>
            <p:cNvPr id="8" name="组合 7"/>
            <p:cNvGrpSpPr/>
            <p:nvPr/>
          </p:nvGrpSpPr>
          <p:grpSpPr>
            <a:xfrm>
              <a:off x="7767" y="5173"/>
              <a:ext cx="3193" cy="4807"/>
              <a:chOff x="7767" y="5173"/>
              <a:chExt cx="3193" cy="4807"/>
            </a:xfrm>
          </p:grpSpPr>
          <p:sp>
            <p:nvSpPr>
              <p:cNvPr id="94" name="文本框 93"/>
              <p:cNvSpPr txBox="1"/>
              <p:nvPr/>
            </p:nvSpPr>
            <p:spPr>
              <a:xfrm>
                <a:off x="7858" y="6523"/>
                <a:ext cx="2354" cy="1729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tIns="179705" bIns="179705" rtlCol="0">
                <a:spAutoFit/>
              </a:bodyPr>
              <a:p>
                <a:pPr algn="ctr"/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frame </a:t>
                </a: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B</a:t>
                </a:r>
                <a:endPara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97" name="文本框 96"/>
              <p:cNvSpPr txBox="1"/>
              <p:nvPr/>
            </p:nvSpPr>
            <p:spPr>
              <a:xfrm>
                <a:off x="7858" y="8111"/>
                <a:ext cx="2354" cy="1729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tIns="179705" bIns="179705" rtlCol="0">
                <a:spAutoFit/>
              </a:bodyPr>
              <a:p>
                <a:pPr algn="ctr"/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frame A</a:t>
                </a:r>
                <a:endPara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cxnSp>
            <p:nvCxnSpPr>
              <p:cNvPr id="98" name="直接连接符 97"/>
              <p:cNvCxnSpPr/>
              <p:nvPr/>
            </p:nvCxnSpPr>
            <p:spPr>
              <a:xfrm>
                <a:off x="7767" y="5287"/>
                <a:ext cx="0" cy="469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直接连接符 98"/>
              <p:cNvCxnSpPr/>
              <p:nvPr/>
            </p:nvCxnSpPr>
            <p:spPr>
              <a:xfrm>
                <a:off x="10262" y="5173"/>
                <a:ext cx="91" cy="4751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5" name="任意多边形 104"/>
              <p:cNvSpPr/>
              <p:nvPr/>
            </p:nvSpPr>
            <p:spPr>
              <a:xfrm>
                <a:off x="10212" y="7929"/>
                <a:ext cx="748" cy="1852"/>
              </a:xfrm>
              <a:custGeom>
                <a:avLst/>
                <a:gdLst>
                  <a:gd name="connisteX0" fmla="*/ 0 w 375503"/>
                  <a:gd name="connsiteY0" fmla="*/ 0 h 1064895"/>
                  <a:gd name="connisteX1" fmla="*/ 375285 w 375503"/>
                  <a:gd name="connsiteY1" fmla="*/ 494665 h 1064895"/>
                  <a:gd name="connisteX2" fmla="*/ 45085 w 375503"/>
                  <a:gd name="connsiteY2" fmla="*/ 1064895 h 106489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</a:cxnLst>
                <a:rect l="l" t="t" r="r" b="b"/>
                <a:pathLst>
                  <a:path w="375503" h="1064895">
                    <a:moveTo>
                      <a:pt x="0" y="0"/>
                    </a:moveTo>
                    <a:cubicBezTo>
                      <a:pt x="81915" y="87630"/>
                      <a:pt x="366395" y="281940"/>
                      <a:pt x="375285" y="494665"/>
                    </a:cubicBezTo>
                    <a:cubicBezTo>
                      <a:pt x="384175" y="707390"/>
                      <a:pt x="118745" y="960755"/>
                      <a:pt x="45085" y="1064895"/>
                    </a:cubicBezTo>
                  </a:path>
                </a:pathLst>
              </a:custGeom>
              <a:noFill/>
              <a:ln w="762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7709" y="9924"/>
              <a:ext cx="2618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线程栈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07" name="文本框 106"/>
          <p:cNvSpPr txBox="1"/>
          <p:nvPr/>
        </p:nvSpPr>
        <p:spPr>
          <a:xfrm>
            <a:off x="2598420" y="1268730"/>
            <a:ext cx="2526665" cy="129413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硬中断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与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当前线程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无关，对吗？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14" name="墨迹 13"/>
              <p14:cNvContentPartPr/>
              <p14:nvPr/>
            </p14:nvContentPartPr>
            <p14:xfrm>
              <a:off x="3723640" y="4366260"/>
              <a:ext cx="17780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"/>
            </p:blipFill>
            <p:spPr>
              <a:xfrm>
                <a:off x="3723640" y="4366260"/>
                <a:ext cx="1778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5" name="墨迹 14"/>
              <p14:cNvContentPartPr/>
              <p14:nvPr/>
            </p14:nvContentPartPr>
            <p14:xfrm>
              <a:off x="3955415" y="4652010"/>
              <a:ext cx="17780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"/>
            </p:blipFill>
            <p:spPr>
              <a:xfrm>
                <a:off x="3955415" y="4652010"/>
                <a:ext cx="17780" cy="3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1115695" y="116840"/>
            <a:ext cx="7924800" cy="914400"/>
          </a:xfrm>
        </p:spPr>
        <p:txBody>
          <a:bodyPr anchor="ctr"/>
          <a:lstStyle/>
          <a:p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硬中断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</a:rPr>
              <a:t> vs 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信号</a:t>
            </a:r>
            <a:endParaRPr lang="zh-CN" altLang="en-US" sz="4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42" name="内容占位符 2"/>
          <p:cNvSpPr>
            <a:spLocks noGrp="1"/>
          </p:cNvSpPr>
          <p:nvPr>
            <p:ph idx="1"/>
          </p:nvPr>
        </p:nvSpPr>
        <p:spPr>
          <a:xfrm>
            <a:off x="5405755" y="1268730"/>
            <a:ext cx="3894455" cy="5509895"/>
          </a:xfrm>
          <a:solidFill>
            <a:schemeClr val="bg1"/>
          </a:solidFill>
          <a:ln>
            <a:solidFill>
              <a:schemeClr val="accent1"/>
            </a:solidFill>
          </a:ln>
        </p:spPr>
        <p:txBody>
          <a:bodyPr anchor="t"/>
          <a:lstStyle/>
          <a:p>
            <a:pPr lvl="0" latinLnBrk="0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中断处理例程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是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内核空间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中的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代码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；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  <a:p>
            <a:pPr lvl="0" latinLnBrk="0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信号处理例程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是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用户空间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中的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代码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而且是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应用程序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本身的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内容；</a:t>
            </a:r>
            <a:endParaRPr lang="zh-CN" altLang="en-US" b="1" dirty="0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  <a:p>
            <a:pPr lvl="0" latinLnBrk="0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硬中断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不针对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线程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，而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信号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是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针对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某一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线程；</a:t>
            </a:r>
            <a:endParaRPr lang="zh-CN" altLang="en-US" b="1" dirty="0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  <a:p>
            <a:pPr lvl="0" latinLnBrk="0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产生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硬中断：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外部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；</a:t>
            </a:r>
            <a:endParaRPr lang="zh-CN" altLang="en-US" b="1" dirty="0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  <a:p>
            <a:pPr lvl="0" latinLnBrk="0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产生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信号：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外部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；</a:t>
            </a:r>
            <a:endParaRPr lang="zh-CN" altLang="en-US" b="1" dirty="0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  <a:p>
            <a:pPr lvl="0" latinLnBrk="0">
              <a:lnSpc>
                <a:spcPct val="12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都具有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随机切换性；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199390" y="1529715"/>
            <a:ext cx="2406650" cy="5022850"/>
            <a:chOff x="766" y="2409"/>
            <a:chExt cx="3790" cy="7910"/>
          </a:xfrm>
        </p:grpSpPr>
        <p:cxnSp>
          <p:nvCxnSpPr>
            <p:cNvPr id="3" name="直接连接符 2"/>
            <p:cNvCxnSpPr/>
            <p:nvPr/>
          </p:nvCxnSpPr>
          <p:spPr>
            <a:xfrm flipH="1">
              <a:off x="1711" y="3472"/>
              <a:ext cx="0" cy="684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" name="椭圆 1"/>
            <p:cNvSpPr/>
            <p:nvPr/>
          </p:nvSpPr>
          <p:spPr>
            <a:xfrm>
              <a:off x="1540" y="3856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1541" y="4245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1538" y="4621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1539" y="5010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1537" y="5444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1538" y="5833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1535" y="6209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1536" y="6575"/>
              <a:ext cx="340" cy="34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6" name="椭圆 15"/>
            <p:cNvSpPr/>
            <p:nvPr/>
          </p:nvSpPr>
          <p:spPr>
            <a:xfrm>
              <a:off x="1535" y="7001"/>
              <a:ext cx="340" cy="34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7" name="椭圆 16"/>
            <p:cNvSpPr/>
            <p:nvPr/>
          </p:nvSpPr>
          <p:spPr>
            <a:xfrm>
              <a:off x="1536" y="7390"/>
              <a:ext cx="340" cy="34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8" name="椭圆 17"/>
            <p:cNvSpPr/>
            <p:nvPr/>
          </p:nvSpPr>
          <p:spPr>
            <a:xfrm>
              <a:off x="1533" y="7766"/>
              <a:ext cx="340" cy="34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9" name="椭圆 18"/>
            <p:cNvSpPr/>
            <p:nvPr/>
          </p:nvSpPr>
          <p:spPr>
            <a:xfrm>
              <a:off x="1534" y="8155"/>
              <a:ext cx="340" cy="34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21" name="椭圆 20"/>
            <p:cNvSpPr/>
            <p:nvPr/>
          </p:nvSpPr>
          <p:spPr>
            <a:xfrm>
              <a:off x="1532" y="8589"/>
              <a:ext cx="340" cy="340"/>
            </a:xfrm>
            <a:prstGeom prst="ellipse">
              <a:avLst/>
            </a:prstGeom>
            <a:solidFill>
              <a:schemeClr val="accent4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22" name="椭圆 21"/>
            <p:cNvSpPr/>
            <p:nvPr/>
          </p:nvSpPr>
          <p:spPr>
            <a:xfrm>
              <a:off x="1533" y="8978"/>
              <a:ext cx="340" cy="34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23" name="椭圆 22"/>
            <p:cNvSpPr/>
            <p:nvPr/>
          </p:nvSpPr>
          <p:spPr>
            <a:xfrm>
              <a:off x="1530" y="9354"/>
              <a:ext cx="340" cy="34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24" name="椭圆 23"/>
            <p:cNvSpPr/>
            <p:nvPr/>
          </p:nvSpPr>
          <p:spPr>
            <a:xfrm>
              <a:off x="1531" y="9743"/>
              <a:ext cx="340" cy="340"/>
            </a:xfrm>
            <a:prstGeom prst="ellips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cxnSp>
          <p:nvCxnSpPr>
            <p:cNvPr id="27" name="直接连接符 26"/>
            <p:cNvCxnSpPr/>
            <p:nvPr/>
          </p:nvCxnSpPr>
          <p:spPr>
            <a:xfrm flipH="1">
              <a:off x="3866" y="3472"/>
              <a:ext cx="0" cy="684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" name="椭圆 27"/>
            <p:cNvSpPr/>
            <p:nvPr/>
          </p:nvSpPr>
          <p:spPr>
            <a:xfrm>
              <a:off x="3695" y="3925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3696" y="4314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3693" y="4690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3694" y="5079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3692" y="5513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3693" y="5902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3690" y="6278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3691" y="6667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8" name="椭圆 37"/>
            <p:cNvSpPr/>
            <p:nvPr/>
          </p:nvSpPr>
          <p:spPr>
            <a:xfrm>
              <a:off x="3690" y="7001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9" name="椭圆 38"/>
            <p:cNvSpPr/>
            <p:nvPr/>
          </p:nvSpPr>
          <p:spPr>
            <a:xfrm>
              <a:off x="3691" y="7390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0" name="椭圆 39"/>
            <p:cNvSpPr/>
            <p:nvPr/>
          </p:nvSpPr>
          <p:spPr>
            <a:xfrm>
              <a:off x="3688" y="7766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1" name="椭圆 40"/>
            <p:cNvSpPr/>
            <p:nvPr/>
          </p:nvSpPr>
          <p:spPr>
            <a:xfrm>
              <a:off x="3689" y="8155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3" name="椭圆 42"/>
            <p:cNvSpPr/>
            <p:nvPr/>
          </p:nvSpPr>
          <p:spPr>
            <a:xfrm>
              <a:off x="3687" y="8589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4" name="椭圆 43"/>
            <p:cNvSpPr/>
            <p:nvPr/>
          </p:nvSpPr>
          <p:spPr>
            <a:xfrm>
              <a:off x="3688" y="8978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5" name="椭圆 44"/>
            <p:cNvSpPr/>
            <p:nvPr/>
          </p:nvSpPr>
          <p:spPr>
            <a:xfrm>
              <a:off x="3685" y="9354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6" name="椭圆 45"/>
            <p:cNvSpPr/>
            <p:nvPr/>
          </p:nvSpPr>
          <p:spPr>
            <a:xfrm>
              <a:off x="3686" y="9743"/>
              <a:ext cx="397" cy="397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rgbClr val="FF99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cxnSp>
          <p:nvCxnSpPr>
            <p:cNvPr id="89" name="直接箭头连接符 88"/>
            <p:cNvCxnSpPr/>
            <p:nvPr/>
          </p:nvCxnSpPr>
          <p:spPr>
            <a:xfrm flipH="1">
              <a:off x="1417" y="4074"/>
              <a:ext cx="0" cy="265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90" name="直接箭头连接符 89"/>
            <p:cNvCxnSpPr/>
            <p:nvPr/>
          </p:nvCxnSpPr>
          <p:spPr>
            <a:xfrm>
              <a:off x="3571" y="4073"/>
              <a:ext cx="0" cy="5749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sp>
          <p:nvSpPr>
            <p:cNvPr id="93" name="文本框 92"/>
            <p:cNvSpPr txBox="1"/>
            <p:nvPr/>
          </p:nvSpPr>
          <p:spPr>
            <a:xfrm>
              <a:off x="766" y="2409"/>
              <a:ext cx="3790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函数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A          B   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  <p:cxnSp>
          <p:nvCxnSpPr>
            <p:cNvPr id="100" name="直接箭头连接符 99"/>
            <p:cNvCxnSpPr>
              <a:stCxn id="12" idx="6"/>
            </p:cNvCxnSpPr>
            <p:nvPr/>
          </p:nvCxnSpPr>
          <p:spPr>
            <a:xfrm flipV="1">
              <a:off x="1876" y="4061"/>
              <a:ext cx="1638" cy="268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01" name="直接箭头连接符 100"/>
            <p:cNvCxnSpPr>
              <a:endCxn id="16" idx="6"/>
            </p:cNvCxnSpPr>
            <p:nvPr/>
          </p:nvCxnSpPr>
          <p:spPr>
            <a:xfrm flipH="1" flipV="1">
              <a:off x="1875" y="7171"/>
              <a:ext cx="1696" cy="2651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grpSp>
        <p:nvGrpSpPr>
          <p:cNvPr id="106" name="组合 105"/>
          <p:cNvGrpSpPr/>
          <p:nvPr/>
        </p:nvGrpSpPr>
        <p:grpSpPr>
          <a:xfrm>
            <a:off x="2911869" y="3011170"/>
            <a:ext cx="1523126" cy="3614420"/>
            <a:chOff x="7594" y="5173"/>
            <a:chExt cx="3476" cy="5692"/>
          </a:xfrm>
        </p:grpSpPr>
        <p:grpSp>
          <p:nvGrpSpPr>
            <p:cNvPr id="8" name="组合 7"/>
            <p:cNvGrpSpPr/>
            <p:nvPr/>
          </p:nvGrpSpPr>
          <p:grpSpPr>
            <a:xfrm>
              <a:off x="7767" y="5173"/>
              <a:ext cx="3303" cy="4882"/>
              <a:chOff x="7767" y="5173"/>
              <a:chExt cx="3303" cy="4882"/>
            </a:xfrm>
          </p:grpSpPr>
          <p:sp>
            <p:nvSpPr>
              <p:cNvPr id="94" name="文本框 93"/>
              <p:cNvSpPr txBox="1"/>
              <p:nvPr/>
            </p:nvSpPr>
            <p:spPr>
              <a:xfrm>
                <a:off x="7858" y="6523"/>
                <a:ext cx="2354" cy="1729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tIns="179705" bIns="179705" rtlCol="0">
                <a:spAutoFit/>
              </a:bodyPr>
              <a:p>
                <a:pPr algn="ctr"/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frame </a:t>
                </a: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B</a:t>
                </a:r>
                <a:endPara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97" name="文本框 96"/>
              <p:cNvSpPr txBox="1"/>
              <p:nvPr/>
            </p:nvSpPr>
            <p:spPr>
              <a:xfrm>
                <a:off x="7767" y="8326"/>
                <a:ext cx="2354" cy="1729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tIns="179705" bIns="179705" rtlCol="0">
                <a:spAutoFit/>
              </a:bodyPr>
              <a:p>
                <a:pPr algn="ctr"/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frame A</a:t>
                </a:r>
                <a:endPara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cxnSp>
            <p:nvCxnSpPr>
              <p:cNvPr id="98" name="直接连接符 97"/>
              <p:cNvCxnSpPr/>
              <p:nvPr/>
            </p:nvCxnSpPr>
            <p:spPr>
              <a:xfrm>
                <a:off x="7767" y="5287"/>
                <a:ext cx="0" cy="4693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直接连接符 98"/>
              <p:cNvCxnSpPr/>
              <p:nvPr/>
            </p:nvCxnSpPr>
            <p:spPr>
              <a:xfrm>
                <a:off x="10262" y="5173"/>
                <a:ext cx="91" cy="4751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105" name="任意多边形 104"/>
              <p:cNvSpPr/>
              <p:nvPr/>
            </p:nvSpPr>
            <p:spPr>
              <a:xfrm>
                <a:off x="10328" y="8019"/>
                <a:ext cx="742" cy="1895"/>
              </a:xfrm>
              <a:custGeom>
                <a:avLst/>
                <a:gdLst>
                  <a:gd name="connisteX0" fmla="*/ 0 w 375503"/>
                  <a:gd name="connsiteY0" fmla="*/ 0 h 1064895"/>
                  <a:gd name="connisteX1" fmla="*/ 375285 w 375503"/>
                  <a:gd name="connsiteY1" fmla="*/ 494665 h 1064895"/>
                  <a:gd name="connisteX2" fmla="*/ 45085 w 375503"/>
                  <a:gd name="connsiteY2" fmla="*/ 1064895 h 106489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</a:cxnLst>
                <a:rect l="l" t="t" r="r" b="b"/>
                <a:pathLst>
                  <a:path w="375503" h="1064895">
                    <a:moveTo>
                      <a:pt x="0" y="0"/>
                    </a:moveTo>
                    <a:cubicBezTo>
                      <a:pt x="81915" y="87630"/>
                      <a:pt x="366395" y="281940"/>
                      <a:pt x="375285" y="494665"/>
                    </a:cubicBezTo>
                    <a:cubicBezTo>
                      <a:pt x="384175" y="707390"/>
                      <a:pt x="118745" y="960755"/>
                      <a:pt x="45085" y="1064895"/>
                    </a:cubicBezTo>
                  </a:path>
                </a:pathLst>
              </a:custGeom>
              <a:noFill/>
              <a:ln w="762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ctr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</p:grpSp>
        <p:sp>
          <p:nvSpPr>
            <p:cNvPr id="13" name="文本框 12"/>
            <p:cNvSpPr txBox="1"/>
            <p:nvPr/>
          </p:nvSpPr>
          <p:spPr>
            <a:xfrm>
              <a:off x="7594" y="10140"/>
              <a:ext cx="2884" cy="72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rPr>
                <a:t>线程栈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endParaRPr>
            </a:p>
          </p:txBody>
        </p:sp>
      </p:grpSp>
      <p:sp>
        <p:nvSpPr>
          <p:cNvPr id="107" name="文本框 106"/>
          <p:cNvSpPr txBox="1"/>
          <p:nvPr/>
        </p:nvSpPr>
        <p:spPr>
          <a:xfrm>
            <a:off x="2844800" y="1292225"/>
            <a:ext cx="2526665" cy="129413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>
              <a:lnSpc>
                <a:spcPct val="150000"/>
              </a:lnSpc>
            </a:pP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信号</a:t>
            </a:r>
            <a:r>
              <a:rPr kumimoji="1" lang="zh-CN" altLang="en-US" kern="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有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缺省处理例程！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谁提供？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14" name="墨迹 13"/>
              <p14:cNvContentPartPr/>
              <p14:nvPr/>
            </p14:nvContentPartPr>
            <p14:xfrm>
              <a:off x="4982210" y="2776855"/>
              <a:ext cx="18415" cy="360"/>
            </p14:xfrm>
          </p:contentPart>
        </mc:Choice>
        <mc:Fallback xmlns="">
          <p:pic>
            <p:nvPicPr>
              <p:cNvPr id="14" name="墨迹 13"/>
            </p:nvPicPr>
            <p:blipFill>
              <a:blip r:embed="rId2"/>
            </p:blipFill>
            <p:spPr>
              <a:xfrm>
                <a:off x="4982210" y="2776855"/>
                <a:ext cx="18415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5" name="墨迹 14"/>
              <p14:cNvContentPartPr/>
              <p14:nvPr/>
            </p14:nvContentPartPr>
            <p14:xfrm>
              <a:off x="4991100" y="2767965"/>
              <a:ext cx="18415" cy="360"/>
            </p14:xfrm>
          </p:contentPart>
        </mc:Choice>
        <mc:Fallback xmlns="">
          <p:pic>
            <p:nvPicPr>
              <p:cNvPr id="15" name="墨迹 14"/>
            </p:nvPicPr>
            <p:blipFill>
              <a:blip r:embed="rId2"/>
            </p:blipFill>
            <p:spPr>
              <a:xfrm>
                <a:off x="4991100" y="2767965"/>
                <a:ext cx="18415" cy="3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1099820" y="135890"/>
            <a:ext cx="7924800" cy="914400"/>
          </a:xfrm>
        </p:spPr>
        <p:txBody>
          <a:bodyPr anchor="ctr"/>
          <a:lstStyle/>
          <a:p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中断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</a:rPr>
              <a:t> vs  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信号：问题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思考</a:t>
            </a:r>
            <a:endParaRPr lang="zh-CN" altLang="en-US" sz="40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242" name="内容占位符 2"/>
          <p:cNvSpPr>
            <a:spLocks noGrp="1"/>
          </p:cNvSpPr>
          <p:nvPr>
            <p:ph idx="1"/>
          </p:nvPr>
        </p:nvSpPr>
        <p:spPr>
          <a:xfrm>
            <a:off x="730885" y="1565910"/>
            <a:ext cx="8293735" cy="5076825"/>
          </a:xfrm>
        </p:spPr>
        <p:txBody>
          <a:bodyPr anchor="t"/>
          <a:lstStyle/>
          <a:p>
            <a:pPr lvl="0" latinLnBrk="0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中断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都是用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（序号）来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标识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latinLnBrk="0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某种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中断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处理例程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起始地址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放在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中断向量表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中，因此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产生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中断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时，可以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基于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中断序号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到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中断向量表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查找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其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中断处理例程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起始地址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然后跳转去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执行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它；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latinLnBrk="0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给某个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线程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产生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时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如何找到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其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信号处理例程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起始地址</a:t>
            </a: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？</a:t>
            </a:r>
            <a:endParaRPr lang="zh-CN" altLang="en-US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lvl="0" latinLnBrk="0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可以给自己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产生</a:t>
            </a:r>
            <a:r>
              <a:rPr lang="zh-CN" altLang="en-US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吗？</a:t>
            </a:r>
            <a:endParaRPr lang="zh-CN" altLang="en-US" sz="2400" b="1" dirty="0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5286375" y="2419350"/>
              <a:ext cx="17780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5286375" y="2419350"/>
                <a:ext cx="17780" cy="3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897890" y="135890"/>
            <a:ext cx="8126730" cy="914400"/>
          </a:xfrm>
        </p:spPr>
        <p:txBody>
          <a:bodyPr anchor="ctr"/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将某种信号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叫作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异常。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  try </a:t>
            </a:r>
            <a:r>
              <a:rPr lang="en-US" altLang="zh-CN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{...} 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catch</a:t>
            </a:r>
            <a:r>
              <a:rPr lang="en-US" altLang="zh-CN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(e) {... }</a:t>
            </a:r>
            <a:r>
              <a:rPr lang="zh-CN" altLang="en-US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该信号的处理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例程要做的事情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42" name="内容占位符 2"/>
          <p:cNvSpPr>
            <a:spLocks noGrp="1"/>
          </p:cNvSpPr>
          <p:nvPr>
            <p:ph idx="1"/>
          </p:nvPr>
        </p:nvSpPr>
        <p:spPr>
          <a:xfrm>
            <a:off x="6228080" y="6149975"/>
            <a:ext cx="1462405" cy="635635"/>
          </a:xfrm>
        </p:spPr>
        <p:txBody>
          <a:bodyPr anchor="t"/>
          <a:lstStyle/>
          <a:p>
            <a:pPr marL="0" lvl="0" indent="0" latinLnBrk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线程栈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grpSp>
        <p:nvGrpSpPr>
          <p:cNvPr id="25" name="组合 24"/>
          <p:cNvGrpSpPr/>
          <p:nvPr/>
        </p:nvGrpSpPr>
        <p:grpSpPr>
          <a:xfrm>
            <a:off x="971550" y="2204720"/>
            <a:ext cx="222885" cy="4347210"/>
            <a:chOff x="2063" y="2792"/>
            <a:chExt cx="351" cy="6846"/>
          </a:xfrm>
        </p:grpSpPr>
        <p:cxnSp>
          <p:nvCxnSpPr>
            <p:cNvPr id="3" name="直接连接符 2"/>
            <p:cNvCxnSpPr/>
            <p:nvPr/>
          </p:nvCxnSpPr>
          <p:spPr>
            <a:xfrm flipH="1">
              <a:off x="2244" y="2792"/>
              <a:ext cx="0" cy="684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" name="椭圆 1"/>
            <p:cNvSpPr/>
            <p:nvPr/>
          </p:nvSpPr>
          <p:spPr>
            <a:xfrm>
              <a:off x="2073" y="3245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4" name="椭圆 3"/>
            <p:cNvSpPr/>
            <p:nvPr/>
          </p:nvSpPr>
          <p:spPr>
            <a:xfrm>
              <a:off x="2074" y="3634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" name="椭圆 4"/>
            <p:cNvSpPr/>
            <p:nvPr/>
          </p:nvSpPr>
          <p:spPr>
            <a:xfrm>
              <a:off x="2071" y="4010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2072" y="4399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2070" y="4833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2071" y="5222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2068" y="5598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2069" y="5987"/>
              <a:ext cx="340" cy="34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grpSp>
          <p:nvGrpSpPr>
            <p:cNvPr id="14" name="组合 13"/>
            <p:cNvGrpSpPr/>
            <p:nvPr/>
          </p:nvGrpSpPr>
          <p:grpSpPr>
            <a:xfrm>
              <a:off x="2063" y="6321"/>
              <a:ext cx="345" cy="3082"/>
              <a:chOff x="2068" y="3245"/>
              <a:chExt cx="345" cy="3082"/>
            </a:xfrm>
          </p:grpSpPr>
          <p:grpSp>
            <p:nvGrpSpPr>
              <p:cNvPr id="15" name="组合 14"/>
              <p:cNvGrpSpPr/>
              <p:nvPr/>
            </p:nvGrpSpPr>
            <p:grpSpPr>
              <a:xfrm>
                <a:off x="2071" y="3245"/>
                <a:ext cx="343" cy="1494"/>
                <a:chOff x="2071" y="3245"/>
                <a:chExt cx="343" cy="1494"/>
              </a:xfrm>
            </p:grpSpPr>
            <p:sp>
              <p:nvSpPr>
                <p:cNvPr id="16" name="椭圆 15"/>
                <p:cNvSpPr/>
                <p:nvPr/>
              </p:nvSpPr>
              <p:spPr>
                <a:xfrm>
                  <a:off x="2073" y="3245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17" name="椭圆 16"/>
                <p:cNvSpPr/>
                <p:nvPr/>
              </p:nvSpPr>
              <p:spPr>
                <a:xfrm>
                  <a:off x="2074" y="3634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18" name="椭圆 17"/>
                <p:cNvSpPr/>
                <p:nvPr/>
              </p:nvSpPr>
              <p:spPr>
                <a:xfrm>
                  <a:off x="2071" y="4010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19" name="椭圆 18"/>
                <p:cNvSpPr/>
                <p:nvPr/>
              </p:nvSpPr>
              <p:spPr>
                <a:xfrm>
                  <a:off x="2072" y="4399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20" name="组合 19"/>
              <p:cNvGrpSpPr/>
              <p:nvPr/>
            </p:nvGrpSpPr>
            <p:grpSpPr>
              <a:xfrm>
                <a:off x="2068" y="4833"/>
                <a:ext cx="343" cy="1494"/>
                <a:chOff x="2071" y="3245"/>
                <a:chExt cx="343" cy="1494"/>
              </a:xfrm>
            </p:grpSpPr>
            <p:sp>
              <p:nvSpPr>
                <p:cNvPr id="21" name="椭圆 20"/>
                <p:cNvSpPr/>
                <p:nvPr/>
              </p:nvSpPr>
              <p:spPr>
                <a:xfrm>
                  <a:off x="2073" y="3245"/>
                  <a:ext cx="340" cy="340"/>
                </a:xfrm>
                <a:prstGeom prst="ellipse">
                  <a:avLst/>
                </a:prstGeom>
                <a:solidFill>
                  <a:schemeClr val="accent4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22" name="椭圆 21"/>
                <p:cNvSpPr/>
                <p:nvPr/>
              </p:nvSpPr>
              <p:spPr>
                <a:xfrm>
                  <a:off x="2074" y="3634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23" name="椭圆 22"/>
                <p:cNvSpPr/>
                <p:nvPr/>
              </p:nvSpPr>
              <p:spPr>
                <a:xfrm>
                  <a:off x="2071" y="4010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24" name="椭圆 23"/>
                <p:cNvSpPr/>
                <p:nvPr/>
              </p:nvSpPr>
              <p:spPr>
                <a:xfrm>
                  <a:off x="2072" y="4399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</p:grpSp>
        </p:grpSp>
      </p:grpSp>
      <p:grpSp>
        <p:nvGrpSpPr>
          <p:cNvPr id="26" name="组合 25"/>
          <p:cNvGrpSpPr/>
          <p:nvPr/>
        </p:nvGrpSpPr>
        <p:grpSpPr>
          <a:xfrm>
            <a:off x="2339975" y="2204720"/>
            <a:ext cx="222885" cy="4347210"/>
            <a:chOff x="2063" y="2792"/>
            <a:chExt cx="351" cy="6846"/>
          </a:xfrm>
        </p:grpSpPr>
        <p:cxnSp>
          <p:nvCxnSpPr>
            <p:cNvPr id="27" name="直接连接符 26"/>
            <p:cNvCxnSpPr/>
            <p:nvPr/>
          </p:nvCxnSpPr>
          <p:spPr>
            <a:xfrm flipH="1">
              <a:off x="2244" y="2792"/>
              <a:ext cx="0" cy="684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" name="椭圆 27"/>
            <p:cNvSpPr/>
            <p:nvPr/>
          </p:nvSpPr>
          <p:spPr>
            <a:xfrm>
              <a:off x="2073" y="3245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29" name="椭圆 28"/>
            <p:cNvSpPr/>
            <p:nvPr/>
          </p:nvSpPr>
          <p:spPr>
            <a:xfrm>
              <a:off x="2074" y="3634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0" name="椭圆 29"/>
            <p:cNvSpPr/>
            <p:nvPr/>
          </p:nvSpPr>
          <p:spPr>
            <a:xfrm>
              <a:off x="2071" y="4010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1" name="椭圆 30"/>
            <p:cNvSpPr/>
            <p:nvPr/>
          </p:nvSpPr>
          <p:spPr>
            <a:xfrm>
              <a:off x="2072" y="4399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2" name="椭圆 31"/>
            <p:cNvSpPr/>
            <p:nvPr/>
          </p:nvSpPr>
          <p:spPr>
            <a:xfrm>
              <a:off x="2070" y="4833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3" name="椭圆 32"/>
            <p:cNvSpPr/>
            <p:nvPr/>
          </p:nvSpPr>
          <p:spPr>
            <a:xfrm>
              <a:off x="2071" y="5222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4" name="椭圆 33"/>
            <p:cNvSpPr/>
            <p:nvPr/>
          </p:nvSpPr>
          <p:spPr>
            <a:xfrm>
              <a:off x="2068" y="5598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35" name="椭圆 34"/>
            <p:cNvSpPr/>
            <p:nvPr/>
          </p:nvSpPr>
          <p:spPr>
            <a:xfrm>
              <a:off x="2069" y="5987"/>
              <a:ext cx="340" cy="34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2063" y="6321"/>
              <a:ext cx="345" cy="3082"/>
              <a:chOff x="2068" y="3245"/>
              <a:chExt cx="345" cy="3082"/>
            </a:xfrm>
          </p:grpSpPr>
          <p:grpSp>
            <p:nvGrpSpPr>
              <p:cNvPr id="37" name="组合 36"/>
              <p:cNvGrpSpPr/>
              <p:nvPr/>
            </p:nvGrpSpPr>
            <p:grpSpPr>
              <a:xfrm>
                <a:off x="2071" y="3245"/>
                <a:ext cx="343" cy="1494"/>
                <a:chOff x="2071" y="3245"/>
                <a:chExt cx="343" cy="1494"/>
              </a:xfrm>
            </p:grpSpPr>
            <p:sp>
              <p:nvSpPr>
                <p:cNvPr id="38" name="椭圆 37"/>
                <p:cNvSpPr/>
                <p:nvPr/>
              </p:nvSpPr>
              <p:spPr>
                <a:xfrm>
                  <a:off x="2073" y="3245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39" name="椭圆 38"/>
                <p:cNvSpPr/>
                <p:nvPr/>
              </p:nvSpPr>
              <p:spPr>
                <a:xfrm>
                  <a:off x="2074" y="3634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40" name="椭圆 39"/>
                <p:cNvSpPr/>
                <p:nvPr/>
              </p:nvSpPr>
              <p:spPr>
                <a:xfrm>
                  <a:off x="2071" y="4010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41" name="椭圆 40"/>
                <p:cNvSpPr/>
                <p:nvPr/>
              </p:nvSpPr>
              <p:spPr>
                <a:xfrm>
                  <a:off x="2072" y="4399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42" name="组合 41"/>
              <p:cNvGrpSpPr/>
              <p:nvPr/>
            </p:nvGrpSpPr>
            <p:grpSpPr>
              <a:xfrm>
                <a:off x="2068" y="4833"/>
                <a:ext cx="343" cy="1494"/>
                <a:chOff x="2071" y="3245"/>
                <a:chExt cx="343" cy="1494"/>
              </a:xfrm>
            </p:grpSpPr>
            <p:sp>
              <p:nvSpPr>
                <p:cNvPr id="43" name="椭圆 42"/>
                <p:cNvSpPr/>
                <p:nvPr/>
              </p:nvSpPr>
              <p:spPr>
                <a:xfrm>
                  <a:off x="2073" y="3245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44" name="椭圆 43"/>
                <p:cNvSpPr/>
                <p:nvPr/>
              </p:nvSpPr>
              <p:spPr>
                <a:xfrm>
                  <a:off x="2074" y="3634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45" name="椭圆 44"/>
                <p:cNvSpPr/>
                <p:nvPr/>
              </p:nvSpPr>
              <p:spPr>
                <a:xfrm>
                  <a:off x="2071" y="4010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46" name="椭圆 45"/>
                <p:cNvSpPr/>
                <p:nvPr/>
              </p:nvSpPr>
              <p:spPr>
                <a:xfrm>
                  <a:off x="2072" y="4399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</p:grpSp>
        </p:grpSp>
      </p:grpSp>
      <p:grpSp>
        <p:nvGrpSpPr>
          <p:cNvPr id="47" name="组合 46"/>
          <p:cNvGrpSpPr/>
          <p:nvPr/>
        </p:nvGrpSpPr>
        <p:grpSpPr>
          <a:xfrm>
            <a:off x="3589655" y="2204720"/>
            <a:ext cx="222885" cy="4347210"/>
            <a:chOff x="2063" y="2792"/>
            <a:chExt cx="351" cy="6846"/>
          </a:xfrm>
        </p:grpSpPr>
        <p:cxnSp>
          <p:nvCxnSpPr>
            <p:cNvPr id="48" name="直接连接符 47"/>
            <p:cNvCxnSpPr/>
            <p:nvPr/>
          </p:nvCxnSpPr>
          <p:spPr>
            <a:xfrm flipH="1">
              <a:off x="2244" y="2792"/>
              <a:ext cx="0" cy="684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49" name="椭圆 48"/>
            <p:cNvSpPr/>
            <p:nvPr/>
          </p:nvSpPr>
          <p:spPr>
            <a:xfrm>
              <a:off x="2073" y="3245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0" name="椭圆 49"/>
            <p:cNvSpPr/>
            <p:nvPr/>
          </p:nvSpPr>
          <p:spPr>
            <a:xfrm>
              <a:off x="2074" y="3634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1" name="椭圆 50"/>
            <p:cNvSpPr/>
            <p:nvPr/>
          </p:nvSpPr>
          <p:spPr>
            <a:xfrm>
              <a:off x="2071" y="4010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2" name="椭圆 51"/>
            <p:cNvSpPr/>
            <p:nvPr/>
          </p:nvSpPr>
          <p:spPr>
            <a:xfrm>
              <a:off x="2072" y="4399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3" name="椭圆 52"/>
            <p:cNvSpPr/>
            <p:nvPr/>
          </p:nvSpPr>
          <p:spPr>
            <a:xfrm>
              <a:off x="2070" y="4833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4" name="椭圆 53"/>
            <p:cNvSpPr/>
            <p:nvPr/>
          </p:nvSpPr>
          <p:spPr>
            <a:xfrm>
              <a:off x="2071" y="5222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5" name="椭圆 54"/>
            <p:cNvSpPr/>
            <p:nvPr/>
          </p:nvSpPr>
          <p:spPr>
            <a:xfrm>
              <a:off x="2068" y="5598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56" name="椭圆 55"/>
            <p:cNvSpPr/>
            <p:nvPr/>
          </p:nvSpPr>
          <p:spPr>
            <a:xfrm>
              <a:off x="2069" y="5987"/>
              <a:ext cx="340" cy="340"/>
            </a:xfrm>
            <a:prstGeom prst="ellipse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grpSp>
          <p:nvGrpSpPr>
            <p:cNvPr id="57" name="组合 56"/>
            <p:cNvGrpSpPr/>
            <p:nvPr/>
          </p:nvGrpSpPr>
          <p:grpSpPr>
            <a:xfrm>
              <a:off x="2063" y="6321"/>
              <a:ext cx="345" cy="3082"/>
              <a:chOff x="2068" y="3245"/>
              <a:chExt cx="345" cy="3082"/>
            </a:xfrm>
          </p:grpSpPr>
          <p:grpSp>
            <p:nvGrpSpPr>
              <p:cNvPr id="58" name="组合 57"/>
              <p:cNvGrpSpPr/>
              <p:nvPr/>
            </p:nvGrpSpPr>
            <p:grpSpPr>
              <a:xfrm>
                <a:off x="2071" y="3245"/>
                <a:ext cx="343" cy="1494"/>
                <a:chOff x="2071" y="3245"/>
                <a:chExt cx="343" cy="1494"/>
              </a:xfrm>
            </p:grpSpPr>
            <p:sp>
              <p:nvSpPr>
                <p:cNvPr id="59" name="椭圆 58"/>
                <p:cNvSpPr/>
                <p:nvPr/>
              </p:nvSpPr>
              <p:spPr>
                <a:xfrm>
                  <a:off x="2073" y="3245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60" name="椭圆 59"/>
                <p:cNvSpPr/>
                <p:nvPr/>
              </p:nvSpPr>
              <p:spPr>
                <a:xfrm>
                  <a:off x="2074" y="3634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61" name="椭圆 60"/>
                <p:cNvSpPr/>
                <p:nvPr/>
              </p:nvSpPr>
              <p:spPr>
                <a:xfrm>
                  <a:off x="2071" y="4010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62" name="椭圆 61"/>
                <p:cNvSpPr/>
                <p:nvPr/>
              </p:nvSpPr>
              <p:spPr>
                <a:xfrm>
                  <a:off x="2072" y="4399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63" name="组合 62"/>
              <p:cNvGrpSpPr/>
              <p:nvPr/>
            </p:nvGrpSpPr>
            <p:grpSpPr>
              <a:xfrm>
                <a:off x="2068" y="4833"/>
                <a:ext cx="343" cy="1494"/>
                <a:chOff x="2071" y="3245"/>
                <a:chExt cx="343" cy="1494"/>
              </a:xfrm>
            </p:grpSpPr>
            <p:sp>
              <p:nvSpPr>
                <p:cNvPr id="64" name="椭圆 63"/>
                <p:cNvSpPr/>
                <p:nvPr/>
              </p:nvSpPr>
              <p:spPr>
                <a:xfrm>
                  <a:off x="2073" y="3245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65" name="椭圆 64"/>
                <p:cNvSpPr/>
                <p:nvPr/>
              </p:nvSpPr>
              <p:spPr>
                <a:xfrm>
                  <a:off x="2074" y="3634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66" name="椭圆 65"/>
                <p:cNvSpPr/>
                <p:nvPr/>
              </p:nvSpPr>
              <p:spPr>
                <a:xfrm>
                  <a:off x="2071" y="4010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67" name="椭圆 66"/>
                <p:cNvSpPr/>
                <p:nvPr/>
              </p:nvSpPr>
              <p:spPr>
                <a:xfrm>
                  <a:off x="2072" y="4399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</p:grpSp>
        </p:grpSp>
      </p:grpSp>
      <p:grpSp>
        <p:nvGrpSpPr>
          <p:cNvPr id="68" name="组合 67"/>
          <p:cNvGrpSpPr/>
          <p:nvPr/>
        </p:nvGrpSpPr>
        <p:grpSpPr>
          <a:xfrm>
            <a:off x="4803775" y="2167890"/>
            <a:ext cx="252095" cy="4347845"/>
            <a:chOff x="2023" y="2792"/>
            <a:chExt cx="397" cy="6847"/>
          </a:xfrm>
        </p:grpSpPr>
        <p:cxnSp>
          <p:nvCxnSpPr>
            <p:cNvPr id="69" name="直接连接符 68"/>
            <p:cNvCxnSpPr/>
            <p:nvPr/>
          </p:nvCxnSpPr>
          <p:spPr>
            <a:xfrm flipH="1">
              <a:off x="2244" y="2792"/>
              <a:ext cx="0" cy="684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70" name="椭圆 69"/>
            <p:cNvSpPr/>
            <p:nvPr/>
          </p:nvSpPr>
          <p:spPr>
            <a:xfrm>
              <a:off x="2073" y="3245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71" name="椭圆 70"/>
            <p:cNvSpPr/>
            <p:nvPr/>
          </p:nvSpPr>
          <p:spPr>
            <a:xfrm>
              <a:off x="2074" y="3634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72" name="椭圆 71"/>
            <p:cNvSpPr/>
            <p:nvPr/>
          </p:nvSpPr>
          <p:spPr>
            <a:xfrm>
              <a:off x="2071" y="4010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73" name="椭圆 72"/>
            <p:cNvSpPr/>
            <p:nvPr/>
          </p:nvSpPr>
          <p:spPr>
            <a:xfrm>
              <a:off x="2072" y="4399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74" name="椭圆 73"/>
            <p:cNvSpPr/>
            <p:nvPr/>
          </p:nvSpPr>
          <p:spPr>
            <a:xfrm>
              <a:off x="2070" y="4833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75" name="椭圆 74"/>
            <p:cNvSpPr/>
            <p:nvPr/>
          </p:nvSpPr>
          <p:spPr>
            <a:xfrm>
              <a:off x="2071" y="5222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76" name="椭圆 75"/>
            <p:cNvSpPr/>
            <p:nvPr/>
          </p:nvSpPr>
          <p:spPr>
            <a:xfrm>
              <a:off x="2068" y="5598"/>
              <a:ext cx="340" cy="340"/>
            </a:xfrm>
            <a:prstGeom prst="ellipse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77" name="椭圆 76"/>
            <p:cNvSpPr/>
            <p:nvPr/>
          </p:nvSpPr>
          <p:spPr>
            <a:xfrm>
              <a:off x="2023" y="5941"/>
              <a:ext cx="397" cy="397"/>
            </a:xfrm>
            <a:prstGeom prst="ellipse">
              <a:avLst/>
            </a:prstGeom>
            <a:solidFill>
              <a:srgbClr val="FF99FF"/>
            </a:solidFill>
            <a:ln w="9525" cap="flat" cmpd="sng" algn="ctr">
              <a:solidFill>
                <a:srgbClr val="FF99FF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grpSp>
          <p:nvGrpSpPr>
            <p:cNvPr id="78" name="组合 77"/>
            <p:cNvGrpSpPr/>
            <p:nvPr/>
          </p:nvGrpSpPr>
          <p:grpSpPr>
            <a:xfrm>
              <a:off x="2063" y="6321"/>
              <a:ext cx="345" cy="3082"/>
              <a:chOff x="2068" y="3245"/>
              <a:chExt cx="345" cy="3082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2071" y="3245"/>
                <a:ext cx="343" cy="1494"/>
                <a:chOff x="2071" y="3245"/>
                <a:chExt cx="343" cy="1494"/>
              </a:xfrm>
            </p:grpSpPr>
            <p:sp>
              <p:nvSpPr>
                <p:cNvPr id="80" name="椭圆 79"/>
                <p:cNvSpPr/>
                <p:nvPr/>
              </p:nvSpPr>
              <p:spPr>
                <a:xfrm>
                  <a:off x="2073" y="3245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81" name="椭圆 80"/>
                <p:cNvSpPr/>
                <p:nvPr/>
              </p:nvSpPr>
              <p:spPr>
                <a:xfrm>
                  <a:off x="2074" y="3634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82" name="椭圆 81"/>
                <p:cNvSpPr/>
                <p:nvPr/>
              </p:nvSpPr>
              <p:spPr>
                <a:xfrm>
                  <a:off x="2071" y="4010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83" name="椭圆 82"/>
                <p:cNvSpPr/>
                <p:nvPr/>
              </p:nvSpPr>
              <p:spPr>
                <a:xfrm>
                  <a:off x="2072" y="4399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</p:grpSp>
          <p:grpSp>
            <p:nvGrpSpPr>
              <p:cNvPr id="84" name="组合 83"/>
              <p:cNvGrpSpPr/>
              <p:nvPr/>
            </p:nvGrpSpPr>
            <p:grpSpPr>
              <a:xfrm>
                <a:off x="2068" y="4833"/>
                <a:ext cx="343" cy="1494"/>
                <a:chOff x="2071" y="3245"/>
                <a:chExt cx="343" cy="1494"/>
              </a:xfrm>
            </p:grpSpPr>
            <p:sp>
              <p:nvSpPr>
                <p:cNvPr id="85" name="椭圆 84"/>
                <p:cNvSpPr/>
                <p:nvPr/>
              </p:nvSpPr>
              <p:spPr>
                <a:xfrm>
                  <a:off x="2073" y="3245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86" name="椭圆 85"/>
                <p:cNvSpPr/>
                <p:nvPr/>
              </p:nvSpPr>
              <p:spPr>
                <a:xfrm>
                  <a:off x="2074" y="3634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87" name="椭圆 86"/>
                <p:cNvSpPr/>
                <p:nvPr/>
              </p:nvSpPr>
              <p:spPr>
                <a:xfrm>
                  <a:off x="2071" y="4010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  <p:sp>
              <p:nvSpPr>
                <p:cNvPr id="88" name="椭圆 87"/>
                <p:cNvSpPr/>
                <p:nvPr/>
              </p:nvSpPr>
              <p:spPr>
                <a:xfrm>
                  <a:off x="2072" y="4399"/>
                  <a:ext cx="340" cy="340"/>
                </a:xfrm>
                <a:prstGeom prst="ellipse">
                  <a:avLst/>
                </a:prstGeom>
                <a:solidFill>
                  <a:schemeClr val="accent1"/>
                </a:solidFill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 vert="horz" wrap="square" lIns="91440" tIns="45720" rIns="91440" bIns="45720" numCol="1" anchor="t" anchorCtr="0" compatLnSpc="1"/>
                <a:p>
                  <a:pPr marL="0" marR="0" indent="0" algn="l" defTabSz="914400" rtl="0" eaLnBrk="1" fontAlgn="base" latinLnBrk="0" hangingPunct="1"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</a:pPr>
                  <a:endParaRPr kumimoji="1" lang="zh-CN" altLang="en-US" sz="2400" b="1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ea typeface="宋体" pitchFamily="2" charset="-122"/>
                  </a:endParaRPr>
                </a:p>
              </p:txBody>
            </p:sp>
          </p:grpSp>
        </p:grpSp>
      </p:grpSp>
      <p:cxnSp>
        <p:nvCxnSpPr>
          <p:cNvPr id="89" name="直接箭头连接符 88"/>
          <p:cNvCxnSpPr/>
          <p:nvPr/>
        </p:nvCxnSpPr>
        <p:spPr>
          <a:xfrm flipH="1">
            <a:off x="1331595" y="2535555"/>
            <a:ext cx="0" cy="168529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90" name="直接箭头连接符 89"/>
          <p:cNvCxnSpPr/>
          <p:nvPr/>
        </p:nvCxnSpPr>
        <p:spPr>
          <a:xfrm flipH="1">
            <a:off x="2267585" y="2586355"/>
            <a:ext cx="0" cy="168529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91" name="直接箭头连接符 90"/>
          <p:cNvCxnSpPr/>
          <p:nvPr/>
        </p:nvCxnSpPr>
        <p:spPr>
          <a:xfrm flipH="1">
            <a:off x="3545840" y="2493010"/>
            <a:ext cx="0" cy="168529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92" name="直接箭头连接符 91"/>
          <p:cNvCxnSpPr/>
          <p:nvPr/>
        </p:nvCxnSpPr>
        <p:spPr>
          <a:xfrm flipH="1">
            <a:off x="4743450" y="2493010"/>
            <a:ext cx="0" cy="169200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sp>
        <p:nvSpPr>
          <p:cNvPr id="93" name="文本框 92"/>
          <p:cNvSpPr txBox="1"/>
          <p:nvPr/>
        </p:nvSpPr>
        <p:spPr>
          <a:xfrm>
            <a:off x="486410" y="1529715"/>
            <a:ext cx="5409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          B           C            D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cxnSp>
        <p:nvCxnSpPr>
          <p:cNvPr id="100" name="直接箭头连接符 99"/>
          <p:cNvCxnSpPr/>
          <p:nvPr/>
        </p:nvCxnSpPr>
        <p:spPr>
          <a:xfrm flipV="1">
            <a:off x="1403350" y="2637155"/>
            <a:ext cx="828000" cy="145288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01" name="直接箭头连接符 100"/>
          <p:cNvCxnSpPr/>
          <p:nvPr/>
        </p:nvCxnSpPr>
        <p:spPr>
          <a:xfrm flipV="1">
            <a:off x="2627630" y="2637155"/>
            <a:ext cx="864235" cy="151892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02" name="直接箭头连接符 101"/>
          <p:cNvCxnSpPr/>
          <p:nvPr/>
        </p:nvCxnSpPr>
        <p:spPr>
          <a:xfrm flipV="1">
            <a:off x="3834130" y="2571115"/>
            <a:ext cx="864235" cy="151892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cxnSp>
        <p:nvCxnSpPr>
          <p:cNvPr id="106" name="直接箭头连接符 105"/>
          <p:cNvCxnSpPr/>
          <p:nvPr/>
        </p:nvCxnSpPr>
        <p:spPr>
          <a:xfrm flipH="1">
            <a:off x="1188720" y="4337050"/>
            <a:ext cx="3600000" cy="115316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 w="med" len="med"/>
          </a:ln>
        </p:spPr>
      </p:cxnSp>
      <p:grpSp>
        <p:nvGrpSpPr>
          <p:cNvPr id="107" name="组合 106"/>
          <p:cNvGrpSpPr/>
          <p:nvPr/>
        </p:nvGrpSpPr>
        <p:grpSpPr>
          <a:xfrm>
            <a:off x="6228080" y="1388745"/>
            <a:ext cx="1522095" cy="4860290"/>
            <a:chOff x="7427" y="2089"/>
            <a:chExt cx="2397" cy="7654"/>
          </a:xfrm>
        </p:grpSpPr>
        <p:grpSp>
          <p:nvGrpSpPr>
            <p:cNvPr id="108" name="组合 107"/>
            <p:cNvGrpSpPr/>
            <p:nvPr/>
          </p:nvGrpSpPr>
          <p:grpSpPr>
            <a:xfrm>
              <a:off x="7427" y="2089"/>
              <a:ext cx="1806" cy="7654"/>
              <a:chOff x="9944" y="2110"/>
              <a:chExt cx="2586" cy="7654"/>
            </a:xfrm>
          </p:grpSpPr>
          <p:sp>
            <p:nvSpPr>
              <p:cNvPr id="109" name="文本框 108"/>
              <p:cNvSpPr txBox="1"/>
              <p:nvPr/>
            </p:nvSpPr>
            <p:spPr>
              <a:xfrm>
                <a:off x="10035" y="6307"/>
                <a:ext cx="2354" cy="1729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tIns="179705" bIns="179705" rtlCol="0">
                <a:spAutoFit/>
              </a:bodyPr>
              <a:p>
                <a:pPr algn="ctr"/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frame </a:t>
                </a: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B</a:t>
                </a:r>
                <a:endPara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10" name="文本框 109"/>
              <p:cNvSpPr txBox="1"/>
              <p:nvPr/>
            </p:nvSpPr>
            <p:spPr>
              <a:xfrm>
                <a:off x="10035" y="4656"/>
                <a:ext cx="2354" cy="1729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tIns="179705" bIns="179705" rtlCol="0">
                <a:spAutoFit/>
              </a:bodyPr>
              <a:p>
                <a:pPr algn="ctr"/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frame </a:t>
                </a: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C</a:t>
                </a:r>
                <a:endPara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11" name="文本框 110"/>
              <p:cNvSpPr txBox="1"/>
              <p:nvPr/>
            </p:nvSpPr>
            <p:spPr>
              <a:xfrm>
                <a:off x="10035" y="3019"/>
                <a:ext cx="2354" cy="1503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tIns="107950" bIns="107950" rtlCol="0">
                <a:spAutoFit/>
              </a:bodyPr>
              <a:p>
                <a:pPr algn="ctr"/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frame </a:t>
                </a: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D</a:t>
                </a:r>
                <a:endPara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112" name="文本框 111"/>
              <p:cNvSpPr txBox="1"/>
              <p:nvPr/>
            </p:nvSpPr>
            <p:spPr>
              <a:xfrm>
                <a:off x="10035" y="7895"/>
                <a:ext cx="2354" cy="1787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tIns="288290" bIns="107950" rtlCol="0">
                <a:spAutoFit/>
              </a:bodyPr>
              <a:p>
                <a:pPr algn="ctr"/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frame A</a:t>
                </a:r>
                <a:endPara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cxnSp>
            <p:nvCxnSpPr>
              <p:cNvPr id="113" name="直接连接符 112"/>
              <p:cNvCxnSpPr/>
              <p:nvPr/>
            </p:nvCxnSpPr>
            <p:spPr>
              <a:xfrm>
                <a:off x="9944" y="2110"/>
                <a:ext cx="0" cy="7654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14" name="直接连接符 113"/>
              <p:cNvCxnSpPr/>
              <p:nvPr/>
            </p:nvCxnSpPr>
            <p:spPr>
              <a:xfrm>
                <a:off x="12530" y="2111"/>
                <a:ext cx="0" cy="759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115" name="组合 114"/>
            <p:cNvGrpSpPr/>
            <p:nvPr/>
          </p:nvGrpSpPr>
          <p:grpSpPr>
            <a:xfrm>
              <a:off x="9166" y="4330"/>
              <a:ext cx="658" cy="5027"/>
              <a:chOff x="9166" y="4330"/>
              <a:chExt cx="658" cy="5027"/>
            </a:xfrm>
          </p:grpSpPr>
          <p:sp>
            <p:nvSpPr>
              <p:cNvPr id="116" name="任意多边形 115"/>
              <p:cNvSpPr/>
              <p:nvPr/>
            </p:nvSpPr>
            <p:spPr>
              <a:xfrm>
                <a:off x="9166" y="4330"/>
                <a:ext cx="591" cy="1797"/>
              </a:xfrm>
              <a:custGeom>
                <a:avLst/>
                <a:gdLst>
                  <a:gd name="connisteX0" fmla="*/ 0 w 375503"/>
                  <a:gd name="connsiteY0" fmla="*/ 0 h 1064895"/>
                  <a:gd name="connisteX1" fmla="*/ 375285 w 375503"/>
                  <a:gd name="connsiteY1" fmla="*/ 494665 h 1064895"/>
                  <a:gd name="connisteX2" fmla="*/ 45085 w 375503"/>
                  <a:gd name="connsiteY2" fmla="*/ 1064895 h 106489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</a:cxnLst>
                <a:rect l="l" t="t" r="r" b="b"/>
                <a:pathLst>
                  <a:path w="375503" h="1064895">
                    <a:moveTo>
                      <a:pt x="0" y="0"/>
                    </a:moveTo>
                    <a:cubicBezTo>
                      <a:pt x="81915" y="87630"/>
                      <a:pt x="366395" y="281940"/>
                      <a:pt x="375285" y="494665"/>
                    </a:cubicBezTo>
                    <a:cubicBezTo>
                      <a:pt x="384175" y="707390"/>
                      <a:pt x="118745" y="960755"/>
                      <a:pt x="45085" y="1064895"/>
                    </a:cubicBezTo>
                  </a:path>
                </a:pathLst>
              </a:custGeom>
              <a:noFill/>
              <a:ln w="762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117" name="任意多边形 116"/>
              <p:cNvSpPr/>
              <p:nvPr/>
            </p:nvSpPr>
            <p:spPr>
              <a:xfrm>
                <a:off x="9233" y="6171"/>
                <a:ext cx="591" cy="1576"/>
              </a:xfrm>
              <a:custGeom>
                <a:avLst/>
                <a:gdLst>
                  <a:gd name="connisteX0" fmla="*/ 0 w 375503"/>
                  <a:gd name="connsiteY0" fmla="*/ 0 h 1064895"/>
                  <a:gd name="connisteX1" fmla="*/ 375285 w 375503"/>
                  <a:gd name="connsiteY1" fmla="*/ 494665 h 1064895"/>
                  <a:gd name="connisteX2" fmla="*/ 45085 w 375503"/>
                  <a:gd name="connsiteY2" fmla="*/ 1064895 h 106489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</a:cxnLst>
                <a:rect l="l" t="t" r="r" b="b"/>
                <a:pathLst>
                  <a:path w="375503" h="1064895">
                    <a:moveTo>
                      <a:pt x="0" y="0"/>
                    </a:moveTo>
                    <a:cubicBezTo>
                      <a:pt x="81915" y="87630"/>
                      <a:pt x="366395" y="281940"/>
                      <a:pt x="375285" y="494665"/>
                    </a:cubicBezTo>
                    <a:cubicBezTo>
                      <a:pt x="384175" y="707390"/>
                      <a:pt x="118745" y="960755"/>
                      <a:pt x="45085" y="1064895"/>
                    </a:cubicBezTo>
                  </a:path>
                </a:pathLst>
              </a:custGeom>
              <a:noFill/>
              <a:ln w="762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118" name="任意多边形 117"/>
              <p:cNvSpPr/>
              <p:nvPr/>
            </p:nvSpPr>
            <p:spPr>
              <a:xfrm>
                <a:off x="9233" y="7781"/>
                <a:ext cx="591" cy="1576"/>
              </a:xfrm>
              <a:custGeom>
                <a:avLst/>
                <a:gdLst>
                  <a:gd name="connisteX0" fmla="*/ 0 w 375503"/>
                  <a:gd name="connsiteY0" fmla="*/ 0 h 1064895"/>
                  <a:gd name="connisteX1" fmla="*/ 375285 w 375503"/>
                  <a:gd name="connsiteY1" fmla="*/ 494665 h 1064895"/>
                  <a:gd name="connisteX2" fmla="*/ 45085 w 375503"/>
                  <a:gd name="connsiteY2" fmla="*/ 1064895 h 106489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</a:cxnLst>
                <a:rect l="l" t="t" r="r" b="b"/>
                <a:pathLst>
                  <a:path w="375503" h="1064895">
                    <a:moveTo>
                      <a:pt x="0" y="0"/>
                    </a:moveTo>
                    <a:cubicBezTo>
                      <a:pt x="81915" y="87630"/>
                      <a:pt x="366395" y="281940"/>
                      <a:pt x="375285" y="494665"/>
                    </a:cubicBezTo>
                    <a:cubicBezTo>
                      <a:pt x="384175" y="707390"/>
                      <a:pt x="118745" y="960755"/>
                      <a:pt x="45085" y="1064895"/>
                    </a:cubicBezTo>
                  </a:path>
                </a:pathLst>
              </a:custGeom>
              <a:noFill/>
              <a:ln w="762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</p:grpSp>
      </p:grp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8" name="墨迹 7"/>
              <p14:cNvContentPartPr/>
              <p14:nvPr/>
            </p14:nvContentPartPr>
            <p14:xfrm>
              <a:off x="1348105" y="5509260"/>
              <a:ext cx="17780" cy="360"/>
            </p14:xfrm>
          </p:contentPart>
        </mc:Choice>
        <mc:Fallback xmlns="">
          <p:pic>
            <p:nvPicPr>
              <p:cNvPr id="8" name="墨迹 7"/>
            </p:nvPicPr>
            <p:blipFill>
              <a:blip r:embed="rId2"/>
            </p:blipFill>
            <p:spPr>
              <a:xfrm>
                <a:off x="1348105" y="5509260"/>
                <a:ext cx="17780" cy="3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121" name="墨迹 120"/>
              <p14:cNvContentPartPr/>
              <p14:nvPr/>
            </p14:nvContentPartPr>
            <p14:xfrm>
              <a:off x="7465060" y="5018405"/>
              <a:ext cx="205105" cy="151765"/>
            </p14:xfrm>
          </p:contentPart>
        </mc:Choice>
        <mc:Fallback xmlns="">
          <p:pic>
            <p:nvPicPr>
              <p:cNvPr id="121" name="墨迹 120"/>
            </p:nvPicPr>
            <p:blipFill>
              <a:blip r:embed="rId4"/>
            </p:blipFill>
            <p:spPr>
              <a:xfrm>
                <a:off x="7465060" y="5018405"/>
                <a:ext cx="205105" cy="1517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61" name="墨迹 160"/>
              <p14:cNvContentPartPr/>
              <p14:nvPr/>
            </p14:nvContentPartPr>
            <p14:xfrm>
              <a:off x="838835" y="3821430"/>
              <a:ext cx="18415" cy="360"/>
            </p14:xfrm>
          </p:contentPart>
        </mc:Choice>
        <mc:Fallback xmlns="">
          <p:pic>
            <p:nvPicPr>
              <p:cNvPr id="161" name="墨迹 160"/>
            </p:nvPicPr>
            <p:blipFill>
              <a:blip r:embed="rId6"/>
            </p:blipFill>
            <p:spPr>
              <a:xfrm>
                <a:off x="838835" y="3821430"/>
                <a:ext cx="18415" cy="3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1099820" y="135890"/>
            <a:ext cx="7924800" cy="914400"/>
          </a:xfrm>
        </p:spPr>
        <p:txBody>
          <a:bodyPr anchor="ctr"/>
          <a:lstStyle/>
          <a:p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异常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</a:rPr>
              <a:t>  vs   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  vs   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中断</a:t>
            </a:r>
            <a:endParaRPr lang="zh-CN" altLang="en-US" sz="40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0242" name="内容占位符 2"/>
          <p:cNvSpPr>
            <a:spLocks noGrp="1"/>
          </p:cNvSpPr>
          <p:nvPr>
            <p:ph idx="1"/>
          </p:nvPr>
        </p:nvSpPr>
        <p:spPr>
          <a:xfrm>
            <a:off x="277495" y="1700530"/>
            <a:ext cx="8829675" cy="4191635"/>
          </a:xfrm>
        </p:spPr>
        <p:txBody>
          <a:bodyPr anchor="t"/>
          <a:lstStyle/>
          <a:p>
            <a:pPr marL="342900" lvl="1" indent="-342900" latinLnBrk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在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中断处理例程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中，可以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给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某个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线程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产生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信号。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也可以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人为调用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API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给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某个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线程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产生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信号；</a:t>
            </a:r>
            <a:endParaRPr lang="zh-CN" altLang="en-US" sz="2400" b="1" dirty="0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lvl="1" indent="-34290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endParaRPr lang="zh-CN" altLang="en-US" sz="2400" b="1" dirty="0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lvl="1" indent="-342900" latinLnBrk="0">
              <a:lnSpc>
                <a:spcPct val="120000"/>
              </a:lnSpc>
              <a:spcBef>
                <a:spcPts val="0"/>
              </a:spcBef>
              <a:spcAft>
                <a:spcPts val="21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产生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信号：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叫操作系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统去调度目标线程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执行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信号处理例程；</a:t>
            </a:r>
            <a:endParaRPr lang="zh-CN" altLang="en-US" sz="2400" b="1" dirty="0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indent="-342900" latinLnBrk="0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中断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都是用</a:t>
            </a:r>
            <a:r>
              <a:rPr lang="en-US" altLang="zh-CN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（序号）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来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标识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</a:t>
            </a:r>
            <a:endParaRPr lang="zh-CN" altLang="en-US" sz="2400" b="1" dirty="0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0" lvl="1" indent="-342900" latinLnBrk="0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异常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其实是某一个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特定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的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信号</a:t>
            </a:r>
            <a:r>
              <a:rPr lang="en-US" altLang="zh-CN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id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；该信号</a:t>
            </a:r>
            <a:r>
              <a:rPr lang="zh-CN" altLang="en-US" sz="24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处理例程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就叫</a:t>
            </a:r>
            <a:r>
              <a:rPr lang="zh-CN" altLang="en-US" sz="2400" b="1" dirty="0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异常处理例程；</a:t>
            </a:r>
            <a:endParaRPr lang="zh-CN" altLang="en-US" sz="2400" b="1" dirty="0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lvl="1" indent="-342900" latinLnBrk="0">
              <a:lnSpc>
                <a:spcPct val="120000"/>
              </a:lnSpc>
              <a:spcBef>
                <a:spcPts val="0"/>
              </a:spcBef>
              <a:spcAft>
                <a:spcPts val="21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endParaRPr lang="en-US" altLang="zh-CN" sz="2400" dirty="0"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  <a:sym typeface="+mn-ea"/>
            </a:endParaRPr>
          </a:p>
          <a:p>
            <a:pPr marL="0" lvl="0" indent="0" latinLnBrk="0">
              <a:lnSpc>
                <a:spcPct val="120000"/>
              </a:lnSpc>
              <a:spcBef>
                <a:spcPts val="0"/>
              </a:spcBef>
              <a:buNone/>
            </a:pPr>
            <a:endParaRPr lang="en-US" altLang="zh-CN" dirty="0">
              <a:solidFill>
                <a:srgbClr val="0000FF"/>
              </a:solidFill>
              <a:latin typeface="Arial" panose="020B0604020202090204" pitchFamily="34" charset="0"/>
              <a:ea typeface="宋体" pitchFamily="2" charset="-122"/>
              <a:cs typeface="Arial" panose="020B0604020202090204" pitchFamily="34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2" name="墨迹 1"/>
              <p14:cNvContentPartPr/>
              <p14:nvPr/>
            </p14:nvContentPartPr>
            <p14:xfrm>
              <a:off x="2794635" y="5696585"/>
              <a:ext cx="17780" cy="360"/>
            </p14:xfrm>
          </p:contentPart>
        </mc:Choice>
        <mc:Fallback xmlns="">
          <p:pic>
            <p:nvPicPr>
              <p:cNvPr id="2" name="墨迹 1"/>
            </p:nvPicPr>
            <p:blipFill>
              <a:blip r:embed="rId2"/>
            </p:blipFill>
            <p:spPr>
              <a:xfrm>
                <a:off x="2794635" y="5696585"/>
                <a:ext cx="17780" cy="36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1099820" y="135890"/>
            <a:ext cx="7924800" cy="914400"/>
          </a:xfrm>
        </p:spPr>
        <p:txBody>
          <a:bodyPr anchor="ctr"/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如何针对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try </a:t>
            </a:r>
            <a:r>
              <a:rPr lang="en-US" altLang="zh-CN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{...} 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catch</a:t>
            </a:r>
            <a:r>
              <a:rPr lang="en-US" altLang="zh-CN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(e) {... }</a:t>
            </a:r>
            <a:br>
              <a:rPr lang="en-US" altLang="zh-CN" sz="320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</a:b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实现异常处理例程？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endParaRPr lang="en-US" altLang="zh-CN" sz="320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42" name="内容占位符 2"/>
          <p:cNvSpPr>
            <a:spLocks noGrp="1"/>
          </p:cNvSpPr>
          <p:nvPr>
            <p:ph idx="1"/>
          </p:nvPr>
        </p:nvSpPr>
        <p:spPr>
          <a:xfrm>
            <a:off x="4283710" y="6120765"/>
            <a:ext cx="1462405" cy="635635"/>
          </a:xfrm>
        </p:spPr>
        <p:txBody>
          <a:bodyPr anchor="t"/>
          <a:lstStyle/>
          <a:p>
            <a:pPr marL="0" lvl="0" indent="0" latinLnBrk="0">
              <a:lnSpc>
                <a:spcPct val="120000"/>
              </a:lnSpc>
              <a:spcBef>
                <a:spcPts val="0"/>
              </a:spcBef>
              <a:buNone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线程栈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</p:txBody>
      </p:sp>
      <p:sp>
        <p:nvSpPr>
          <p:cNvPr id="93" name="文本框 92"/>
          <p:cNvSpPr txBox="1"/>
          <p:nvPr/>
        </p:nvSpPr>
        <p:spPr>
          <a:xfrm>
            <a:off x="104775" y="1557020"/>
            <a:ext cx="540956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函数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      B          C          D</a:t>
            </a:r>
            <a:endParaRPr lang="en-US" alt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4302125" y="1340485"/>
            <a:ext cx="1520825" cy="4860290"/>
            <a:chOff x="7427" y="2089"/>
            <a:chExt cx="2395" cy="7654"/>
          </a:xfrm>
        </p:grpSpPr>
        <p:grpSp>
          <p:nvGrpSpPr>
            <p:cNvPr id="7" name="组合 6"/>
            <p:cNvGrpSpPr/>
            <p:nvPr/>
          </p:nvGrpSpPr>
          <p:grpSpPr>
            <a:xfrm>
              <a:off x="7427" y="2089"/>
              <a:ext cx="1806" cy="7654"/>
              <a:chOff x="9944" y="2110"/>
              <a:chExt cx="2586" cy="7654"/>
            </a:xfrm>
          </p:grpSpPr>
          <p:sp>
            <p:nvSpPr>
              <p:cNvPr id="94" name="文本框 93"/>
              <p:cNvSpPr txBox="1"/>
              <p:nvPr/>
            </p:nvSpPr>
            <p:spPr>
              <a:xfrm>
                <a:off x="10035" y="6307"/>
                <a:ext cx="2354" cy="1729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tIns="179705" bIns="179705" rtlCol="0">
                <a:spAutoFit/>
              </a:bodyPr>
              <a:p>
                <a:pPr algn="ctr"/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frame </a:t>
                </a: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B</a:t>
                </a:r>
                <a:endPara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95" name="文本框 94"/>
              <p:cNvSpPr txBox="1"/>
              <p:nvPr/>
            </p:nvSpPr>
            <p:spPr>
              <a:xfrm>
                <a:off x="10035" y="4656"/>
                <a:ext cx="2354" cy="1729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tIns="179705" bIns="179705" rtlCol="0">
                <a:spAutoFit/>
              </a:bodyPr>
              <a:p>
                <a:pPr algn="ctr"/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frame </a:t>
                </a: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C</a:t>
                </a:r>
                <a:endPara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96" name="文本框 95"/>
              <p:cNvSpPr txBox="1"/>
              <p:nvPr/>
            </p:nvSpPr>
            <p:spPr>
              <a:xfrm>
                <a:off x="10035" y="3019"/>
                <a:ext cx="2354" cy="1503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tIns="107950" bIns="107950" rtlCol="0">
                <a:spAutoFit/>
              </a:bodyPr>
              <a:p>
                <a:pPr algn="ctr"/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frame </a:t>
                </a:r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D</a:t>
                </a:r>
                <a:endPara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sp>
            <p:nvSpPr>
              <p:cNvPr id="97" name="文本框 96"/>
              <p:cNvSpPr txBox="1"/>
              <p:nvPr/>
            </p:nvSpPr>
            <p:spPr>
              <a:xfrm>
                <a:off x="10035" y="7895"/>
                <a:ext cx="2354" cy="1787"/>
              </a:xfrm>
              <a:prstGeom prst="rect">
                <a:avLst/>
              </a:prstGeom>
              <a:noFill/>
              <a:ln w="38100">
                <a:solidFill>
                  <a:schemeClr val="accent1"/>
                </a:solidFill>
              </a:ln>
            </p:spPr>
            <p:txBody>
              <a:bodyPr wrap="square" tIns="288290" bIns="107950" rtlCol="0">
                <a:spAutoFit/>
              </a:bodyPr>
              <a:p>
                <a:pPr algn="ctr"/>
                <a:r>
                  <a:rPr lang="en-US" altLang="zh-CN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+mn-ea"/>
                  </a:rPr>
                  <a:t>frame A</a:t>
                </a:r>
                <a:endParaRPr lang="en-US" altLang="zh-CN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+mn-ea"/>
                </a:endParaRPr>
              </a:p>
            </p:txBody>
          </p:sp>
          <p:cxnSp>
            <p:nvCxnSpPr>
              <p:cNvPr id="98" name="直接连接符 97"/>
              <p:cNvCxnSpPr/>
              <p:nvPr/>
            </p:nvCxnSpPr>
            <p:spPr>
              <a:xfrm>
                <a:off x="9944" y="2110"/>
                <a:ext cx="0" cy="7654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99" name="直接连接符 98"/>
              <p:cNvCxnSpPr/>
              <p:nvPr/>
            </p:nvCxnSpPr>
            <p:spPr>
              <a:xfrm>
                <a:off x="12530" y="2111"/>
                <a:ext cx="0" cy="7597"/>
              </a:xfrm>
              <a:prstGeom prst="line">
                <a:avLst/>
              </a:prstGeom>
              <a:solidFill>
                <a:schemeClr val="accent1"/>
              </a:solidFill>
              <a:ln w="254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grpSp>
          <p:nvGrpSpPr>
            <p:cNvPr id="8" name="组合 7"/>
            <p:cNvGrpSpPr/>
            <p:nvPr/>
          </p:nvGrpSpPr>
          <p:grpSpPr>
            <a:xfrm>
              <a:off x="9166" y="4516"/>
              <a:ext cx="657" cy="4841"/>
              <a:chOff x="9166" y="4516"/>
              <a:chExt cx="657" cy="4841"/>
            </a:xfrm>
          </p:grpSpPr>
          <p:sp>
            <p:nvSpPr>
              <p:cNvPr id="103" name="任意多边形 102"/>
              <p:cNvSpPr/>
              <p:nvPr/>
            </p:nvSpPr>
            <p:spPr>
              <a:xfrm>
                <a:off x="9166" y="4516"/>
                <a:ext cx="591" cy="1611"/>
              </a:xfrm>
              <a:custGeom>
                <a:avLst/>
                <a:gdLst>
                  <a:gd name="connisteX0" fmla="*/ 0 w 375503"/>
                  <a:gd name="connsiteY0" fmla="*/ 0 h 1064895"/>
                  <a:gd name="connisteX1" fmla="*/ 375285 w 375503"/>
                  <a:gd name="connsiteY1" fmla="*/ 494665 h 1064895"/>
                  <a:gd name="connisteX2" fmla="*/ 45085 w 375503"/>
                  <a:gd name="connsiteY2" fmla="*/ 1064895 h 106489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</a:cxnLst>
                <a:rect l="l" t="t" r="r" b="b"/>
                <a:pathLst>
                  <a:path w="375503" h="1064895">
                    <a:moveTo>
                      <a:pt x="0" y="0"/>
                    </a:moveTo>
                    <a:cubicBezTo>
                      <a:pt x="81915" y="87630"/>
                      <a:pt x="366395" y="281940"/>
                      <a:pt x="375285" y="494665"/>
                    </a:cubicBezTo>
                    <a:cubicBezTo>
                      <a:pt x="384175" y="707390"/>
                      <a:pt x="118745" y="960755"/>
                      <a:pt x="45085" y="1064895"/>
                    </a:cubicBezTo>
                  </a:path>
                </a:pathLst>
              </a:custGeom>
              <a:noFill/>
              <a:ln w="762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104" name="任意多边形 103"/>
              <p:cNvSpPr/>
              <p:nvPr/>
            </p:nvSpPr>
            <p:spPr>
              <a:xfrm>
                <a:off x="9233" y="6171"/>
                <a:ext cx="591" cy="1576"/>
              </a:xfrm>
              <a:custGeom>
                <a:avLst/>
                <a:gdLst>
                  <a:gd name="connisteX0" fmla="*/ 0 w 375503"/>
                  <a:gd name="connsiteY0" fmla="*/ 0 h 1064895"/>
                  <a:gd name="connisteX1" fmla="*/ 375285 w 375503"/>
                  <a:gd name="connsiteY1" fmla="*/ 494665 h 1064895"/>
                  <a:gd name="connisteX2" fmla="*/ 45085 w 375503"/>
                  <a:gd name="connsiteY2" fmla="*/ 1064895 h 106489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</a:cxnLst>
                <a:rect l="l" t="t" r="r" b="b"/>
                <a:pathLst>
                  <a:path w="375503" h="1064895">
                    <a:moveTo>
                      <a:pt x="0" y="0"/>
                    </a:moveTo>
                    <a:cubicBezTo>
                      <a:pt x="81915" y="87630"/>
                      <a:pt x="366395" y="281940"/>
                      <a:pt x="375285" y="494665"/>
                    </a:cubicBezTo>
                    <a:cubicBezTo>
                      <a:pt x="384175" y="707390"/>
                      <a:pt x="118745" y="960755"/>
                      <a:pt x="45085" y="1064895"/>
                    </a:cubicBezTo>
                  </a:path>
                </a:pathLst>
              </a:custGeom>
              <a:noFill/>
              <a:ln w="762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105" name="任意多边形 104"/>
              <p:cNvSpPr/>
              <p:nvPr/>
            </p:nvSpPr>
            <p:spPr>
              <a:xfrm>
                <a:off x="9233" y="7781"/>
                <a:ext cx="591" cy="1576"/>
              </a:xfrm>
              <a:custGeom>
                <a:avLst/>
                <a:gdLst>
                  <a:gd name="connisteX0" fmla="*/ 0 w 375503"/>
                  <a:gd name="connsiteY0" fmla="*/ 0 h 1064895"/>
                  <a:gd name="connisteX1" fmla="*/ 375285 w 375503"/>
                  <a:gd name="connsiteY1" fmla="*/ 494665 h 1064895"/>
                  <a:gd name="connisteX2" fmla="*/ 45085 w 375503"/>
                  <a:gd name="connsiteY2" fmla="*/ 1064895 h 1064895"/>
                </a:gdLst>
                <a:ahLst/>
                <a:cxnLst>
                  <a:cxn ang="0">
                    <a:pos x="connisteX0" y="connsiteY0"/>
                  </a:cxn>
                  <a:cxn ang="0">
                    <a:pos x="connisteX1" y="connsiteY1"/>
                  </a:cxn>
                  <a:cxn ang="0">
                    <a:pos x="connisteX2" y="connsiteY2"/>
                  </a:cxn>
                </a:cxnLst>
                <a:rect l="l" t="t" r="r" b="b"/>
                <a:pathLst>
                  <a:path w="375503" h="1064895">
                    <a:moveTo>
                      <a:pt x="0" y="0"/>
                    </a:moveTo>
                    <a:cubicBezTo>
                      <a:pt x="81915" y="87630"/>
                      <a:pt x="366395" y="281940"/>
                      <a:pt x="375285" y="494665"/>
                    </a:cubicBezTo>
                    <a:cubicBezTo>
                      <a:pt x="384175" y="707390"/>
                      <a:pt x="118745" y="960755"/>
                      <a:pt x="45085" y="1064895"/>
                    </a:cubicBezTo>
                  </a:path>
                </a:pathLst>
              </a:custGeom>
              <a:noFill/>
              <a:ln w="7620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</p:grpSp>
      </p:grpSp>
      <p:grpSp>
        <p:nvGrpSpPr>
          <p:cNvPr id="108" name="组合 107"/>
          <p:cNvGrpSpPr/>
          <p:nvPr/>
        </p:nvGrpSpPr>
        <p:grpSpPr>
          <a:xfrm>
            <a:off x="235585" y="2132965"/>
            <a:ext cx="3753485" cy="4384040"/>
            <a:chOff x="371" y="3359"/>
            <a:chExt cx="6431" cy="6904"/>
          </a:xfrm>
        </p:grpSpPr>
        <p:grpSp>
          <p:nvGrpSpPr>
            <p:cNvPr id="25" name="组合 24"/>
            <p:cNvGrpSpPr/>
            <p:nvPr/>
          </p:nvGrpSpPr>
          <p:grpSpPr>
            <a:xfrm>
              <a:off x="371" y="3417"/>
              <a:ext cx="351" cy="6846"/>
              <a:chOff x="2063" y="2792"/>
              <a:chExt cx="351" cy="6846"/>
            </a:xfrm>
          </p:grpSpPr>
          <p:cxnSp>
            <p:nvCxnSpPr>
              <p:cNvPr id="3" name="直接连接符 2"/>
              <p:cNvCxnSpPr/>
              <p:nvPr/>
            </p:nvCxnSpPr>
            <p:spPr>
              <a:xfrm flipH="1">
                <a:off x="2244" y="2792"/>
                <a:ext cx="0" cy="6847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" name="椭圆 1"/>
              <p:cNvSpPr/>
              <p:nvPr/>
            </p:nvSpPr>
            <p:spPr>
              <a:xfrm>
                <a:off x="2073" y="3245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4" name="椭圆 3"/>
              <p:cNvSpPr/>
              <p:nvPr/>
            </p:nvSpPr>
            <p:spPr>
              <a:xfrm>
                <a:off x="2074" y="3634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5" name="椭圆 4"/>
              <p:cNvSpPr/>
              <p:nvPr/>
            </p:nvSpPr>
            <p:spPr>
              <a:xfrm>
                <a:off x="2071" y="4010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6" name="椭圆 5"/>
              <p:cNvSpPr/>
              <p:nvPr/>
            </p:nvSpPr>
            <p:spPr>
              <a:xfrm>
                <a:off x="2072" y="4399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9" name="椭圆 8"/>
              <p:cNvSpPr/>
              <p:nvPr/>
            </p:nvSpPr>
            <p:spPr>
              <a:xfrm>
                <a:off x="2070" y="4833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10" name="椭圆 9"/>
              <p:cNvSpPr/>
              <p:nvPr/>
            </p:nvSpPr>
            <p:spPr>
              <a:xfrm>
                <a:off x="2071" y="5222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11" name="椭圆 10"/>
              <p:cNvSpPr/>
              <p:nvPr/>
            </p:nvSpPr>
            <p:spPr>
              <a:xfrm>
                <a:off x="2068" y="5598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12" name="椭圆 11"/>
              <p:cNvSpPr/>
              <p:nvPr/>
            </p:nvSpPr>
            <p:spPr>
              <a:xfrm>
                <a:off x="2069" y="5987"/>
                <a:ext cx="340" cy="340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grpSp>
            <p:nvGrpSpPr>
              <p:cNvPr id="14" name="组合 13"/>
              <p:cNvGrpSpPr/>
              <p:nvPr/>
            </p:nvGrpSpPr>
            <p:grpSpPr>
              <a:xfrm>
                <a:off x="2063" y="6321"/>
                <a:ext cx="345" cy="3082"/>
                <a:chOff x="2068" y="3245"/>
                <a:chExt cx="345" cy="3082"/>
              </a:xfrm>
            </p:grpSpPr>
            <p:grpSp>
              <p:nvGrpSpPr>
                <p:cNvPr id="15" name="组合 14"/>
                <p:cNvGrpSpPr/>
                <p:nvPr/>
              </p:nvGrpSpPr>
              <p:grpSpPr>
                <a:xfrm>
                  <a:off x="2071" y="3245"/>
                  <a:ext cx="343" cy="1494"/>
                  <a:chOff x="2071" y="3245"/>
                  <a:chExt cx="343" cy="1494"/>
                </a:xfrm>
              </p:grpSpPr>
              <p:sp>
                <p:nvSpPr>
                  <p:cNvPr id="16" name="椭圆 15"/>
                  <p:cNvSpPr/>
                  <p:nvPr/>
                </p:nvSpPr>
                <p:spPr>
                  <a:xfrm>
                    <a:off x="2073" y="3245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7" name="椭圆 16"/>
                  <p:cNvSpPr/>
                  <p:nvPr/>
                </p:nvSpPr>
                <p:spPr>
                  <a:xfrm>
                    <a:off x="2074" y="3634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8" name="椭圆 17"/>
                  <p:cNvSpPr/>
                  <p:nvPr/>
                </p:nvSpPr>
                <p:spPr>
                  <a:xfrm>
                    <a:off x="2071" y="4010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19" name="椭圆 18"/>
                  <p:cNvSpPr/>
                  <p:nvPr/>
                </p:nvSpPr>
                <p:spPr>
                  <a:xfrm>
                    <a:off x="2072" y="4399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</p:grpSp>
            <p:grpSp>
              <p:nvGrpSpPr>
                <p:cNvPr id="20" name="组合 19"/>
                <p:cNvGrpSpPr/>
                <p:nvPr/>
              </p:nvGrpSpPr>
              <p:grpSpPr>
                <a:xfrm>
                  <a:off x="2068" y="4833"/>
                  <a:ext cx="343" cy="1494"/>
                  <a:chOff x="2071" y="3245"/>
                  <a:chExt cx="343" cy="1494"/>
                </a:xfrm>
              </p:grpSpPr>
              <p:sp>
                <p:nvSpPr>
                  <p:cNvPr id="21" name="椭圆 20"/>
                  <p:cNvSpPr/>
                  <p:nvPr/>
                </p:nvSpPr>
                <p:spPr>
                  <a:xfrm>
                    <a:off x="2073" y="3245"/>
                    <a:ext cx="340" cy="340"/>
                  </a:xfrm>
                  <a:prstGeom prst="ellipse">
                    <a:avLst/>
                  </a:prstGeom>
                  <a:solidFill>
                    <a:schemeClr val="accent4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2" name="椭圆 21"/>
                  <p:cNvSpPr/>
                  <p:nvPr/>
                </p:nvSpPr>
                <p:spPr>
                  <a:xfrm>
                    <a:off x="2074" y="3634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3" name="椭圆 22"/>
                  <p:cNvSpPr/>
                  <p:nvPr/>
                </p:nvSpPr>
                <p:spPr>
                  <a:xfrm>
                    <a:off x="2071" y="4010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24" name="椭圆 23"/>
                  <p:cNvSpPr/>
                  <p:nvPr/>
                </p:nvSpPr>
                <p:spPr>
                  <a:xfrm>
                    <a:off x="2072" y="4399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</p:grpSp>
          </p:grpSp>
        </p:grpSp>
        <p:grpSp>
          <p:nvGrpSpPr>
            <p:cNvPr id="26" name="组合 25"/>
            <p:cNvGrpSpPr/>
            <p:nvPr/>
          </p:nvGrpSpPr>
          <p:grpSpPr>
            <a:xfrm>
              <a:off x="2526" y="3417"/>
              <a:ext cx="351" cy="6846"/>
              <a:chOff x="2063" y="2792"/>
              <a:chExt cx="351" cy="6846"/>
            </a:xfrm>
          </p:grpSpPr>
          <p:cxnSp>
            <p:nvCxnSpPr>
              <p:cNvPr id="27" name="直接连接符 26"/>
              <p:cNvCxnSpPr/>
              <p:nvPr/>
            </p:nvCxnSpPr>
            <p:spPr>
              <a:xfrm flipH="1">
                <a:off x="2244" y="2792"/>
                <a:ext cx="0" cy="6847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28" name="椭圆 27"/>
              <p:cNvSpPr/>
              <p:nvPr/>
            </p:nvSpPr>
            <p:spPr>
              <a:xfrm>
                <a:off x="2073" y="3245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2074" y="3634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30" name="椭圆 29"/>
              <p:cNvSpPr/>
              <p:nvPr/>
            </p:nvSpPr>
            <p:spPr>
              <a:xfrm>
                <a:off x="2071" y="4010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31" name="椭圆 30"/>
              <p:cNvSpPr/>
              <p:nvPr/>
            </p:nvSpPr>
            <p:spPr>
              <a:xfrm>
                <a:off x="2072" y="4399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32" name="椭圆 31"/>
              <p:cNvSpPr/>
              <p:nvPr/>
            </p:nvSpPr>
            <p:spPr>
              <a:xfrm>
                <a:off x="2070" y="4833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2071" y="5222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34" name="椭圆 33"/>
              <p:cNvSpPr/>
              <p:nvPr/>
            </p:nvSpPr>
            <p:spPr>
              <a:xfrm>
                <a:off x="2068" y="5598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35" name="椭圆 34"/>
              <p:cNvSpPr/>
              <p:nvPr/>
            </p:nvSpPr>
            <p:spPr>
              <a:xfrm>
                <a:off x="2069" y="5987"/>
                <a:ext cx="340" cy="340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grpSp>
            <p:nvGrpSpPr>
              <p:cNvPr id="36" name="组合 35"/>
              <p:cNvGrpSpPr/>
              <p:nvPr/>
            </p:nvGrpSpPr>
            <p:grpSpPr>
              <a:xfrm>
                <a:off x="2063" y="6321"/>
                <a:ext cx="345" cy="3082"/>
                <a:chOff x="2068" y="3245"/>
                <a:chExt cx="345" cy="3082"/>
              </a:xfrm>
            </p:grpSpPr>
            <p:grpSp>
              <p:nvGrpSpPr>
                <p:cNvPr id="37" name="组合 36"/>
                <p:cNvGrpSpPr/>
                <p:nvPr/>
              </p:nvGrpSpPr>
              <p:grpSpPr>
                <a:xfrm>
                  <a:off x="2071" y="3245"/>
                  <a:ext cx="343" cy="1494"/>
                  <a:chOff x="2071" y="3245"/>
                  <a:chExt cx="343" cy="1494"/>
                </a:xfrm>
              </p:grpSpPr>
              <p:sp>
                <p:nvSpPr>
                  <p:cNvPr id="38" name="椭圆 37"/>
                  <p:cNvSpPr/>
                  <p:nvPr/>
                </p:nvSpPr>
                <p:spPr>
                  <a:xfrm>
                    <a:off x="2073" y="3245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39" name="椭圆 38"/>
                  <p:cNvSpPr/>
                  <p:nvPr/>
                </p:nvSpPr>
                <p:spPr>
                  <a:xfrm>
                    <a:off x="2074" y="3634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0" name="椭圆 39"/>
                  <p:cNvSpPr/>
                  <p:nvPr/>
                </p:nvSpPr>
                <p:spPr>
                  <a:xfrm>
                    <a:off x="2071" y="4010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1" name="椭圆 40"/>
                  <p:cNvSpPr/>
                  <p:nvPr/>
                </p:nvSpPr>
                <p:spPr>
                  <a:xfrm>
                    <a:off x="2072" y="4399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</p:grpSp>
            <p:grpSp>
              <p:nvGrpSpPr>
                <p:cNvPr id="42" name="组合 41"/>
                <p:cNvGrpSpPr/>
                <p:nvPr/>
              </p:nvGrpSpPr>
              <p:grpSpPr>
                <a:xfrm>
                  <a:off x="2068" y="4833"/>
                  <a:ext cx="343" cy="1494"/>
                  <a:chOff x="2071" y="3245"/>
                  <a:chExt cx="343" cy="1494"/>
                </a:xfrm>
              </p:grpSpPr>
              <p:sp>
                <p:nvSpPr>
                  <p:cNvPr id="43" name="椭圆 42"/>
                  <p:cNvSpPr/>
                  <p:nvPr/>
                </p:nvSpPr>
                <p:spPr>
                  <a:xfrm>
                    <a:off x="2073" y="3245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4" name="椭圆 43"/>
                  <p:cNvSpPr/>
                  <p:nvPr/>
                </p:nvSpPr>
                <p:spPr>
                  <a:xfrm>
                    <a:off x="2074" y="3634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5" name="椭圆 44"/>
                  <p:cNvSpPr/>
                  <p:nvPr/>
                </p:nvSpPr>
                <p:spPr>
                  <a:xfrm>
                    <a:off x="2071" y="4010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46" name="椭圆 45"/>
                  <p:cNvSpPr/>
                  <p:nvPr/>
                </p:nvSpPr>
                <p:spPr>
                  <a:xfrm>
                    <a:off x="2072" y="4399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</p:grpSp>
          </p:grpSp>
        </p:grpSp>
        <p:grpSp>
          <p:nvGrpSpPr>
            <p:cNvPr id="47" name="组合 46"/>
            <p:cNvGrpSpPr/>
            <p:nvPr/>
          </p:nvGrpSpPr>
          <p:grpSpPr>
            <a:xfrm>
              <a:off x="4494" y="3417"/>
              <a:ext cx="351" cy="6846"/>
              <a:chOff x="2063" y="2792"/>
              <a:chExt cx="351" cy="6846"/>
            </a:xfrm>
          </p:grpSpPr>
          <p:cxnSp>
            <p:nvCxnSpPr>
              <p:cNvPr id="48" name="直接连接符 47"/>
              <p:cNvCxnSpPr/>
              <p:nvPr/>
            </p:nvCxnSpPr>
            <p:spPr>
              <a:xfrm flipH="1">
                <a:off x="2244" y="2792"/>
                <a:ext cx="0" cy="6847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49" name="椭圆 48"/>
              <p:cNvSpPr/>
              <p:nvPr/>
            </p:nvSpPr>
            <p:spPr>
              <a:xfrm>
                <a:off x="2073" y="3245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50" name="椭圆 49"/>
              <p:cNvSpPr/>
              <p:nvPr/>
            </p:nvSpPr>
            <p:spPr>
              <a:xfrm>
                <a:off x="2074" y="3634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51" name="椭圆 50"/>
              <p:cNvSpPr/>
              <p:nvPr/>
            </p:nvSpPr>
            <p:spPr>
              <a:xfrm>
                <a:off x="2071" y="4010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52" name="椭圆 51"/>
              <p:cNvSpPr/>
              <p:nvPr/>
            </p:nvSpPr>
            <p:spPr>
              <a:xfrm>
                <a:off x="2072" y="4399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53" name="椭圆 52"/>
              <p:cNvSpPr/>
              <p:nvPr/>
            </p:nvSpPr>
            <p:spPr>
              <a:xfrm>
                <a:off x="2070" y="4833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54" name="椭圆 53"/>
              <p:cNvSpPr/>
              <p:nvPr/>
            </p:nvSpPr>
            <p:spPr>
              <a:xfrm>
                <a:off x="2071" y="5222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55" name="椭圆 54"/>
              <p:cNvSpPr/>
              <p:nvPr/>
            </p:nvSpPr>
            <p:spPr>
              <a:xfrm>
                <a:off x="2068" y="5598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56" name="椭圆 55"/>
              <p:cNvSpPr/>
              <p:nvPr/>
            </p:nvSpPr>
            <p:spPr>
              <a:xfrm>
                <a:off x="2069" y="5987"/>
                <a:ext cx="340" cy="340"/>
              </a:xfrm>
              <a:prstGeom prst="ellipse">
                <a:avLst/>
              </a:prstGeom>
              <a:solidFill>
                <a:srgbClr val="FF0000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grpSp>
            <p:nvGrpSpPr>
              <p:cNvPr id="57" name="组合 56"/>
              <p:cNvGrpSpPr/>
              <p:nvPr/>
            </p:nvGrpSpPr>
            <p:grpSpPr>
              <a:xfrm>
                <a:off x="2063" y="6321"/>
                <a:ext cx="345" cy="3082"/>
                <a:chOff x="2068" y="3245"/>
                <a:chExt cx="345" cy="3082"/>
              </a:xfrm>
            </p:grpSpPr>
            <p:grpSp>
              <p:nvGrpSpPr>
                <p:cNvPr id="58" name="组合 57"/>
                <p:cNvGrpSpPr/>
                <p:nvPr/>
              </p:nvGrpSpPr>
              <p:grpSpPr>
                <a:xfrm>
                  <a:off x="2071" y="3245"/>
                  <a:ext cx="343" cy="1494"/>
                  <a:chOff x="2071" y="3245"/>
                  <a:chExt cx="343" cy="1494"/>
                </a:xfrm>
              </p:grpSpPr>
              <p:sp>
                <p:nvSpPr>
                  <p:cNvPr id="59" name="椭圆 58"/>
                  <p:cNvSpPr/>
                  <p:nvPr/>
                </p:nvSpPr>
                <p:spPr>
                  <a:xfrm>
                    <a:off x="2073" y="3245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60" name="椭圆 59"/>
                  <p:cNvSpPr/>
                  <p:nvPr/>
                </p:nvSpPr>
                <p:spPr>
                  <a:xfrm>
                    <a:off x="2074" y="3634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61" name="椭圆 60"/>
                  <p:cNvSpPr/>
                  <p:nvPr/>
                </p:nvSpPr>
                <p:spPr>
                  <a:xfrm>
                    <a:off x="2071" y="4010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62" name="椭圆 61"/>
                  <p:cNvSpPr/>
                  <p:nvPr/>
                </p:nvSpPr>
                <p:spPr>
                  <a:xfrm>
                    <a:off x="2072" y="4399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</p:grpSp>
            <p:grpSp>
              <p:nvGrpSpPr>
                <p:cNvPr id="63" name="组合 62"/>
                <p:cNvGrpSpPr/>
                <p:nvPr/>
              </p:nvGrpSpPr>
              <p:grpSpPr>
                <a:xfrm>
                  <a:off x="2068" y="4833"/>
                  <a:ext cx="343" cy="1494"/>
                  <a:chOff x="2071" y="3245"/>
                  <a:chExt cx="343" cy="1494"/>
                </a:xfrm>
              </p:grpSpPr>
              <p:sp>
                <p:nvSpPr>
                  <p:cNvPr id="64" name="椭圆 63"/>
                  <p:cNvSpPr/>
                  <p:nvPr/>
                </p:nvSpPr>
                <p:spPr>
                  <a:xfrm>
                    <a:off x="2073" y="3245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65" name="椭圆 64"/>
                  <p:cNvSpPr/>
                  <p:nvPr/>
                </p:nvSpPr>
                <p:spPr>
                  <a:xfrm>
                    <a:off x="2074" y="3634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66" name="椭圆 65"/>
                  <p:cNvSpPr/>
                  <p:nvPr/>
                </p:nvSpPr>
                <p:spPr>
                  <a:xfrm>
                    <a:off x="2071" y="4010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67" name="椭圆 66"/>
                  <p:cNvSpPr/>
                  <p:nvPr/>
                </p:nvSpPr>
                <p:spPr>
                  <a:xfrm>
                    <a:off x="2072" y="4399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</p:grpSp>
          </p:grpSp>
        </p:grpSp>
        <p:grpSp>
          <p:nvGrpSpPr>
            <p:cNvPr id="68" name="组合 67"/>
            <p:cNvGrpSpPr/>
            <p:nvPr/>
          </p:nvGrpSpPr>
          <p:grpSpPr>
            <a:xfrm>
              <a:off x="6406" y="3359"/>
              <a:ext cx="397" cy="6847"/>
              <a:chOff x="2023" y="2792"/>
              <a:chExt cx="397" cy="6847"/>
            </a:xfrm>
          </p:grpSpPr>
          <p:cxnSp>
            <p:nvCxnSpPr>
              <p:cNvPr id="69" name="直接连接符 68"/>
              <p:cNvCxnSpPr/>
              <p:nvPr/>
            </p:nvCxnSpPr>
            <p:spPr>
              <a:xfrm flipH="1">
                <a:off x="2244" y="2792"/>
                <a:ext cx="0" cy="6847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sp>
            <p:nvSpPr>
              <p:cNvPr id="70" name="椭圆 69"/>
              <p:cNvSpPr/>
              <p:nvPr/>
            </p:nvSpPr>
            <p:spPr>
              <a:xfrm>
                <a:off x="2073" y="3245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71" name="椭圆 70"/>
              <p:cNvSpPr/>
              <p:nvPr/>
            </p:nvSpPr>
            <p:spPr>
              <a:xfrm>
                <a:off x="2074" y="3634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72" name="椭圆 71"/>
              <p:cNvSpPr/>
              <p:nvPr/>
            </p:nvSpPr>
            <p:spPr>
              <a:xfrm>
                <a:off x="2071" y="4010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73" name="椭圆 72"/>
              <p:cNvSpPr/>
              <p:nvPr/>
            </p:nvSpPr>
            <p:spPr>
              <a:xfrm>
                <a:off x="2072" y="4399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74" name="椭圆 73"/>
              <p:cNvSpPr/>
              <p:nvPr/>
            </p:nvSpPr>
            <p:spPr>
              <a:xfrm>
                <a:off x="2070" y="4833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75" name="椭圆 74"/>
              <p:cNvSpPr/>
              <p:nvPr/>
            </p:nvSpPr>
            <p:spPr>
              <a:xfrm>
                <a:off x="2071" y="5222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76" name="椭圆 75"/>
              <p:cNvSpPr/>
              <p:nvPr/>
            </p:nvSpPr>
            <p:spPr>
              <a:xfrm>
                <a:off x="2068" y="5598"/>
                <a:ext cx="340" cy="340"/>
              </a:xfrm>
              <a:prstGeom prst="ellipse">
                <a:avLst/>
              </a:prstGeom>
              <a:solidFill>
                <a:srgbClr val="0000FF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sp>
            <p:nvSpPr>
              <p:cNvPr id="77" name="椭圆 76"/>
              <p:cNvSpPr/>
              <p:nvPr/>
            </p:nvSpPr>
            <p:spPr>
              <a:xfrm>
                <a:off x="2023" y="5941"/>
                <a:ext cx="397" cy="397"/>
              </a:xfrm>
              <a:prstGeom prst="ellipse">
                <a:avLst/>
              </a:prstGeom>
              <a:solidFill>
                <a:srgbClr val="FF99FF"/>
              </a:solidFill>
              <a:ln w="9525" cap="flat" cmpd="sng" algn="ctr">
                <a:solidFill>
                  <a:srgbClr val="FF99FF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 vert="horz" wrap="square" lIns="91440" tIns="45720" rIns="91440" bIns="45720" numCol="1" anchor="t" anchorCtr="0" compatLnSpc="1"/>
              <a:p>
                <a:pPr marL="0" marR="0" indent="0" algn="l" defTabSz="914400" rtl="0" eaLnBrk="1" fontAlgn="base" latinLnBrk="0" hangingPunct="1"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</a:pPr>
                <a:endParaRPr kumimoji="1" lang="zh-CN" altLang="en-US" sz="2400" b="1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itchFamily="2" charset="-122"/>
                </a:endParaRPr>
              </a:p>
            </p:txBody>
          </p:sp>
          <p:grpSp>
            <p:nvGrpSpPr>
              <p:cNvPr id="78" name="组合 77"/>
              <p:cNvGrpSpPr/>
              <p:nvPr/>
            </p:nvGrpSpPr>
            <p:grpSpPr>
              <a:xfrm>
                <a:off x="2063" y="6321"/>
                <a:ext cx="345" cy="3082"/>
                <a:chOff x="2068" y="3245"/>
                <a:chExt cx="345" cy="3082"/>
              </a:xfrm>
            </p:grpSpPr>
            <p:grpSp>
              <p:nvGrpSpPr>
                <p:cNvPr id="79" name="组合 78"/>
                <p:cNvGrpSpPr/>
                <p:nvPr/>
              </p:nvGrpSpPr>
              <p:grpSpPr>
                <a:xfrm>
                  <a:off x="2071" y="3245"/>
                  <a:ext cx="343" cy="1494"/>
                  <a:chOff x="2071" y="3245"/>
                  <a:chExt cx="343" cy="1494"/>
                </a:xfrm>
              </p:grpSpPr>
              <p:sp>
                <p:nvSpPr>
                  <p:cNvPr id="80" name="椭圆 79"/>
                  <p:cNvSpPr/>
                  <p:nvPr/>
                </p:nvSpPr>
                <p:spPr>
                  <a:xfrm>
                    <a:off x="2073" y="3245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81" name="椭圆 80"/>
                  <p:cNvSpPr/>
                  <p:nvPr/>
                </p:nvSpPr>
                <p:spPr>
                  <a:xfrm>
                    <a:off x="2074" y="3634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82" name="椭圆 81"/>
                  <p:cNvSpPr/>
                  <p:nvPr/>
                </p:nvSpPr>
                <p:spPr>
                  <a:xfrm>
                    <a:off x="2071" y="4010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83" name="椭圆 82"/>
                  <p:cNvSpPr/>
                  <p:nvPr/>
                </p:nvSpPr>
                <p:spPr>
                  <a:xfrm>
                    <a:off x="2072" y="4399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</p:grpSp>
            <p:grpSp>
              <p:nvGrpSpPr>
                <p:cNvPr id="84" name="组合 83"/>
                <p:cNvGrpSpPr/>
                <p:nvPr/>
              </p:nvGrpSpPr>
              <p:grpSpPr>
                <a:xfrm>
                  <a:off x="2068" y="4833"/>
                  <a:ext cx="343" cy="1494"/>
                  <a:chOff x="2071" y="3245"/>
                  <a:chExt cx="343" cy="1494"/>
                </a:xfrm>
              </p:grpSpPr>
              <p:sp>
                <p:nvSpPr>
                  <p:cNvPr id="85" name="椭圆 84"/>
                  <p:cNvSpPr/>
                  <p:nvPr/>
                </p:nvSpPr>
                <p:spPr>
                  <a:xfrm>
                    <a:off x="2073" y="3245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86" name="椭圆 85"/>
                  <p:cNvSpPr/>
                  <p:nvPr/>
                </p:nvSpPr>
                <p:spPr>
                  <a:xfrm>
                    <a:off x="2074" y="3634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87" name="椭圆 86"/>
                  <p:cNvSpPr/>
                  <p:nvPr/>
                </p:nvSpPr>
                <p:spPr>
                  <a:xfrm>
                    <a:off x="2071" y="4010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  <p:sp>
                <p:nvSpPr>
                  <p:cNvPr id="88" name="椭圆 87"/>
                  <p:cNvSpPr/>
                  <p:nvPr/>
                </p:nvSpPr>
                <p:spPr>
                  <a:xfrm>
                    <a:off x="2072" y="4399"/>
                    <a:ext cx="340" cy="340"/>
                  </a:xfrm>
                  <a:prstGeom prst="ellipse">
                    <a:avLst/>
                  </a:prstGeom>
                  <a:solidFill>
                    <a:schemeClr val="accent1"/>
                  </a:solidFill>
                  <a:ln w="9525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</p:spPr>
                <p:txBody>
                  <a:bodyPr vert="horz" wrap="square" lIns="91440" tIns="45720" rIns="91440" bIns="45720" numCol="1" anchor="t" anchorCtr="0" compatLnSpc="1"/>
                  <a:p>
                    <a:pPr marL="0" marR="0" indent="0" algn="l" defTabSz="914400" rtl="0" eaLnBrk="1" fontAlgn="base" latinLnBrk="0" hangingPunct="1"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</a:pPr>
                    <a:endParaRPr kumimoji="1" lang="zh-CN" altLang="en-US" sz="2400" b="1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Times New Roman" panose="02020603050405020304" pitchFamily="18" charset="0"/>
                      <a:ea typeface="宋体" pitchFamily="2" charset="-122"/>
                    </a:endParaRPr>
                  </a:p>
                </p:txBody>
              </p:sp>
            </p:grpSp>
          </p:grpSp>
        </p:grpSp>
        <p:cxnSp>
          <p:nvCxnSpPr>
            <p:cNvPr id="89" name="直接箭头连接符 88"/>
            <p:cNvCxnSpPr/>
            <p:nvPr/>
          </p:nvCxnSpPr>
          <p:spPr>
            <a:xfrm flipH="1">
              <a:off x="938" y="3938"/>
              <a:ext cx="0" cy="265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90" name="直接箭头连接符 89"/>
            <p:cNvCxnSpPr/>
            <p:nvPr/>
          </p:nvCxnSpPr>
          <p:spPr>
            <a:xfrm flipH="1">
              <a:off x="2412" y="4018"/>
              <a:ext cx="0" cy="265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91" name="直接箭头连接符 90"/>
            <p:cNvCxnSpPr/>
            <p:nvPr/>
          </p:nvCxnSpPr>
          <p:spPr>
            <a:xfrm flipH="1">
              <a:off x="4425" y="3871"/>
              <a:ext cx="0" cy="2654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92" name="直接箭头连接符 91"/>
            <p:cNvCxnSpPr/>
            <p:nvPr/>
          </p:nvCxnSpPr>
          <p:spPr>
            <a:xfrm flipH="1">
              <a:off x="6311" y="3871"/>
              <a:ext cx="0" cy="266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00" name="直接箭头连接符 99"/>
            <p:cNvCxnSpPr/>
            <p:nvPr/>
          </p:nvCxnSpPr>
          <p:spPr>
            <a:xfrm flipV="1">
              <a:off x="1051" y="4098"/>
              <a:ext cx="1304" cy="2288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01" name="直接箭头连接符 100"/>
            <p:cNvCxnSpPr/>
            <p:nvPr/>
          </p:nvCxnSpPr>
          <p:spPr>
            <a:xfrm flipV="1">
              <a:off x="2979" y="4098"/>
              <a:ext cx="1361" cy="2392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02" name="直接箭头连接符 101"/>
            <p:cNvCxnSpPr/>
            <p:nvPr/>
          </p:nvCxnSpPr>
          <p:spPr>
            <a:xfrm flipV="1">
              <a:off x="4879" y="3994"/>
              <a:ext cx="1361" cy="2392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  <p:cxnSp>
          <p:nvCxnSpPr>
            <p:cNvPr id="106" name="直接箭头连接符 105"/>
            <p:cNvCxnSpPr/>
            <p:nvPr/>
          </p:nvCxnSpPr>
          <p:spPr>
            <a:xfrm flipH="1">
              <a:off x="713" y="6775"/>
              <a:ext cx="5669" cy="1816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 w="med" len="med"/>
            </a:ln>
          </p:spPr>
        </p:cxnSp>
      </p:grpSp>
      <p:sp>
        <p:nvSpPr>
          <p:cNvPr id="107" name="文本框 106"/>
          <p:cNvSpPr txBox="1"/>
          <p:nvPr/>
        </p:nvSpPr>
        <p:spPr>
          <a:xfrm>
            <a:off x="5913120" y="1124585"/>
            <a:ext cx="3230880" cy="5733415"/>
          </a:xfrm>
          <a:prstGeom prst="rect">
            <a:avLst/>
          </a:prstGeom>
          <a:solidFill>
            <a:schemeClr val="bg1"/>
          </a:solidFill>
          <a:ln w="19050">
            <a:solidFill>
              <a:schemeClr val="accent1"/>
            </a:solidFill>
          </a:ln>
        </p:spPr>
        <p:txBody>
          <a:bodyPr wrap="square" rtlCol="0">
            <a:noAutofit/>
          </a:bodyPr>
          <a:p>
            <a:pPr>
              <a:lnSpc>
                <a:spcPct val="150000"/>
              </a:lnSpc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记录：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BP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catch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首指令地址；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恢复：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线程栈的恢复；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IP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SP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BP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恢复；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600"/>
              </a:spcAft>
              <a:buClrTx/>
              <a:buSzTx/>
              <a:buFontTx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如何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记录？每个函数中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可以都有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try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如何恢复？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矩形 3"/>
          <p:cNvSpPr/>
          <p:nvPr/>
        </p:nvSpPr>
        <p:spPr>
          <a:xfrm>
            <a:off x="1043940" y="188595"/>
            <a:ext cx="800163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异常处理</a:t>
            </a:r>
            <a:r>
              <a:rPr 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例程</a:t>
            </a:r>
            <a:endParaRPr lang="zh-CN" sz="4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363855" y="2109470"/>
            <a:ext cx="8663940" cy="304165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</a:pPr>
            <a:r>
              <a:rPr lang="zh-CN" altLang="en-US" sz="32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这是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导致</a:t>
            </a:r>
            <a:r>
              <a:rPr lang="zh-CN" altLang="en-US" sz="3200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内存泄漏</a:t>
            </a:r>
            <a:r>
              <a:rPr lang="zh-CN" altLang="en-US" sz="32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的一个重要原因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，为什么？</a:t>
            </a:r>
            <a:endParaRPr lang="zh-CN" altLang="en-US" sz="32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</a:pPr>
            <a:r>
              <a:rPr lang="zh-CN" altLang="en-US" sz="32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这就是</a:t>
            </a:r>
            <a:r>
              <a:rPr lang="zh-CN" altLang="en-US" sz="3200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Java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采用</a:t>
            </a:r>
            <a:r>
              <a:rPr lang="zh-CN" altLang="en-US" sz="3200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垃圾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定期识别</a:t>
            </a:r>
            <a:r>
              <a:rPr lang="zh-CN" altLang="en-US" sz="32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和</a:t>
            </a:r>
            <a:r>
              <a:rPr lang="zh-CN" altLang="en-US" sz="32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回收</a:t>
            </a:r>
            <a:r>
              <a:rPr lang="zh-CN" altLang="en-US" sz="32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的原因！</a:t>
            </a: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矩形 3"/>
          <p:cNvSpPr/>
          <p:nvPr/>
        </p:nvSpPr>
        <p:spPr>
          <a:xfrm>
            <a:off x="843915" y="152400"/>
            <a:ext cx="8261350" cy="9080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lstStyle/>
          <a:p>
            <a:pPr algn="ctr"/>
            <a:r>
              <a:rPr lang="zh-CN" sz="3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服务程序</a:t>
            </a:r>
            <a:r>
              <a:rPr lang="en-US" altLang="zh-CN" sz="3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= </a:t>
            </a:r>
            <a:r>
              <a:rPr lang="zh-CN" altLang="en-US" sz="3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请求侦听线程</a:t>
            </a:r>
            <a:r>
              <a:rPr lang="en-US" altLang="zh-CN" sz="3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+</a:t>
            </a:r>
            <a:r>
              <a:rPr lang="zh-CN" altLang="en-US" sz="3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工作线程</a:t>
            </a:r>
            <a:endParaRPr lang="zh-CN" altLang="en-US" sz="38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56895" y="1124585"/>
            <a:ext cx="7943850" cy="57486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sz="3200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请求侦听线程</a:t>
            </a:r>
            <a:r>
              <a:rPr lang="en-US" altLang="zh-CN" sz="3200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(main</a:t>
            </a:r>
            <a:r>
              <a:rPr lang="zh-CN" altLang="en-US" sz="3200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线程）：</a:t>
            </a:r>
            <a:endParaRPr lang="zh-CN" altLang="en-US" sz="3200" b="1" dirty="0">
              <a:solidFill>
                <a:srgbClr val="0001FF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for 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i=0; i++; i &lt; n)    {</a:t>
            </a:r>
            <a:endParaRPr lang="zh-CN" alt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   threadId = </a:t>
            </a:r>
            <a:r>
              <a:rPr lang="en-US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createThread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（</a:t>
            </a:r>
            <a:r>
              <a:rPr 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workThreadFun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）；</a:t>
            </a:r>
            <a:endParaRPr lang="zh-CN" altLang="en-US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zh-CN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  </a:t>
            </a:r>
            <a:r>
              <a:rPr lang="en-US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pushPool</a:t>
            </a:r>
            <a:r>
              <a:rPr lang="en-US" altLang="zh-CN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(threadId);</a:t>
            </a:r>
            <a:endParaRPr lang="zh-CN" altLang="en-US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altLang="zh-CN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}</a:t>
            </a:r>
            <a:endParaRPr lang="en-US" altLang="zh-CN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portId = </a:t>
            </a:r>
            <a:r>
              <a:rPr lang="en-US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applyPort</a:t>
            </a:r>
            <a:r>
              <a:rPr 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();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listen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 portId);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while（1）  {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request = </a:t>
            </a:r>
            <a:r>
              <a:rPr 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waitForConnectRequest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 );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workThireadId = </a:t>
            </a:r>
            <a:r>
              <a:rPr 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fetchFromPool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);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</a:t>
            </a:r>
            <a:r>
              <a:rPr 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PostMessage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</a:t>
            </a:r>
            <a:r>
              <a:rPr 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workThireadId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request);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}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</a:pPr>
            <a:endParaRPr lang="en-US" alt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Symbol" panose="05050102010706020507" charset="0"/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矩形 3"/>
          <p:cNvSpPr/>
          <p:nvPr/>
        </p:nvSpPr>
        <p:spPr>
          <a:xfrm>
            <a:off x="827405" y="260350"/>
            <a:ext cx="800163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服务程序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工作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线程</a:t>
            </a:r>
            <a:endParaRPr lang="zh-CN" altLang="en-US" sz="4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11505" y="1052830"/>
            <a:ext cx="8414385" cy="5851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void workThreadFun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（）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{</a:t>
            </a:r>
            <a:endParaRPr lang="zh-CN" alt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portId = </a:t>
            </a:r>
            <a:r>
              <a:rPr 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applyPort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();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while（1）  {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      msg = </a:t>
            </a:r>
            <a:r>
              <a:rPr 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waitForMesssge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 );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      if (msg.Type == CONNECT)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             </a:t>
            </a:r>
            <a:r>
              <a:rPr 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ConnectResponse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(msg, portId );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      else  if (msg.Type == CLOSE)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            </a:t>
            </a:r>
            <a:r>
              <a:rPr 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CloseConnect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();  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            </a:t>
            </a:r>
            <a:r>
              <a:rPr 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AddToPool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(selfId);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      else  if (msg.Type == REQUEST)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            </a:t>
            </a:r>
            <a:r>
              <a:rPr 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RequestResponse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(msg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);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}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}</a:t>
            </a:r>
            <a:endParaRPr lang="en-US" alt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Symbol" panose="05050102010706020507" charset="0"/>
            </a:endParaRP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服务的永恒性 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vs 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增添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性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242" name="内容占位符 2"/>
          <p:cNvSpPr>
            <a:spLocks noGrp="1"/>
          </p:cNvSpPr>
          <p:nvPr>
            <p:ph idx="1"/>
          </p:nvPr>
        </p:nvSpPr>
        <p:spPr>
          <a:xfrm>
            <a:off x="0" y="1417320"/>
            <a:ext cx="9012555" cy="5019675"/>
          </a:xfrm>
        </p:spPr>
        <p:txBody>
          <a:bodyPr anchor="t"/>
          <a:lstStyle/>
          <a:p>
            <a:pPr eaLnBrk="1" latinLnBrk="0" hangingPunct="1">
              <a:lnSpc>
                <a:spcPct val="150000"/>
              </a:lnSpc>
              <a:spcBef>
                <a:spcPts val="18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服务一旦发布出去了，客户就会基于服务规定，形成固定概念，来访问服务。因此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服务规定最好不要改变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，一旦改变就导致客户错乱。例如，院楼把房间号直接改了。</a:t>
            </a:r>
            <a:endParaRPr 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18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服务的变动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要前向兼容</a:t>
            </a:r>
            <a:r>
              <a:rPr 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，确保原有客户不受影响。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前向兼容就是只能新增，不能对原有规定做修改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删除。例如，尽管现在是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4G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5G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时代，原有的旧手机依然能照常使用。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eaLnBrk="1" latinLnBrk="0" hangingPunct="1">
              <a:lnSpc>
                <a:spcPct val="150000"/>
              </a:lnSpc>
              <a:spcBef>
                <a:spcPts val="18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新的机型和操作系统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，如何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前向兼容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旧的应用程序</a:t>
            </a:r>
            <a:r>
              <a:rPr 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，例如，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DOS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windows 16 ?</a:t>
            </a:r>
            <a:endParaRPr lang="en-US" altLang="zh-CN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 </a:t>
            </a:r>
            <a:r>
              <a:rPr lang="zh-CN" sz="3200" dirty="0">
                <a:latin typeface="微软雅黑" panose="020B0503020204020204" charset="-122"/>
                <a:ea typeface="微软雅黑" panose="020B0503020204020204" charset="-122"/>
              </a:rPr>
              <a:t>云计算</a:t>
            </a:r>
            <a:endParaRPr lang="zh-CN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97790" y="1138555"/>
            <a:ext cx="9144000" cy="5692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云计算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中的最核心概念就是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虚拟化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虚拟机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。云计算中的资源都是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共享资源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。由高性能（多核处理器，大内存）服务器组成；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不同客户有不同特性，需求不同。要求能基于客户需求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定制资源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云中心作为客户任务的聚集点，呈动态性，为了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负载均衡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，要动态调配，例如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进程迁移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云计算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中，客户要运行的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可执行程序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五花八门，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要能运行；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云计算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中，要运行客户提供的程序。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客户程序可能很糟，有运算死循环，内存泄露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，导致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，内存之类的公共资源被吞占耗尽。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客户程序可能不怀好意，想入侵系统，或者捣乱系统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sz="3200" dirty="0">
                <a:latin typeface="微软雅黑" panose="020B0503020204020204" charset="-122"/>
                <a:ea typeface="微软雅黑" panose="020B0503020204020204" charset="-122"/>
              </a:rPr>
              <a:t>云计算的三种方式</a:t>
            </a:r>
            <a:endParaRPr lang="zh-CN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28270" y="1411605"/>
            <a:ext cx="8887460" cy="4831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服务方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提供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程序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(即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软件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，客户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租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资源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CPU，memory，disk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）。</a:t>
            </a:r>
            <a:r>
              <a:rPr 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比如，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polarDB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云数据库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；客户租了之后，就拥有了自己的数据库，只是运行在别人的机器上；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服务方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提供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API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指定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编程语言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Script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客户方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编写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脚本程序，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上传到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服务器，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服务器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上运行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成为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上层服务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应用级服务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 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例如，微信的云开发方式以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Node.js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为服务平台</a:t>
            </a:r>
            <a:r>
              <a:rPr 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服务方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提供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或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者容器，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客户方提供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二进制可执行程序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，运行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虚拟机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上或者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容器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 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例如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docker</a:t>
            </a: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超算。</a:t>
            </a: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sz="3200" dirty="0">
                <a:latin typeface="微软雅黑" panose="020B0503020204020204" charset="-122"/>
                <a:ea typeface="微软雅黑" panose="020B0503020204020204" charset="-122"/>
              </a:rPr>
              <a:t>云计算三种方式</a:t>
            </a:r>
            <a:r>
              <a:rPr lang="zh-CN" sz="3200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的抽象化</a:t>
            </a:r>
            <a:endParaRPr lang="en-US" altLang="zh-CN" sz="3200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0860" y="2203450"/>
            <a:ext cx="8484870" cy="2768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Infrastructure As a Service 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IaaS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;</a:t>
            </a:r>
            <a:endParaRPr lang="en-US" altLang="zh-CN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Platform As a Service 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PaaS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;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Software As a Service 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SaaS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charset="0"/>
            </a:pPr>
            <a:endParaRPr lang="zh-CN" altLang="en-US" b="1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矩形 3"/>
          <p:cNvSpPr/>
          <p:nvPr/>
        </p:nvSpPr>
        <p:spPr>
          <a:xfrm>
            <a:off x="1103630" y="339090"/>
            <a:ext cx="8001635" cy="583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32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共享生态的特性</a:t>
            </a:r>
            <a:endParaRPr lang="zh-CN" sz="32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100965" y="1240155"/>
            <a:ext cx="9004300" cy="54463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</a:pP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endParaRPr 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分布中有集中：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共享资源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管理者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交互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；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资源状态变化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：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可用，不可用，共享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charset="0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实体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的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物理位置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由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稳定性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  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变动性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：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   </a:t>
            </a:r>
            <a:r>
              <a:rPr 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物理位置参数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：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写到程序中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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配置参数文件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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服务管理中心；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charset="0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彼此独立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的</a:t>
            </a:r>
            <a:r>
              <a:rPr lang="zh-CN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实体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之间的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交互特性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：请求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是否成功是问号；什么时候得到响应结果也是问号。一句话：请人家办事，由人家说了算。当认为靠不住时，是否还有其它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途径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来解决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Symbol" panose="05050102010706020507" charset="0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Symbol" panose="05050102010706020507" charset="0"/>
            </a:endParaRP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Rectangle 2"/>
          <p:cNvSpPr>
            <a:spLocks noGrp="1"/>
          </p:cNvSpPr>
          <p:nvPr>
            <p:ph type="title"/>
          </p:nvPr>
        </p:nvSpPr>
        <p:spPr>
          <a:xfrm>
            <a:off x="1066800" y="152400"/>
            <a:ext cx="7620000" cy="804863"/>
          </a:xfrm>
        </p:spPr>
        <p:txBody>
          <a:bodyPr vert="horz" wrap="square" lIns="91440" tIns="45720" rIns="91440" bIns="45720" anchor="ctr"/>
          <a:p>
            <a:pPr eaLnBrk="1" hangingPunct="1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共享理念带来管理问题</a:t>
            </a:r>
            <a:endParaRPr lang="zh-CN" altLang="en-US" sz="4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123" name="Rectangle 3"/>
          <p:cNvSpPr>
            <a:spLocks noGrp="1"/>
          </p:cNvSpPr>
          <p:nvPr>
            <p:ph idx="1"/>
          </p:nvPr>
        </p:nvSpPr>
        <p:spPr>
          <a:xfrm>
            <a:off x="-3175" y="1311275"/>
            <a:ext cx="9147175" cy="5337175"/>
          </a:xfrm>
        </p:spPr>
        <p:txBody>
          <a:bodyPr vert="horz" wrap="square" lIns="91440" tIns="45720" rIns="91440" bIns="45720" anchor="t"/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DOS(Disk file operating  system),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一台机只运行一个应用程序；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多任务操作系统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，引入了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共享理念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，于是出现了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应用程序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管理器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管理器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分布式系统，也是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共享理念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，不过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范围进一步延伸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，对于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资源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不再是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静态的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，而是具有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动态性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。因此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就如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应用程序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一样，也需要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检测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和跟踪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监控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应用无关的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检测与监控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应用有关的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检测与监控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日志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1066800" y="80645"/>
            <a:ext cx="7620000" cy="1109345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云计算中应用程序彼此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间相互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隔离的重要性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24930" name="Rectangle 3"/>
          <p:cNvSpPr>
            <a:spLocks noGrp="1"/>
          </p:cNvSpPr>
          <p:nvPr>
            <p:ph idx="1"/>
          </p:nvPr>
        </p:nvSpPr>
        <p:spPr>
          <a:xfrm>
            <a:off x="90805" y="1415415"/>
            <a:ext cx="8962390" cy="4685030"/>
          </a:xfrm>
        </p:spPr>
        <p:txBody>
          <a:bodyPr wrap="square" lIns="91440" tIns="45720" rIns="91440" bIns="45720" anchor="t"/>
          <a:p>
            <a:pPr marL="0" indent="384175" eaLnBrk="1" hangingPunct="1">
              <a:lnSpc>
                <a:spcPct val="150000"/>
              </a:lnSpc>
              <a:spcBef>
                <a:spcPts val="40"/>
              </a:spcBef>
              <a:spcAft>
                <a:spcPts val="1800"/>
              </a:spcAft>
              <a:buClrTx/>
              <a:buNone/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对应用程序，进行隔离，限定资源量，例如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，内存，网络带宽，能访问的文件，系统资源，例如正在运行的进程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PID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384175" eaLnBrk="1" hangingPunct="1">
              <a:lnSpc>
                <a:spcPct val="150000"/>
              </a:lnSpc>
              <a:spcBef>
                <a:spcPts val="40"/>
              </a:spcBef>
              <a:spcAft>
                <a:spcPts val="1800"/>
              </a:spcAft>
              <a:buClrTx/>
              <a:buNone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不隔离的话，就不安全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，表现为：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存在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捣乱问题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，例如，既然能获取机器上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正在运行的进程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PID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，就可关闭其它运行的进程；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耗尽机器资源问题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，例如内存，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CPU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，磁盘空间；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ts val="4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其它安全问题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，例如病毒，盗取数据；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586105" y="152400"/>
            <a:ext cx="8681720" cy="805180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程序间隔离</a:t>
            </a:r>
            <a:endParaRPr lang="zh-CN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124930" name="Rectangle 3"/>
          <p:cNvSpPr>
            <a:spLocks noGrp="1"/>
          </p:cNvSpPr>
          <p:nvPr>
            <p:ph idx="1"/>
          </p:nvPr>
        </p:nvSpPr>
        <p:spPr>
          <a:xfrm>
            <a:off x="0" y="1717040"/>
            <a:ext cx="9015730" cy="4568825"/>
          </a:xfrm>
        </p:spPr>
        <p:txBody>
          <a:bodyPr wrap="square" lIns="91440" tIns="45720" rIns="91440" bIns="45720" anchor="t"/>
          <a:p>
            <a:pPr eaLnBrk="1" hangingPunct="1">
              <a:lnSpc>
                <a:spcPct val="150000"/>
              </a:lnSpc>
              <a:spcBef>
                <a:spcPct val="40000"/>
              </a:spcBef>
              <a:buFont typeface="Wingdings" panose="05000000000000000000" charset="0"/>
              <a:buChar char="l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隔离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的目的：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运行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在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同一机器上的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应用程序相互独立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互不干扰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。隔离的实现可通过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虚拟机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，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也可通过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容器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。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容器是一种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轻量级的隔离实现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。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40000"/>
              </a:spcBef>
              <a:buFont typeface="Wingdings" panose="05000000000000000000" charset="0"/>
              <a:buChar char="l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从应用程序的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运行角度看，一个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容器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就是一台计算机加操作系统；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  <a:p>
            <a:pPr eaLnBrk="1" hangingPunct="1">
              <a:lnSpc>
                <a:spcPct val="150000"/>
              </a:lnSpc>
              <a:spcBef>
                <a:spcPct val="40000"/>
              </a:spcBef>
              <a:buFont typeface="Wingdings" panose="05000000000000000000" charset="0"/>
              <a:buChar char="l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从隔离角度来看，在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一台计算机的操作系统之上可以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虚拟出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多个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容器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1066800" y="152400"/>
            <a:ext cx="7620000" cy="804863"/>
          </a:xfrm>
        </p:spPr>
        <p:txBody>
          <a:bodyPr wrap="square" lIns="91440" tIns="45720" rIns="91440" bIns="45720" anchor="ctr"/>
          <a:p>
            <a:pPr eaLnBrk="1" hangingPunct="1"/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Namespace的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六个子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类</a:t>
            </a:r>
            <a:r>
              <a:rPr lang="en-US" altLang="zh-CN" dirty="0">
                <a:latin typeface="Verdana" panose="020B0804030504040204" pitchFamily="34" charset="0"/>
                <a:ea typeface="宋体" pitchFamily="2" charset="-122"/>
              </a:rPr>
              <a:t> </a:t>
            </a:r>
            <a:endParaRPr lang="en-US" altLang="zh-CN" dirty="0">
              <a:latin typeface="Verdana" panose="020B0804030504040204" pitchFamily="34" charset="0"/>
              <a:ea typeface="宋体" pitchFamily="2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346710" y="1279525"/>
          <a:ext cx="8309610" cy="325945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54805"/>
                <a:gridCol w="4154805"/>
              </a:tblGrid>
              <a:tr h="6388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Mount Namespace</a:t>
                      </a:r>
                      <a:endParaRPr lang="en-US" altLang="zh-CN" sz="24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挂载点和文件系统的隔离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5118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IPC </a:t>
                      </a: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Namespace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进程间通信的隔离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7213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Network </a:t>
                      </a: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Namespace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网络的隔离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124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UTS  </a:t>
                      </a: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Namespace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主机名、域名的隔离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1181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PID </a:t>
                      </a: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Namespace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进程间的隔离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124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User  </a:t>
                      </a: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Namespace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用户、用户组间的隔离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文本框 1"/>
          <p:cNvSpPr txBox="1"/>
          <p:nvPr/>
        </p:nvSpPr>
        <p:spPr>
          <a:xfrm>
            <a:off x="73660" y="4736465"/>
            <a:ext cx="8970010" cy="20097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从类的概念来看，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Namespace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包含上述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个成员，每个成员也是某个类的对象。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操作系统原本只有一个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Namespace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类的对象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所有进程都关联这个对象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现在可以创建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Namespace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类的对象，</a:t>
            </a:r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每个进程只关联其中的某个对象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1066800" y="152400"/>
            <a:ext cx="8077835" cy="805180"/>
          </a:xfrm>
        </p:spPr>
        <p:txBody>
          <a:bodyPr wrap="square" lIns="91440" tIns="45720" rIns="91440" bIns="45720" anchor="ctr"/>
          <a:p>
            <a:pPr eaLnBrk="1" hangingPunct="1"/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CGroup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Linux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内核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各子系统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</a:t>
            </a:r>
            <a:r>
              <a:rPr lang="en-US" altLang="zh-CN" dirty="0">
                <a:latin typeface="Verdana" panose="020B0804030504040204" pitchFamily="34" charset="0"/>
                <a:ea typeface="宋体" pitchFamily="2" charset="-122"/>
              </a:rPr>
              <a:t> </a:t>
            </a:r>
            <a:endParaRPr lang="en-US" altLang="zh-CN" dirty="0">
              <a:latin typeface="Verdana" panose="020B0804030504040204" pitchFamily="34" charset="0"/>
              <a:ea typeface="宋体" pitchFamily="2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357505" y="1292225"/>
          <a:ext cx="8337550" cy="54971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68775"/>
                <a:gridCol w="4168775"/>
              </a:tblGrid>
              <a:tr h="5422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cpuset</a:t>
                      </a:r>
                      <a:endParaRPr lang="en-US" altLang="zh-CN" sz="24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分配指定的</a:t>
                      </a: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cpu</a:t>
                      </a:r>
                      <a:r>
                        <a:rPr lang="zh-CN" altLang="en-US" sz="24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</a:rPr>
                        <a:t>和内存节点</a:t>
                      </a:r>
                      <a:endParaRPr lang="zh-CN" altLang="en-US" sz="2400" b="1">
                        <a:solidFill>
                          <a:schemeClr val="tx1"/>
                        </a:solidFill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>
                    <a:solidFill>
                      <a:schemeClr val="accent5">
                        <a:lumMod val="40000"/>
                        <a:lumOff val="60000"/>
                      </a:schemeClr>
                    </a:solidFill>
                  </a:tcPr>
                </a:tc>
              </a:tr>
              <a:tr h="5416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cpuacct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统计</a:t>
                      </a: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cpu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使用情况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229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1">
                          <a:solidFill>
                            <a:schemeClr val="tx1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CPU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控制</a:t>
                      </a: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CPU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占用率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165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memory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限制内存使用上限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54292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device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设备权限控制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72834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freezer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暂停</a:t>
                      </a: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cgroup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中的进程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28015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net_cls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限制网络带宽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69977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net_prio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设置网络流量的优先级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  <a:tr h="730250">
                <a:tc>
                  <a:txBody>
                    <a:bodyPr/>
                    <a:p>
                      <a:pPr>
                        <a:buNone/>
                      </a:pP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</a:rPr>
                        <a:t>blkio</a:t>
                      </a:r>
                      <a:endParaRPr lang="en-US" altLang="zh-CN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  <a:tc>
                  <a:txBody>
                    <a:bodyPr/>
                    <a:p>
                      <a:pPr>
                        <a:buNone/>
                      </a:pP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块</a:t>
                      </a:r>
                      <a:r>
                        <a:rPr lang="en-US" altLang="zh-CN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io</a:t>
                      </a:r>
                      <a:r>
                        <a:rPr lang="zh-CN" altLang="en-US" sz="2400" b="1">
                          <a:latin typeface="微软雅黑" panose="020B0503020204020204" charset="-122"/>
                          <a:ea typeface="微软雅黑" panose="020B0503020204020204" charset="-122"/>
                          <a:sym typeface="+mn-ea"/>
                        </a:rPr>
                        <a:t>的控制</a:t>
                      </a:r>
                      <a:endParaRPr lang="zh-CN" altLang="en-US" sz="2400" b="1">
                        <a:latin typeface="微软雅黑" panose="020B0503020204020204" charset="-122"/>
                        <a:ea typeface="微软雅黑" panose="020B0503020204020204" charset="-122"/>
                      </a:endParaRP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1066800" y="152400"/>
            <a:ext cx="7620000" cy="804863"/>
          </a:xfrm>
        </p:spPr>
        <p:txBody>
          <a:bodyPr wrap="square" lIns="91440" tIns="45720" rIns="91440" bIns="45720" anchor="ctr"/>
          <a:p>
            <a:pPr eaLnBrk="1" hangingPunct="1"/>
            <a:r>
              <a:rPr 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CGroup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的本质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2710" y="1694180"/>
            <a:ext cx="8957945" cy="44665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100"/>
              </a:spcAft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从类的概念来看，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CGroup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包含上述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个成员，每个成员也是某个类的对象。操作系统原本只有一个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CGroup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类的对象，整个机器的资源都分配给这个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CGroup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对象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所有进程都关联这个对象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100"/>
              </a:spcAft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现在可以创建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CGroup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类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的对象，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每个进程只关联其中的某个对象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100"/>
              </a:spcAft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操作系统再提供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API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，将机器资源拆分成单元，再把单元分派给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CGroup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对象。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于是，每个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CGroup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对象相当于一台机器，相互独立；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586105" y="152400"/>
            <a:ext cx="8681720" cy="805180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在云平台上运行应用程序的差异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124930" name="Rectangle 3"/>
          <p:cNvSpPr>
            <a:spLocks noGrp="1"/>
          </p:cNvSpPr>
          <p:nvPr>
            <p:ph idx="1"/>
          </p:nvPr>
        </p:nvSpPr>
        <p:spPr>
          <a:xfrm>
            <a:off x="1270" y="1819275"/>
            <a:ext cx="9143365" cy="5039360"/>
          </a:xfrm>
        </p:spPr>
        <p:txBody>
          <a:bodyPr wrap="square" lIns="91440" tIns="45720" rIns="91440" bIns="45720" anchor="t"/>
          <a:p>
            <a:pPr eaLnBrk="1" hangingPunct="1">
              <a:lnSpc>
                <a:spcPct val="150000"/>
              </a:lnSpc>
              <a:spcBef>
                <a:spcPct val="40000"/>
              </a:spcBef>
              <a:buFont typeface="Wingdings" panose="05000000000000000000" charset="0"/>
              <a:buChar char="l"/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应用程序运行在一个机器上，那么当程序修改后，就要停下应用程序，再运行改版的应用程序。这种方式叫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替换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endParaRPr lang="zh-CN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ct val="40000"/>
              </a:spcBef>
              <a:buFont typeface="Wingdings" panose="05000000000000000000" charset="0"/>
              <a:buChar char="l"/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在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云平台上运行应用程序时，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当程序修改后，就在另一机器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(VM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或者容器）中运行改版后的应用程序。这种方式叫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切换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ct val="40000"/>
              </a:spcBef>
              <a:buFont typeface="Wingdings" panose="05000000000000000000" charset="0"/>
              <a:buChar char="l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采用切换方式，要明显地优于替换方式，能明显地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减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短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应用程序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不可用时间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586105" y="152400"/>
            <a:ext cx="8681720" cy="805180"/>
          </a:xfrm>
        </p:spPr>
        <p:txBody>
          <a:bodyPr wrap="square" lIns="91440" tIns="45720" rIns="91440" bIns="45720" anchor="ctr"/>
          <a:p>
            <a:pPr eaLnBrk="1" hangingPunct="1"/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Docker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的实现原理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124930" name="Rectangle 3"/>
          <p:cNvSpPr>
            <a:spLocks noGrp="1"/>
          </p:cNvSpPr>
          <p:nvPr>
            <p:ph idx="1"/>
          </p:nvPr>
        </p:nvSpPr>
        <p:spPr>
          <a:xfrm>
            <a:off x="0" y="1412875"/>
            <a:ext cx="9153525" cy="5288280"/>
          </a:xfrm>
        </p:spPr>
        <p:txBody>
          <a:bodyPr wrap="square" lIns="91440" tIns="45720" rIns="91440" bIns="45720" anchor="t"/>
          <a:p>
            <a:pPr eaLnBrk="1" hangingPunct="1">
              <a:lnSpc>
                <a:spcPct val="150000"/>
              </a:lnSpc>
              <a:spcBef>
                <a:spcPct val="40000"/>
              </a:spcBef>
              <a:buFont typeface="Wingdings" panose="05000000000000000000" charset="0"/>
              <a:buChar char="l"/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技术需要有工具来驱动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。通过工具为用户提供操作接口，来创建一个容器。使得用户操作简单，放低使用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门槛。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ct val="40000"/>
              </a:spcBef>
              <a:buFont typeface="Wingdings" panose="05000000000000000000" charset="0"/>
              <a:buChar char="l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linux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中支持容器的概念：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cgroup + namesapce + rootfs  + 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虚拟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网络；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ct val="40000"/>
              </a:spcBef>
              <a:buFont typeface="Wingdings" panose="05000000000000000000" charset="0"/>
              <a:buChar char="l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rootfs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：实现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文件系统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隔离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ct val="40000"/>
              </a:spcBef>
              <a:buFont typeface="Wingdings" panose="05000000000000000000" charset="0"/>
              <a:buChar char="l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虚拟网络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：支持每个容器都可以有自己的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IP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地址；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eaLnBrk="1" hangingPunct="1">
              <a:lnSpc>
                <a:spcPct val="150000"/>
              </a:lnSpc>
              <a:spcBef>
                <a:spcPct val="40000"/>
              </a:spcBef>
              <a:buFont typeface="Wingdings" panose="05000000000000000000" charset="0"/>
              <a:buChar char="l"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容器引擎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：将上述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4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项工具化，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实施容器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的生命周期控制；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</a:rPr>
              <a:t>rootfs:  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实现文件系统的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</a:rPr>
              <a:t>隔离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251460" y="1340485"/>
            <a:ext cx="8820785" cy="1183640"/>
          </a:xfrm>
          <a:prstGeom prst="rect">
            <a:avLst/>
          </a:prstGeom>
          <a:noFill/>
          <a:ln w="38100">
            <a:solidFill>
              <a:schemeClr val="accent1"/>
            </a:solidFill>
          </a:ln>
        </p:spPr>
        <p:txBody>
          <a:bodyPr wrap="square" rtlCol="0" anchor="t">
            <a:spAutoFit/>
          </a:bodyPr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 sz="28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 = </a:t>
            </a:r>
            <a:r>
              <a:rPr lang="en-US" altLang="zh-CN" sz="2800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openFile(</a:t>
            </a:r>
            <a:r>
              <a:rPr lang="en-US" altLang="zh-CN" sz="28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“/usr/data/student.db”</a:t>
            </a:r>
            <a:r>
              <a:rPr lang="en-US" altLang="zh-CN" sz="2800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    </a:t>
            </a:r>
            <a:endParaRPr lang="en-US" altLang="zh-CN" sz="2800" b="1">
              <a:solidFill>
                <a:srgbClr val="0001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 sz="2800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sz="28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num =</a:t>
            </a:r>
            <a:r>
              <a:rPr lang="en-US" altLang="zh-CN" sz="2800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readFile( </a:t>
            </a:r>
            <a:r>
              <a:rPr lang="en-US" sz="2800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h, buff,  20</a:t>
            </a:r>
            <a:r>
              <a:rPr lang="en-US" sz="2800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</a:t>
            </a:r>
            <a:endParaRPr lang="en-US"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8" name="组合 7"/>
          <p:cNvGrpSpPr/>
          <p:nvPr/>
        </p:nvGrpSpPr>
        <p:grpSpPr>
          <a:xfrm>
            <a:off x="539115" y="3716655"/>
            <a:ext cx="4159250" cy="3063240"/>
            <a:chOff x="921" y="3594"/>
            <a:chExt cx="6550" cy="4824"/>
          </a:xfrm>
        </p:grpSpPr>
        <p:sp>
          <p:nvSpPr>
            <p:cNvPr id="5" name="文本框 4"/>
            <p:cNvSpPr txBox="1"/>
            <p:nvPr/>
          </p:nvSpPr>
          <p:spPr>
            <a:xfrm>
              <a:off x="921" y="4833"/>
              <a:ext cx="2648" cy="130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p>
              <a:pPr algn="ctr"/>
              <a:r>
                <a:rPr lang="en-US" b="1">
                  <a:solidFill>
                    <a:srgbClr val="0001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Container</a:t>
              </a:r>
              <a:endParaRPr 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en-US" b="1">
                  <a:solidFill>
                    <a:srgbClr val="0001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6" name="文本框 5"/>
            <p:cNvSpPr txBox="1"/>
            <p:nvPr/>
          </p:nvSpPr>
          <p:spPr>
            <a:xfrm>
              <a:off x="3641" y="4833"/>
              <a:ext cx="2648" cy="130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none" rtlCol="0">
              <a:spAutoFit/>
            </a:bodyPr>
            <a:p>
              <a:pPr algn="ctr"/>
              <a:r>
                <a:rPr lang="en-US" b="1">
                  <a:solidFill>
                    <a:srgbClr val="0001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Container </a:t>
              </a:r>
              <a:endParaRPr 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en-US" b="1">
                  <a:solidFill>
                    <a:srgbClr val="0001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endParaRPr 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6361" y="4863"/>
              <a:ext cx="1110" cy="1261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tIns="179705" bIns="252095" rtlCol="0">
              <a:spAutoFit/>
            </a:bodyPr>
            <a:p>
              <a:pPr algn="ctr"/>
              <a:r>
                <a:rPr lang="en-US" altLang="zh-CN" b="1">
                  <a:solidFill>
                    <a:srgbClr val="0001FF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......</a:t>
              </a:r>
              <a:endParaRPr lang="en-US" altLang="zh-CN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531" y="6181"/>
              <a:ext cx="5177" cy="1147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lIns="252095" tIns="179705" rIns="252095" bIns="179705" rtlCol="0">
              <a:spAutoFit/>
            </a:bodyPr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主机</a:t>
              </a:r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 Linux</a:t>
              </a:r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操作系统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530" y="7328"/>
              <a:ext cx="5179" cy="109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tIns="144145" bIns="179705" rtlCol="0">
              <a:spAutoFit/>
            </a:bodyPr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主机硬件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3" name="直接连接符 12"/>
            <p:cNvCxnSpPr/>
            <p:nvPr/>
          </p:nvCxnSpPr>
          <p:spPr>
            <a:xfrm>
              <a:off x="938" y="3594"/>
              <a:ext cx="1" cy="136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" name="直接连接符 13"/>
            <p:cNvCxnSpPr/>
            <p:nvPr/>
          </p:nvCxnSpPr>
          <p:spPr>
            <a:xfrm>
              <a:off x="3605" y="3594"/>
              <a:ext cx="1" cy="136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直接连接符 14"/>
            <p:cNvCxnSpPr/>
            <p:nvPr/>
          </p:nvCxnSpPr>
          <p:spPr>
            <a:xfrm>
              <a:off x="6294" y="3594"/>
              <a:ext cx="1" cy="136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accent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6" name="文本框 15"/>
            <p:cNvSpPr txBox="1"/>
            <p:nvPr/>
          </p:nvSpPr>
          <p:spPr>
            <a:xfrm>
              <a:off x="1034" y="3821"/>
              <a:ext cx="2489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应用程序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1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7" name="文本框 16"/>
            <p:cNvSpPr txBox="1"/>
            <p:nvPr/>
          </p:nvSpPr>
          <p:spPr>
            <a:xfrm>
              <a:off x="3664" y="3821"/>
              <a:ext cx="2489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应用程序</a:t>
              </a:r>
              <a:r>
                <a:rPr lang="en-US" altLang="zh-CN">
                  <a:latin typeface="微软雅黑" panose="020B0503020204020204" charset="-122"/>
                  <a:ea typeface="微软雅黑" panose="020B0503020204020204" charset="-122"/>
                </a:rPr>
                <a:t>2</a:t>
              </a:r>
              <a:endParaRPr lang="en-US" altLang="zh-CN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文本框 1"/>
          <p:cNvSpPr txBox="1"/>
          <p:nvPr/>
        </p:nvSpPr>
        <p:spPr>
          <a:xfrm>
            <a:off x="2987675" y="2924810"/>
            <a:ext cx="5836285" cy="4603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none" rtlCol="0" anchor="t">
            <a:spAutoFit/>
          </a:bodyPr>
          <a:p>
            <a:pPr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altLang="zh-CN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/container2</a:t>
            </a:r>
            <a:r>
              <a:rPr lang="en-US" altLang="zh-CN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</a:t>
            </a:r>
            <a:r>
              <a:rPr lang="en-US" altLang="zh-CN" b="1">
                <a:solidFill>
                  <a:schemeClr val="tx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usr/data/student.db</a:t>
            </a:r>
            <a:r>
              <a:rPr lang="en-US" altLang="zh-CN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endParaRPr lang="zh-CN" altLang="en-US"/>
          </a:p>
        </p:txBody>
      </p:sp>
      <p:sp>
        <p:nvSpPr>
          <p:cNvPr id="4" name="圆角右箭头 3"/>
          <p:cNvSpPr/>
          <p:nvPr/>
        </p:nvSpPr>
        <p:spPr>
          <a:xfrm rot="8580000">
            <a:off x="6382385" y="2004695"/>
            <a:ext cx="1059815" cy="867410"/>
          </a:xfrm>
          <a:prstGeom prst="ben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219700" y="4149090"/>
            <a:ext cx="3851910" cy="239966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主机的文件系统；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每个容器有自己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的文件系统；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8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容器的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根目录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mount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在主机的某个目录下；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586105" y="152400"/>
            <a:ext cx="8681720" cy="805180"/>
          </a:xfrm>
        </p:spPr>
        <p:txBody>
          <a:bodyPr wrap="square" lIns="91440" tIns="45720" rIns="91440" bIns="45720" anchor="ctr"/>
          <a:p>
            <a:pPr eaLnBrk="1" hangingPunct="1"/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Linux  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对</a:t>
            </a:r>
            <a:r>
              <a:rPr lang="zh-CN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虚拟网络的支持</a:t>
            </a:r>
            <a:r>
              <a:rPr lang="zh-CN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原理</a:t>
            </a:r>
            <a:endParaRPr lang="zh-CN" sz="3200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467360" y="1845310"/>
            <a:ext cx="6586855" cy="58356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342900" indent="-342900">
              <a:lnSpc>
                <a:spcPct val="10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在内核中增加了虚拟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交换机；</a:t>
            </a:r>
            <a:endParaRPr lang="zh-CN" altLang="en-US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1187450" y="3234690"/>
            <a:ext cx="6391910" cy="2816225"/>
            <a:chOff x="4169" y="4619"/>
            <a:chExt cx="10066" cy="4435"/>
          </a:xfrm>
        </p:grpSpPr>
        <p:sp>
          <p:nvSpPr>
            <p:cNvPr id="6" name="文本框 5"/>
            <p:cNvSpPr txBox="1"/>
            <p:nvPr/>
          </p:nvSpPr>
          <p:spPr>
            <a:xfrm>
              <a:off x="4169" y="7941"/>
              <a:ext cx="3232" cy="1113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zh-CN" altLang="en-US"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虚拟机</a:t>
              </a:r>
              <a:r>
                <a:rPr lang="en-US" altLang="zh-CN"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</a:t>
              </a:r>
              <a:endPara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en-US" altLang="zh-CN"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192.168.1.105</a:t>
              </a:r>
              <a:endPara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7" name="文本框 6"/>
            <p:cNvSpPr txBox="1"/>
            <p:nvPr/>
          </p:nvSpPr>
          <p:spPr>
            <a:xfrm>
              <a:off x="7573" y="7941"/>
              <a:ext cx="3232" cy="1113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zh-CN" altLang="en-US"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虚拟机</a:t>
              </a:r>
              <a:r>
                <a:rPr lang="en-US" altLang="zh-CN"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2</a:t>
              </a:r>
              <a:endPara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en-US" altLang="zh-CN"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192.168.1.106</a:t>
              </a:r>
              <a:endPara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11003" y="7941"/>
              <a:ext cx="3232" cy="1113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zh-CN" altLang="en-US"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虚拟机</a:t>
              </a:r>
              <a:r>
                <a:rPr lang="en-US" altLang="zh-CN"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3</a:t>
              </a:r>
              <a:endPara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 algn="ctr"/>
              <a:r>
                <a:rPr lang="en-US" altLang="zh-CN"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192.168.1.107</a:t>
              </a:r>
              <a:endPara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6804" y="4619"/>
              <a:ext cx="4771" cy="62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p>
              <a:pPr algn="ctr"/>
              <a:r>
                <a:rPr lang="en-US"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VMnet0(</a:t>
              </a:r>
              <a:r>
                <a:rPr lang="zh-CN" altLang="en-US"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虚拟交换机</a:t>
              </a:r>
              <a:r>
                <a:rPr lang="en-US" altLang="zh-CN"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)</a:t>
              </a:r>
              <a:endParaRPr lang="en-US" alt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7993" y="5247"/>
              <a:ext cx="3798" cy="397"/>
            </a:xfrm>
            <a:prstGeom prst="rect">
              <a:avLst/>
            </a:prstGeom>
            <a:noFill/>
            <a:ln w="53975" cap="flat" cmpd="dbl" algn="ctr">
              <a:solidFill>
                <a:schemeClr val="accent1">
                  <a:shade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2" name="矩形 11"/>
            <p:cNvSpPr/>
            <p:nvPr/>
          </p:nvSpPr>
          <p:spPr>
            <a:xfrm>
              <a:off x="8215" y="5273"/>
              <a:ext cx="737" cy="227"/>
            </a:xfrm>
            <a:prstGeom prst="rect">
              <a:avLst/>
            </a:prstGeom>
            <a:solidFill>
              <a:schemeClr val="tx1"/>
            </a:solidFill>
            <a:ln w="53975" cap="flat" cmpd="dbl" algn="ctr">
              <a:solidFill>
                <a:schemeClr val="accent1">
                  <a:shade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3" name="矩形 12"/>
            <p:cNvSpPr/>
            <p:nvPr/>
          </p:nvSpPr>
          <p:spPr>
            <a:xfrm>
              <a:off x="9136" y="5312"/>
              <a:ext cx="737" cy="227"/>
            </a:xfrm>
            <a:prstGeom prst="rect">
              <a:avLst/>
            </a:prstGeom>
            <a:solidFill>
              <a:schemeClr val="tx1"/>
            </a:solidFill>
            <a:ln w="53975" cap="flat" cmpd="dbl" algn="ctr">
              <a:solidFill>
                <a:schemeClr val="accent1">
                  <a:shade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4" name="矩形 13"/>
            <p:cNvSpPr/>
            <p:nvPr/>
          </p:nvSpPr>
          <p:spPr>
            <a:xfrm>
              <a:off x="10041" y="5312"/>
              <a:ext cx="737" cy="227"/>
            </a:xfrm>
            <a:prstGeom prst="rect">
              <a:avLst/>
            </a:prstGeom>
            <a:solidFill>
              <a:schemeClr val="tx1"/>
            </a:solidFill>
            <a:ln w="53975" cap="flat" cmpd="dbl" algn="ctr">
              <a:solidFill>
                <a:schemeClr val="accent1">
                  <a:shade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16" name="矩形 15"/>
            <p:cNvSpPr/>
            <p:nvPr/>
          </p:nvSpPr>
          <p:spPr>
            <a:xfrm>
              <a:off x="10918" y="5312"/>
              <a:ext cx="737" cy="227"/>
            </a:xfrm>
            <a:prstGeom prst="rect">
              <a:avLst/>
            </a:prstGeom>
            <a:solidFill>
              <a:schemeClr val="tx1"/>
            </a:solidFill>
            <a:ln w="53975" cap="flat" cmpd="dbl" algn="ctr">
              <a:solidFill>
                <a:schemeClr val="accent1">
                  <a:shade val="50000"/>
                </a:schemeClr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cxnSp>
          <p:nvCxnSpPr>
            <p:cNvPr id="19" name="直接连接符 18"/>
            <p:cNvCxnSpPr/>
            <p:nvPr/>
          </p:nvCxnSpPr>
          <p:spPr>
            <a:xfrm flipV="1">
              <a:off x="6628" y="5412"/>
              <a:ext cx="1758" cy="0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" name="直接连接符 19"/>
            <p:cNvCxnSpPr/>
            <p:nvPr/>
          </p:nvCxnSpPr>
          <p:spPr>
            <a:xfrm flipH="1" flipV="1">
              <a:off x="10399" y="5461"/>
              <a:ext cx="20" cy="2469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grpSp>
          <p:nvGrpSpPr>
            <p:cNvPr id="24" name="组合 23"/>
            <p:cNvGrpSpPr/>
            <p:nvPr/>
          </p:nvGrpSpPr>
          <p:grpSpPr>
            <a:xfrm flipH="1">
              <a:off x="11301" y="5499"/>
              <a:ext cx="1819" cy="2452"/>
              <a:chOff x="6153" y="5678"/>
              <a:chExt cx="2494" cy="2452"/>
            </a:xfrm>
          </p:grpSpPr>
          <p:cxnSp>
            <p:nvCxnSpPr>
              <p:cNvPr id="21" name="直接连接符 20"/>
              <p:cNvCxnSpPr/>
              <p:nvPr/>
            </p:nvCxnSpPr>
            <p:spPr>
              <a:xfrm flipH="1" flipV="1">
                <a:off x="6153" y="7074"/>
                <a:ext cx="0" cy="1056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2" name="直接连接符 21"/>
              <p:cNvCxnSpPr/>
              <p:nvPr/>
            </p:nvCxnSpPr>
            <p:spPr>
              <a:xfrm flipH="1" flipV="1">
                <a:off x="6153" y="7074"/>
                <a:ext cx="2494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3" name="直接连接符 22"/>
              <p:cNvCxnSpPr/>
              <p:nvPr/>
            </p:nvCxnSpPr>
            <p:spPr>
              <a:xfrm flipH="1" flipV="1">
                <a:off x="8640" y="5678"/>
                <a:ext cx="0" cy="1417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5" name="直接连接符 24"/>
            <p:cNvCxnSpPr/>
            <p:nvPr/>
          </p:nvCxnSpPr>
          <p:spPr>
            <a:xfrm flipH="1" flipV="1">
              <a:off x="6804" y="6828"/>
              <a:ext cx="0" cy="105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" name="直接连接符 25"/>
            <p:cNvCxnSpPr/>
            <p:nvPr/>
          </p:nvCxnSpPr>
          <p:spPr>
            <a:xfrm flipH="1">
              <a:off x="6772" y="6848"/>
              <a:ext cx="2695" cy="26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" name="直接连接符 26"/>
            <p:cNvCxnSpPr/>
            <p:nvPr/>
          </p:nvCxnSpPr>
          <p:spPr>
            <a:xfrm flipH="1" flipV="1">
              <a:off x="9505" y="5461"/>
              <a:ext cx="0" cy="1417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28" name="文本框 27"/>
            <p:cNvSpPr txBox="1"/>
            <p:nvPr/>
          </p:nvSpPr>
          <p:spPr>
            <a:xfrm>
              <a:off x="4564" y="5016"/>
              <a:ext cx="2042" cy="628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p>
              <a:pPr algn="ctr"/>
              <a:r>
                <a:rPr lang="zh-CN"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网络</a:t>
              </a:r>
              <a:r>
                <a:rPr lang="zh-CN" sz="200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设备</a:t>
              </a:r>
              <a:endParaRPr lang="zh-CN" sz="20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1176020" y="152400"/>
            <a:ext cx="7882890" cy="979805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对基于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CGroup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和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Namespace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实现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的容器</a:t>
            </a:r>
            <a:b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</a:b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的理解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124930" name="Rectangle 3"/>
          <p:cNvSpPr>
            <a:spLocks noGrp="1"/>
          </p:cNvSpPr>
          <p:nvPr>
            <p:ph idx="1"/>
          </p:nvPr>
        </p:nvSpPr>
        <p:spPr>
          <a:xfrm>
            <a:off x="104140" y="1242060"/>
            <a:ext cx="9040495" cy="5513705"/>
          </a:xfrm>
        </p:spPr>
        <p:txBody>
          <a:bodyPr wrap="square" lIns="91440" tIns="45720" rIns="91440" bIns="45720" anchor="t"/>
          <a:p>
            <a:pPr eaLnBrk="1" hangingPunct="1">
              <a:lnSpc>
                <a:spcPct val="120000"/>
              </a:lnSpc>
              <a:spcBef>
                <a:spcPts val="40"/>
              </a:spcBef>
              <a:spcAft>
                <a:spcPts val="5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一个容器相当于运行在一台物理计算机上的一个操作系统：</a:t>
            </a:r>
            <a:endParaRPr lang="zh-CN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  <a:p>
            <a:pPr marL="0" indent="0" eaLnBrk="1" hangingPunct="1">
              <a:lnSpc>
                <a:spcPct val="12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None/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    一个容器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=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一个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CGroup +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一个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Namespace+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一个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rootfs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（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chroot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）；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一个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容器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中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可运行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多个</a:t>
            </a:r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应用程序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</a:endParaRPr>
          </a:p>
          <a:p>
            <a:pPr eaLnBrk="1" hangingPunct="1">
              <a:lnSpc>
                <a:spcPct val="12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在一个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容器中，操作系统的特质得以保留，例如抢占式、全局信息、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IPC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，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</a:rPr>
              <a:t>因此原有应用程序不须要做任何改动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eaLnBrk="1" hangingPunct="1">
              <a:lnSpc>
                <a:spcPct val="12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linux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提供创建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CGroup 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Namespace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rootfs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API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eaLnBrk="1" hangingPunct="1">
              <a:lnSpc>
                <a:spcPct val="120000"/>
              </a:lnSpc>
              <a:spcBef>
                <a:spcPts val="4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linux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为进程增添了成员变量：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cgroup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namespace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rootfs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eaLnBrk="1" hangingPunct="1">
              <a:lnSpc>
                <a:spcPct val="120000"/>
              </a:lnSpc>
              <a:spcBef>
                <a:spcPts val="40"/>
              </a:spcBef>
              <a:spcAft>
                <a:spcPts val="5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不同容器中的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2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个进程之间的交互：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network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灯片编号占位符 1"/>
          <p:cNvSpPr>
            <a:spLocks noGrp="1"/>
          </p:cNvSpPr>
          <p:nvPr>
            <p:ph type="sldNum" sz="quarter" idx="4"/>
          </p:nvPr>
        </p:nvSpPr>
        <p:spPr/>
        <p:txBody>
          <a:bodyPr wrap="square" lIns="91440" tIns="45720" rIns="91440" bIns="45720" anchor="t"/>
          <a:lstStyle/>
          <a:p>
            <a:pPr algn="r"/>
            <a:fld id="{9A0DB2DC-4C9A-4742-B13C-FB6460FD3503}" type="slidenum">
              <a:rPr lang="en-US" altLang="zh-CN" sz="1400" dirty="0">
                <a:solidFill>
                  <a:srgbClr val="000000"/>
                </a:solidFill>
                <a:latin typeface="Comic Sans MS" panose="030F0902030302020204" pitchFamily="66" charset="0"/>
              </a:rPr>
            </a:fld>
            <a:endParaRPr lang="en-US" altLang="zh-CN" sz="1400" dirty="0">
              <a:solidFill>
                <a:srgbClr val="000000"/>
              </a:solidFill>
              <a:latin typeface="Comic Sans MS" panose="030F0902030302020204" pitchFamily="66" charset="0"/>
            </a:endParaRPr>
          </a:p>
        </p:txBody>
      </p:sp>
      <p:sp>
        <p:nvSpPr>
          <p:cNvPr id="32770" name="矩形 3"/>
          <p:cNvSpPr/>
          <p:nvPr/>
        </p:nvSpPr>
        <p:spPr>
          <a:xfrm>
            <a:off x="1168400" y="240030"/>
            <a:ext cx="7813675" cy="64516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程序</a:t>
            </a:r>
            <a:r>
              <a:rPr lang="zh-CN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的打包</a:t>
            </a:r>
            <a:r>
              <a:rPr lang="zh-CN" sz="3600" b="1" dirty="0">
                <a:solidFill>
                  <a:srgbClr val="3333CC"/>
                </a:solidFill>
                <a:latin typeface="微软雅黑" panose="020B0503020204020204" charset="-122"/>
                <a:ea typeface="微软雅黑" panose="020B0503020204020204" charset="-122"/>
                <a:sym typeface="宋体" pitchFamily="2" charset="-122"/>
              </a:rPr>
              <a:t>发布</a:t>
            </a:r>
            <a:endParaRPr lang="zh-CN" sz="3600" b="1" dirty="0">
              <a:solidFill>
                <a:srgbClr val="3333CC"/>
              </a:solidFill>
              <a:latin typeface="微软雅黑" panose="020B0503020204020204" charset="-122"/>
              <a:ea typeface="微软雅黑" panose="020B0503020204020204" charset="-122"/>
              <a:sym typeface="宋体" pitchFamily="2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-36195" y="1412875"/>
            <a:ext cx="8980170" cy="2395855"/>
          </a:xfrm>
          <a:prstGeom prst="rect">
            <a:avLst/>
          </a:prstGeom>
          <a:noFill/>
          <a:ln w="41275" cmpd="dbl">
            <a:noFill/>
            <a:prstDash val="solid"/>
          </a:ln>
        </p:spPr>
        <p:txBody>
          <a:bodyPr wrap="square" rtlCol="0">
            <a:noAutofit/>
          </a:bodyPr>
          <a:lstStyle/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应用程序：用户空间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+  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操作系统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内核空间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（共享空间）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传统方式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打包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应用程序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用户空间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；因此有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安装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配置；</a:t>
            </a:r>
            <a:endParaRPr 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方式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打包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应用程序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用户空间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+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内核空间</a:t>
            </a: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alt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   </a:t>
            </a:r>
            <a:endParaRPr lang="en-US" alt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475740" y="3933190"/>
            <a:ext cx="5171440" cy="73723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sz="2800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运行时，</a:t>
            </a:r>
            <a:r>
              <a:rPr lang="zh-CN" altLang="en-US" sz="2800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镜像文件</a:t>
            </a:r>
            <a:r>
              <a:rPr lang="zh-CN" altLang="en-US" sz="2800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开箱即用</a:t>
            </a:r>
            <a:endParaRPr lang="zh-CN" altLang="en-US" sz="2800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>
            <p:custDataLst>
              <p:tags r:id="rId1"/>
            </p:custDataLst>
          </p:nvPr>
        </p:nvSpPr>
        <p:spPr>
          <a:xfrm>
            <a:off x="179070" y="5085080"/>
            <a:ext cx="8171815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  <a:spcBef>
                <a:spcPts val="0"/>
              </a:spcBef>
              <a:spcAft>
                <a:spcPts val="21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在同一计算机上，来自不同客户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应用程序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运行在不同的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容器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中，于是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井水不犯河水，相互干扰问题得以解决。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200" dirty="0">
                <a:latin typeface="微软雅黑" panose="020B0503020204020204" charset="-122"/>
                <a:ea typeface="微软雅黑" panose="020B0503020204020204" charset="-122"/>
              </a:rPr>
              <a:t>软件集成</a:t>
            </a:r>
            <a:r>
              <a:rPr lang="zh-CN" sz="3200" dirty="0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sz="3200" dirty="0">
                <a:latin typeface="微软雅黑" panose="020B0503020204020204" charset="-122"/>
                <a:ea typeface="微软雅黑" panose="020B0503020204020204" charset="-122"/>
              </a:rPr>
              <a:t>三种表现形式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93040" y="1882775"/>
            <a:ext cx="8950960" cy="403098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571500" indent="-571500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charset="0"/>
              <a:buChar char="l"/>
            </a:pPr>
            <a:r>
              <a:rPr 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对新软件开发，在开发时进行集成，</a:t>
            </a:r>
            <a:r>
              <a:rPr 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采用构件组装模式来开发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调用构件提供的接口进行操作</a:t>
            </a:r>
            <a:r>
              <a:rPr 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0" indent="-571500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charset="0"/>
              <a:buChar char="l"/>
            </a:pPr>
            <a:r>
              <a:rPr 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对已有的软件，可补装插件来扩充功能</a:t>
            </a:r>
            <a:r>
              <a:rPr 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：并不须要在源程序级来作修改；而是对二进制可执行应用程序补装二进制可执行插件；</a:t>
            </a:r>
            <a:endParaRPr lang="en-US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0" indent="-571500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charset="0"/>
              <a:buChar char="l"/>
            </a:pPr>
            <a:r>
              <a:rPr 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软件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服务化</a:t>
            </a:r>
            <a:r>
              <a:rPr lang="zh-CN" alt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例如web应用编程中生成word，excel文件；</a:t>
            </a:r>
            <a:endParaRPr lang="en-US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buFont typeface="Wingdings" panose="05000000000000000000" charset="0"/>
              <a:buChar char="l"/>
            </a:pPr>
            <a:endParaRPr lang="en-US" altLang="zh-CN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>
          <a:xfrm>
            <a:off x="1066800" y="152400"/>
            <a:ext cx="8077200" cy="914400"/>
          </a:xfrm>
        </p:spPr>
        <p:txBody>
          <a:bodyPr anchor="ctr"/>
          <a:lstStyle/>
          <a:p>
            <a:r>
              <a:rPr sz="3200" dirty="0">
                <a:latin typeface="微软雅黑" panose="020B0503020204020204" charset="-122"/>
                <a:ea typeface="微软雅黑" panose="020B0503020204020204" charset="-122"/>
              </a:rPr>
              <a:t>基于腾讯云和微信平台</a:t>
            </a:r>
            <a:r>
              <a:rPr lang="zh-CN" sz="3200" dirty="0">
                <a:latin typeface="微软雅黑" panose="020B0503020204020204" charset="-122"/>
                <a:ea typeface="微软雅黑" panose="020B0503020204020204" charset="-122"/>
              </a:rPr>
              <a:t>构</a:t>
            </a:r>
            <a:r>
              <a:rPr sz="3200" dirty="0">
                <a:latin typeface="微软雅黑" panose="020B0503020204020204" charset="-122"/>
                <a:ea typeface="微软雅黑" panose="020B0503020204020204" charset="-122"/>
              </a:rPr>
              <a:t>建应用系统</a:t>
            </a:r>
            <a:r>
              <a:rPr lang="zh-CN" sz="3200" dirty="0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sz="3200" dirty="0">
                <a:latin typeface="微软雅黑" panose="020B0503020204020204" charset="-122"/>
                <a:ea typeface="微软雅黑" panose="020B0503020204020204" charset="-122"/>
              </a:rPr>
              <a:t>优点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93040" y="1419860"/>
            <a:ext cx="8950960" cy="54381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571500" indent="-5715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charset="0"/>
              <a:buChar char="l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　微信服务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提供了基础设施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，例如支付，消息触及客户，使得微小企业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构建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自己的业务系统非常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简单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0" indent="-5715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charset="0"/>
              <a:buChar char="l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　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低门槛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：微小企业只须要基于微信小程序构建自己的业务系统，其它事情（例如运维，数据存储，WEB服务器）全交给腾讯公司；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0" indent="-5715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charset="0"/>
              <a:buChar char="l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　微小企业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只要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有自己的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业务idea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就够了。用微信语言表达。其它的事情，腾讯全包了。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0" indent="-5715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charset="0"/>
              <a:buChar char="l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④　微小企业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不须要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网络，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不须要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服务器，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不须要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任何软件和硬件，不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须要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任何IT专业员工；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0" indent="-571500">
              <a:lnSpc>
                <a:spcPct val="110000"/>
              </a:lnSpc>
              <a:spcBef>
                <a:spcPts val="0"/>
              </a:spcBef>
              <a:spcAft>
                <a:spcPts val="800"/>
              </a:spcAft>
              <a:buFont typeface="Wingdings" panose="05000000000000000000" charset="0"/>
              <a:buChar char="l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⑤　微小企业在起步阶段，腾讯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不收费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。当有业务流量，赚钱时，就要给腾讯交费。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buFont typeface="Wingdings" panose="05000000000000000000" charset="0"/>
              <a:buChar char="l"/>
            </a:pPr>
            <a:endParaRPr lang="en-US" altLang="zh-CN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200" dirty="0">
                <a:latin typeface="微软雅黑" panose="020B0503020204020204" charset="-122"/>
                <a:ea typeface="微软雅黑" panose="020B0503020204020204" charset="-122"/>
              </a:rPr>
              <a:t>从软件角度来看，云计算</a:t>
            </a:r>
            <a:r>
              <a:rPr lang="zh-CN" sz="3200" dirty="0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sz="3200" dirty="0">
                <a:latin typeface="微软雅黑" panose="020B0503020204020204" charset="-122"/>
                <a:ea typeface="微软雅黑" panose="020B0503020204020204" charset="-122"/>
              </a:rPr>
              <a:t>三种服务提供方式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93040" y="1388110"/>
            <a:ext cx="8950960" cy="54698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571500" indent="-571500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charset="0"/>
              <a:buChar char="l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①　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服务方提供程序(即软件），客户租资源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（CPU，memory，disk）。比如，polarDB云数据库，客户租了之后，就拥有了自己的数据库，只是运行在别人的机器上；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0" indent="-571500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charset="0"/>
              <a:buChar char="l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②　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服务方提供API，指定编程语言(Script），客户方编写脚本程序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，上传到服务器，在服务器上运行，成为上层服务（应用级服务）。例如，微信的云开发方式以Node.js为服务平台。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0" indent="-571500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charset="0"/>
              <a:buChar char="l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③　服务方提供虚拟机或者容器，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客户方提供二进制可执行程序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，运行在虚拟机上或者容器中。例如docker，超算。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57200" indent="-457200">
              <a:buFont typeface="Wingdings" panose="05000000000000000000" charset="0"/>
              <a:buChar char="l"/>
            </a:pPr>
            <a:endParaRPr lang="en-US" altLang="zh-CN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指令级实现</a:t>
            </a:r>
            <a:r>
              <a:rPr 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</a:t>
            </a:r>
            <a:r>
              <a:rPr lang="en-US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VM</a:t>
            </a:r>
            <a:r>
              <a:rPr lang="zh-CN" sz="3200" dirty="0">
                <a:latin typeface="微软雅黑" panose="020B0503020204020204" charset="-122"/>
                <a:ea typeface="微软雅黑" panose="020B0503020204020204" charset="-122"/>
              </a:rPr>
              <a:t>的优缺点</a:t>
            </a:r>
            <a:endParaRPr lang="zh-CN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96520" y="1195705"/>
            <a:ext cx="8950960" cy="570039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charset="0"/>
            </a:pP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优点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：对OS完全透明，不须对操作系统做任何修改，适应性强，隔离性强；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charset="0"/>
            </a:pP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缺点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：添加了VM层，执行在OS和VM之间不断切换，性能开销大；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  <a:buFont typeface="Wingdings" panose="05000000000000000000" charset="0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首先安装VMM，是为了让VMM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取得</a:t>
            </a:r>
            <a:r>
              <a:rPr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设置CPU的权限等级状态位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控制权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charset="0"/>
            </a:pP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实现原理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对于OS，当它直接安装在裸机上时，OS拥有CPU的权限等级状态位的设置控制权。当安装VMM后，再装OS时，OS便失去了状态位的设置控制权，于是在执行所有特权指令时，都会产生异常中断，转而去执行VMM的中断处理例程。这就相当于OS中每个需要特权的机器指令，都被替换成了VMM中的一个函数，这就确保了OS运行在VMM之上。</a:t>
            </a:r>
            <a:endParaRPr lang="en-US" altLang="zh-CN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 sz="3200" dirty="0">
                <a:latin typeface="微软雅黑" panose="020B0503020204020204" charset="-122"/>
                <a:ea typeface="微软雅黑" panose="020B0503020204020204" charset="-122"/>
              </a:rPr>
              <a:t>Docker</a:t>
            </a:r>
            <a:endParaRPr lang="en-US"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93040" y="1341755"/>
            <a:ext cx="8950960" cy="510032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571500" indent="-571500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charset="0"/>
              <a:buChar char="l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Docker利用Linux中的</a:t>
            </a:r>
            <a:r>
              <a:rPr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Namsespace技术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来实现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容器之间的资源隔离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，利用c</a:t>
            </a:r>
            <a:r>
              <a:rPr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ontrol groups技术(cgroup)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控制容器中进程对资源的可访问量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0" indent="-571500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charset="0"/>
              <a:buChar char="l"/>
            </a:pPr>
            <a:r>
              <a:rPr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Namsespace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6个子类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，分别是Mount Namespace，IPC Namespace，Network Namespace， UTS  Namespace， PID Namespace， User  Namespace；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0" indent="-571500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charset="0"/>
              <a:buChar char="l"/>
            </a:pPr>
            <a:r>
              <a:rPr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Cgroup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中有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9个子类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，分别是cpuset，cpuacct，CPU，memory，device，freezer，net_cls，net_prio，blkio；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0" indent="-571500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charset="0"/>
              <a:buChar char="l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容器的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优点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是：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开销小，是轻量级的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应用程序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隔离实现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二进制可执行</a:t>
            </a:r>
            <a:r>
              <a:rPr 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程序特性</a:t>
            </a:r>
            <a:endParaRPr lang="zh-CN"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93040" y="1575435"/>
            <a:ext cx="8819515" cy="41408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571500" indent="-571500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charset="0"/>
              <a:buChar char="l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程序在编译链接生成二进制可执行代码时，数据和代码都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</a:t>
            </a:r>
            <a:r>
              <a:rPr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内存地址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来标识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0" indent="-571500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charset="0"/>
              <a:buChar char="l"/>
            </a:pP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因此，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当二进制可执行模块在加载运行时，只有当它被加载到链接时假定的内存位置，才会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一致吻合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0" indent="-571500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charset="0"/>
              <a:buChar char="l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如果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因冲突而错位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，则要修改代码。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0" indent="-571500">
              <a:lnSpc>
                <a:spcPct val="130000"/>
              </a:lnSpc>
              <a:spcBef>
                <a:spcPts val="0"/>
              </a:spcBef>
              <a:spcAft>
                <a:spcPts val="1800"/>
              </a:spcAft>
              <a:buFont typeface="Wingdings" panose="05000000000000000000" charset="0"/>
              <a:buChar char="l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为了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取得</a:t>
            </a:r>
            <a:r>
              <a:rPr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的不变性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，提出了相对寻址，间接寻址，虚拟内存概念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相对寻址，间接寻址，虚拟内存</a:t>
            </a:r>
            <a:endParaRPr sz="3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8260" y="1444625"/>
            <a:ext cx="9047480" cy="517144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</a:pP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使得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代码中的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地址引用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运行时模块在内存中的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加载位置无关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于是代码部分可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在编译时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写定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在加载运行时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无须修改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0" indent="-5715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  <a:buChar char="l"/>
            </a:pP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相对寻址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：解决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模块内部的引用寻址问题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0" indent="-5715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  <a:buChar char="l"/>
            </a:pP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间接寻址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：解决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模块与模块之间的引用寻址问题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对于服务方，链接时，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会生成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导出地址表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，填的是相对地址（相对模块的起始位置）；对于客户方，链接时，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会生成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导入地址表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。在加载执行时，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由Loader来填写客户方的导入地址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0" indent="-5715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  <a:buChar char="l"/>
            </a:pP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虚拟内存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：解决</a:t>
            </a:r>
            <a:r>
              <a:rPr lang="zh-CN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模块代码</a:t>
            </a:r>
            <a:r>
              <a:rPr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在多个进程(线程)间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可共享问题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571500" indent="-5715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  <a:buChar char="l"/>
            </a:pP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带来的好处是：模块中代码的运行，与模块在内存中的加载位置无关，于是取得了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模块的独立性，以及可组合性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。对于虚拟内存，则实现了模块代码的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多进程共享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，以及</a:t>
            </a:r>
            <a:r>
              <a:rPr 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多线程可重入</a:t>
            </a:r>
            <a:r>
              <a:rPr lang="en-US" altLang="zh-CN" b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en-US" altLang="zh-CN" b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分布式计算中的三个核心</a:t>
            </a:r>
            <a:r>
              <a:rPr 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</a:t>
            </a:r>
            <a:endParaRPr lang="zh-CN" sz="320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1691640" y="2780665"/>
            <a:ext cx="6706870" cy="183769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一致性：</a:t>
            </a:r>
            <a:endParaRPr 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安全性；</a:t>
            </a:r>
            <a:endParaRPr 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处理的高效性，即性能；</a:t>
            </a:r>
            <a:endParaRPr lang="zh-CN" b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一致性：</a:t>
            </a:r>
            <a:r>
              <a:rPr lang="en-US" altLang="zh-CN"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sz="320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两阶段提交协议（2PC）</a:t>
            </a:r>
            <a:endParaRPr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00" name="文本框 99"/>
          <p:cNvSpPr txBox="1"/>
          <p:nvPr/>
        </p:nvSpPr>
        <p:spPr>
          <a:xfrm>
            <a:off x="48260" y="1444625"/>
            <a:ext cx="9047480" cy="502348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包括</a:t>
            </a:r>
            <a:r>
              <a:rPr lang="zh-CN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三个子协议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提交协议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终止协议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恢复协议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</a:pPr>
            <a:r>
              <a:rPr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提交协议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处理在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无软硬件故障情形下，分布式系统中各成员如何协同来提交事务，以实现事物的原子性、持久性、一致性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</a:pPr>
            <a:r>
              <a:rPr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终止协议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处理在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有成员发生故障时, 余下的正常成员如何来应对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。期望故障不影响正常成员的继续执行；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</a:pPr>
            <a:r>
              <a:rPr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恢复协议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在有成员发生故障时, 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故障成员如何来恢复故障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0000"/>
              </a:lnSpc>
              <a:spcBef>
                <a:spcPts val="0"/>
              </a:spcBef>
              <a:spcAft>
                <a:spcPts val="1200"/>
              </a:spcAft>
              <a:buFont typeface="Wingdings" panose="05000000000000000000" charset="0"/>
            </a:pP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2PC协议特性：绝大部分情况下，终止协议是非阻塞的。仅只有在协调者和参与者同时故障，而且正常成员全部已经投了Ready票，但是都未收到协调者的commit/abort决定时，</a:t>
            </a:r>
            <a:r>
              <a:rPr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才会陷入阻塞状态</a:t>
            </a:r>
            <a:r>
              <a:rPr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086793" y="6237288"/>
            <a:ext cx="1905000" cy="45720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22531" name="组合 5"/>
          <p:cNvGrpSpPr/>
          <p:nvPr/>
        </p:nvGrpSpPr>
        <p:grpSpPr>
          <a:xfrm>
            <a:off x="197803" y="2072323"/>
            <a:ext cx="8551862" cy="4698640"/>
            <a:chOff x="828358" y="1687513"/>
            <a:chExt cx="8551862" cy="4698218"/>
          </a:xfrm>
        </p:grpSpPr>
        <p:pic>
          <p:nvPicPr>
            <p:cNvPr id="22533" name="Picture 3" descr="PC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142999" y="2024063"/>
              <a:ext cx="1232845" cy="965758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34" name="Line 4"/>
            <p:cNvSpPr/>
            <p:nvPr/>
          </p:nvSpPr>
          <p:spPr>
            <a:xfrm>
              <a:off x="2500313" y="2479675"/>
              <a:ext cx="3511550" cy="0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13499999">
                <a:srgbClr val="000099"/>
              </a:prstShdw>
            </a:effectLst>
          </p:spPr>
        </p:sp>
        <p:pic>
          <p:nvPicPr>
            <p:cNvPr id="22535" name="Picture 5"/>
            <p:cNvPicPr preferRelativeResize="0"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892300" y="2552700"/>
              <a:ext cx="569549" cy="456347"/>
            </a:xfrm>
            <a:prstGeom prst="rect">
              <a:avLst/>
            </a:prstGeom>
            <a:noFill/>
            <a:ln w="9525">
              <a:noFill/>
            </a:ln>
            <a:effectLst>
              <a:outerShdw dist="53882" dir="2699999" algn="ctr" rotWithShape="0">
                <a:schemeClr val="tx1"/>
              </a:outerShdw>
            </a:effectLst>
          </p:spPr>
        </p:pic>
        <p:sp>
          <p:nvSpPr>
            <p:cNvPr id="22536" name="Line 6"/>
            <p:cNvSpPr/>
            <p:nvPr/>
          </p:nvSpPr>
          <p:spPr>
            <a:xfrm>
              <a:off x="6011863" y="2479675"/>
              <a:ext cx="503237" cy="0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13499999">
                <a:srgbClr val="000099"/>
              </a:prstShdw>
            </a:effectLst>
          </p:spPr>
        </p:sp>
        <p:sp>
          <p:nvSpPr>
            <p:cNvPr id="22537" name="Text Box 7"/>
            <p:cNvSpPr txBox="1"/>
            <p:nvPr/>
          </p:nvSpPr>
          <p:spPr>
            <a:xfrm>
              <a:off x="6331427" y="2910207"/>
              <a:ext cx="1097280" cy="4603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0" hangingPunct="0">
                <a:buFont typeface="Arial" panose="020B0604020202090204" pitchFamily="34" charset="0"/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服务器</a:t>
              </a:r>
              <a:endPara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38" name="Text Box 8"/>
            <p:cNvSpPr txBox="1"/>
            <p:nvPr/>
          </p:nvSpPr>
          <p:spPr>
            <a:xfrm>
              <a:off x="1480186" y="2973388"/>
              <a:ext cx="792480" cy="4603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0" hangingPunct="0">
                <a:buFont typeface="Arial" panose="020B0604020202090204" pitchFamily="34" charset="0"/>
                <a:buNone/>
              </a:pPr>
              <a:r>
                <a:rPr lang="zh-CN" altLang="en-US" b="1" dirty="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用户</a:t>
              </a:r>
              <a:endParaRPr lang="zh-CN" altLang="en-US" b="1" dirty="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grpSp>
          <p:nvGrpSpPr>
            <p:cNvPr id="22539" name="Group 9"/>
            <p:cNvGrpSpPr/>
            <p:nvPr/>
          </p:nvGrpSpPr>
          <p:grpSpPr>
            <a:xfrm>
              <a:off x="4140200" y="4351337"/>
              <a:ext cx="869950" cy="813642"/>
              <a:chOff x="0" y="0"/>
              <a:chExt cx="777" cy="649"/>
            </a:xfrm>
          </p:grpSpPr>
          <p:grpSp>
            <p:nvGrpSpPr>
              <p:cNvPr id="22559" name="Group 10"/>
              <p:cNvGrpSpPr/>
              <p:nvPr/>
            </p:nvGrpSpPr>
            <p:grpSpPr>
              <a:xfrm>
                <a:off x="673" y="381"/>
                <a:ext cx="59" cy="147"/>
                <a:chOff x="0" y="0"/>
                <a:chExt cx="59" cy="147"/>
              </a:xfrm>
            </p:grpSpPr>
            <p:sp>
              <p:nvSpPr>
                <p:cNvPr id="22567" name="未知"/>
                <p:cNvSpPr/>
                <p:nvPr/>
              </p:nvSpPr>
              <p:spPr>
                <a:xfrm>
                  <a:off x="2" y="5"/>
                  <a:ext cx="57" cy="1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" y="9"/>
                    </a:cxn>
                    <a:cxn ang="0">
                      <a:pos x="5" y="17"/>
                    </a:cxn>
                    <a:cxn ang="0">
                      <a:pos x="10" y="23"/>
                    </a:cxn>
                    <a:cxn ang="0">
                      <a:pos x="17" y="27"/>
                    </a:cxn>
                    <a:cxn ang="0">
                      <a:pos x="26" y="30"/>
                    </a:cxn>
                    <a:cxn ang="0">
                      <a:pos x="33" y="35"/>
                    </a:cxn>
                    <a:cxn ang="0">
                      <a:pos x="39" y="43"/>
                    </a:cxn>
                    <a:cxn ang="0">
                      <a:pos x="45" y="54"/>
                    </a:cxn>
                    <a:cxn ang="0">
                      <a:pos x="47" y="63"/>
                    </a:cxn>
                    <a:cxn ang="0">
                      <a:pos x="46" y="71"/>
                    </a:cxn>
                    <a:cxn ang="0">
                      <a:pos x="39" y="77"/>
                    </a:cxn>
                    <a:cxn ang="0">
                      <a:pos x="34" y="83"/>
                    </a:cxn>
                    <a:cxn ang="0">
                      <a:pos x="30" y="90"/>
                    </a:cxn>
                    <a:cxn ang="0">
                      <a:pos x="26" y="98"/>
                    </a:cxn>
                    <a:cxn ang="0">
                      <a:pos x="26" y="107"/>
                    </a:cxn>
                    <a:cxn ang="0">
                      <a:pos x="28" y="116"/>
                    </a:cxn>
                    <a:cxn ang="0">
                      <a:pos x="32" y="122"/>
                    </a:cxn>
                    <a:cxn ang="0">
                      <a:pos x="40" y="130"/>
                    </a:cxn>
                    <a:cxn ang="0">
                      <a:pos x="47" y="135"/>
                    </a:cxn>
                    <a:cxn ang="0">
                      <a:pos x="56" y="141"/>
                    </a:cxn>
                  </a:cxnLst>
                  <a:pathLst>
                    <a:path w="57" h="142">
                      <a:moveTo>
                        <a:pt x="0" y="0"/>
                      </a:moveTo>
                      <a:lnTo>
                        <a:pt x="2" y="9"/>
                      </a:lnTo>
                      <a:lnTo>
                        <a:pt x="5" y="17"/>
                      </a:lnTo>
                      <a:lnTo>
                        <a:pt x="10" y="23"/>
                      </a:lnTo>
                      <a:lnTo>
                        <a:pt x="17" y="27"/>
                      </a:lnTo>
                      <a:lnTo>
                        <a:pt x="26" y="30"/>
                      </a:lnTo>
                      <a:lnTo>
                        <a:pt x="33" y="35"/>
                      </a:lnTo>
                      <a:lnTo>
                        <a:pt x="39" y="43"/>
                      </a:lnTo>
                      <a:lnTo>
                        <a:pt x="45" y="54"/>
                      </a:lnTo>
                      <a:lnTo>
                        <a:pt x="47" y="63"/>
                      </a:lnTo>
                      <a:lnTo>
                        <a:pt x="46" y="71"/>
                      </a:lnTo>
                      <a:lnTo>
                        <a:pt x="39" y="77"/>
                      </a:lnTo>
                      <a:lnTo>
                        <a:pt x="34" y="83"/>
                      </a:lnTo>
                      <a:lnTo>
                        <a:pt x="30" y="90"/>
                      </a:lnTo>
                      <a:lnTo>
                        <a:pt x="26" y="98"/>
                      </a:lnTo>
                      <a:lnTo>
                        <a:pt x="26" y="107"/>
                      </a:lnTo>
                      <a:lnTo>
                        <a:pt x="28" y="116"/>
                      </a:lnTo>
                      <a:lnTo>
                        <a:pt x="32" y="122"/>
                      </a:lnTo>
                      <a:lnTo>
                        <a:pt x="40" y="130"/>
                      </a:lnTo>
                      <a:lnTo>
                        <a:pt x="47" y="135"/>
                      </a:lnTo>
                      <a:lnTo>
                        <a:pt x="56" y="141"/>
                      </a:lnTo>
                    </a:path>
                  </a:pathLst>
                </a:custGeom>
                <a:solidFill>
                  <a:srgbClr val="333333">
                    <a:alpha val="100000"/>
                  </a:srgbClr>
                </a:solidFill>
                <a:ln w="127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2568" name="Oval 12"/>
                <p:cNvSpPr/>
                <p:nvPr/>
              </p:nvSpPr>
              <p:spPr>
                <a:xfrm flipH="1" flipV="1">
                  <a:off x="0" y="0"/>
                  <a:ext cx="1" cy="3"/>
                </a:xfrm>
                <a:prstGeom prst="ellipse">
                  <a:avLst/>
                </a:prstGeom>
                <a:solidFill>
                  <a:srgbClr val="333333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p>
                  <a:pPr>
                    <a:spcBef>
                      <a:spcPct val="20000"/>
                    </a:spcBef>
                    <a:buFont typeface="Arial" panose="020B0604020202090204" pitchFamily="34" charset="0"/>
                    <a:buNone/>
                  </a:pPr>
                  <a:endParaRPr lang="zh-CN" altLang="zh-CN" sz="2000" dirty="0">
                    <a:solidFill>
                      <a:schemeClr val="accent2"/>
                    </a:solidFill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</p:grpSp>
          <p:sp>
            <p:nvSpPr>
              <p:cNvPr id="22560" name="未知"/>
              <p:cNvSpPr/>
              <p:nvPr/>
            </p:nvSpPr>
            <p:spPr>
              <a:xfrm>
                <a:off x="401" y="84"/>
                <a:ext cx="376" cy="338"/>
              </a:xfrm>
              <a:custGeom>
                <a:avLst/>
                <a:gdLst/>
                <a:ahLst/>
                <a:cxnLst>
                  <a:cxn ang="0">
                    <a:pos x="71" y="68"/>
                  </a:cxn>
                  <a:cxn ang="0">
                    <a:pos x="79" y="45"/>
                  </a:cxn>
                  <a:cxn ang="0">
                    <a:pos x="86" y="31"/>
                  </a:cxn>
                  <a:cxn ang="0">
                    <a:pos x="87" y="26"/>
                  </a:cxn>
                  <a:cxn ang="0">
                    <a:pos x="91" y="23"/>
                  </a:cxn>
                  <a:cxn ang="0">
                    <a:pos x="93" y="20"/>
                  </a:cxn>
                  <a:cxn ang="0">
                    <a:pos x="97" y="20"/>
                  </a:cxn>
                  <a:cxn ang="0">
                    <a:pos x="144" y="11"/>
                  </a:cxn>
                  <a:cxn ang="0">
                    <a:pos x="195" y="3"/>
                  </a:cxn>
                  <a:cxn ang="0">
                    <a:pos x="241" y="0"/>
                  </a:cxn>
                  <a:cxn ang="0">
                    <a:pos x="267" y="0"/>
                  </a:cxn>
                  <a:cxn ang="0">
                    <a:pos x="322" y="3"/>
                  </a:cxn>
                  <a:cxn ang="0">
                    <a:pos x="362" y="5"/>
                  </a:cxn>
                  <a:cxn ang="0">
                    <a:pos x="367" y="5"/>
                  </a:cxn>
                  <a:cxn ang="0">
                    <a:pos x="371" y="6"/>
                  </a:cxn>
                  <a:cxn ang="0">
                    <a:pos x="373" y="8"/>
                  </a:cxn>
                  <a:cxn ang="0">
                    <a:pos x="375" y="10"/>
                  </a:cxn>
                  <a:cxn ang="0">
                    <a:pos x="375" y="13"/>
                  </a:cxn>
                  <a:cxn ang="0">
                    <a:pos x="373" y="23"/>
                  </a:cxn>
                  <a:cxn ang="0">
                    <a:pos x="366" y="53"/>
                  </a:cxn>
                  <a:cxn ang="0">
                    <a:pos x="359" y="76"/>
                  </a:cxn>
                  <a:cxn ang="0">
                    <a:pos x="347" y="126"/>
                  </a:cxn>
                  <a:cxn ang="0">
                    <a:pos x="339" y="158"/>
                  </a:cxn>
                  <a:cxn ang="0">
                    <a:pos x="317" y="231"/>
                  </a:cxn>
                  <a:cxn ang="0">
                    <a:pos x="295" y="291"/>
                  </a:cxn>
                  <a:cxn ang="0">
                    <a:pos x="291" y="302"/>
                  </a:cxn>
                  <a:cxn ang="0">
                    <a:pos x="289" y="308"/>
                  </a:cxn>
                  <a:cxn ang="0">
                    <a:pos x="286" y="314"/>
                  </a:cxn>
                  <a:cxn ang="0">
                    <a:pos x="284" y="318"/>
                  </a:cxn>
                  <a:cxn ang="0">
                    <a:pos x="280" y="322"/>
                  </a:cxn>
                  <a:cxn ang="0">
                    <a:pos x="276" y="324"/>
                  </a:cxn>
                  <a:cxn ang="0">
                    <a:pos x="270" y="325"/>
                  </a:cxn>
                  <a:cxn ang="0">
                    <a:pos x="256" y="326"/>
                  </a:cxn>
                  <a:cxn ang="0">
                    <a:pos x="235" y="326"/>
                  </a:cxn>
                  <a:cxn ang="0">
                    <a:pos x="217" y="328"/>
                  </a:cxn>
                  <a:cxn ang="0">
                    <a:pos x="193" y="332"/>
                  </a:cxn>
                  <a:cxn ang="0">
                    <a:pos x="169" y="335"/>
                  </a:cxn>
                  <a:cxn ang="0">
                    <a:pos x="153" y="337"/>
                  </a:cxn>
                  <a:cxn ang="0">
                    <a:pos x="132" y="337"/>
                  </a:cxn>
                  <a:cxn ang="0">
                    <a:pos x="127" y="335"/>
                  </a:cxn>
                  <a:cxn ang="0">
                    <a:pos x="12" y="267"/>
                  </a:cxn>
                  <a:cxn ang="0">
                    <a:pos x="6" y="263"/>
                  </a:cxn>
                  <a:cxn ang="0">
                    <a:pos x="2" y="259"/>
                  </a:cxn>
                  <a:cxn ang="0">
                    <a:pos x="0" y="254"/>
                  </a:cxn>
                  <a:cxn ang="0">
                    <a:pos x="0" y="248"/>
                  </a:cxn>
                  <a:cxn ang="0">
                    <a:pos x="2" y="242"/>
                  </a:cxn>
                  <a:cxn ang="0">
                    <a:pos x="35" y="159"/>
                  </a:cxn>
                  <a:cxn ang="0">
                    <a:pos x="56" y="107"/>
                  </a:cxn>
                  <a:cxn ang="0">
                    <a:pos x="71" y="68"/>
                  </a:cxn>
                </a:cxnLst>
                <a:pathLst>
                  <a:path w="376" h="338">
                    <a:moveTo>
                      <a:pt x="71" y="68"/>
                    </a:moveTo>
                    <a:lnTo>
                      <a:pt x="79" y="45"/>
                    </a:lnTo>
                    <a:lnTo>
                      <a:pt x="86" y="31"/>
                    </a:lnTo>
                    <a:lnTo>
                      <a:pt x="87" y="26"/>
                    </a:lnTo>
                    <a:lnTo>
                      <a:pt x="91" y="23"/>
                    </a:lnTo>
                    <a:lnTo>
                      <a:pt x="93" y="20"/>
                    </a:lnTo>
                    <a:lnTo>
                      <a:pt x="97" y="20"/>
                    </a:lnTo>
                    <a:lnTo>
                      <a:pt x="144" y="11"/>
                    </a:lnTo>
                    <a:lnTo>
                      <a:pt x="195" y="3"/>
                    </a:lnTo>
                    <a:lnTo>
                      <a:pt x="241" y="0"/>
                    </a:lnTo>
                    <a:lnTo>
                      <a:pt x="267" y="0"/>
                    </a:lnTo>
                    <a:lnTo>
                      <a:pt x="322" y="3"/>
                    </a:lnTo>
                    <a:lnTo>
                      <a:pt x="362" y="5"/>
                    </a:lnTo>
                    <a:lnTo>
                      <a:pt x="367" y="5"/>
                    </a:lnTo>
                    <a:lnTo>
                      <a:pt x="371" y="6"/>
                    </a:lnTo>
                    <a:lnTo>
                      <a:pt x="373" y="8"/>
                    </a:lnTo>
                    <a:lnTo>
                      <a:pt x="375" y="10"/>
                    </a:lnTo>
                    <a:lnTo>
                      <a:pt x="375" y="13"/>
                    </a:lnTo>
                    <a:lnTo>
                      <a:pt x="373" y="23"/>
                    </a:lnTo>
                    <a:lnTo>
                      <a:pt x="366" y="53"/>
                    </a:lnTo>
                    <a:lnTo>
                      <a:pt x="359" y="76"/>
                    </a:lnTo>
                    <a:lnTo>
                      <a:pt x="347" y="126"/>
                    </a:lnTo>
                    <a:lnTo>
                      <a:pt x="339" y="158"/>
                    </a:lnTo>
                    <a:lnTo>
                      <a:pt x="317" y="231"/>
                    </a:lnTo>
                    <a:lnTo>
                      <a:pt x="295" y="291"/>
                    </a:lnTo>
                    <a:lnTo>
                      <a:pt x="291" y="302"/>
                    </a:lnTo>
                    <a:lnTo>
                      <a:pt x="289" y="308"/>
                    </a:lnTo>
                    <a:lnTo>
                      <a:pt x="286" y="314"/>
                    </a:lnTo>
                    <a:lnTo>
                      <a:pt x="284" y="318"/>
                    </a:lnTo>
                    <a:lnTo>
                      <a:pt x="280" y="322"/>
                    </a:lnTo>
                    <a:lnTo>
                      <a:pt x="276" y="324"/>
                    </a:lnTo>
                    <a:lnTo>
                      <a:pt x="270" y="325"/>
                    </a:lnTo>
                    <a:lnTo>
                      <a:pt x="256" y="326"/>
                    </a:lnTo>
                    <a:lnTo>
                      <a:pt x="235" y="326"/>
                    </a:lnTo>
                    <a:lnTo>
                      <a:pt x="217" y="328"/>
                    </a:lnTo>
                    <a:lnTo>
                      <a:pt x="193" y="332"/>
                    </a:lnTo>
                    <a:lnTo>
                      <a:pt x="169" y="335"/>
                    </a:lnTo>
                    <a:lnTo>
                      <a:pt x="153" y="337"/>
                    </a:lnTo>
                    <a:lnTo>
                      <a:pt x="132" y="337"/>
                    </a:lnTo>
                    <a:lnTo>
                      <a:pt x="127" y="335"/>
                    </a:lnTo>
                    <a:lnTo>
                      <a:pt x="12" y="267"/>
                    </a:lnTo>
                    <a:lnTo>
                      <a:pt x="6" y="263"/>
                    </a:lnTo>
                    <a:lnTo>
                      <a:pt x="2" y="259"/>
                    </a:lnTo>
                    <a:lnTo>
                      <a:pt x="0" y="254"/>
                    </a:lnTo>
                    <a:lnTo>
                      <a:pt x="0" y="248"/>
                    </a:lnTo>
                    <a:lnTo>
                      <a:pt x="2" y="242"/>
                    </a:lnTo>
                    <a:lnTo>
                      <a:pt x="35" y="159"/>
                    </a:lnTo>
                    <a:lnTo>
                      <a:pt x="56" y="107"/>
                    </a:lnTo>
                    <a:lnTo>
                      <a:pt x="71" y="68"/>
                    </a:lnTo>
                  </a:path>
                </a:pathLst>
              </a:custGeom>
              <a:solidFill>
                <a:srgbClr val="333333">
                  <a:alpha val="100000"/>
                </a:srgbClr>
              </a:solidFill>
              <a:ln w="127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61" name="未知"/>
              <p:cNvSpPr/>
              <p:nvPr/>
            </p:nvSpPr>
            <p:spPr>
              <a:xfrm>
                <a:off x="275" y="352"/>
                <a:ext cx="401" cy="297"/>
              </a:xfrm>
              <a:custGeom>
                <a:avLst/>
                <a:gdLst/>
                <a:ahLst/>
                <a:cxnLst>
                  <a:cxn ang="0">
                    <a:pos x="400" y="295"/>
                  </a:cxn>
                  <a:cxn ang="0">
                    <a:pos x="400" y="142"/>
                  </a:cxn>
                  <a:cxn ang="0">
                    <a:pos x="395" y="20"/>
                  </a:cxn>
                  <a:cxn ang="0">
                    <a:pos x="191" y="0"/>
                  </a:cxn>
                  <a:cxn ang="0">
                    <a:pos x="6" y="18"/>
                  </a:cxn>
                  <a:cxn ang="0">
                    <a:pos x="5" y="61"/>
                  </a:cxn>
                  <a:cxn ang="0">
                    <a:pos x="0" y="294"/>
                  </a:cxn>
                  <a:cxn ang="0">
                    <a:pos x="41" y="294"/>
                  </a:cxn>
                  <a:cxn ang="0">
                    <a:pos x="41" y="83"/>
                  </a:cxn>
                  <a:cxn ang="0">
                    <a:pos x="121" y="78"/>
                  </a:cxn>
                  <a:cxn ang="0">
                    <a:pos x="363" y="78"/>
                  </a:cxn>
                  <a:cxn ang="0">
                    <a:pos x="366" y="296"/>
                  </a:cxn>
                  <a:cxn ang="0">
                    <a:pos x="400" y="295"/>
                  </a:cxn>
                </a:cxnLst>
                <a:pathLst>
                  <a:path w="401" h="297">
                    <a:moveTo>
                      <a:pt x="400" y="295"/>
                    </a:moveTo>
                    <a:lnTo>
                      <a:pt x="400" y="142"/>
                    </a:lnTo>
                    <a:lnTo>
                      <a:pt x="395" y="20"/>
                    </a:lnTo>
                    <a:lnTo>
                      <a:pt x="191" y="0"/>
                    </a:lnTo>
                    <a:lnTo>
                      <a:pt x="6" y="18"/>
                    </a:lnTo>
                    <a:lnTo>
                      <a:pt x="5" y="61"/>
                    </a:lnTo>
                    <a:lnTo>
                      <a:pt x="0" y="294"/>
                    </a:lnTo>
                    <a:lnTo>
                      <a:pt x="41" y="294"/>
                    </a:lnTo>
                    <a:lnTo>
                      <a:pt x="41" y="83"/>
                    </a:lnTo>
                    <a:lnTo>
                      <a:pt x="121" y="78"/>
                    </a:lnTo>
                    <a:lnTo>
                      <a:pt x="363" y="78"/>
                    </a:lnTo>
                    <a:lnTo>
                      <a:pt x="366" y="296"/>
                    </a:lnTo>
                    <a:lnTo>
                      <a:pt x="400" y="295"/>
                    </a:lnTo>
                  </a:path>
                </a:pathLst>
              </a:custGeom>
              <a:solidFill>
                <a:srgbClr val="333333">
                  <a:alpha val="100000"/>
                </a:srgbClr>
              </a:solidFill>
              <a:ln w="127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62" name="未知"/>
              <p:cNvSpPr/>
              <p:nvPr/>
            </p:nvSpPr>
            <p:spPr>
              <a:xfrm>
                <a:off x="304" y="350"/>
                <a:ext cx="158" cy="76"/>
              </a:xfrm>
              <a:custGeom>
                <a:avLst/>
                <a:gdLst/>
                <a:ahLst/>
                <a:cxnLst>
                  <a:cxn ang="0">
                    <a:pos x="30" y="14"/>
                  </a:cxn>
                  <a:cxn ang="0">
                    <a:pos x="50" y="12"/>
                  </a:cxn>
                  <a:cxn ang="0">
                    <a:pos x="70" y="0"/>
                  </a:cxn>
                  <a:cxn ang="0">
                    <a:pos x="89" y="17"/>
                  </a:cxn>
                  <a:cxn ang="0">
                    <a:pos x="153" y="52"/>
                  </a:cxn>
                  <a:cxn ang="0">
                    <a:pos x="157" y="64"/>
                  </a:cxn>
                  <a:cxn ang="0">
                    <a:pos x="121" y="75"/>
                  </a:cxn>
                  <a:cxn ang="0">
                    <a:pos x="0" y="23"/>
                  </a:cxn>
                  <a:cxn ang="0">
                    <a:pos x="30" y="14"/>
                  </a:cxn>
                </a:cxnLst>
                <a:pathLst>
                  <a:path w="158" h="76">
                    <a:moveTo>
                      <a:pt x="30" y="14"/>
                    </a:moveTo>
                    <a:lnTo>
                      <a:pt x="50" y="12"/>
                    </a:lnTo>
                    <a:lnTo>
                      <a:pt x="70" y="0"/>
                    </a:lnTo>
                    <a:lnTo>
                      <a:pt x="89" y="17"/>
                    </a:lnTo>
                    <a:lnTo>
                      <a:pt x="153" y="52"/>
                    </a:lnTo>
                    <a:lnTo>
                      <a:pt x="157" y="64"/>
                    </a:lnTo>
                    <a:lnTo>
                      <a:pt x="121" y="75"/>
                    </a:lnTo>
                    <a:lnTo>
                      <a:pt x="0" y="23"/>
                    </a:lnTo>
                    <a:lnTo>
                      <a:pt x="30" y="14"/>
                    </a:lnTo>
                  </a:path>
                </a:pathLst>
              </a:custGeom>
              <a:solidFill>
                <a:srgbClr val="333333">
                  <a:alpha val="100000"/>
                </a:srgbClr>
              </a:solidFill>
              <a:ln w="127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63" name="未知"/>
              <p:cNvSpPr/>
              <p:nvPr/>
            </p:nvSpPr>
            <p:spPr>
              <a:xfrm>
                <a:off x="438" y="108"/>
                <a:ext cx="211" cy="235"/>
              </a:xfrm>
              <a:custGeom>
                <a:avLst/>
                <a:gdLst/>
                <a:ahLst/>
                <a:cxnLst>
                  <a:cxn ang="0">
                    <a:pos x="47" y="69"/>
                  </a:cxn>
                  <a:cxn ang="0">
                    <a:pos x="63" y="36"/>
                  </a:cxn>
                  <a:cxn ang="0">
                    <a:pos x="76" y="6"/>
                  </a:cxn>
                  <a:cxn ang="0">
                    <a:pos x="79" y="5"/>
                  </a:cxn>
                  <a:cxn ang="0">
                    <a:pos x="81" y="4"/>
                  </a:cxn>
                  <a:cxn ang="0">
                    <a:pos x="85" y="4"/>
                  </a:cxn>
                  <a:cxn ang="0">
                    <a:pos x="145" y="0"/>
                  </a:cxn>
                  <a:cxn ang="0">
                    <a:pos x="203" y="0"/>
                  </a:cxn>
                  <a:cxn ang="0">
                    <a:pos x="207" y="1"/>
                  </a:cxn>
                  <a:cxn ang="0">
                    <a:pos x="209" y="1"/>
                  </a:cxn>
                  <a:cxn ang="0">
                    <a:pos x="210" y="4"/>
                  </a:cxn>
                  <a:cxn ang="0">
                    <a:pos x="206" y="25"/>
                  </a:cxn>
                  <a:cxn ang="0">
                    <a:pos x="196" y="44"/>
                  </a:cxn>
                  <a:cxn ang="0">
                    <a:pos x="180" y="77"/>
                  </a:cxn>
                  <a:cxn ang="0">
                    <a:pos x="151" y="135"/>
                  </a:cxn>
                  <a:cxn ang="0">
                    <a:pos x="125" y="185"/>
                  </a:cxn>
                  <a:cxn ang="0">
                    <a:pos x="118" y="204"/>
                  </a:cxn>
                  <a:cxn ang="0">
                    <a:pos x="114" y="217"/>
                  </a:cxn>
                  <a:cxn ang="0">
                    <a:pos x="110" y="224"/>
                  </a:cxn>
                  <a:cxn ang="0">
                    <a:pos x="106" y="230"/>
                  </a:cxn>
                  <a:cxn ang="0">
                    <a:pos x="103" y="232"/>
                  </a:cxn>
                  <a:cxn ang="0">
                    <a:pos x="101" y="233"/>
                  </a:cxn>
                  <a:cxn ang="0">
                    <a:pos x="97" y="234"/>
                  </a:cxn>
                  <a:cxn ang="0">
                    <a:pos x="94" y="233"/>
                  </a:cxn>
                  <a:cxn ang="0">
                    <a:pos x="88" y="230"/>
                  </a:cxn>
                  <a:cxn ang="0">
                    <a:pos x="82" y="226"/>
                  </a:cxn>
                  <a:cxn ang="0">
                    <a:pos x="76" y="221"/>
                  </a:cxn>
                  <a:cxn ang="0">
                    <a:pos x="68" y="217"/>
                  </a:cxn>
                  <a:cxn ang="0">
                    <a:pos x="62" y="213"/>
                  </a:cxn>
                  <a:cxn ang="0">
                    <a:pos x="2" y="192"/>
                  </a:cxn>
                  <a:cxn ang="0">
                    <a:pos x="1" y="191"/>
                  </a:cxn>
                  <a:cxn ang="0">
                    <a:pos x="0" y="189"/>
                  </a:cxn>
                  <a:cxn ang="0">
                    <a:pos x="0" y="186"/>
                  </a:cxn>
                  <a:cxn ang="0">
                    <a:pos x="1" y="183"/>
                  </a:cxn>
                  <a:cxn ang="0">
                    <a:pos x="47" y="69"/>
                  </a:cxn>
                </a:cxnLst>
                <a:pathLst>
                  <a:path w="211" h="235">
                    <a:moveTo>
                      <a:pt x="47" y="69"/>
                    </a:moveTo>
                    <a:lnTo>
                      <a:pt x="63" y="36"/>
                    </a:lnTo>
                    <a:lnTo>
                      <a:pt x="76" y="6"/>
                    </a:lnTo>
                    <a:lnTo>
                      <a:pt x="79" y="5"/>
                    </a:lnTo>
                    <a:lnTo>
                      <a:pt x="81" y="4"/>
                    </a:lnTo>
                    <a:lnTo>
                      <a:pt x="85" y="4"/>
                    </a:lnTo>
                    <a:lnTo>
                      <a:pt x="145" y="0"/>
                    </a:lnTo>
                    <a:lnTo>
                      <a:pt x="203" y="0"/>
                    </a:lnTo>
                    <a:lnTo>
                      <a:pt x="207" y="1"/>
                    </a:lnTo>
                    <a:lnTo>
                      <a:pt x="209" y="1"/>
                    </a:lnTo>
                    <a:lnTo>
                      <a:pt x="210" y="4"/>
                    </a:lnTo>
                    <a:lnTo>
                      <a:pt x="206" y="25"/>
                    </a:lnTo>
                    <a:lnTo>
                      <a:pt x="196" y="44"/>
                    </a:lnTo>
                    <a:lnTo>
                      <a:pt x="180" y="77"/>
                    </a:lnTo>
                    <a:lnTo>
                      <a:pt x="151" y="135"/>
                    </a:lnTo>
                    <a:lnTo>
                      <a:pt x="125" y="185"/>
                    </a:lnTo>
                    <a:lnTo>
                      <a:pt x="118" y="204"/>
                    </a:lnTo>
                    <a:lnTo>
                      <a:pt x="114" y="217"/>
                    </a:lnTo>
                    <a:lnTo>
                      <a:pt x="110" y="224"/>
                    </a:lnTo>
                    <a:lnTo>
                      <a:pt x="106" y="230"/>
                    </a:lnTo>
                    <a:lnTo>
                      <a:pt x="103" y="232"/>
                    </a:lnTo>
                    <a:lnTo>
                      <a:pt x="101" y="233"/>
                    </a:lnTo>
                    <a:lnTo>
                      <a:pt x="97" y="234"/>
                    </a:lnTo>
                    <a:lnTo>
                      <a:pt x="94" y="233"/>
                    </a:lnTo>
                    <a:lnTo>
                      <a:pt x="88" y="230"/>
                    </a:lnTo>
                    <a:lnTo>
                      <a:pt x="82" y="226"/>
                    </a:lnTo>
                    <a:lnTo>
                      <a:pt x="76" y="221"/>
                    </a:lnTo>
                    <a:lnTo>
                      <a:pt x="68" y="217"/>
                    </a:lnTo>
                    <a:lnTo>
                      <a:pt x="62" y="213"/>
                    </a:lnTo>
                    <a:lnTo>
                      <a:pt x="2" y="192"/>
                    </a:lnTo>
                    <a:lnTo>
                      <a:pt x="1" y="191"/>
                    </a:lnTo>
                    <a:lnTo>
                      <a:pt x="0" y="189"/>
                    </a:lnTo>
                    <a:lnTo>
                      <a:pt x="0" y="186"/>
                    </a:lnTo>
                    <a:lnTo>
                      <a:pt x="1" y="183"/>
                    </a:lnTo>
                    <a:lnTo>
                      <a:pt x="47" y="69"/>
                    </a:lnTo>
                  </a:path>
                </a:pathLst>
              </a:custGeom>
              <a:solidFill>
                <a:srgbClr val="333333">
                  <a:alpha val="100000"/>
                </a:srgbClr>
              </a:solidFill>
              <a:ln w="127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64" name="未知"/>
              <p:cNvSpPr/>
              <p:nvPr/>
            </p:nvSpPr>
            <p:spPr>
              <a:xfrm>
                <a:off x="0" y="289"/>
                <a:ext cx="249" cy="351"/>
              </a:xfrm>
              <a:custGeom>
                <a:avLst/>
                <a:gdLst/>
                <a:ahLst/>
                <a:cxnLst>
                  <a:cxn ang="0">
                    <a:pos x="248" y="165"/>
                  </a:cxn>
                  <a:cxn ang="0">
                    <a:pos x="178" y="129"/>
                  </a:cxn>
                  <a:cxn ang="0">
                    <a:pos x="100" y="6"/>
                  </a:cxn>
                  <a:cxn ang="0">
                    <a:pos x="97" y="5"/>
                  </a:cxn>
                  <a:cxn ang="0">
                    <a:pos x="91" y="2"/>
                  </a:cxn>
                  <a:cxn ang="0">
                    <a:pos x="85" y="1"/>
                  </a:cxn>
                  <a:cxn ang="0">
                    <a:pos x="76" y="0"/>
                  </a:cxn>
                  <a:cxn ang="0">
                    <a:pos x="69" y="1"/>
                  </a:cxn>
                  <a:cxn ang="0">
                    <a:pos x="61" y="3"/>
                  </a:cxn>
                  <a:cxn ang="0">
                    <a:pos x="53" y="6"/>
                  </a:cxn>
                  <a:cxn ang="0">
                    <a:pos x="42" y="12"/>
                  </a:cxn>
                  <a:cxn ang="0">
                    <a:pos x="34" y="16"/>
                  </a:cxn>
                  <a:cxn ang="0">
                    <a:pos x="26" y="21"/>
                  </a:cxn>
                  <a:cxn ang="0">
                    <a:pos x="20" y="27"/>
                  </a:cxn>
                  <a:cxn ang="0">
                    <a:pos x="15" y="32"/>
                  </a:cxn>
                  <a:cxn ang="0">
                    <a:pos x="8" y="41"/>
                  </a:cxn>
                  <a:cxn ang="0">
                    <a:pos x="4" y="47"/>
                  </a:cxn>
                  <a:cxn ang="0">
                    <a:pos x="1" y="56"/>
                  </a:cxn>
                  <a:cxn ang="0">
                    <a:pos x="0" y="66"/>
                  </a:cxn>
                  <a:cxn ang="0">
                    <a:pos x="0" y="81"/>
                  </a:cxn>
                  <a:cxn ang="0">
                    <a:pos x="2" y="99"/>
                  </a:cxn>
                  <a:cxn ang="0">
                    <a:pos x="6" y="115"/>
                  </a:cxn>
                  <a:cxn ang="0">
                    <a:pos x="13" y="134"/>
                  </a:cxn>
                  <a:cxn ang="0">
                    <a:pos x="20" y="151"/>
                  </a:cxn>
                  <a:cxn ang="0">
                    <a:pos x="25" y="162"/>
                  </a:cxn>
                  <a:cxn ang="0">
                    <a:pos x="34" y="173"/>
                  </a:cxn>
                  <a:cxn ang="0">
                    <a:pos x="41" y="181"/>
                  </a:cxn>
                  <a:cxn ang="0">
                    <a:pos x="48" y="191"/>
                  </a:cxn>
                  <a:cxn ang="0">
                    <a:pos x="57" y="200"/>
                  </a:cxn>
                  <a:cxn ang="0">
                    <a:pos x="64" y="206"/>
                  </a:cxn>
                  <a:cxn ang="0">
                    <a:pos x="97" y="202"/>
                  </a:cxn>
                  <a:cxn ang="0">
                    <a:pos x="122" y="195"/>
                  </a:cxn>
                  <a:cxn ang="0">
                    <a:pos x="137" y="199"/>
                  </a:cxn>
                  <a:cxn ang="0">
                    <a:pos x="174" y="200"/>
                  </a:cxn>
                  <a:cxn ang="0">
                    <a:pos x="219" y="195"/>
                  </a:cxn>
                  <a:cxn ang="0">
                    <a:pos x="225" y="207"/>
                  </a:cxn>
                  <a:cxn ang="0">
                    <a:pos x="225" y="300"/>
                  </a:cxn>
                  <a:cxn ang="0">
                    <a:pos x="224" y="308"/>
                  </a:cxn>
                  <a:cxn ang="0">
                    <a:pos x="222" y="314"/>
                  </a:cxn>
                  <a:cxn ang="0">
                    <a:pos x="220" y="319"/>
                  </a:cxn>
                  <a:cxn ang="0">
                    <a:pos x="216" y="324"/>
                  </a:cxn>
                  <a:cxn ang="0">
                    <a:pos x="211" y="328"/>
                  </a:cxn>
                  <a:cxn ang="0">
                    <a:pos x="205" y="330"/>
                  </a:cxn>
                  <a:cxn ang="0">
                    <a:pos x="200" y="332"/>
                  </a:cxn>
                  <a:cxn ang="0">
                    <a:pos x="194" y="333"/>
                  </a:cxn>
                  <a:cxn ang="0">
                    <a:pos x="26" y="333"/>
                  </a:cxn>
                  <a:cxn ang="0">
                    <a:pos x="26" y="350"/>
                  </a:cxn>
                  <a:cxn ang="0">
                    <a:pos x="199" y="349"/>
                  </a:cxn>
                  <a:cxn ang="0">
                    <a:pos x="208" y="348"/>
                  </a:cxn>
                  <a:cxn ang="0">
                    <a:pos x="213" y="348"/>
                  </a:cxn>
                  <a:cxn ang="0">
                    <a:pos x="220" y="346"/>
                  </a:cxn>
                  <a:cxn ang="0">
                    <a:pos x="225" y="345"/>
                  </a:cxn>
                  <a:cxn ang="0">
                    <a:pos x="231" y="341"/>
                  </a:cxn>
                  <a:cxn ang="0">
                    <a:pos x="237" y="334"/>
                  </a:cxn>
                  <a:cxn ang="0">
                    <a:pos x="240" y="328"/>
                  </a:cxn>
                  <a:cxn ang="0">
                    <a:pos x="244" y="322"/>
                  </a:cxn>
                  <a:cxn ang="0">
                    <a:pos x="246" y="315"/>
                  </a:cxn>
                  <a:cxn ang="0">
                    <a:pos x="248" y="307"/>
                  </a:cxn>
                  <a:cxn ang="0">
                    <a:pos x="248" y="297"/>
                  </a:cxn>
                  <a:cxn ang="0">
                    <a:pos x="248" y="165"/>
                  </a:cxn>
                </a:cxnLst>
                <a:pathLst>
                  <a:path w="249" h="351">
                    <a:moveTo>
                      <a:pt x="248" y="165"/>
                    </a:moveTo>
                    <a:lnTo>
                      <a:pt x="178" y="129"/>
                    </a:lnTo>
                    <a:lnTo>
                      <a:pt x="100" y="6"/>
                    </a:lnTo>
                    <a:lnTo>
                      <a:pt x="97" y="5"/>
                    </a:lnTo>
                    <a:lnTo>
                      <a:pt x="91" y="2"/>
                    </a:lnTo>
                    <a:lnTo>
                      <a:pt x="85" y="1"/>
                    </a:lnTo>
                    <a:lnTo>
                      <a:pt x="76" y="0"/>
                    </a:lnTo>
                    <a:lnTo>
                      <a:pt x="69" y="1"/>
                    </a:lnTo>
                    <a:lnTo>
                      <a:pt x="61" y="3"/>
                    </a:lnTo>
                    <a:lnTo>
                      <a:pt x="53" y="6"/>
                    </a:lnTo>
                    <a:lnTo>
                      <a:pt x="42" y="12"/>
                    </a:lnTo>
                    <a:lnTo>
                      <a:pt x="34" y="16"/>
                    </a:lnTo>
                    <a:lnTo>
                      <a:pt x="26" y="21"/>
                    </a:lnTo>
                    <a:lnTo>
                      <a:pt x="20" y="27"/>
                    </a:lnTo>
                    <a:lnTo>
                      <a:pt x="15" y="32"/>
                    </a:lnTo>
                    <a:lnTo>
                      <a:pt x="8" y="41"/>
                    </a:lnTo>
                    <a:lnTo>
                      <a:pt x="4" y="47"/>
                    </a:lnTo>
                    <a:lnTo>
                      <a:pt x="1" y="56"/>
                    </a:lnTo>
                    <a:lnTo>
                      <a:pt x="0" y="66"/>
                    </a:lnTo>
                    <a:lnTo>
                      <a:pt x="0" y="81"/>
                    </a:lnTo>
                    <a:lnTo>
                      <a:pt x="2" y="99"/>
                    </a:lnTo>
                    <a:lnTo>
                      <a:pt x="6" y="115"/>
                    </a:lnTo>
                    <a:lnTo>
                      <a:pt x="13" y="134"/>
                    </a:lnTo>
                    <a:lnTo>
                      <a:pt x="20" y="151"/>
                    </a:lnTo>
                    <a:lnTo>
                      <a:pt x="25" y="162"/>
                    </a:lnTo>
                    <a:lnTo>
                      <a:pt x="34" y="173"/>
                    </a:lnTo>
                    <a:lnTo>
                      <a:pt x="41" y="181"/>
                    </a:lnTo>
                    <a:lnTo>
                      <a:pt x="48" y="191"/>
                    </a:lnTo>
                    <a:lnTo>
                      <a:pt x="57" y="200"/>
                    </a:lnTo>
                    <a:lnTo>
                      <a:pt x="64" y="206"/>
                    </a:lnTo>
                    <a:lnTo>
                      <a:pt x="97" y="202"/>
                    </a:lnTo>
                    <a:lnTo>
                      <a:pt x="122" y="195"/>
                    </a:lnTo>
                    <a:lnTo>
                      <a:pt x="137" y="199"/>
                    </a:lnTo>
                    <a:lnTo>
                      <a:pt x="174" y="200"/>
                    </a:lnTo>
                    <a:lnTo>
                      <a:pt x="219" y="195"/>
                    </a:lnTo>
                    <a:lnTo>
                      <a:pt x="225" y="207"/>
                    </a:lnTo>
                    <a:lnTo>
                      <a:pt x="225" y="300"/>
                    </a:lnTo>
                    <a:lnTo>
                      <a:pt x="224" y="308"/>
                    </a:lnTo>
                    <a:lnTo>
                      <a:pt x="222" y="314"/>
                    </a:lnTo>
                    <a:lnTo>
                      <a:pt x="220" y="319"/>
                    </a:lnTo>
                    <a:lnTo>
                      <a:pt x="216" y="324"/>
                    </a:lnTo>
                    <a:lnTo>
                      <a:pt x="211" y="328"/>
                    </a:lnTo>
                    <a:lnTo>
                      <a:pt x="205" y="330"/>
                    </a:lnTo>
                    <a:lnTo>
                      <a:pt x="200" y="332"/>
                    </a:lnTo>
                    <a:lnTo>
                      <a:pt x="194" y="333"/>
                    </a:lnTo>
                    <a:lnTo>
                      <a:pt x="26" y="333"/>
                    </a:lnTo>
                    <a:lnTo>
                      <a:pt x="26" y="350"/>
                    </a:lnTo>
                    <a:lnTo>
                      <a:pt x="199" y="349"/>
                    </a:lnTo>
                    <a:lnTo>
                      <a:pt x="208" y="348"/>
                    </a:lnTo>
                    <a:lnTo>
                      <a:pt x="213" y="348"/>
                    </a:lnTo>
                    <a:lnTo>
                      <a:pt x="220" y="346"/>
                    </a:lnTo>
                    <a:lnTo>
                      <a:pt x="225" y="345"/>
                    </a:lnTo>
                    <a:lnTo>
                      <a:pt x="231" y="341"/>
                    </a:lnTo>
                    <a:lnTo>
                      <a:pt x="237" y="334"/>
                    </a:lnTo>
                    <a:lnTo>
                      <a:pt x="240" y="328"/>
                    </a:lnTo>
                    <a:lnTo>
                      <a:pt x="244" y="322"/>
                    </a:lnTo>
                    <a:lnTo>
                      <a:pt x="246" y="315"/>
                    </a:lnTo>
                    <a:lnTo>
                      <a:pt x="248" y="307"/>
                    </a:lnTo>
                    <a:lnTo>
                      <a:pt x="248" y="297"/>
                    </a:lnTo>
                    <a:lnTo>
                      <a:pt x="248" y="165"/>
                    </a:lnTo>
                  </a:path>
                </a:pathLst>
              </a:custGeom>
              <a:solidFill>
                <a:srgbClr val="333333">
                  <a:alpha val="100000"/>
                </a:srgbClr>
              </a:solidFill>
              <a:ln w="127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65" name="未知"/>
              <p:cNvSpPr/>
              <p:nvPr/>
            </p:nvSpPr>
            <p:spPr>
              <a:xfrm>
                <a:off x="50" y="0"/>
                <a:ext cx="380" cy="636"/>
              </a:xfrm>
              <a:custGeom>
                <a:avLst/>
                <a:gdLst/>
                <a:ahLst/>
                <a:cxnLst>
                  <a:cxn ang="0">
                    <a:pos x="153" y="43"/>
                  </a:cxn>
                  <a:cxn ang="0">
                    <a:pos x="158" y="42"/>
                  </a:cxn>
                  <a:cxn ang="0">
                    <a:pos x="178" y="48"/>
                  </a:cxn>
                  <a:cxn ang="0">
                    <a:pos x="174" y="2"/>
                  </a:cxn>
                  <a:cxn ang="0">
                    <a:pos x="203" y="35"/>
                  </a:cxn>
                  <a:cxn ang="0">
                    <a:pos x="211" y="9"/>
                  </a:cxn>
                  <a:cxn ang="0">
                    <a:pos x="236" y="0"/>
                  </a:cxn>
                  <a:cxn ang="0">
                    <a:pos x="233" y="24"/>
                  </a:cxn>
                  <a:cxn ang="0">
                    <a:pos x="248" y="15"/>
                  </a:cxn>
                  <a:cxn ang="0">
                    <a:pos x="246" y="28"/>
                  </a:cxn>
                  <a:cxn ang="0">
                    <a:pos x="255" y="51"/>
                  </a:cxn>
                  <a:cxn ang="0">
                    <a:pos x="288" y="18"/>
                  </a:cxn>
                  <a:cxn ang="0">
                    <a:pos x="266" y="50"/>
                  </a:cxn>
                  <a:cxn ang="0">
                    <a:pos x="304" y="28"/>
                  </a:cxn>
                  <a:cxn ang="0">
                    <a:pos x="287" y="53"/>
                  </a:cxn>
                  <a:cxn ang="0">
                    <a:pos x="291" y="66"/>
                  </a:cxn>
                  <a:cxn ang="0">
                    <a:pos x="289" y="94"/>
                  </a:cxn>
                  <a:cxn ang="0">
                    <a:pos x="318" y="130"/>
                  </a:cxn>
                  <a:cxn ang="0">
                    <a:pos x="344" y="174"/>
                  </a:cxn>
                  <a:cxn ang="0">
                    <a:pos x="337" y="182"/>
                  </a:cxn>
                  <a:cxn ang="0">
                    <a:pos x="276" y="216"/>
                  </a:cxn>
                  <a:cxn ang="0">
                    <a:pos x="258" y="257"/>
                  </a:cxn>
                  <a:cxn ang="0">
                    <a:pos x="197" y="249"/>
                  </a:cxn>
                  <a:cxn ang="0">
                    <a:pos x="180" y="322"/>
                  </a:cxn>
                  <a:cxn ang="0">
                    <a:pos x="230" y="363"/>
                  </a:cxn>
                  <a:cxn ang="0">
                    <a:pos x="287" y="372"/>
                  </a:cxn>
                  <a:cxn ang="0">
                    <a:pos x="325" y="371"/>
                  </a:cxn>
                  <a:cxn ang="0">
                    <a:pos x="350" y="364"/>
                  </a:cxn>
                  <a:cxn ang="0">
                    <a:pos x="357" y="381"/>
                  </a:cxn>
                  <a:cxn ang="0">
                    <a:pos x="379" y="394"/>
                  </a:cxn>
                  <a:cxn ang="0">
                    <a:pos x="370" y="406"/>
                  </a:cxn>
                  <a:cxn ang="0">
                    <a:pos x="375" y="421"/>
                  </a:cxn>
                  <a:cxn ang="0">
                    <a:pos x="363" y="439"/>
                  </a:cxn>
                  <a:cxn ang="0">
                    <a:pos x="358" y="448"/>
                  </a:cxn>
                  <a:cxn ang="0">
                    <a:pos x="312" y="433"/>
                  </a:cxn>
                  <a:cxn ang="0">
                    <a:pos x="231" y="414"/>
                  </a:cxn>
                  <a:cxn ang="0">
                    <a:pos x="178" y="407"/>
                  </a:cxn>
                  <a:cxn ang="0">
                    <a:pos x="164" y="392"/>
                  </a:cxn>
                  <a:cxn ang="0">
                    <a:pos x="170" y="402"/>
                  </a:cxn>
                  <a:cxn ang="0">
                    <a:pos x="205" y="412"/>
                  </a:cxn>
                  <a:cxn ang="0">
                    <a:pos x="234" y="431"/>
                  </a:cxn>
                  <a:cxn ang="0">
                    <a:pos x="227" y="451"/>
                  </a:cxn>
                  <a:cxn ang="0">
                    <a:pos x="175" y="493"/>
                  </a:cxn>
                  <a:cxn ang="0">
                    <a:pos x="115" y="528"/>
                  </a:cxn>
                  <a:cxn ang="0">
                    <a:pos x="104" y="582"/>
                  </a:cxn>
                  <a:cxn ang="0">
                    <a:pos x="138" y="626"/>
                  </a:cxn>
                  <a:cxn ang="0">
                    <a:pos x="83" y="632"/>
                  </a:cxn>
                  <a:cxn ang="0">
                    <a:pos x="47" y="629"/>
                  </a:cxn>
                  <a:cxn ang="0">
                    <a:pos x="48" y="549"/>
                  </a:cxn>
                  <a:cxn ang="0">
                    <a:pos x="27" y="528"/>
                  </a:cxn>
                  <a:cxn ang="0">
                    <a:pos x="40" y="508"/>
                  </a:cxn>
                  <a:cxn ang="0">
                    <a:pos x="103" y="483"/>
                  </a:cxn>
                  <a:cxn ang="0">
                    <a:pos x="124" y="447"/>
                  </a:cxn>
                  <a:cxn ang="0">
                    <a:pos x="26" y="440"/>
                  </a:cxn>
                  <a:cxn ang="0">
                    <a:pos x="6" y="431"/>
                  </a:cxn>
                  <a:cxn ang="0">
                    <a:pos x="0" y="399"/>
                  </a:cxn>
                  <a:cxn ang="0">
                    <a:pos x="6" y="368"/>
                  </a:cxn>
                  <a:cxn ang="0">
                    <a:pos x="51" y="265"/>
                  </a:cxn>
                  <a:cxn ang="0">
                    <a:pos x="104" y="196"/>
                  </a:cxn>
                  <a:cxn ang="0">
                    <a:pos x="130" y="136"/>
                  </a:cxn>
                </a:cxnLst>
                <a:pathLst>
                  <a:path w="380" h="636">
                    <a:moveTo>
                      <a:pt x="130" y="136"/>
                    </a:moveTo>
                    <a:lnTo>
                      <a:pt x="140" y="107"/>
                    </a:lnTo>
                    <a:lnTo>
                      <a:pt x="148" y="73"/>
                    </a:lnTo>
                    <a:lnTo>
                      <a:pt x="153" y="43"/>
                    </a:lnTo>
                    <a:lnTo>
                      <a:pt x="144" y="27"/>
                    </a:lnTo>
                    <a:lnTo>
                      <a:pt x="135" y="19"/>
                    </a:lnTo>
                    <a:lnTo>
                      <a:pt x="148" y="28"/>
                    </a:lnTo>
                    <a:lnTo>
                      <a:pt x="158" y="42"/>
                    </a:lnTo>
                    <a:lnTo>
                      <a:pt x="150" y="10"/>
                    </a:lnTo>
                    <a:lnTo>
                      <a:pt x="157" y="25"/>
                    </a:lnTo>
                    <a:lnTo>
                      <a:pt x="171" y="46"/>
                    </a:lnTo>
                    <a:lnTo>
                      <a:pt x="178" y="48"/>
                    </a:lnTo>
                    <a:lnTo>
                      <a:pt x="174" y="31"/>
                    </a:lnTo>
                    <a:lnTo>
                      <a:pt x="177" y="33"/>
                    </a:lnTo>
                    <a:lnTo>
                      <a:pt x="178" y="18"/>
                    </a:lnTo>
                    <a:lnTo>
                      <a:pt x="174" y="2"/>
                    </a:lnTo>
                    <a:lnTo>
                      <a:pt x="197" y="44"/>
                    </a:lnTo>
                    <a:lnTo>
                      <a:pt x="198" y="37"/>
                    </a:lnTo>
                    <a:lnTo>
                      <a:pt x="201" y="42"/>
                    </a:lnTo>
                    <a:lnTo>
                      <a:pt x="203" y="35"/>
                    </a:lnTo>
                    <a:lnTo>
                      <a:pt x="198" y="25"/>
                    </a:lnTo>
                    <a:lnTo>
                      <a:pt x="199" y="6"/>
                    </a:lnTo>
                    <a:lnTo>
                      <a:pt x="207" y="44"/>
                    </a:lnTo>
                    <a:lnTo>
                      <a:pt x="211" y="9"/>
                    </a:lnTo>
                    <a:lnTo>
                      <a:pt x="211" y="36"/>
                    </a:lnTo>
                    <a:lnTo>
                      <a:pt x="215" y="43"/>
                    </a:lnTo>
                    <a:lnTo>
                      <a:pt x="222" y="13"/>
                    </a:lnTo>
                    <a:lnTo>
                      <a:pt x="236" y="0"/>
                    </a:lnTo>
                    <a:lnTo>
                      <a:pt x="226" y="13"/>
                    </a:lnTo>
                    <a:lnTo>
                      <a:pt x="221" y="36"/>
                    </a:lnTo>
                    <a:lnTo>
                      <a:pt x="223" y="41"/>
                    </a:lnTo>
                    <a:lnTo>
                      <a:pt x="233" y="24"/>
                    </a:lnTo>
                    <a:lnTo>
                      <a:pt x="226" y="39"/>
                    </a:lnTo>
                    <a:lnTo>
                      <a:pt x="226" y="45"/>
                    </a:lnTo>
                    <a:lnTo>
                      <a:pt x="247" y="9"/>
                    </a:lnTo>
                    <a:lnTo>
                      <a:pt x="248" y="15"/>
                    </a:lnTo>
                    <a:lnTo>
                      <a:pt x="238" y="35"/>
                    </a:lnTo>
                    <a:lnTo>
                      <a:pt x="238" y="48"/>
                    </a:lnTo>
                    <a:lnTo>
                      <a:pt x="241" y="50"/>
                    </a:lnTo>
                    <a:lnTo>
                      <a:pt x="246" y="28"/>
                    </a:lnTo>
                    <a:lnTo>
                      <a:pt x="256" y="12"/>
                    </a:lnTo>
                    <a:lnTo>
                      <a:pt x="248" y="29"/>
                    </a:lnTo>
                    <a:lnTo>
                      <a:pt x="250" y="53"/>
                    </a:lnTo>
                    <a:lnTo>
                      <a:pt x="255" y="51"/>
                    </a:lnTo>
                    <a:lnTo>
                      <a:pt x="265" y="20"/>
                    </a:lnTo>
                    <a:lnTo>
                      <a:pt x="258" y="53"/>
                    </a:lnTo>
                    <a:lnTo>
                      <a:pt x="274" y="27"/>
                    </a:lnTo>
                    <a:lnTo>
                      <a:pt x="288" y="18"/>
                    </a:lnTo>
                    <a:lnTo>
                      <a:pt x="277" y="31"/>
                    </a:lnTo>
                    <a:lnTo>
                      <a:pt x="269" y="45"/>
                    </a:lnTo>
                    <a:lnTo>
                      <a:pt x="281" y="40"/>
                    </a:lnTo>
                    <a:lnTo>
                      <a:pt x="266" y="50"/>
                    </a:lnTo>
                    <a:lnTo>
                      <a:pt x="263" y="61"/>
                    </a:lnTo>
                    <a:lnTo>
                      <a:pt x="268" y="63"/>
                    </a:lnTo>
                    <a:lnTo>
                      <a:pt x="284" y="41"/>
                    </a:lnTo>
                    <a:lnTo>
                      <a:pt x="304" y="28"/>
                    </a:lnTo>
                    <a:lnTo>
                      <a:pt x="278" y="57"/>
                    </a:lnTo>
                    <a:lnTo>
                      <a:pt x="290" y="48"/>
                    </a:lnTo>
                    <a:lnTo>
                      <a:pt x="355" y="39"/>
                    </a:lnTo>
                    <a:lnTo>
                      <a:pt x="287" y="53"/>
                    </a:lnTo>
                    <a:lnTo>
                      <a:pt x="280" y="63"/>
                    </a:lnTo>
                    <a:lnTo>
                      <a:pt x="287" y="61"/>
                    </a:lnTo>
                    <a:lnTo>
                      <a:pt x="307" y="52"/>
                    </a:lnTo>
                    <a:lnTo>
                      <a:pt x="291" y="66"/>
                    </a:lnTo>
                    <a:lnTo>
                      <a:pt x="278" y="72"/>
                    </a:lnTo>
                    <a:lnTo>
                      <a:pt x="278" y="81"/>
                    </a:lnTo>
                    <a:lnTo>
                      <a:pt x="281" y="87"/>
                    </a:lnTo>
                    <a:lnTo>
                      <a:pt x="289" y="94"/>
                    </a:lnTo>
                    <a:lnTo>
                      <a:pt x="297" y="105"/>
                    </a:lnTo>
                    <a:lnTo>
                      <a:pt x="304" y="113"/>
                    </a:lnTo>
                    <a:lnTo>
                      <a:pt x="311" y="122"/>
                    </a:lnTo>
                    <a:lnTo>
                      <a:pt x="318" y="130"/>
                    </a:lnTo>
                    <a:lnTo>
                      <a:pt x="322" y="137"/>
                    </a:lnTo>
                    <a:lnTo>
                      <a:pt x="330" y="149"/>
                    </a:lnTo>
                    <a:lnTo>
                      <a:pt x="338" y="162"/>
                    </a:lnTo>
                    <a:lnTo>
                      <a:pt x="344" y="174"/>
                    </a:lnTo>
                    <a:lnTo>
                      <a:pt x="344" y="176"/>
                    </a:lnTo>
                    <a:lnTo>
                      <a:pt x="342" y="178"/>
                    </a:lnTo>
                    <a:lnTo>
                      <a:pt x="340" y="181"/>
                    </a:lnTo>
                    <a:lnTo>
                      <a:pt x="337" y="182"/>
                    </a:lnTo>
                    <a:lnTo>
                      <a:pt x="333" y="182"/>
                    </a:lnTo>
                    <a:lnTo>
                      <a:pt x="285" y="178"/>
                    </a:lnTo>
                    <a:lnTo>
                      <a:pt x="282" y="187"/>
                    </a:lnTo>
                    <a:lnTo>
                      <a:pt x="276" y="216"/>
                    </a:lnTo>
                    <a:lnTo>
                      <a:pt x="271" y="237"/>
                    </a:lnTo>
                    <a:lnTo>
                      <a:pt x="265" y="255"/>
                    </a:lnTo>
                    <a:lnTo>
                      <a:pt x="262" y="255"/>
                    </a:lnTo>
                    <a:lnTo>
                      <a:pt x="258" y="257"/>
                    </a:lnTo>
                    <a:lnTo>
                      <a:pt x="253" y="257"/>
                    </a:lnTo>
                    <a:lnTo>
                      <a:pt x="238" y="257"/>
                    </a:lnTo>
                    <a:lnTo>
                      <a:pt x="201" y="244"/>
                    </a:lnTo>
                    <a:lnTo>
                      <a:pt x="197" y="249"/>
                    </a:lnTo>
                    <a:lnTo>
                      <a:pt x="192" y="270"/>
                    </a:lnTo>
                    <a:lnTo>
                      <a:pt x="187" y="286"/>
                    </a:lnTo>
                    <a:lnTo>
                      <a:pt x="182" y="308"/>
                    </a:lnTo>
                    <a:lnTo>
                      <a:pt x="180" y="322"/>
                    </a:lnTo>
                    <a:lnTo>
                      <a:pt x="188" y="332"/>
                    </a:lnTo>
                    <a:lnTo>
                      <a:pt x="198" y="343"/>
                    </a:lnTo>
                    <a:lnTo>
                      <a:pt x="211" y="359"/>
                    </a:lnTo>
                    <a:lnTo>
                      <a:pt x="230" y="363"/>
                    </a:lnTo>
                    <a:lnTo>
                      <a:pt x="244" y="365"/>
                    </a:lnTo>
                    <a:lnTo>
                      <a:pt x="264" y="369"/>
                    </a:lnTo>
                    <a:lnTo>
                      <a:pt x="276" y="371"/>
                    </a:lnTo>
                    <a:lnTo>
                      <a:pt x="287" y="372"/>
                    </a:lnTo>
                    <a:lnTo>
                      <a:pt x="295" y="373"/>
                    </a:lnTo>
                    <a:lnTo>
                      <a:pt x="302" y="373"/>
                    </a:lnTo>
                    <a:lnTo>
                      <a:pt x="311" y="372"/>
                    </a:lnTo>
                    <a:lnTo>
                      <a:pt x="325" y="371"/>
                    </a:lnTo>
                    <a:lnTo>
                      <a:pt x="339" y="364"/>
                    </a:lnTo>
                    <a:lnTo>
                      <a:pt x="343" y="362"/>
                    </a:lnTo>
                    <a:lnTo>
                      <a:pt x="347" y="362"/>
                    </a:lnTo>
                    <a:lnTo>
                      <a:pt x="350" y="364"/>
                    </a:lnTo>
                    <a:lnTo>
                      <a:pt x="354" y="368"/>
                    </a:lnTo>
                    <a:lnTo>
                      <a:pt x="355" y="371"/>
                    </a:lnTo>
                    <a:lnTo>
                      <a:pt x="356" y="376"/>
                    </a:lnTo>
                    <a:lnTo>
                      <a:pt x="357" y="381"/>
                    </a:lnTo>
                    <a:lnTo>
                      <a:pt x="362" y="383"/>
                    </a:lnTo>
                    <a:lnTo>
                      <a:pt x="368" y="386"/>
                    </a:lnTo>
                    <a:lnTo>
                      <a:pt x="373" y="389"/>
                    </a:lnTo>
                    <a:lnTo>
                      <a:pt x="379" y="394"/>
                    </a:lnTo>
                    <a:lnTo>
                      <a:pt x="378" y="397"/>
                    </a:lnTo>
                    <a:lnTo>
                      <a:pt x="377" y="401"/>
                    </a:lnTo>
                    <a:lnTo>
                      <a:pt x="373" y="404"/>
                    </a:lnTo>
                    <a:lnTo>
                      <a:pt x="370" y="406"/>
                    </a:lnTo>
                    <a:lnTo>
                      <a:pt x="372" y="409"/>
                    </a:lnTo>
                    <a:lnTo>
                      <a:pt x="373" y="413"/>
                    </a:lnTo>
                    <a:lnTo>
                      <a:pt x="375" y="418"/>
                    </a:lnTo>
                    <a:lnTo>
                      <a:pt x="375" y="421"/>
                    </a:lnTo>
                    <a:lnTo>
                      <a:pt x="373" y="426"/>
                    </a:lnTo>
                    <a:lnTo>
                      <a:pt x="370" y="428"/>
                    </a:lnTo>
                    <a:lnTo>
                      <a:pt x="362" y="433"/>
                    </a:lnTo>
                    <a:lnTo>
                      <a:pt x="363" y="439"/>
                    </a:lnTo>
                    <a:lnTo>
                      <a:pt x="363" y="442"/>
                    </a:lnTo>
                    <a:lnTo>
                      <a:pt x="362" y="445"/>
                    </a:lnTo>
                    <a:lnTo>
                      <a:pt x="361" y="447"/>
                    </a:lnTo>
                    <a:lnTo>
                      <a:pt x="358" y="448"/>
                    </a:lnTo>
                    <a:lnTo>
                      <a:pt x="355" y="447"/>
                    </a:lnTo>
                    <a:lnTo>
                      <a:pt x="348" y="446"/>
                    </a:lnTo>
                    <a:lnTo>
                      <a:pt x="332" y="440"/>
                    </a:lnTo>
                    <a:lnTo>
                      <a:pt x="312" y="433"/>
                    </a:lnTo>
                    <a:lnTo>
                      <a:pt x="284" y="426"/>
                    </a:lnTo>
                    <a:lnTo>
                      <a:pt x="279" y="426"/>
                    </a:lnTo>
                    <a:lnTo>
                      <a:pt x="263" y="422"/>
                    </a:lnTo>
                    <a:lnTo>
                      <a:pt x="231" y="414"/>
                    </a:lnTo>
                    <a:lnTo>
                      <a:pt x="204" y="411"/>
                    </a:lnTo>
                    <a:lnTo>
                      <a:pt x="198" y="412"/>
                    </a:lnTo>
                    <a:lnTo>
                      <a:pt x="184" y="413"/>
                    </a:lnTo>
                    <a:lnTo>
                      <a:pt x="178" y="407"/>
                    </a:lnTo>
                    <a:lnTo>
                      <a:pt x="172" y="404"/>
                    </a:lnTo>
                    <a:lnTo>
                      <a:pt x="170" y="401"/>
                    </a:lnTo>
                    <a:lnTo>
                      <a:pt x="167" y="397"/>
                    </a:lnTo>
                    <a:lnTo>
                      <a:pt x="164" y="392"/>
                    </a:lnTo>
                    <a:lnTo>
                      <a:pt x="149" y="373"/>
                    </a:lnTo>
                    <a:lnTo>
                      <a:pt x="163" y="390"/>
                    </a:lnTo>
                    <a:lnTo>
                      <a:pt x="168" y="396"/>
                    </a:lnTo>
                    <a:lnTo>
                      <a:pt x="170" y="402"/>
                    </a:lnTo>
                    <a:lnTo>
                      <a:pt x="183" y="412"/>
                    </a:lnTo>
                    <a:lnTo>
                      <a:pt x="190" y="413"/>
                    </a:lnTo>
                    <a:lnTo>
                      <a:pt x="199" y="412"/>
                    </a:lnTo>
                    <a:lnTo>
                      <a:pt x="205" y="412"/>
                    </a:lnTo>
                    <a:lnTo>
                      <a:pt x="216" y="416"/>
                    </a:lnTo>
                    <a:lnTo>
                      <a:pt x="223" y="420"/>
                    </a:lnTo>
                    <a:lnTo>
                      <a:pt x="229" y="425"/>
                    </a:lnTo>
                    <a:lnTo>
                      <a:pt x="234" y="431"/>
                    </a:lnTo>
                    <a:lnTo>
                      <a:pt x="237" y="435"/>
                    </a:lnTo>
                    <a:lnTo>
                      <a:pt x="236" y="439"/>
                    </a:lnTo>
                    <a:lnTo>
                      <a:pt x="233" y="445"/>
                    </a:lnTo>
                    <a:lnTo>
                      <a:pt x="227" y="451"/>
                    </a:lnTo>
                    <a:lnTo>
                      <a:pt x="218" y="460"/>
                    </a:lnTo>
                    <a:lnTo>
                      <a:pt x="204" y="472"/>
                    </a:lnTo>
                    <a:lnTo>
                      <a:pt x="194" y="482"/>
                    </a:lnTo>
                    <a:lnTo>
                      <a:pt x="175" y="493"/>
                    </a:lnTo>
                    <a:lnTo>
                      <a:pt x="145" y="508"/>
                    </a:lnTo>
                    <a:lnTo>
                      <a:pt x="126" y="517"/>
                    </a:lnTo>
                    <a:lnTo>
                      <a:pt x="120" y="523"/>
                    </a:lnTo>
                    <a:lnTo>
                      <a:pt x="115" y="528"/>
                    </a:lnTo>
                    <a:lnTo>
                      <a:pt x="104" y="535"/>
                    </a:lnTo>
                    <a:lnTo>
                      <a:pt x="101" y="545"/>
                    </a:lnTo>
                    <a:lnTo>
                      <a:pt x="101" y="565"/>
                    </a:lnTo>
                    <a:lnTo>
                      <a:pt x="104" y="582"/>
                    </a:lnTo>
                    <a:lnTo>
                      <a:pt x="107" y="593"/>
                    </a:lnTo>
                    <a:lnTo>
                      <a:pt x="125" y="614"/>
                    </a:lnTo>
                    <a:lnTo>
                      <a:pt x="136" y="622"/>
                    </a:lnTo>
                    <a:lnTo>
                      <a:pt x="138" y="626"/>
                    </a:lnTo>
                    <a:lnTo>
                      <a:pt x="137" y="629"/>
                    </a:lnTo>
                    <a:lnTo>
                      <a:pt x="116" y="635"/>
                    </a:lnTo>
                    <a:lnTo>
                      <a:pt x="94" y="632"/>
                    </a:lnTo>
                    <a:lnTo>
                      <a:pt x="83" y="632"/>
                    </a:lnTo>
                    <a:lnTo>
                      <a:pt x="71" y="633"/>
                    </a:lnTo>
                    <a:lnTo>
                      <a:pt x="60" y="633"/>
                    </a:lnTo>
                    <a:lnTo>
                      <a:pt x="49" y="631"/>
                    </a:lnTo>
                    <a:lnTo>
                      <a:pt x="47" y="629"/>
                    </a:lnTo>
                    <a:lnTo>
                      <a:pt x="46" y="626"/>
                    </a:lnTo>
                    <a:lnTo>
                      <a:pt x="46" y="593"/>
                    </a:lnTo>
                    <a:lnTo>
                      <a:pt x="52" y="560"/>
                    </a:lnTo>
                    <a:lnTo>
                      <a:pt x="48" y="549"/>
                    </a:lnTo>
                    <a:lnTo>
                      <a:pt x="40" y="539"/>
                    </a:lnTo>
                    <a:lnTo>
                      <a:pt x="37" y="536"/>
                    </a:lnTo>
                    <a:lnTo>
                      <a:pt x="31" y="530"/>
                    </a:lnTo>
                    <a:lnTo>
                      <a:pt x="27" y="528"/>
                    </a:lnTo>
                    <a:lnTo>
                      <a:pt x="26" y="524"/>
                    </a:lnTo>
                    <a:lnTo>
                      <a:pt x="27" y="521"/>
                    </a:lnTo>
                    <a:lnTo>
                      <a:pt x="32" y="515"/>
                    </a:lnTo>
                    <a:lnTo>
                      <a:pt x="40" y="508"/>
                    </a:lnTo>
                    <a:lnTo>
                      <a:pt x="47" y="504"/>
                    </a:lnTo>
                    <a:lnTo>
                      <a:pt x="57" y="504"/>
                    </a:lnTo>
                    <a:lnTo>
                      <a:pt x="65" y="505"/>
                    </a:lnTo>
                    <a:lnTo>
                      <a:pt x="103" y="483"/>
                    </a:lnTo>
                    <a:lnTo>
                      <a:pt x="132" y="466"/>
                    </a:lnTo>
                    <a:lnTo>
                      <a:pt x="157" y="453"/>
                    </a:lnTo>
                    <a:lnTo>
                      <a:pt x="149" y="453"/>
                    </a:lnTo>
                    <a:lnTo>
                      <a:pt x="124" y="447"/>
                    </a:lnTo>
                    <a:lnTo>
                      <a:pt x="98" y="446"/>
                    </a:lnTo>
                    <a:lnTo>
                      <a:pt x="63" y="441"/>
                    </a:lnTo>
                    <a:lnTo>
                      <a:pt x="52" y="442"/>
                    </a:lnTo>
                    <a:lnTo>
                      <a:pt x="26" y="440"/>
                    </a:lnTo>
                    <a:lnTo>
                      <a:pt x="20" y="439"/>
                    </a:lnTo>
                    <a:lnTo>
                      <a:pt x="14" y="436"/>
                    </a:lnTo>
                    <a:lnTo>
                      <a:pt x="9" y="434"/>
                    </a:lnTo>
                    <a:lnTo>
                      <a:pt x="6" y="431"/>
                    </a:lnTo>
                    <a:lnTo>
                      <a:pt x="3" y="424"/>
                    </a:lnTo>
                    <a:lnTo>
                      <a:pt x="2" y="417"/>
                    </a:lnTo>
                    <a:lnTo>
                      <a:pt x="0" y="409"/>
                    </a:lnTo>
                    <a:lnTo>
                      <a:pt x="0" y="399"/>
                    </a:lnTo>
                    <a:lnTo>
                      <a:pt x="1" y="391"/>
                    </a:lnTo>
                    <a:lnTo>
                      <a:pt x="2" y="382"/>
                    </a:lnTo>
                    <a:lnTo>
                      <a:pt x="3" y="374"/>
                    </a:lnTo>
                    <a:lnTo>
                      <a:pt x="6" y="368"/>
                    </a:lnTo>
                    <a:lnTo>
                      <a:pt x="15" y="344"/>
                    </a:lnTo>
                    <a:lnTo>
                      <a:pt x="25" y="315"/>
                    </a:lnTo>
                    <a:lnTo>
                      <a:pt x="32" y="296"/>
                    </a:lnTo>
                    <a:lnTo>
                      <a:pt x="51" y="265"/>
                    </a:lnTo>
                    <a:lnTo>
                      <a:pt x="69" y="240"/>
                    </a:lnTo>
                    <a:lnTo>
                      <a:pt x="86" y="221"/>
                    </a:lnTo>
                    <a:lnTo>
                      <a:pt x="96" y="208"/>
                    </a:lnTo>
                    <a:lnTo>
                      <a:pt x="104" y="196"/>
                    </a:lnTo>
                    <a:lnTo>
                      <a:pt x="112" y="187"/>
                    </a:lnTo>
                    <a:lnTo>
                      <a:pt x="115" y="172"/>
                    </a:lnTo>
                    <a:lnTo>
                      <a:pt x="123" y="153"/>
                    </a:lnTo>
                    <a:lnTo>
                      <a:pt x="130" y="136"/>
                    </a:lnTo>
                  </a:path>
                </a:pathLst>
              </a:custGeom>
              <a:solidFill>
                <a:srgbClr val="333333">
                  <a:alpha val="100000"/>
                </a:srgbClr>
              </a:solidFill>
              <a:ln w="127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66" name="未知"/>
              <p:cNvSpPr/>
              <p:nvPr/>
            </p:nvSpPr>
            <p:spPr>
              <a:xfrm>
                <a:off x="304" y="101"/>
                <a:ext cx="17" cy="36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10" y="2"/>
                  </a:cxn>
                  <a:cxn ang="0">
                    <a:pos x="8" y="6"/>
                  </a:cxn>
                  <a:cxn ang="0">
                    <a:pos x="5" y="10"/>
                  </a:cxn>
                  <a:cxn ang="0">
                    <a:pos x="2" y="14"/>
                  </a:cxn>
                  <a:cxn ang="0">
                    <a:pos x="1" y="19"/>
                  </a:cxn>
                  <a:cxn ang="0">
                    <a:pos x="0" y="24"/>
                  </a:cxn>
                  <a:cxn ang="0">
                    <a:pos x="0" y="28"/>
                  </a:cxn>
                  <a:cxn ang="0">
                    <a:pos x="2" y="33"/>
                  </a:cxn>
                  <a:cxn ang="0">
                    <a:pos x="2" y="35"/>
                  </a:cxn>
                  <a:cxn ang="0">
                    <a:pos x="5" y="33"/>
                  </a:cxn>
                  <a:cxn ang="0">
                    <a:pos x="7" y="31"/>
                  </a:cxn>
                  <a:cxn ang="0">
                    <a:pos x="10" y="28"/>
                  </a:cxn>
                  <a:cxn ang="0">
                    <a:pos x="11" y="24"/>
                  </a:cxn>
                  <a:cxn ang="0">
                    <a:pos x="14" y="20"/>
                  </a:cxn>
                  <a:cxn ang="0">
                    <a:pos x="14" y="17"/>
                  </a:cxn>
                  <a:cxn ang="0">
                    <a:pos x="15" y="12"/>
                  </a:cxn>
                  <a:cxn ang="0">
                    <a:pos x="16" y="8"/>
                  </a:cxn>
                  <a:cxn ang="0">
                    <a:pos x="15" y="3"/>
                  </a:cxn>
                  <a:cxn ang="0">
                    <a:pos x="14" y="0"/>
                  </a:cxn>
                </a:cxnLst>
                <a:pathLst>
                  <a:path w="17" h="36">
                    <a:moveTo>
                      <a:pt x="14" y="0"/>
                    </a:moveTo>
                    <a:lnTo>
                      <a:pt x="10" y="2"/>
                    </a:lnTo>
                    <a:lnTo>
                      <a:pt x="8" y="6"/>
                    </a:lnTo>
                    <a:lnTo>
                      <a:pt x="5" y="10"/>
                    </a:lnTo>
                    <a:lnTo>
                      <a:pt x="2" y="14"/>
                    </a:lnTo>
                    <a:lnTo>
                      <a:pt x="1" y="19"/>
                    </a:lnTo>
                    <a:lnTo>
                      <a:pt x="0" y="24"/>
                    </a:lnTo>
                    <a:lnTo>
                      <a:pt x="0" y="28"/>
                    </a:lnTo>
                    <a:lnTo>
                      <a:pt x="2" y="33"/>
                    </a:lnTo>
                    <a:lnTo>
                      <a:pt x="2" y="35"/>
                    </a:lnTo>
                    <a:lnTo>
                      <a:pt x="5" y="33"/>
                    </a:lnTo>
                    <a:lnTo>
                      <a:pt x="7" y="31"/>
                    </a:lnTo>
                    <a:lnTo>
                      <a:pt x="10" y="28"/>
                    </a:lnTo>
                    <a:lnTo>
                      <a:pt x="11" y="24"/>
                    </a:lnTo>
                    <a:lnTo>
                      <a:pt x="14" y="20"/>
                    </a:lnTo>
                    <a:lnTo>
                      <a:pt x="14" y="17"/>
                    </a:lnTo>
                    <a:lnTo>
                      <a:pt x="15" y="12"/>
                    </a:lnTo>
                    <a:lnTo>
                      <a:pt x="16" y="8"/>
                    </a:lnTo>
                    <a:lnTo>
                      <a:pt x="15" y="3"/>
                    </a:lnTo>
                    <a:lnTo>
                      <a:pt x="14" y="0"/>
                    </a:lnTo>
                  </a:path>
                </a:pathLst>
              </a:custGeom>
              <a:solidFill>
                <a:srgbClr val="333333">
                  <a:alpha val="100000"/>
                </a:srgbClr>
              </a:solidFill>
              <a:ln w="127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pic>
          <p:nvPicPr>
            <p:cNvPr id="22540" name="Picture 20" descr="money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36763" y="2393949"/>
              <a:ext cx="817180" cy="504105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42" name="Text Box 22"/>
            <p:cNvSpPr txBox="1"/>
            <p:nvPr/>
          </p:nvSpPr>
          <p:spPr>
            <a:xfrm>
              <a:off x="3268981" y="3800159"/>
              <a:ext cx="792480" cy="4603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0" hangingPunct="0">
                <a:buFont typeface="Arial" panose="020B0604020202090204" pitchFamily="34" charset="0"/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偷看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43" name="Picture 23" descr="eyes"/>
            <p:cNvSpPr>
              <a:spLocks noChangeAspect="1"/>
            </p:cNvSpPr>
            <p:nvPr/>
          </p:nvSpPr>
          <p:spPr>
            <a:xfrm>
              <a:off x="3851275" y="3670299"/>
              <a:ext cx="741123" cy="65975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pic>
          <p:nvPicPr>
            <p:cNvPr id="22544" name="Picture 2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174750" y="3517900"/>
              <a:ext cx="1284140" cy="889701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</p:pic>
        <p:sp>
          <p:nvSpPr>
            <p:cNvPr id="22545" name="Text Box 25"/>
            <p:cNvSpPr txBox="1"/>
            <p:nvPr/>
          </p:nvSpPr>
          <p:spPr>
            <a:xfrm>
              <a:off x="4061461" y="5164769"/>
              <a:ext cx="792480" cy="4603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lvl="0" algn="ctr" eaLnBrk="0" hangingPunct="0">
                <a:buClrTx/>
                <a:buSzTx/>
                <a:buFont typeface="Arial" panose="020B0604020202090204" pitchFamily="34" charset="0"/>
              </a:pPr>
              <a:r>
                <a:rPr lang="zh-CN" altLang="en-US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篡改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2546" name="Text Box 26"/>
            <p:cNvSpPr txBox="1"/>
            <p:nvPr/>
          </p:nvSpPr>
          <p:spPr>
            <a:xfrm>
              <a:off x="1329373" y="4430439"/>
              <a:ext cx="792480" cy="4603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lvl="0" algn="ctr" eaLnBrk="0" hangingPunct="0">
                <a:buClrTx/>
                <a:buSzTx/>
                <a:buFont typeface="Arial" panose="020B0604020202090204" pitchFamily="34" charset="0"/>
              </a:pPr>
              <a:r>
                <a:rPr lang="zh-CN" altLang="en-US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抵赖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2547" name="Picture 27" descr="ENT6000_00A4_005_idx"/>
            <p:cNvSpPr>
              <a:spLocks noChangeAspect="1"/>
            </p:cNvSpPr>
            <p:nvPr/>
          </p:nvSpPr>
          <p:spPr>
            <a:xfrm>
              <a:off x="5867399" y="1700213"/>
              <a:ext cx="677447" cy="11992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pic>
          <p:nvPicPr>
            <p:cNvPr id="22548" name="Picture 28" descr="DataBas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6443662" y="1974850"/>
              <a:ext cx="1204545" cy="108957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49" name="Text Box 29"/>
            <p:cNvSpPr txBox="1"/>
            <p:nvPr/>
          </p:nvSpPr>
          <p:spPr>
            <a:xfrm>
              <a:off x="3268663" y="4486911"/>
              <a:ext cx="792480" cy="460334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lvl="0" algn="ctr" eaLnBrk="0" hangingPunct="0">
                <a:buClrTx/>
                <a:buSzTx/>
                <a:buFont typeface="Arial" panose="020B0604020202090204" pitchFamily="34" charset="0"/>
              </a:pPr>
              <a:r>
                <a:rPr lang="zh-CN" altLang="en-US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假冒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2550" name="Cloud"/>
            <p:cNvSpPr>
              <a:spLocks noChangeAspect="1" noEditPoints="1"/>
            </p:cNvSpPr>
            <p:nvPr/>
          </p:nvSpPr>
          <p:spPr>
            <a:xfrm>
              <a:off x="3132137" y="1687513"/>
              <a:ext cx="2193297" cy="1604290"/>
            </a:xfrm>
            <a:custGeom>
              <a:avLst/>
              <a:gdLst>
                <a:gd name="txL" fmla="*/ 2977 w 21600"/>
                <a:gd name="txT" fmla="*/ 3262 h 21600"/>
                <a:gd name="txR" fmla="*/ 17087 w 21600"/>
                <a:gd name="txB" fmla="*/ 17337 h 2160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21600" h="2160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/>
            <a:p>
              <a:pPr algn="ctr">
                <a:spcBef>
                  <a:spcPct val="20000"/>
                </a:spcBef>
                <a:buFont typeface="Arial" panose="020B0604020202090204" pitchFamily="34" charset="0"/>
                <a:buNone/>
              </a:pPr>
              <a:r>
                <a:rPr lang="zh-CN" altLang="en-US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公共</a:t>
              </a:r>
              <a:r>
                <a:rPr lang="en-US" altLang="zh-CN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Internet</a:t>
              </a:r>
              <a:endPara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551" name="Line 31"/>
            <p:cNvSpPr/>
            <p:nvPr/>
          </p:nvSpPr>
          <p:spPr>
            <a:xfrm>
              <a:off x="4716463" y="2479675"/>
              <a:ext cx="0" cy="2166766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triangle" w="med" len="lg"/>
              <a:tailEnd type="none" w="med" len="med"/>
            </a:ln>
            <a:effectLst>
              <a:prstShdw prst="shdw17" dist="17961" dir="13499999">
                <a:srgbClr val="990000"/>
              </a:prstShdw>
            </a:effectLst>
          </p:spPr>
        </p:sp>
        <p:sp>
          <p:nvSpPr>
            <p:cNvPr id="22552" name="Line 32"/>
            <p:cNvSpPr/>
            <p:nvPr/>
          </p:nvSpPr>
          <p:spPr>
            <a:xfrm>
              <a:off x="4197350" y="2514599"/>
              <a:ext cx="36513" cy="1245227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lg"/>
            </a:ln>
            <a:effectLst>
              <a:prstShdw prst="shdw17" dist="17961" dir="13499999">
                <a:srgbClr val="990000"/>
              </a:prstShdw>
            </a:effectLst>
          </p:spPr>
        </p:sp>
        <p:sp>
          <p:nvSpPr>
            <p:cNvPr id="22553" name="Rectangle 33"/>
            <p:cNvSpPr/>
            <p:nvPr/>
          </p:nvSpPr>
          <p:spPr>
            <a:xfrm>
              <a:off x="828358" y="1687513"/>
              <a:ext cx="6840537" cy="1926211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/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endParaRPr lang="zh-CN" altLang="zh-CN" sz="200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2554" name="Rectangle 34"/>
            <p:cNvSpPr/>
            <p:nvPr/>
          </p:nvSpPr>
          <p:spPr>
            <a:xfrm>
              <a:off x="900113" y="3487737"/>
              <a:ext cx="4464050" cy="2407321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/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endParaRPr lang="zh-CN" altLang="zh-CN" sz="200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2555" name="Text Box 35"/>
            <p:cNvSpPr txBox="1"/>
            <p:nvPr/>
          </p:nvSpPr>
          <p:spPr>
            <a:xfrm>
              <a:off x="5851525" y="3800475"/>
              <a:ext cx="3528695" cy="124258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1">
              <a:spAutoFit/>
            </a:bodyPr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r>
                <a:rPr lang="zh-CN" altLang="en-US" sz="22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非法操作：</a:t>
              </a:r>
              <a:endPara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</a:pPr>
              <a:r>
                <a:rPr lang="zh-CN" altLang="en-US" sz="22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读取非允许的数据；</a:t>
              </a:r>
              <a:endPara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  <a:p>
              <a:pPr>
                <a:spcBef>
                  <a:spcPct val="20000"/>
                </a:spcBef>
                <a:buClr>
                  <a:srgbClr val="0000FF"/>
                </a:buClr>
                <a:buFont typeface="Wingdings" panose="05000000000000000000" pitchFamily="2" charset="2"/>
                <a:buChar char="l"/>
              </a:pPr>
              <a:r>
                <a:rPr lang="zh-CN" altLang="en-US" sz="22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 改</a:t>
              </a:r>
              <a:r>
                <a:rPr lang="en-US" altLang="zh-CN" sz="22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  <a:r>
                <a:rPr lang="zh-CN" altLang="en-US" sz="22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删</a:t>
              </a:r>
              <a:r>
                <a:rPr lang="en-US" altLang="zh-CN" sz="22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/</a:t>
              </a:r>
              <a:r>
                <a:rPr lang="zh-CN" altLang="en-US" sz="22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加非允许的数据</a:t>
              </a:r>
              <a:r>
                <a:rPr lang="zh-CN" altLang="en-US" sz="2200" dirty="0">
                  <a:solidFill>
                    <a:schemeClr val="accent2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</a:rPr>
                <a:t>；</a:t>
              </a:r>
              <a:endParaRPr lang="zh-CN" altLang="en-US" sz="2200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endParaRPr>
            </a:p>
          </p:txBody>
        </p:sp>
        <p:sp>
          <p:nvSpPr>
            <p:cNvPr id="22556" name="Rectangle 36"/>
            <p:cNvSpPr/>
            <p:nvPr/>
          </p:nvSpPr>
          <p:spPr>
            <a:xfrm>
              <a:off x="5867083" y="3500275"/>
              <a:ext cx="3307715" cy="2395005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/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endParaRPr lang="zh-CN" altLang="zh-CN" sz="200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2557" name="Text Box 37"/>
            <p:cNvSpPr txBox="1"/>
            <p:nvPr/>
          </p:nvSpPr>
          <p:spPr>
            <a:xfrm>
              <a:off x="2339975" y="5924128"/>
              <a:ext cx="1398270" cy="4616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1">
              <a:spAutoFit/>
            </a:bodyPr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</a:rPr>
                <a:t>加密技术</a:t>
              </a:r>
              <a:endParaRPr lang="zh-CN" altLang="en-US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58" name="Text Box 38"/>
            <p:cNvSpPr txBox="1"/>
            <p:nvPr/>
          </p:nvSpPr>
          <p:spPr>
            <a:xfrm>
              <a:off x="5724525" y="5924128"/>
              <a:ext cx="3227070" cy="461603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 lIns="90000" tIns="46800" rIns="90000" bIns="46800" anchor="t" anchorCtr="1">
              <a:spAutoFit/>
            </a:bodyPr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r>
                <a:rPr lang="zh-CN" altLang="en-US" b="1" dirty="0">
                  <a:latin typeface="微软雅黑" panose="020B0503020204020204" charset="-122"/>
                  <a:ea typeface="微软雅黑" panose="020B0503020204020204" charset="-122"/>
                </a:rPr>
                <a:t>用户、权限管理，审计</a:t>
              </a:r>
              <a:endParaRPr lang="zh-CN" altLang="en-US" b="1" dirty="0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4" name="矩形 43"/>
          <p:cNvSpPr/>
          <p:nvPr/>
        </p:nvSpPr>
        <p:spPr>
          <a:xfrm>
            <a:off x="3489167" y="333375"/>
            <a:ext cx="221488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安全</a:t>
            </a:r>
            <a:r>
              <a:rPr kumimoji="1" lang="zh-CN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威胁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2" name="Text Box 37"/>
          <p:cNvSpPr txBox="1"/>
          <p:nvPr/>
        </p:nvSpPr>
        <p:spPr>
          <a:xfrm>
            <a:off x="1422400" y="1456014"/>
            <a:ext cx="5360670" cy="46164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lIns="90000" tIns="46800" rIns="90000" bIns="46800" anchor="t" anchorCtr="1">
            <a:spAutoFit/>
          </a:bodyPr>
          <a:p>
            <a:pPr>
              <a:spcBef>
                <a:spcPct val="20000"/>
              </a:spcBef>
              <a:buFont typeface="Arial" panose="020B0604020202090204" pitchFamily="34" charset="0"/>
              <a:buNone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系统漏洞：通过数据来引发程序的畸变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Text Box 37"/>
          <p:cNvSpPr txBox="1"/>
          <p:nvPr/>
        </p:nvSpPr>
        <p:spPr>
          <a:xfrm>
            <a:off x="7094855" y="2129749"/>
            <a:ext cx="2007870" cy="1348105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lIns="90000" tIns="46800" rIns="90000" bIns="46800" anchor="t" anchorCtr="1">
            <a:spAutoFit/>
          </a:bodyPr>
          <a:p>
            <a:pPr>
              <a:spcBef>
                <a:spcPct val="20000"/>
              </a:spcBef>
              <a:buFont typeface="Arial" panose="020B0604020202090204" pitchFamily="34" charset="0"/>
              <a:buNone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你是真的你？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spcBef>
                <a:spcPct val="20000"/>
              </a:spcBef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服务器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spcBef>
                <a:spcPct val="20000"/>
              </a:spcBef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客户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矩形 4"/>
          <p:cNvSpPr/>
          <p:nvPr/>
        </p:nvSpPr>
        <p:spPr>
          <a:xfrm>
            <a:off x="1691799" y="404495"/>
            <a:ext cx="678688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数据库服务内部</a:t>
            </a: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安全保障技术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grpSp>
        <p:nvGrpSpPr>
          <p:cNvPr id="13" name="组合 12"/>
          <p:cNvGrpSpPr/>
          <p:nvPr/>
        </p:nvGrpSpPr>
        <p:grpSpPr>
          <a:xfrm>
            <a:off x="871855" y="2165350"/>
            <a:ext cx="6678930" cy="3776980"/>
            <a:chOff x="197" y="2916"/>
            <a:chExt cx="10518" cy="5948"/>
          </a:xfrm>
        </p:grpSpPr>
        <p:grpSp>
          <p:nvGrpSpPr>
            <p:cNvPr id="7" name="组合 6"/>
            <p:cNvGrpSpPr/>
            <p:nvPr/>
          </p:nvGrpSpPr>
          <p:grpSpPr>
            <a:xfrm>
              <a:off x="3653" y="6778"/>
              <a:ext cx="7053" cy="1361"/>
              <a:chOff x="3653" y="6778"/>
              <a:chExt cx="2604" cy="1361"/>
            </a:xfrm>
          </p:grpSpPr>
          <p:sp>
            <p:nvSpPr>
              <p:cNvPr id="95" name="Text Box 95"/>
              <p:cNvSpPr txBox="1">
                <a:spLocks noChangeArrowheads="1"/>
              </p:cNvSpPr>
              <p:nvPr/>
            </p:nvSpPr>
            <p:spPr bwMode="auto">
              <a:xfrm>
                <a:off x="3653" y="6778"/>
                <a:ext cx="2599" cy="68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54000" tIns="10800" rIns="54000" bIns="10800" anchor="t" anchorCtr="0" upright="1">
                <a:noAutofit/>
              </a:bodyPr>
              <a:p>
                <a:pPr algn="ctr"/>
                <a:r>
                  <a:rPr lang="en-US" altLang="zh-CN" kern="50"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rPr>
                  <a:t>审计</a:t>
                </a:r>
                <a:endParaRPr lang="en-US" altLang="zh-CN" kern="50"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96" name="Text Box 96"/>
              <p:cNvSpPr txBox="1">
                <a:spLocks noChangeArrowheads="1"/>
              </p:cNvSpPr>
              <p:nvPr/>
            </p:nvSpPr>
            <p:spPr bwMode="auto">
              <a:xfrm>
                <a:off x="3659" y="7459"/>
                <a:ext cx="2599" cy="68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54000" tIns="10800" rIns="54000" bIns="10800" anchor="t" anchorCtr="0" upright="1">
                <a:noAutofit/>
              </a:bodyPr>
              <a:p>
                <a:pPr algn="ctr"/>
                <a:r>
                  <a:rPr lang="en-US" altLang="zh-CN" kern="50"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rPr>
                  <a:t>踪迹记录</a:t>
                </a:r>
                <a:endParaRPr lang="en-US" altLang="zh-CN" kern="50"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</p:grpSp>
        <p:sp>
          <p:nvSpPr>
            <p:cNvPr id="97" name="Text Box 97"/>
            <p:cNvSpPr txBox="1">
              <a:spLocks noChangeArrowheads="1"/>
            </p:cNvSpPr>
            <p:nvPr/>
          </p:nvSpPr>
          <p:spPr bwMode="auto">
            <a:xfrm>
              <a:off x="3682" y="4762"/>
              <a:ext cx="7031" cy="68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54000" tIns="10800" rIns="54000" bIns="10800" anchor="t" anchorCtr="0" upright="1">
              <a:noAutofit/>
            </a:bodyPr>
            <a:p>
              <a:pPr algn="ctr"/>
              <a:r>
                <a:rPr lang="zh-CN" altLang="en-US" kern="50"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访问</a:t>
              </a:r>
              <a:r>
                <a:rPr lang="en-US" altLang="zh-CN" kern="50"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权限管理</a:t>
              </a:r>
              <a:endParaRPr lang="en-US" altLang="zh-CN" kern="50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98" name="Text Box 98"/>
            <p:cNvSpPr txBox="1">
              <a:spLocks noChangeArrowheads="1"/>
            </p:cNvSpPr>
            <p:nvPr/>
          </p:nvSpPr>
          <p:spPr bwMode="auto">
            <a:xfrm>
              <a:off x="3687" y="5445"/>
              <a:ext cx="1375" cy="68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0" tIns="10800" rIns="0" bIns="10800" anchor="t" anchorCtr="0" upright="1">
              <a:noAutofit/>
            </a:bodyPr>
            <a:p>
              <a:pPr algn="ctr"/>
              <a:r>
                <a:rPr lang="en-US" altLang="zh-CN" b="1" kern="5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对象</a:t>
              </a:r>
              <a:endParaRPr lang="en-US" altLang="zh-CN" b="1" kern="5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99" name="Text Box 99"/>
            <p:cNvSpPr txBox="1">
              <a:spLocks noChangeArrowheads="1"/>
            </p:cNvSpPr>
            <p:nvPr/>
          </p:nvSpPr>
          <p:spPr bwMode="auto">
            <a:xfrm>
              <a:off x="5052" y="5443"/>
              <a:ext cx="1375" cy="68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0" tIns="10800" rIns="0" bIns="10800" anchor="t" anchorCtr="0" upright="1">
              <a:noAutofit/>
            </a:bodyPr>
            <a:p>
              <a:pPr algn="ctr"/>
              <a:r>
                <a:rPr lang="en-US" altLang="zh-CN" b="1" kern="5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权限</a:t>
              </a:r>
              <a:endParaRPr lang="en-US" altLang="zh-CN" b="1" kern="5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00" name="Text Box 100"/>
            <p:cNvSpPr txBox="1">
              <a:spLocks noChangeArrowheads="1"/>
            </p:cNvSpPr>
            <p:nvPr/>
          </p:nvSpPr>
          <p:spPr bwMode="auto">
            <a:xfrm>
              <a:off x="6424" y="5445"/>
              <a:ext cx="1375" cy="68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0" tIns="10800" rIns="0" bIns="10800" anchor="t" anchorCtr="0" upright="1">
              <a:noAutofit/>
            </a:bodyPr>
            <a:p>
              <a:pPr algn="ctr"/>
              <a:r>
                <a:rPr lang="en-US" altLang="zh-CN" b="1" kern="50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用户</a:t>
              </a:r>
              <a:endParaRPr lang="en-US" altLang="zh-CN" b="1" kern="5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01" name="Text Box 101"/>
            <p:cNvSpPr txBox="1">
              <a:spLocks noChangeArrowheads="1"/>
            </p:cNvSpPr>
            <p:nvPr/>
          </p:nvSpPr>
          <p:spPr bwMode="auto">
            <a:xfrm>
              <a:off x="7960" y="5443"/>
              <a:ext cx="1375" cy="68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0" tIns="10800" rIns="0" bIns="10800" anchor="t" anchorCtr="0" upright="1">
              <a:noAutofit/>
            </a:bodyPr>
            <a:p>
              <a:pPr algn="ctr"/>
              <a:r>
                <a:rPr lang="en-US" altLang="zh-CN" b="1" kern="5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授权</a:t>
              </a:r>
              <a:endParaRPr lang="en-US" altLang="zh-CN" b="1" kern="5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02" name="Text Box 102"/>
            <p:cNvSpPr txBox="1">
              <a:spLocks noChangeArrowheads="1"/>
            </p:cNvSpPr>
            <p:nvPr/>
          </p:nvSpPr>
          <p:spPr bwMode="auto">
            <a:xfrm>
              <a:off x="9341" y="5449"/>
              <a:ext cx="1375" cy="681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0" tIns="10800" rIns="0" bIns="10800" anchor="t" anchorCtr="0" upright="1">
              <a:noAutofit/>
            </a:bodyPr>
            <a:p>
              <a:pPr algn="ctr"/>
              <a:r>
                <a:rPr lang="en-US" altLang="zh-CN" b="1" kern="5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收权</a:t>
              </a:r>
              <a:endParaRPr lang="en-US" altLang="zh-CN" b="1" kern="5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3649" y="2916"/>
              <a:ext cx="7063" cy="1359"/>
              <a:chOff x="10927" y="3639"/>
              <a:chExt cx="2601" cy="1359"/>
            </a:xfrm>
          </p:grpSpPr>
          <p:sp>
            <p:nvSpPr>
              <p:cNvPr id="3" name="Text Box 95"/>
              <p:cNvSpPr txBox="1">
                <a:spLocks noChangeArrowheads="1"/>
              </p:cNvSpPr>
              <p:nvPr/>
            </p:nvSpPr>
            <p:spPr bwMode="auto">
              <a:xfrm>
                <a:off x="10927" y="3639"/>
                <a:ext cx="2599" cy="68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54000" tIns="10800" rIns="54000" bIns="10800" anchor="t" anchorCtr="0" upright="1">
                <a:noAutofit/>
              </a:bodyPr>
              <a:p>
                <a:pPr algn="ctr"/>
                <a:r>
                  <a:rPr lang="zh-CN" altLang="en-US" kern="50">
                    <a:latin typeface="微软雅黑" panose="020B0503020204020204" charset="-122"/>
                    <a:ea typeface="微软雅黑" panose="020B0503020204020204" charset="-122"/>
                    <a:cs typeface="Times New Roman" panose="02020603050405020304"/>
                    <a:sym typeface="Times New Roman" panose="02020603050405020304"/>
                  </a:rPr>
                  <a:t>认证</a:t>
                </a:r>
                <a:endParaRPr lang="zh-CN" altLang="en-US" kern="50"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endParaRPr>
              </a:p>
            </p:txBody>
          </p:sp>
          <p:sp>
            <p:nvSpPr>
              <p:cNvPr id="4" name="Text Box 96"/>
              <p:cNvSpPr txBox="1">
                <a:spLocks noChangeArrowheads="1"/>
              </p:cNvSpPr>
              <p:nvPr/>
            </p:nvSpPr>
            <p:spPr bwMode="auto">
              <a:xfrm>
                <a:off x="10930" y="4318"/>
                <a:ext cx="2599" cy="681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</a:ln>
            </p:spPr>
            <p:txBody>
              <a:bodyPr rot="0" vert="horz" wrap="square" lIns="54000" tIns="10800" rIns="54000" bIns="10800" anchor="t" anchorCtr="0" upright="1">
                <a:noAutofit/>
              </a:bodyPr>
              <a:p>
                <a:pPr algn="ctr"/>
                <a:r>
                  <a:rPr lang="zh-CN" altLang="en-US" kern="5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Times New Roman" panose="02020603050405020304"/>
                  </a:rPr>
                  <a:t>用户名</a:t>
                </a:r>
                <a:r>
                  <a:rPr lang="en-US" altLang="zh-CN" kern="5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Times New Roman" panose="02020603050405020304"/>
                  </a:rPr>
                  <a:t>+</a:t>
                </a:r>
                <a:r>
                  <a:rPr lang="zh-CN" altLang="en-US" kern="50"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  <a:sym typeface="Times New Roman" panose="02020603050405020304"/>
                  </a:rPr>
                  <a:t>密码</a:t>
                </a:r>
                <a:endParaRPr lang="zh-CN" altLang="en-US" kern="5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endParaRPr>
              </a:p>
            </p:txBody>
          </p:sp>
        </p:grpSp>
        <p:sp>
          <p:nvSpPr>
            <p:cNvPr id="8" name="文本框 7"/>
            <p:cNvSpPr txBox="1"/>
            <p:nvPr/>
          </p:nvSpPr>
          <p:spPr>
            <a:xfrm>
              <a:off x="437" y="2916"/>
              <a:ext cx="268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第一道防线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437" y="4762"/>
              <a:ext cx="268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第二道防线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197" y="6778"/>
              <a:ext cx="3168" cy="130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pPr algn="r"/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威慑措施：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r"/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找线索和证据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" name="文本框 1"/>
            <p:cNvSpPr txBox="1"/>
            <p:nvPr/>
          </p:nvSpPr>
          <p:spPr>
            <a:xfrm>
              <a:off x="677" y="3573"/>
              <a:ext cx="220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</a:rPr>
                <a:t>联接关口</a:t>
              </a:r>
              <a:endPara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677" y="5449"/>
              <a:ext cx="220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</a:rPr>
                <a:t>业务操作</a:t>
              </a:r>
              <a:endPara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12" name="文本框 11"/>
            <p:cNvSpPr txBox="1"/>
            <p:nvPr/>
          </p:nvSpPr>
          <p:spPr>
            <a:xfrm>
              <a:off x="1157" y="8140"/>
              <a:ext cx="124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</a:rPr>
                <a:t>摄像</a:t>
              </a:r>
              <a:endPara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</p:spTree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96" name="Rectangle 33"/>
          <p:cNvSpPr/>
          <p:nvPr/>
        </p:nvSpPr>
        <p:spPr>
          <a:xfrm>
            <a:off x="2382520" y="2085975"/>
            <a:ext cx="2926080" cy="38989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/>
          <a:p>
            <a:pPr>
              <a:spcBef>
                <a:spcPct val="20000"/>
              </a:spcBef>
              <a:buFont typeface="Arial" panose="020B0604020202090204" pitchFamily="34" charset="0"/>
              <a:buNone/>
            </a:pPr>
            <a:endParaRPr lang="zh-CN" altLang="zh-CN" sz="2000" b="0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7598" name="Rectangle 14"/>
          <p:cNvSpPr/>
          <p:nvPr/>
        </p:nvSpPr>
        <p:spPr>
          <a:xfrm>
            <a:off x="1394460" y="2755900"/>
            <a:ext cx="792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密码</a:t>
            </a:r>
            <a:endParaRPr lang="zh-CN" altLang="en-US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599" name="Rectangle 15"/>
          <p:cNvSpPr/>
          <p:nvPr/>
        </p:nvSpPr>
        <p:spPr>
          <a:xfrm>
            <a:off x="1285240" y="2085658"/>
            <a:ext cx="1097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用户名</a:t>
            </a:r>
            <a:endParaRPr lang="zh-CN" altLang="en-US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604" name="Rectangle 2"/>
          <p:cNvSpPr/>
          <p:nvPr/>
        </p:nvSpPr>
        <p:spPr>
          <a:xfrm>
            <a:off x="1617345" y="100965"/>
            <a:ext cx="7415530" cy="128143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防范</a:t>
            </a:r>
            <a:r>
              <a:rPr lang="zh-CN" altLang="en-US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漏洞攻击</a:t>
            </a:r>
            <a:r>
              <a:rPr lang="en-US" altLang="zh-CN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r>
              <a:rPr lang="zh-CN" altLang="en-US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通过数据来引发程序语义畸变</a:t>
            </a:r>
            <a:endParaRPr lang="zh-CN" altLang="en-US" sz="3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7605" name="Text Box 3"/>
          <p:cNvSpPr txBox="1"/>
          <p:nvPr/>
        </p:nvSpPr>
        <p:spPr>
          <a:xfrm>
            <a:off x="111125" y="4569778"/>
            <a:ext cx="8921750" cy="1016000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1">
            <a:spAutoFit/>
          </a:bodyPr>
          <a:p>
            <a:pPr>
              <a:lnSpc>
                <a:spcPct val="125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程序为：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string sqlState= “SELECT password FROM user WHERE user_id ='” + user_name + “';”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606" name="Rectangle 22"/>
          <p:cNvSpPr/>
          <p:nvPr/>
        </p:nvSpPr>
        <p:spPr>
          <a:xfrm>
            <a:off x="3178175" y="3509328"/>
            <a:ext cx="792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</a:t>
            </a:r>
            <a:endParaRPr lang="zh-CN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Rectangle 33"/>
          <p:cNvSpPr/>
          <p:nvPr/>
        </p:nvSpPr>
        <p:spPr>
          <a:xfrm>
            <a:off x="2382520" y="2791460"/>
            <a:ext cx="2926080" cy="38989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/>
          <a:p>
            <a:pPr>
              <a:spcBef>
                <a:spcPct val="20000"/>
              </a:spcBef>
              <a:buFont typeface="Arial" panose="020B0604020202090204" pitchFamily="34" charset="0"/>
              <a:buNone/>
            </a:pPr>
            <a:endParaRPr lang="zh-CN" altLang="zh-CN" sz="2000" b="0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2945765" y="3429000"/>
            <a:ext cx="1266190" cy="648335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12140" y="1628775"/>
            <a:ext cx="5434330" cy="2808605"/>
          </a:xfrm>
          <a:prstGeom prst="rect">
            <a:avLst/>
          </a:prstGeom>
          <a:noFill/>
          <a:ln w="28575" cap="flat" cmpd="dbl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" name="Rectangle 15"/>
          <p:cNvSpPr/>
          <p:nvPr/>
        </p:nvSpPr>
        <p:spPr>
          <a:xfrm>
            <a:off x="2312670" y="2050733"/>
            <a:ext cx="199199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' OR '1' ='1 </a:t>
            </a:r>
            <a:endParaRPr lang="en-US" altLang="zh-CN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Box 3"/>
          <p:cNvSpPr txBox="1"/>
          <p:nvPr/>
        </p:nvSpPr>
        <p:spPr>
          <a:xfrm>
            <a:off x="0" y="5967730"/>
            <a:ext cx="9144000" cy="1016000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1">
            <a:spAutoFit/>
          </a:bodyPr>
          <a:p>
            <a:pPr defTabSz="914400">
              <a:lnSpc>
                <a:spcPct val="125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  <a:tabLst>
                <a:tab pos="0" algn="l"/>
                <a:tab pos="358140" algn="l"/>
              </a:tabLst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 password FROM user WHERE user_id ='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 OR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'1' ='1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';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下箭头 6"/>
          <p:cNvSpPr/>
          <p:nvPr/>
        </p:nvSpPr>
        <p:spPr>
          <a:xfrm>
            <a:off x="3563620" y="5586095"/>
            <a:ext cx="741045" cy="381635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325553" y="1628775"/>
            <a:ext cx="2323465" cy="1050290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SQL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注入攻击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HTML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注入攻击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596" name="Rectangle 33"/>
          <p:cNvSpPr/>
          <p:nvPr/>
        </p:nvSpPr>
        <p:spPr>
          <a:xfrm>
            <a:off x="2382520" y="2085975"/>
            <a:ext cx="3667125" cy="4603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9525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/>
          <a:p>
            <a:pPr>
              <a:spcBef>
                <a:spcPct val="20000"/>
              </a:spcBef>
              <a:buFont typeface="Arial" panose="020B0604020202090204" pitchFamily="34" charset="0"/>
              <a:buNone/>
            </a:pPr>
            <a:endParaRPr lang="zh-CN" altLang="zh-CN" sz="2000" b="0" dirty="0">
              <a:solidFill>
                <a:schemeClr val="tx1">
                  <a:lumMod val="50000"/>
                  <a:lumOff val="50000"/>
                </a:schemeClr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7598" name="Rectangle 14"/>
          <p:cNvSpPr/>
          <p:nvPr/>
        </p:nvSpPr>
        <p:spPr>
          <a:xfrm>
            <a:off x="1437640" y="2755900"/>
            <a:ext cx="792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邮箱</a:t>
            </a:r>
            <a:endParaRPr lang="zh-CN" altLang="en-US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599" name="Rectangle 15"/>
          <p:cNvSpPr/>
          <p:nvPr/>
        </p:nvSpPr>
        <p:spPr>
          <a:xfrm>
            <a:off x="1285240" y="2085658"/>
            <a:ext cx="10972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用户名</a:t>
            </a:r>
            <a:endParaRPr lang="zh-CN" altLang="en-US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604" name="Rectangle 2"/>
          <p:cNvSpPr/>
          <p:nvPr/>
        </p:nvSpPr>
        <p:spPr>
          <a:xfrm>
            <a:off x="611823" y="177165"/>
            <a:ext cx="7561262" cy="9144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4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SQL</a:t>
            </a:r>
            <a:r>
              <a:rPr lang="zh-CN" altLang="en-US" sz="4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注入攻击</a:t>
            </a:r>
            <a:endParaRPr lang="zh-CN" altLang="en-US" sz="4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7605" name="Text Box 3"/>
          <p:cNvSpPr txBox="1"/>
          <p:nvPr/>
        </p:nvSpPr>
        <p:spPr>
          <a:xfrm>
            <a:off x="111125" y="4354513"/>
            <a:ext cx="8921750" cy="1016000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1">
            <a:spAutoFit/>
          </a:bodyPr>
          <a:p>
            <a:pPr>
              <a:lnSpc>
                <a:spcPct val="125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程序为：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string sqlState= “UPDATE user SET mail='”+ mailbox + “' WHERE user_id ='” + user_name + “';”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606" name="Rectangle 22"/>
          <p:cNvSpPr/>
          <p:nvPr/>
        </p:nvSpPr>
        <p:spPr>
          <a:xfrm>
            <a:off x="3178175" y="3509328"/>
            <a:ext cx="792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</a:t>
            </a:r>
            <a:endParaRPr lang="zh-CN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Rectangle 33"/>
          <p:cNvSpPr/>
          <p:nvPr/>
        </p:nvSpPr>
        <p:spPr>
          <a:xfrm>
            <a:off x="2382520" y="2755900"/>
            <a:ext cx="3667125" cy="460375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/>
          <a:p>
            <a:pPr>
              <a:spcBef>
                <a:spcPct val="20000"/>
              </a:spcBef>
              <a:buFont typeface="Arial" panose="020B0604020202090204" pitchFamily="34" charset="0"/>
              <a:buNone/>
            </a:pPr>
            <a:endParaRPr lang="zh-CN" altLang="zh-CN" sz="2000" b="0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2945765" y="3429000"/>
            <a:ext cx="1266190" cy="648335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612140" y="1411605"/>
            <a:ext cx="6336665" cy="2838450"/>
          </a:xfrm>
          <a:prstGeom prst="rect">
            <a:avLst/>
          </a:prstGeom>
          <a:noFill/>
          <a:ln w="28575" cap="flat" cmpd="dbl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" name="Rectangle 15"/>
          <p:cNvSpPr/>
          <p:nvPr/>
        </p:nvSpPr>
        <p:spPr>
          <a:xfrm>
            <a:off x="2450465" y="2755583"/>
            <a:ext cx="333692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909485030@qq.com</a:t>
            </a:r>
            <a:endParaRPr lang="en-US" altLang="zh-CN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Box 3"/>
          <p:cNvSpPr txBox="1"/>
          <p:nvPr/>
        </p:nvSpPr>
        <p:spPr>
          <a:xfrm>
            <a:off x="173355" y="5752148"/>
            <a:ext cx="8921750" cy="1016000"/>
          </a:xfrm>
          <a:prstGeom prst="rect">
            <a:avLst/>
          </a:prstGeom>
          <a:solidFill>
            <a:schemeClr val="bg1"/>
          </a:solidFill>
          <a:ln w="1905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1">
            <a:spAutoFit/>
          </a:bodyPr>
          <a:p>
            <a:pPr>
              <a:lnSpc>
                <a:spcPct val="125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UPDATE user SET mail='909485030@qq.com' 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WHERE user_id ='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 OR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'1' ='1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';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下箭头 6"/>
          <p:cNvSpPr/>
          <p:nvPr/>
        </p:nvSpPr>
        <p:spPr>
          <a:xfrm>
            <a:off x="3563620" y="5370830"/>
            <a:ext cx="741045" cy="381635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" name="Rectangle 15"/>
          <p:cNvSpPr/>
          <p:nvPr/>
        </p:nvSpPr>
        <p:spPr>
          <a:xfrm>
            <a:off x="2450465" y="1411605"/>
            <a:ext cx="35991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修改用户信息</a:t>
            </a:r>
            <a:endParaRPr lang="zh-CN" altLang="en-US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9" name="Rectangle 15"/>
          <p:cNvSpPr/>
          <p:nvPr/>
        </p:nvSpPr>
        <p:spPr>
          <a:xfrm>
            <a:off x="2578100" y="2050733"/>
            <a:ext cx="199199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' OR '1' ='1 </a:t>
            </a:r>
            <a:endParaRPr lang="en-US" altLang="zh-CN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extBox 27"/>
          <p:cNvSpPr txBox="1"/>
          <p:nvPr/>
        </p:nvSpPr>
        <p:spPr>
          <a:xfrm>
            <a:off x="2557662" y="305769"/>
            <a:ext cx="4230370" cy="70675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accent1"/>
                </a:solidFill>
                <a:latin typeface="+mn-lt"/>
                <a:ea typeface="仿宋_GB2312" pitchFamily="1" charset="-122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>
                <a:solidFill>
                  <a:schemeClr val="tx1"/>
                </a:solidFill>
                <a:latin typeface="+mn-lt"/>
                <a:ea typeface="宋体" pitchFamily="2" charset="-122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  <a:ea typeface="宋体" pitchFamily="2" charset="-122"/>
              </a:defRPr>
            </a:lvl5pPr>
          </a:lstStyle>
          <a:p>
            <a:pPr marL="0" lvl="0" indent="0" eaLnBrk="1" hangingPunct="1">
              <a:spcBef>
                <a:spcPct val="0"/>
              </a:spcBef>
              <a:buNone/>
            </a:pPr>
            <a:r>
              <a:rPr lang="en-US" altLang="zh-CN" sz="4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防范SQL注入攻击</a:t>
            </a:r>
            <a:endParaRPr lang="zh-CN" altLang="en-US" sz="2250" b="1" dirty="0" smtClean="0">
              <a:latin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98095" y="1673313"/>
            <a:ext cx="4074024" cy="321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1500" dirty="0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319405" y="3933190"/>
            <a:ext cx="4083685" cy="2787015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891405" y="3878580"/>
            <a:ext cx="3608705" cy="2837815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38735" y="2130425"/>
            <a:ext cx="9146540" cy="174815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20040" y="1443990"/>
            <a:ext cx="805624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JDBC</a:t>
            </a: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中使用参数化</a:t>
            </a:r>
            <a:r>
              <a:rPr lang="en-US" altLang="zh-CN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lang="zh-CN" altLang="en-US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语句，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动态拼接</a:t>
            </a:r>
            <a:r>
              <a:rPr lang="en-US" altLang="zh-CN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SQL</a:t>
            </a:r>
            <a:r>
              <a:rPr lang="zh-CN" altLang="en-US" b="1" dirty="0" smtClean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语句！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椭圆 4"/>
          <p:cNvSpPr/>
          <p:nvPr/>
        </p:nvSpPr>
        <p:spPr bwMode="auto">
          <a:xfrm>
            <a:off x="1656858" y="4883229"/>
            <a:ext cx="683110" cy="323918"/>
          </a:xfrm>
          <a:prstGeom prst="ellipse">
            <a:avLst/>
          </a:prstGeom>
          <a:noFill/>
          <a:ln w="9525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68555" tIns="34277" rIns="68555" bIns="34277" numCol="1" rtlCol="0" anchor="t" anchorCtr="0" compatLnSpc="1"/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</a:pPr>
            <a:endParaRPr kumimoji="0" lang="zh-CN" altLang="en-US" sz="135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90204" pitchFamily="34" charset="0"/>
              <a:ea typeface="宋体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67360" y="3933190"/>
            <a:ext cx="8272145" cy="2924810"/>
          </a:xfrm>
          <a:prstGeom prst="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9" name="右箭头 8"/>
          <p:cNvSpPr/>
          <p:nvPr/>
        </p:nvSpPr>
        <p:spPr>
          <a:xfrm>
            <a:off x="4140200" y="5085715"/>
            <a:ext cx="863600" cy="935990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  <p:transition spd="slow" advTm="3804">
    <p:fade/>
  </p:transition>
  <p:timing>
    <p:tnLst>
      <p:par>
        <p:cTn id="1" dur="indefinite" restart="never" nodeType="tmRoot"/>
      </p:par>
    </p:tnLst>
  </p:timing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604" name="Rectangle 2"/>
          <p:cNvSpPr/>
          <p:nvPr/>
        </p:nvSpPr>
        <p:spPr>
          <a:xfrm>
            <a:off x="22225" y="33655"/>
            <a:ext cx="9126220" cy="123507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HTML</a:t>
            </a:r>
            <a:r>
              <a:rPr lang="zh-CN" altLang="en-US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注入攻击</a:t>
            </a:r>
            <a:r>
              <a:rPr lang="en-US" altLang="zh-CN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——</a:t>
            </a:r>
            <a:endParaRPr lang="en-US" altLang="zh-CN" sz="3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XSS (Cross site Script )</a:t>
            </a:r>
            <a:endParaRPr lang="en-US" altLang="zh-CN" sz="3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7605" name="Text Box 3"/>
          <p:cNvSpPr txBox="1"/>
          <p:nvPr/>
        </p:nvSpPr>
        <p:spPr>
          <a:xfrm>
            <a:off x="93345" y="4634230"/>
            <a:ext cx="3395345" cy="1772285"/>
          </a:xfrm>
          <a:prstGeom prst="rect">
            <a:avLst/>
          </a:prstGeom>
          <a:noFill/>
          <a:ln w="1905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1">
            <a:spAutoFit/>
          </a:bodyPr>
          <a:p>
            <a:pPr algn="l">
              <a:lnSpc>
                <a:spcPct val="125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&lt;ol&gt;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&lt;li&gt;@comment &lt;/li&gt;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&lt;/ol&gt;</a:t>
            </a:r>
            <a:endParaRPr 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606" name="Rectangle 22"/>
          <p:cNvSpPr/>
          <p:nvPr/>
        </p:nvSpPr>
        <p:spPr>
          <a:xfrm>
            <a:off x="3851910" y="3198813"/>
            <a:ext cx="792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确定</a:t>
            </a:r>
            <a:endParaRPr lang="zh-CN" altLang="en-US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Rectangle 33"/>
          <p:cNvSpPr/>
          <p:nvPr/>
        </p:nvSpPr>
        <p:spPr>
          <a:xfrm>
            <a:off x="323850" y="2127885"/>
            <a:ext cx="8396605" cy="870585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/>
          <a:p>
            <a:pPr>
              <a:spcBef>
                <a:spcPct val="20000"/>
              </a:spcBef>
              <a:buFont typeface="Arial" panose="020B0604020202090204" pitchFamily="34" charset="0"/>
              <a:buNone/>
            </a:pPr>
            <a:endParaRPr lang="zh-CN" altLang="zh-CN" sz="2000" b="0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3" name="圆角矩形 2"/>
          <p:cNvSpPr/>
          <p:nvPr/>
        </p:nvSpPr>
        <p:spPr>
          <a:xfrm>
            <a:off x="3615055" y="3142615"/>
            <a:ext cx="1266190" cy="648335"/>
          </a:xfrm>
          <a:prstGeom prst="roundRect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22225" y="1596390"/>
            <a:ext cx="9010015" cy="2266950"/>
          </a:xfrm>
          <a:prstGeom prst="rect">
            <a:avLst/>
          </a:prstGeom>
          <a:noFill/>
          <a:ln w="28575" cap="flat" cmpd="dbl" algn="ctr">
            <a:solidFill>
              <a:schemeClr val="accent1">
                <a:shade val="50000"/>
              </a:schemeClr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5" name="Rectangle 15"/>
          <p:cNvSpPr/>
          <p:nvPr/>
        </p:nvSpPr>
        <p:spPr>
          <a:xfrm>
            <a:off x="539115" y="2159000"/>
            <a:ext cx="8075295" cy="82994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&lt;/li&gt;&lt;/ol&gt;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&lt;script&gt; alert(“XSS attack”); &lt;/script&gt;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&lt;ol&gt;&lt;li</a:t>
            </a:r>
            <a:r>
              <a:rPr 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endParaRPr lang="en-US" altLang="zh-CN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" name="Text Box 3"/>
          <p:cNvSpPr txBox="1"/>
          <p:nvPr/>
        </p:nvSpPr>
        <p:spPr>
          <a:xfrm>
            <a:off x="3686175" y="4314825"/>
            <a:ext cx="5390515" cy="2233930"/>
          </a:xfrm>
          <a:prstGeom prst="rect">
            <a:avLst/>
          </a:prstGeom>
          <a:noFill/>
          <a:ln w="1905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1">
            <a:spAutoFit/>
          </a:bodyPr>
          <a:p>
            <a:pPr algn="l">
              <a:lnSpc>
                <a:spcPct val="125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&lt;ol&gt;&lt;li&gt;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&lt;/li&gt;&lt;/ol&gt;</a:t>
            </a:r>
            <a:endParaRPr lang="en-US" altLang="zh-CN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125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&lt;script&gt; alert(“XSS attack”); &lt;/script&gt;</a:t>
            </a:r>
            <a:endParaRPr lang="en-US" altLang="zh-CN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125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&lt;ol&gt;&lt;li</a:t>
            </a:r>
            <a:r>
              <a:rPr 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&gt;</a:t>
            </a:r>
            <a:r>
              <a:rPr 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&lt;/li&gt; &lt;/ol&gt;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" name="下箭头 6"/>
          <p:cNvSpPr/>
          <p:nvPr/>
        </p:nvSpPr>
        <p:spPr>
          <a:xfrm rot="16200000">
            <a:off x="3308985" y="5490210"/>
            <a:ext cx="741045" cy="381635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8" name="Rectangle 15"/>
          <p:cNvSpPr/>
          <p:nvPr/>
        </p:nvSpPr>
        <p:spPr>
          <a:xfrm>
            <a:off x="323850" y="1596390"/>
            <a:ext cx="3599180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r>
              <a:rPr lang="zh-CN" altLang="en-US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用户评论：</a:t>
            </a:r>
            <a:endParaRPr lang="en-US" altLang="zh-CN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Rectangle 22"/>
          <p:cNvSpPr/>
          <p:nvPr/>
        </p:nvSpPr>
        <p:spPr>
          <a:xfrm>
            <a:off x="762635" y="4080828"/>
            <a:ext cx="171386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HTML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文档</a:t>
            </a:r>
            <a:endParaRPr lang="zh-CN" altLang="en-US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2"/>
          <p:cNvSpPr>
            <a:spLocks noGrp="1"/>
          </p:cNvSpPr>
          <p:nvPr>
            <p:ph type="title"/>
          </p:nvPr>
        </p:nvSpPr>
        <p:spPr>
          <a:xfrm>
            <a:off x="1578610" y="304800"/>
            <a:ext cx="7395210" cy="914400"/>
          </a:xfrm>
        </p:spPr>
        <p:txBody>
          <a:bodyPr vert="horz" wrap="square" lIns="91440" tIns="45720" rIns="91440" bIns="45720" anchor="ctr"/>
          <a:p>
            <a:pPr eaLnBrk="1" hangingPunct="1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安全管理  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非对称加密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技术</a:t>
            </a:r>
            <a:endParaRPr lang="zh-CN" altLang="en-US" sz="4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443" name="Text Box 3"/>
          <p:cNvSpPr txBox="1"/>
          <p:nvPr/>
        </p:nvSpPr>
        <p:spPr>
          <a:xfrm>
            <a:off x="152400" y="1392238"/>
            <a:ext cx="8921750" cy="5292725"/>
          </a:xfrm>
          <a:prstGeom prst="rect">
            <a:avLst/>
          </a:prstGeom>
          <a:noFill/>
          <a:ln w="9525">
            <a:noFill/>
          </a:ln>
        </p:spPr>
        <p:txBody>
          <a:bodyPr lIns="90000" tIns="46800" rIns="90000" bIns="46800" anchor="t" anchorCtr="1">
            <a:spAutoFit/>
          </a:bodyPr>
          <a:p>
            <a:pPr>
              <a:lnSpc>
                <a:spcPct val="11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Char char="u"/>
            </a:pP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(n,e)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构成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公钥</a:t>
            </a:r>
            <a:r>
              <a:rPr lang="en-US" altLang="zh-CN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PK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，可以告诉别人；</a:t>
            </a:r>
            <a:endParaRPr lang="zh-CN" altLang="en-US" sz="2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Char char="u"/>
            </a:pP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(n,d)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构成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私钥SK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，自己保留，不让任何人知道；</a:t>
            </a:r>
            <a:endParaRPr lang="zh-CN" altLang="en-US" sz="2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ct val="40000"/>
              </a:spcBef>
              <a:buFont typeface="Arial" panose="020B0604020202090204" pitchFamily="34" charset="0"/>
              <a:buNone/>
            </a:pP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给别人发送的信息使用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加密，别人能用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PK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解开就证明信息是由你发送的，构成了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签名机制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en-US" altLang="x-none" sz="2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ct val="40000"/>
              </a:spcBef>
              <a:buFont typeface="Arial" panose="020B0604020202090204" pitchFamily="34" charset="0"/>
              <a:buNone/>
            </a:pP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别人给你发送信息时使用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PK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加密，这样只有拥有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SK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的你能够对其解密。</a:t>
            </a:r>
            <a:endParaRPr lang="zh-CN" altLang="en-US" sz="2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ct val="40000"/>
              </a:spcBef>
              <a:buFont typeface="Arial" panose="020B0604020202090204" pitchFamily="34" charset="0"/>
              <a:buNone/>
            </a:pPr>
            <a:endParaRPr lang="zh-CN" altLang="en-US" sz="8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ct val="40000"/>
              </a:spcBef>
              <a:buFont typeface="Arial" panose="020B0604020202090204" pitchFamily="34" charset="0"/>
              <a:buNone/>
            </a:pP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安全性在于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：对于一个大数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已知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公钥PK(n,e)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，但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无法获得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私钥SK(n,d)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ct val="40000"/>
              </a:spcBef>
              <a:buFont typeface="Arial" panose="020B0604020202090204" pitchFamily="34" charset="0"/>
              <a:buNone/>
            </a:pP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密码约束条件：</a:t>
            </a:r>
            <a:endParaRPr lang="zh-CN" altLang="en-US" sz="2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ct val="4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找两素数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q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，取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n = p * q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，再取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t=(p - 1) * (q - 1)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ct val="4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取任何一个数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e, 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要求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 &lt; t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并且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与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互素，取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使得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 * e % t == 1</a:t>
            </a:r>
            <a:endParaRPr lang="en-US" altLang="zh-CN" sz="2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ct val="40000"/>
              </a:spcBef>
              <a:buFont typeface="Arial" panose="020B0604020202090204" pitchFamily="34" charset="0"/>
              <a:buNone/>
            </a:pPr>
            <a:endParaRPr lang="en-US" altLang="x-none" sz="8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ct val="40000"/>
              </a:spcBef>
              <a:buClr>
                <a:srgbClr val="CC3399"/>
              </a:buClr>
              <a:buFont typeface="Wingdings" panose="05000000000000000000" pitchFamily="2" charset="2"/>
              <a:buChar char="ü"/>
            </a:pP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加密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：密文 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(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明文**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d) % n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en-US" altLang="x-none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x-none" sz="2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0000"/>
              </a:lnSpc>
              <a:spcBef>
                <a:spcPct val="40000"/>
              </a:spcBef>
              <a:buClr>
                <a:srgbClr val="CC3399"/>
              </a:buClr>
              <a:buFont typeface="Wingdings" panose="05000000000000000000" pitchFamily="2" charset="2"/>
              <a:buChar char="ü"/>
            </a:pP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解密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：明文 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= (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密文**</a:t>
            </a:r>
            <a:r>
              <a:rPr lang="en-US" altLang="zh-CN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e) % n</a:t>
            </a:r>
            <a:r>
              <a:rPr lang="zh-CN" altLang="en-US" sz="20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en-US" altLang="x-none" sz="2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1444" name="Text Box 4"/>
          <p:cNvSpPr txBox="1"/>
          <p:nvPr/>
        </p:nvSpPr>
        <p:spPr>
          <a:xfrm>
            <a:off x="4144963" y="5776595"/>
            <a:ext cx="4928870" cy="903605"/>
          </a:xfrm>
          <a:prstGeom prst="rect">
            <a:avLst/>
          </a:prstGeom>
          <a:noFill/>
          <a:ln w="9525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82800" rIns="90000" bIns="82800" anchor="t" anchorCtr="1">
            <a:spAutoFit/>
          </a:bodyPr>
          <a:p>
            <a:pPr>
              <a:spcBef>
                <a:spcPct val="20000"/>
              </a:spcBef>
              <a:buFont typeface="Arial" panose="020B0604020202090204" pitchFamily="34" charset="0"/>
              <a:buNone/>
            </a:pPr>
            <a:r>
              <a:rPr lang="zh-CN" altLang="en-US" b="1" dirty="0">
                <a:solidFill>
                  <a:srgbClr val="99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例子：</a:t>
            </a:r>
            <a:r>
              <a:rPr lang="en-US" altLang="zh-CN" b="1" dirty="0">
                <a:solidFill>
                  <a:srgbClr val="990099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PK(33,3); SK(33,7);  m=7;</a:t>
            </a:r>
            <a:endParaRPr lang="en-US" altLang="zh-CN" b="1" dirty="0">
              <a:solidFill>
                <a:srgbClr val="990099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spcBef>
                <a:spcPct val="20000"/>
              </a:spcBef>
              <a:buFont typeface="Arial" panose="020B0604020202090204" pitchFamily="34" charset="0"/>
              <a:buNone/>
            </a:pP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b·c % n = (b % n)·(c % n) % n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604" name="Rectangle 2"/>
          <p:cNvSpPr/>
          <p:nvPr/>
        </p:nvSpPr>
        <p:spPr>
          <a:xfrm>
            <a:off x="325120" y="135890"/>
            <a:ext cx="8818880" cy="113284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32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用户与网站彼此之间的认证</a:t>
            </a:r>
            <a:endParaRPr sz="32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你是我期望的对方吗？</a:t>
            </a:r>
            <a:endParaRPr lang="zh-CN" sz="3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7605" name="Text Box 3"/>
          <p:cNvSpPr txBox="1"/>
          <p:nvPr/>
        </p:nvSpPr>
        <p:spPr>
          <a:xfrm>
            <a:off x="111125" y="1621473"/>
            <a:ext cx="8921750" cy="5262245"/>
          </a:xfrm>
          <a:prstGeom prst="rect">
            <a:avLst/>
          </a:prstGeom>
          <a:noFill/>
          <a:ln w="1905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1">
            <a:spAutoFit/>
          </a:bodyPr>
          <a:p>
            <a:pPr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客户在浏览器中打开中国银行的登录页面：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www.boc.cn;</a:t>
            </a:r>
            <a:endParaRPr lang="en-US" altLang="zh-CN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charset="0"/>
              <a:buChar char="l"/>
            </a:pPr>
            <a:r>
              <a:rPr 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客户的质疑</a:t>
            </a:r>
            <a:r>
              <a:rPr 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打开的页面</a:t>
            </a:r>
            <a:r>
              <a:rPr 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真的来自中国银行吗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？</a:t>
            </a:r>
            <a:endParaRPr lang="zh-CN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客户的请求可能在公网上被黑客截获，然后给你回送一个外观和中国银行一样的页面；</a:t>
            </a:r>
            <a:endParaRPr lang="zh-CN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342900" indent="-342900"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charset="0"/>
              <a:buChar char="l"/>
            </a:pPr>
            <a:r>
              <a:rPr 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银行的质疑</a:t>
            </a:r>
            <a:r>
              <a:rPr 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登录和转账操作，是</a:t>
            </a:r>
            <a:r>
              <a:rPr 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真的客户在操作吗？不是假冒客户吧？</a:t>
            </a:r>
            <a:endParaRPr lang="zh-CN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800100" lvl="1" indent="-342900"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密码可能被猜出，用户请求可能在公网上被截获；</a:t>
            </a:r>
            <a:endParaRPr lang="zh-CN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604" name="Rectangle 2"/>
          <p:cNvSpPr/>
          <p:nvPr/>
        </p:nvSpPr>
        <p:spPr>
          <a:xfrm>
            <a:off x="963930" y="44450"/>
            <a:ext cx="8224520" cy="107315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如何保障从网上获取的</a:t>
            </a:r>
            <a:r>
              <a:rPr 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中国银行的公钥</a:t>
            </a:r>
            <a:r>
              <a:rPr 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是真实的</a:t>
            </a:r>
            <a:r>
              <a:rPr 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？</a:t>
            </a:r>
            <a:endParaRPr lang="zh-CN" sz="28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7605" name="Text Box 3"/>
          <p:cNvSpPr txBox="1"/>
          <p:nvPr/>
        </p:nvSpPr>
        <p:spPr>
          <a:xfrm>
            <a:off x="111125" y="1606868"/>
            <a:ext cx="8921750" cy="4006215"/>
          </a:xfrm>
          <a:prstGeom prst="rect">
            <a:avLst/>
          </a:prstGeom>
          <a:noFill/>
          <a:ln w="1905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1">
            <a:spAutoFit/>
          </a:bodyPr>
          <a:p>
            <a:pPr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想法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：搞个共识的可信任中心，即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中国银行的</a:t>
            </a:r>
            <a:r>
              <a:rPr 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网址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公钥，</a:t>
            </a:r>
            <a:r>
              <a:rPr 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交给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再由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使用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的私钥</a:t>
            </a:r>
            <a:r>
              <a:rPr 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加密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得到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证书，</a:t>
            </a:r>
            <a:r>
              <a:rPr 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发布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到网上。</a:t>
            </a:r>
            <a:endParaRPr lang="zh-CN" altLang="en-US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推论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凡是使用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的公钥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可解密的东西，都来自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，是真实的；</a:t>
            </a:r>
            <a:endParaRPr lang="zh-CN" altLang="en-US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问题转化成了：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如何获取到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的公钥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?</a:t>
            </a:r>
            <a:endParaRPr 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办法：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所有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终端/浏览器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在出厂时事先装上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</a:t>
            </a:r>
            <a:r>
              <a:rPr lang="zh-CN" altLang="en-US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的公钥。</a:t>
            </a:r>
            <a:endParaRPr lang="zh-CN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963930" y="6005830"/>
            <a:ext cx="6736080" cy="521970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 rtlCol="0">
            <a:spAutoFit/>
          </a:bodyPr>
          <a:p>
            <a:r>
              <a:rPr lang="zh-CN" altLang="en-US" sz="2800">
                <a:latin typeface="微软雅黑" panose="020B0503020204020204" charset="-122"/>
                <a:ea typeface="微软雅黑" panose="020B0503020204020204" charset="-122"/>
              </a:rPr>
              <a:t>直接不行，就改成间接呗，这才是智慧</a:t>
            </a:r>
            <a:endParaRPr lang="zh-CN" altLang="en-US" sz="280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604" name="Rectangle 2"/>
          <p:cNvSpPr/>
          <p:nvPr/>
        </p:nvSpPr>
        <p:spPr>
          <a:xfrm>
            <a:off x="1164590" y="191770"/>
            <a:ext cx="7766050" cy="89979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4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用户对网站的认证：</a:t>
            </a:r>
            <a:r>
              <a:rPr lang="zh-CN" sz="4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具体细节</a:t>
            </a:r>
            <a:endParaRPr lang="zh-CN" altLang="zh-CN" sz="40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7605" name="Text Box 3"/>
          <p:cNvSpPr txBox="1"/>
          <p:nvPr/>
        </p:nvSpPr>
        <p:spPr>
          <a:xfrm>
            <a:off x="194310" y="1940560"/>
            <a:ext cx="9039225" cy="3719195"/>
          </a:xfrm>
          <a:prstGeom prst="rect">
            <a:avLst/>
          </a:prstGeom>
          <a:noFill/>
          <a:ln w="1905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1">
            <a:spAutoFit/>
          </a:bodyPr>
          <a:p>
            <a:pPr>
              <a:lnSpc>
                <a:spcPct val="150000"/>
              </a:lnSpc>
              <a:spcBef>
                <a:spcPts val="40"/>
              </a:spcBef>
              <a:spcAft>
                <a:spcPts val="2100"/>
              </a:spcAft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机制：建立CA(Certificate Authority)（数字证书认证中心）：</a:t>
            </a:r>
            <a:endParaRPr lang="zh-CN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每个网站的主人拿上自己的</a:t>
            </a:r>
            <a:r>
              <a:rPr 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信息S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（服务名称，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URL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，公钥），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到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那里拿到一个</a:t>
            </a:r>
            <a:r>
              <a:rPr 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证书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公钥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私钥加密后的</a:t>
            </a:r>
            <a:r>
              <a:rPr 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信息S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】。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altLang="en-US" sz="1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当客户用</a:t>
            </a:r>
            <a:r>
              <a:rPr lang="en-US" alt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HTTPS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访问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一个网站时，网站要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出示其</a:t>
            </a:r>
            <a:r>
              <a:rPr 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证书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，给客户，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以便客户认证网站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604" name="Rectangle 2"/>
          <p:cNvSpPr/>
          <p:nvPr/>
        </p:nvSpPr>
        <p:spPr>
          <a:xfrm>
            <a:off x="1164590" y="191770"/>
            <a:ext cx="7766050" cy="89979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身份认证</a:t>
            </a:r>
            <a:r>
              <a:rPr lang="en-US" altLang="zh-CN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Certificate Authority</a:t>
            </a:r>
            <a:r>
              <a:rPr lang="en-US" altLang="zh-CN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en-US" altLang="zh-CN" sz="3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7605" name="Text Box 3"/>
          <p:cNvSpPr txBox="1"/>
          <p:nvPr/>
        </p:nvSpPr>
        <p:spPr>
          <a:xfrm>
            <a:off x="104775" y="2000885"/>
            <a:ext cx="9039225" cy="3302635"/>
          </a:xfrm>
          <a:prstGeom prst="rect">
            <a:avLst/>
          </a:prstGeom>
          <a:noFill/>
          <a:ln w="1905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1">
            <a:spAutoFit/>
          </a:bodyPr>
          <a:p>
            <a:pPr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浏览器中嵌入了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的公钥。解密证书，得到服务器的信息，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然后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与要访问的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URL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对比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，如果相同，就完成了用户对网站的认证。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endParaRPr lang="en-US" altLang="zh-CN" sz="10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浏览器对网站认证后，调用</a:t>
            </a:r>
            <a:r>
              <a:rPr 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AES函数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来生成一个</a:t>
            </a:r>
            <a:r>
              <a:rPr 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对称加密秘钥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，然后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用网站的公钥对其加密，形成密文，发送给网站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。随后，当网站要给浏览器发送数据时，就用该</a:t>
            </a:r>
            <a:r>
              <a:rPr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对称加密</a:t>
            </a:r>
            <a:r>
              <a:rPr 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秘钥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对明文加密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604" name="Rectangle 2"/>
          <p:cNvSpPr/>
          <p:nvPr/>
        </p:nvSpPr>
        <p:spPr>
          <a:xfrm>
            <a:off x="1164590" y="191770"/>
            <a:ext cx="7766050" cy="89979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身份认证</a:t>
            </a:r>
            <a:r>
              <a:rPr lang="en-US" altLang="zh-CN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(</a:t>
            </a:r>
            <a:r>
              <a:rPr lang="zh-CN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Certificate Authority</a:t>
            </a:r>
            <a:r>
              <a:rPr lang="en-US" altLang="zh-CN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)</a:t>
            </a:r>
            <a:endParaRPr lang="en-US" altLang="zh-CN" sz="3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7605" name="Text Box 3"/>
          <p:cNvSpPr txBox="1"/>
          <p:nvPr/>
        </p:nvSpPr>
        <p:spPr>
          <a:xfrm>
            <a:off x="179705" y="2420620"/>
            <a:ext cx="8590915" cy="2456180"/>
          </a:xfrm>
          <a:prstGeom prst="rect">
            <a:avLst/>
          </a:prstGeom>
          <a:noFill/>
          <a:ln w="1905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1">
            <a:spAutoFit/>
          </a:bodyPr>
          <a:p>
            <a:pPr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非对称加密技术</a:t>
            </a:r>
            <a:r>
              <a:rPr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只用在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浏览器对网站进行认证</a:t>
            </a:r>
            <a:r>
              <a:rPr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，以及</a:t>
            </a:r>
            <a:r>
              <a:rPr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浏览器给网站发送对称加密密码</a:t>
            </a:r>
            <a:r>
              <a:rPr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这两件事情上。随后的数据传输则使用</a:t>
            </a:r>
            <a:r>
              <a:rPr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对称加密技术</a:t>
            </a:r>
            <a:r>
              <a:rPr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来达成安全性。</a:t>
            </a:r>
            <a:endParaRPr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证书的格式和验证方法普遍遵循X.509 国际标准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604" name="Rectangle 2"/>
          <p:cNvSpPr/>
          <p:nvPr/>
        </p:nvSpPr>
        <p:spPr>
          <a:xfrm>
            <a:off x="1164590" y="191770"/>
            <a:ext cx="7766050" cy="89979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思考题</a:t>
            </a:r>
            <a:r>
              <a:rPr lang="en-US" altLang="zh-CN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sz="3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7605" name="Text Box 3"/>
          <p:cNvSpPr txBox="1"/>
          <p:nvPr/>
        </p:nvSpPr>
        <p:spPr>
          <a:xfrm>
            <a:off x="52705" y="1754505"/>
            <a:ext cx="9039225" cy="2985135"/>
          </a:xfrm>
          <a:prstGeom prst="rect">
            <a:avLst/>
          </a:prstGeom>
          <a:noFill/>
          <a:ln w="1905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1">
            <a:spAutoFit/>
          </a:bodyPr>
          <a:p>
            <a:pPr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信息S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（服务名称，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URL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，公钥）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到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那里拿到一个</a:t>
            </a:r>
            <a:r>
              <a:rPr 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证书C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【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公钥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 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私钥加密后的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信息</a:t>
            </a:r>
            <a:r>
              <a:rPr 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】。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endParaRPr lang="zh-CN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sz="3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为什么网站的公钥，也要是证书中的密文内容？</a:t>
            </a:r>
            <a:endParaRPr lang="zh-CN" sz="3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604" name="Rectangle 2"/>
          <p:cNvSpPr/>
          <p:nvPr/>
        </p:nvSpPr>
        <p:spPr>
          <a:xfrm>
            <a:off x="1164590" y="191770"/>
            <a:ext cx="7766050" cy="89979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思考题</a:t>
            </a:r>
            <a:r>
              <a:rPr lang="en-US" altLang="zh-CN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2</a:t>
            </a:r>
            <a:endParaRPr lang="en-US" altLang="zh-CN" sz="3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7605" name="Text Box 3"/>
          <p:cNvSpPr txBox="1"/>
          <p:nvPr/>
        </p:nvSpPr>
        <p:spPr>
          <a:xfrm>
            <a:off x="52070" y="1770380"/>
            <a:ext cx="9039225" cy="4239895"/>
          </a:xfrm>
          <a:prstGeom prst="rect">
            <a:avLst/>
          </a:prstGeom>
          <a:noFill/>
          <a:ln w="1905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1">
            <a:spAutoFit/>
          </a:bodyPr>
          <a:p>
            <a:pPr>
              <a:lnSpc>
                <a:spcPct val="150000"/>
              </a:lnSpc>
              <a:spcBef>
                <a:spcPts val="40"/>
              </a:spcBef>
              <a:spcAft>
                <a:spcPts val="2100"/>
              </a:spcAft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用户要访问中国银行，</a:t>
            </a:r>
            <a:r>
              <a:rPr 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在浏览器中，输入的</a:t>
            </a:r>
            <a:r>
              <a:rPr 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网址www.boc.cn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不能错。如果这个输错了，前面讲的安全措施，就等于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40"/>
              </a:spcBef>
              <a:spcAft>
                <a:spcPts val="2100"/>
              </a:spcAft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电子商务网站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很多</a:t>
            </a:r>
            <a:r>
              <a:rPr 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客户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记不住</a:t>
            </a:r>
            <a:r>
              <a:rPr 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，要使用时，通过百度搜索，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当场获取</a:t>
            </a:r>
            <a:r>
              <a:rPr 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百度搜索中搞了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“</a:t>
            </a:r>
            <a:r>
              <a:rPr 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官网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”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概念，这个概念重要吗？</a:t>
            </a:r>
            <a:endParaRPr lang="zh-CN" altLang="en-US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40"/>
              </a:spcBef>
              <a:spcAft>
                <a:spcPts val="2100"/>
              </a:spcAft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现在客户，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只要记住一个网址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，即百度</a:t>
            </a:r>
            <a:r>
              <a:rPr lang="en-US" altLang="zh-CN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www.baidu.com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b="0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ts val="40"/>
              </a:spcBef>
              <a:spcAft>
                <a:spcPts val="2100"/>
              </a:spcAft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原来用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http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访问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百度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为什么现在强制使用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https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访问？</a:t>
            </a:r>
            <a:endParaRPr lang="zh-CN" altLang="en-US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604" name="Rectangle 2"/>
          <p:cNvSpPr/>
          <p:nvPr/>
        </p:nvSpPr>
        <p:spPr>
          <a:xfrm>
            <a:off x="1164590" y="191770"/>
            <a:ext cx="7766050" cy="89979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网站对用户的认证</a:t>
            </a:r>
            <a:endParaRPr lang="zh-CN" sz="3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7605" name="Text Box 3"/>
          <p:cNvSpPr txBox="1"/>
          <p:nvPr/>
        </p:nvSpPr>
        <p:spPr>
          <a:xfrm>
            <a:off x="104775" y="2352040"/>
            <a:ext cx="9039225" cy="2505075"/>
          </a:xfrm>
          <a:prstGeom prst="rect">
            <a:avLst/>
          </a:prstGeom>
          <a:noFill/>
          <a:ln w="1905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1">
            <a:spAutoFit/>
          </a:bodyPr>
          <a:p>
            <a:pPr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sz="3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认证方式</a:t>
            </a:r>
            <a:r>
              <a:rPr lang="zh-CN" sz="32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：用户账号；</a:t>
            </a:r>
            <a:endParaRPr lang="zh-CN" sz="3200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sz="32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网站认证用户的</a:t>
            </a:r>
            <a:r>
              <a:rPr lang="zh-CN" sz="3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三个层级</a:t>
            </a:r>
            <a:r>
              <a:rPr lang="zh-CN" sz="32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：</a:t>
            </a:r>
            <a:r>
              <a:rPr lang="zh-CN" sz="32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账号，手机验证码，</a:t>
            </a:r>
            <a:r>
              <a:rPr lang="zh-CN" sz="32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以及</a:t>
            </a:r>
            <a:r>
              <a:rPr lang="zh-CN" sz="3200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U盾</a:t>
            </a:r>
            <a:r>
              <a:rPr lang="zh-CN" sz="3200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sz="3200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灯片编号占位符 5"/>
          <p:cNvSpPr txBox="1">
            <a:spLocks noGrp="1"/>
          </p:cNvSpPr>
          <p:nvPr>
            <p:ph type="sldNum" sz="quarter" idx="12"/>
          </p:nvPr>
        </p:nvSpPr>
        <p:spPr>
          <a:xfrm>
            <a:off x="6086793" y="6237288"/>
            <a:ext cx="1905000" cy="457200"/>
          </a:xfrm>
        </p:spPr>
        <p:txBody>
          <a:bodyPr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itchFamily="2" charset="-122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en-US" altLang="zh-CN" sz="1400" dirty="0"/>
            </a:fld>
            <a:endParaRPr lang="en-US" altLang="zh-CN" sz="1400" dirty="0"/>
          </a:p>
        </p:txBody>
      </p:sp>
      <p:grpSp>
        <p:nvGrpSpPr>
          <p:cNvPr id="4" name="组合 3"/>
          <p:cNvGrpSpPr/>
          <p:nvPr/>
        </p:nvGrpSpPr>
        <p:grpSpPr>
          <a:xfrm>
            <a:off x="1151890" y="1807210"/>
            <a:ext cx="6873875" cy="4206875"/>
            <a:chOff x="288" y="3223"/>
            <a:chExt cx="10825" cy="6625"/>
          </a:xfrm>
        </p:grpSpPr>
        <p:pic>
          <p:nvPicPr>
            <p:cNvPr id="22533" name="Picture 3" descr="PC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783" y="3753"/>
              <a:ext cx="1941" cy="1521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34" name="Line 4"/>
            <p:cNvSpPr/>
            <p:nvPr/>
          </p:nvSpPr>
          <p:spPr>
            <a:xfrm>
              <a:off x="2921" y="4470"/>
              <a:ext cx="5530" cy="0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13499999">
                <a:srgbClr val="000099"/>
              </a:prstShdw>
            </a:effectLst>
          </p:spPr>
        </p:sp>
        <p:pic>
          <p:nvPicPr>
            <p:cNvPr id="22535" name="Picture 5"/>
            <p:cNvPicPr preferRelativeResize="0"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63" y="4585"/>
              <a:ext cx="897" cy="719"/>
            </a:xfrm>
            <a:prstGeom prst="rect">
              <a:avLst/>
            </a:prstGeom>
            <a:noFill/>
            <a:ln w="9525">
              <a:noFill/>
            </a:ln>
            <a:effectLst>
              <a:outerShdw dist="53882" dir="2699999" algn="ctr" rotWithShape="0">
                <a:schemeClr val="tx1"/>
              </a:outerShdw>
            </a:effectLst>
          </p:spPr>
        </p:pic>
        <p:sp>
          <p:nvSpPr>
            <p:cNvPr id="22536" name="Line 6"/>
            <p:cNvSpPr/>
            <p:nvPr/>
          </p:nvSpPr>
          <p:spPr>
            <a:xfrm>
              <a:off x="8451" y="4470"/>
              <a:ext cx="792" cy="0"/>
            </a:xfrm>
            <a:prstGeom prst="line">
              <a:avLst/>
            </a:prstGeom>
            <a:ln w="25400" cap="flat" cmpd="sng">
              <a:solidFill>
                <a:srgbClr val="0000FF"/>
              </a:solidFill>
              <a:prstDash val="solid"/>
              <a:headEnd type="none" w="med" len="med"/>
              <a:tailEnd type="none" w="med" len="med"/>
            </a:ln>
            <a:effectLst>
              <a:prstShdw prst="shdw17" dist="17961" dir="13499999">
                <a:srgbClr val="000099"/>
              </a:prstShdw>
            </a:effectLst>
          </p:spPr>
        </p:sp>
        <p:sp>
          <p:nvSpPr>
            <p:cNvPr id="22537" name="Text Box 7"/>
            <p:cNvSpPr txBox="1"/>
            <p:nvPr/>
          </p:nvSpPr>
          <p:spPr>
            <a:xfrm>
              <a:off x="6891" y="5180"/>
              <a:ext cx="2302" cy="6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0" hangingPunct="0">
                <a:buFont typeface="Arial" panose="020B0604020202090204" pitchFamily="34" charset="0"/>
                <a:buNone/>
              </a:pPr>
              <a:r>
                <a:rPr lang="zh-CN" alt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应用服务器</a:t>
              </a:r>
              <a:endPara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38" name="Text Box 8"/>
            <p:cNvSpPr txBox="1"/>
            <p:nvPr/>
          </p:nvSpPr>
          <p:spPr>
            <a:xfrm>
              <a:off x="1391" y="5248"/>
              <a:ext cx="1095" cy="6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0" hangingPunct="0">
                <a:buFont typeface="Arial" panose="020B0604020202090204" pitchFamily="34" charset="0"/>
                <a:buNone/>
              </a:pPr>
              <a:r>
                <a:rPr lang="zh-CN" alt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用户</a:t>
              </a:r>
              <a:endPara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grpSp>
          <p:nvGrpSpPr>
            <p:cNvPr id="22539" name="Group 9"/>
            <p:cNvGrpSpPr/>
            <p:nvPr/>
          </p:nvGrpSpPr>
          <p:grpSpPr>
            <a:xfrm rot="0">
              <a:off x="5503" y="7418"/>
              <a:ext cx="1370" cy="1281"/>
              <a:chOff x="0" y="0"/>
              <a:chExt cx="777" cy="649"/>
            </a:xfrm>
          </p:grpSpPr>
          <p:grpSp>
            <p:nvGrpSpPr>
              <p:cNvPr id="22559" name="Group 10"/>
              <p:cNvGrpSpPr/>
              <p:nvPr/>
            </p:nvGrpSpPr>
            <p:grpSpPr>
              <a:xfrm>
                <a:off x="673" y="381"/>
                <a:ext cx="59" cy="147"/>
                <a:chOff x="0" y="0"/>
                <a:chExt cx="59" cy="147"/>
              </a:xfrm>
            </p:grpSpPr>
            <p:sp>
              <p:nvSpPr>
                <p:cNvPr id="22567" name="未知"/>
                <p:cNvSpPr/>
                <p:nvPr/>
              </p:nvSpPr>
              <p:spPr>
                <a:xfrm>
                  <a:off x="2" y="5"/>
                  <a:ext cx="57" cy="142"/>
                </a:xfrm>
                <a:custGeom>
                  <a:avLst/>
                  <a:gdLst/>
                  <a:ahLst/>
                  <a:cxnLst>
                    <a:cxn ang="0">
                      <a:pos x="0" y="0"/>
                    </a:cxn>
                    <a:cxn ang="0">
                      <a:pos x="2" y="9"/>
                    </a:cxn>
                    <a:cxn ang="0">
                      <a:pos x="5" y="17"/>
                    </a:cxn>
                    <a:cxn ang="0">
                      <a:pos x="10" y="23"/>
                    </a:cxn>
                    <a:cxn ang="0">
                      <a:pos x="17" y="27"/>
                    </a:cxn>
                    <a:cxn ang="0">
                      <a:pos x="26" y="30"/>
                    </a:cxn>
                    <a:cxn ang="0">
                      <a:pos x="33" y="35"/>
                    </a:cxn>
                    <a:cxn ang="0">
                      <a:pos x="39" y="43"/>
                    </a:cxn>
                    <a:cxn ang="0">
                      <a:pos x="45" y="54"/>
                    </a:cxn>
                    <a:cxn ang="0">
                      <a:pos x="47" y="63"/>
                    </a:cxn>
                    <a:cxn ang="0">
                      <a:pos x="46" y="71"/>
                    </a:cxn>
                    <a:cxn ang="0">
                      <a:pos x="39" y="77"/>
                    </a:cxn>
                    <a:cxn ang="0">
                      <a:pos x="34" y="83"/>
                    </a:cxn>
                    <a:cxn ang="0">
                      <a:pos x="30" y="90"/>
                    </a:cxn>
                    <a:cxn ang="0">
                      <a:pos x="26" y="98"/>
                    </a:cxn>
                    <a:cxn ang="0">
                      <a:pos x="26" y="107"/>
                    </a:cxn>
                    <a:cxn ang="0">
                      <a:pos x="28" y="116"/>
                    </a:cxn>
                    <a:cxn ang="0">
                      <a:pos x="32" y="122"/>
                    </a:cxn>
                    <a:cxn ang="0">
                      <a:pos x="40" y="130"/>
                    </a:cxn>
                    <a:cxn ang="0">
                      <a:pos x="47" y="135"/>
                    </a:cxn>
                    <a:cxn ang="0">
                      <a:pos x="56" y="141"/>
                    </a:cxn>
                  </a:cxnLst>
                  <a:pathLst>
                    <a:path w="57" h="142">
                      <a:moveTo>
                        <a:pt x="0" y="0"/>
                      </a:moveTo>
                      <a:lnTo>
                        <a:pt x="2" y="9"/>
                      </a:lnTo>
                      <a:lnTo>
                        <a:pt x="5" y="17"/>
                      </a:lnTo>
                      <a:lnTo>
                        <a:pt x="10" y="23"/>
                      </a:lnTo>
                      <a:lnTo>
                        <a:pt x="17" y="27"/>
                      </a:lnTo>
                      <a:lnTo>
                        <a:pt x="26" y="30"/>
                      </a:lnTo>
                      <a:lnTo>
                        <a:pt x="33" y="35"/>
                      </a:lnTo>
                      <a:lnTo>
                        <a:pt x="39" y="43"/>
                      </a:lnTo>
                      <a:lnTo>
                        <a:pt x="45" y="54"/>
                      </a:lnTo>
                      <a:lnTo>
                        <a:pt x="47" y="63"/>
                      </a:lnTo>
                      <a:lnTo>
                        <a:pt x="46" y="71"/>
                      </a:lnTo>
                      <a:lnTo>
                        <a:pt x="39" y="77"/>
                      </a:lnTo>
                      <a:lnTo>
                        <a:pt x="34" y="83"/>
                      </a:lnTo>
                      <a:lnTo>
                        <a:pt x="30" y="90"/>
                      </a:lnTo>
                      <a:lnTo>
                        <a:pt x="26" y="98"/>
                      </a:lnTo>
                      <a:lnTo>
                        <a:pt x="26" y="107"/>
                      </a:lnTo>
                      <a:lnTo>
                        <a:pt x="28" y="116"/>
                      </a:lnTo>
                      <a:lnTo>
                        <a:pt x="32" y="122"/>
                      </a:lnTo>
                      <a:lnTo>
                        <a:pt x="40" y="130"/>
                      </a:lnTo>
                      <a:lnTo>
                        <a:pt x="47" y="135"/>
                      </a:lnTo>
                      <a:lnTo>
                        <a:pt x="56" y="141"/>
                      </a:lnTo>
                    </a:path>
                  </a:pathLst>
                </a:custGeom>
                <a:solidFill>
                  <a:srgbClr val="333333">
                    <a:alpha val="100000"/>
                  </a:srgbClr>
                </a:solidFill>
                <a:ln w="12700" cap="rnd" cmpd="sng">
                  <a:solidFill>
                    <a:schemeClr val="tx1">
                      <a:alpha val="10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</p:spPr>
              <p:txBody>
                <a:bodyPr/>
                <a:p>
                  <a:endParaRPr lang="zh-CN" altLang="en-US"/>
                </a:p>
              </p:txBody>
            </p:sp>
            <p:sp>
              <p:nvSpPr>
                <p:cNvPr id="22568" name="Oval 12"/>
                <p:cNvSpPr/>
                <p:nvPr/>
              </p:nvSpPr>
              <p:spPr>
                <a:xfrm flipH="1" flipV="1">
                  <a:off x="0" y="0"/>
                  <a:ext cx="1" cy="3"/>
                </a:xfrm>
                <a:prstGeom prst="ellipse">
                  <a:avLst/>
                </a:prstGeom>
                <a:solidFill>
                  <a:srgbClr val="333333"/>
                </a:solidFill>
                <a:ln w="12700" cap="flat" cmpd="sng">
                  <a:solidFill>
                    <a:schemeClr val="tx1"/>
                  </a:solidFill>
                  <a:prstDash val="solid"/>
                  <a:headEnd type="none" w="med" len="med"/>
                  <a:tailEnd type="none" w="med" len="med"/>
                </a:ln>
              </p:spPr>
              <p:txBody>
                <a:bodyPr wrap="none" anchor="ctr"/>
                <a:p>
                  <a:pPr>
                    <a:spcBef>
                      <a:spcPct val="20000"/>
                    </a:spcBef>
                    <a:buFont typeface="Arial" panose="020B0604020202090204" pitchFamily="34" charset="0"/>
                    <a:buNone/>
                  </a:pPr>
                  <a:endParaRPr lang="zh-CN" altLang="zh-CN" sz="2000" dirty="0">
                    <a:solidFill>
                      <a:schemeClr val="accent2"/>
                    </a:solidFill>
                    <a:latin typeface="楷体_GB2312" pitchFamily="49" charset="-122"/>
                    <a:ea typeface="楷体_GB2312" pitchFamily="49" charset="-122"/>
                  </a:endParaRPr>
                </a:p>
              </p:txBody>
            </p:sp>
          </p:grpSp>
          <p:sp>
            <p:nvSpPr>
              <p:cNvPr id="22560" name="未知"/>
              <p:cNvSpPr/>
              <p:nvPr/>
            </p:nvSpPr>
            <p:spPr>
              <a:xfrm>
                <a:off x="401" y="84"/>
                <a:ext cx="376" cy="338"/>
              </a:xfrm>
              <a:custGeom>
                <a:avLst/>
                <a:gdLst/>
                <a:ahLst/>
                <a:cxnLst>
                  <a:cxn ang="0">
                    <a:pos x="71" y="68"/>
                  </a:cxn>
                  <a:cxn ang="0">
                    <a:pos x="79" y="45"/>
                  </a:cxn>
                  <a:cxn ang="0">
                    <a:pos x="86" y="31"/>
                  </a:cxn>
                  <a:cxn ang="0">
                    <a:pos x="87" y="26"/>
                  </a:cxn>
                  <a:cxn ang="0">
                    <a:pos x="91" y="23"/>
                  </a:cxn>
                  <a:cxn ang="0">
                    <a:pos x="93" y="20"/>
                  </a:cxn>
                  <a:cxn ang="0">
                    <a:pos x="97" y="20"/>
                  </a:cxn>
                  <a:cxn ang="0">
                    <a:pos x="144" y="11"/>
                  </a:cxn>
                  <a:cxn ang="0">
                    <a:pos x="195" y="3"/>
                  </a:cxn>
                  <a:cxn ang="0">
                    <a:pos x="241" y="0"/>
                  </a:cxn>
                  <a:cxn ang="0">
                    <a:pos x="267" y="0"/>
                  </a:cxn>
                  <a:cxn ang="0">
                    <a:pos x="322" y="3"/>
                  </a:cxn>
                  <a:cxn ang="0">
                    <a:pos x="362" y="5"/>
                  </a:cxn>
                  <a:cxn ang="0">
                    <a:pos x="367" y="5"/>
                  </a:cxn>
                  <a:cxn ang="0">
                    <a:pos x="371" y="6"/>
                  </a:cxn>
                  <a:cxn ang="0">
                    <a:pos x="373" y="8"/>
                  </a:cxn>
                  <a:cxn ang="0">
                    <a:pos x="375" y="10"/>
                  </a:cxn>
                  <a:cxn ang="0">
                    <a:pos x="375" y="13"/>
                  </a:cxn>
                  <a:cxn ang="0">
                    <a:pos x="373" y="23"/>
                  </a:cxn>
                  <a:cxn ang="0">
                    <a:pos x="366" y="53"/>
                  </a:cxn>
                  <a:cxn ang="0">
                    <a:pos x="359" y="76"/>
                  </a:cxn>
                  <a:cxn ang="0">
                    <a:pos x="347" y="126"/>
                  </a:cxn>
                  <a:cxn ang="0">
                    <a:pos x="339" y="158"/>
                  </a:cxn>
                  <a:cxn ang="0">
                    <a:pos x="317" y="231"/>
                  </a:cxn>
                  <a:cxn ang="0">
                    <a:pos x="295" y="291"/>
                  </a:cxn>
                  <a:cxn ang="0">
                    <a:pos x="291" y="302"/>
                  </a:cxn>
                  <a:cxn ang="0">
                    <a:pos x="289" y="308"/>
                  </a:cxn>
                  <a:cxn ang="0">
                    <a:pos x="286" y="314"/>
                  </a:cxn>
                  <a:cxn ang="0">
                    <a:pos x="284" y="318"/>
                  </a:cxn>
                  <a:cxn ang="0">
                    <a:pos x="280" y="322"/>
                  </a:cxn>
                  <a:cxn ang="0">
                    <a:pos x="276" y="324"/>
                  </a:cxn>
                  <a:cxn ang="0">
                    <a:pos x="270" y="325"/>
                  </a:cxn>
                  <a:cxn ang="0">
                    <a:pos x="256" y="326"/>
                  </a:cxn>
                  <a:cxn ang="0">
                    <a:pos x="235" y="326"/>
                  </a:cxn>
                  <a:cxn ang="0">
                    <a:pos x="217" y="328"/>
                  </a:cxn>
                  <a:cxn ang="0">
                    <a:pos x="193" y="332"/>
                  </a:cxn>
                  <a:cxn ang="0">
                    <a:pos x="169" y="335"/>
                  </a:cxn>
                  <a:cxn ang="0">
                    <a:pos x="153" y="337"/>
                  </a:cxn>
                  <a:cxn ang="0">
                    <a:pos x="132" y="337"/>
                  </a:cxn>
                  <a:cxn ang="0">
                    <a:pos x="127" y="335"/>
                  </a:cxn>
                  <a:cxn ang="0">
                    <a:pos x="12" y="267"/>
                  </a:cxn>
                  <a:cxn ang="0">
                    <a:pos x="6" y="263"/>
                  </a:cxn>
                  <a:cxn ang="0">
                    <a:pos x="2" y="259"/>
                  </a:cxn>
                  <a:cxn ang="0">
                    <a:pos x="0" y="254"/>
                  </a:cxn>
                  <a:cxn ang="0">
                    <a:pos x="0" y="248"/>
                  </a:cxn>
                  <a:cxn ang="0">
                    <a:pos x="2" y="242"/>
                  </a:cxn>
                  <a:cxn ang="0">
                    <a:pos x="35" y="159"/>
                  </a:cxn>
                  <a:cxn ang="0">
                    <a:pos x="56" y="107"/>
                  </a:cxn>
                  <a:cxn ang="0">
                    <a:pos x="71" y="68"/>
                  </a:cxn>
                </a:cxnLst>
                <a:pathLst>
                  <a:path w="376" h="338">
                    <a:moveTo>
                      <a:pt x="71" y="68"/>
                    </a:moveTo>
                    <a:lnTo>
                      <a:pt x="79" y="45"/>
                    </a:lnTo>
                    <a:lnTo>
                      <a:pt x="86" y="31"/>
                    </a:lnTo>
                    <a:lnTo>
                      <a:pt x="87" y="26"/>
                    </a:lnTo>
                    <a:lnTo>
                      <a:pt x="91" y="23"/>
                    </a:lnTo>
                    <a:lnTo>
                      <a:pt x="93" y="20"/>
                    </a:lnTo>
                    <a:lnTo>
                      <a:pt x="97" y="20"/>
                    </a:lnTo>
                    <a:lnTo>
                      <a:pt x="144" y="11"/>
                    </a:lnTo>
                    <a:lnTo>
                      <a:pt x="195" y="3"/>
                    </a:lnTo>
                    <a:lnTo>
                      <a:pt x="241" y="0"/>
                    </a:lnTo>
                    <a:lnTo>
                      <a:pt x="267" y="0"/>
                    </a:lnTo>
                    <a:lnTo>
                      <a:pt x="322" y="3"/>
                    </a:lnTo>
                    <a:lnTo>
                      <a:pt x="362" y="5"/>
                    </a:lnTo>
                    <a:lnTo>
                      <a:pt x="367" y="5"/>
                    </a:lnTo>
                    <a:lnTo>
                      <a:pt x="371" y="6"/>
                    </a:lnTo>
                    <a:lnTo>
                      <a:pt x="373" y="8"/>
                    </a:lnTo>
                    <a:lnTo>
                      <a:pt x="375" y="10"/>
                    </a:lnTo>
                    <a:lnTo>
                      <a:pt x="375" y="13"/>
                    </a:lnTo>
                    <a:lnTo>
                      <a:pt x="373" y="23"/>
                    </a:lnTo>
                    <a:lnTo>
                      <a:pt x="366" y="53"/>
                    </a:lnTo>
                    <a:lnTo>
                      <a:pt x="359" y="76"/>
                    </a:lnTo>
                    <a:lnTo>
                      <a:pt x="347" y="126"/>
                    </a:lnTo>
                    <a:lnTo>
                      <a:pt x="339" y="158"/>
                    </a:lnTo>
                    <a:lnTo>
                      <a:pt x="317" y="231"/>
                    </a:lnTo>
                    <a:lnTo>
                      <a:pt x="295" y="291"/>
                    </a:lnTo>
                    <a:lnTo>
                      <a:pt x="291" y="302"/>
                    </a:lnTo>
                    <a:lnTo>
                      <a:pt x="289" y="308"/>
                    </a:lnTo>
                    <a:lnTo>
                      <a:pt x="286" y="314"/>
                    </a:lnTo>
                    <a:lnTo>
                      <a:pt x="284" y="318"/>
                    </a:lnTo>
                    <a:lnTo>
                      <a:pt x="280" y="322"/>
                    </a:lnTo>
                    <a:lnTo>
                      <a:pt x="276" y="324"/>
                    </a:lnTo>
                    <a:lnTo>
                      <a:pt x="270" y="325"/>
                    </a:lnTo>
                    <a:lnTo>
                      <a:pt x="256" y="326"/>
                    </a:lnTo>
                    <a:lnTo>
                      <a:pt x="235" y="326"/>
                    </a:lnTo>
                    <a:lnTo>
                      <a:pt x="217" y="328"/>
                    </a:lnTo>
                    <a:lnTo>
                      <a:pt x="193" y="332"/>
                    </a:lnTo>
                    <a:lnTo>
                      <a:pt x="169" y="335"/>
                    </a:lnTo>
                    <a:lnTo>
                      <a:pt x="153" y="337"/>
                    </a:lnTo>
                    <a:lnTo>
                      <a:pt x="132" y="337"/>
                    </a:lnTo>
                    <a:lnTo>
                      <a:pt x="127" y="335"/>
                    </a:lnTo>
                    <a:lnTo>
                      <a:pt x="12" y="267"/>
                    </a:lnTo>
                    <a:lnTo>
                      <a:pt x="6" y="263"/>
                    </a:lnTo>
                    <a:lnTo>
                      <a:pt x="2" y="259"/>
                    </a:lnTo>
                    <a:lnTo>
                      <a:pt x="0" y="254"/>
                    </a:lnTo>
                    <a:lnTo>
                      <a:pt x="0" y="248"/>
                    </a:lnTo>
                    <a:lnTo>
                      <a:pt x="2" y="242"/>
                    </a:lnTo>
                    <a:lnTo>
                      <a:pt x="35" y="159"/>
                    </a:lnTo>
                    <a:lnTo>
                      <a:pt x="56" y="107"/>
                    </a:lnTo>
                    <a:lnTo>
                      <a:pt x="71" y="68"/>
                    </a:lnTo>
                  </a:path>
                </a:pathLst>
              </a:custGeom>
              <a:solidFill>
                <a:srgbClr val="333333">
                  <a:alpha val="100000"/>
                </a:srgbClr>
              </a:solidFill>
              <a:ln w="127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61" name="未知"/>
              <p:cNvSpPr/>
              <p:nvPr/>
            </p:nvSpPr>
            <p:spPr>
              <a:xfrm>
                <a:off x="275" y="352"/>
                <a:ext cx="401" cy="297"/>
              </a:xfrm>
              <a:custGeom>
                <a:avLst/>
                <a:gdLst/>
                <a:ahLst/>
                <a:cxnLst>
                  <a:cxn ang="0">
                    <a:pos x="400" y="295"/>
                  </a:cxn>
                  <a:cxn ang="0">
                    <a:pos x="400" y="142"/>
                  </a:cxn>
                  <a:cxn ang="0">
                    <a:pos x="395" y="20"/>
                  </a:cxn>
                  <a:cxn ang="0">
                    <a:pos x="191" y="0"/>
                  </a:cxn>
                  <a:cxn ang="0">
                    <a:pos x="6" y="18"/>
                  </a:cxn>
                  <a:cxn ang="0">
                    <a:pos x="5" y="61"/>
                  </a:cxn>
                  <a:cxn ang="0">
                    <a:pos x="0" y="294"/>
                  </a:cxn>
                  <a:cxn ang="0">
                    <a:pos x="41" y="294"/>
                  </a:cxn>
                  <a:cxn ang="0">
                    <a:pos x="41" y="83"/>
                  </a:cxn>
                  <a:cxn ang="0">
                    <a:pos x="121" y="78"/>
                  </a:cxn>
                  <a:cxn ang="0">
                    <a:pos x="363" y="78"/>
                  </a:cxn>
                  <a:cxn ang="0">
                    <a:pos x="366" y="296"/>
                  </a:cxn>
                  <a:cxn ang="0">
                    <a:pos x="400" y="295"/>
                  </a:cxn>
                </a:cxnLst>
                <a:pathLst>
                  <a:path w="401" h="297">
                    <a:moveTo>
                      <a:pt x="400" y="295"/>
                    </a:moveTo>
                    <a:lnTo>
                      <a:pt x="400" y="142"/>
                    </a:lnTo>
                    <a:lnTo>
                      <a:pt x="395" y="20"/>
                    </a:lnTo>
                    <a:lnTo>
                      <a:pt x="191" y="0"/>
                    </a:lnTo>
                    <a:lnTo>
                      <a:pt x="6" y="18"/>
                    </a:lnTo>
                    <a:lnTo>
                      <a:pt x="5" y="61"/>
                    </a:lnTo>
                    <a:lnTo>
                      <a:pt x="0" y="294"/>
                    </a:lnTo>
                    <a:lnTo>
                      <a:pt x="41" y="294"/>
                    </a:lnTo>
                    <a:lnTo>
                      <a:pt x="41" y="83"/>
                    </a:lnTo>
                    <a:lnTo>
                      <a:pt x="121" y="78"/>
                    </a:lnTo>
                    <a:lnTo>
                      <a:pt x="363" y="78"/>
                    </a:lnTo>
                    <a:lnTo>
                      <a:pt x="366" y="296"/>
                    </a:lnTo>
                    <a:lnTo>
                      <a:pt x="400" y="295"/>
                    </a:lnTo>
                  </a:path>
                </a:pathLst>
              </a:custGeom>
              <a:solidFill>
                <a:srgbClr val="333333">
                  <a:alpha val="100000"/>
                </a:srgbClr>
              </a:solidFill>
              <a:ln w="127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62" name="未知"/>
              <p:cNvSpPr/>
              <p:nvPr/>
            </p:nvSpPr>
            <p:spPr>
              <a:xfrm>
                <a:off x="304" y="350"/>
                <a:ext cx="158" cy="76"/>
              </a:xfrm>
              <a:custGeom>
                <a:avLst/>
                <a:gdLst/>
                <a:ahLst/>
                <a:cxnLst>
                  <a:cxn ang="0">
                    <a:pos x="30" y="14"/>
                  </a:cxn>
                  <a:cxn ang="0">
                    <a:pos x="50" y="12"/>
                  </a:cxn>
                  <a:cxn ang="0">
                    <a:pos x="70" y="0"/>
                  </a:cxn>
                  <a:cxn ang="0">
                    <a:pos x="89" y="17"/>
                  </a:cxn>
                  <a:cxn ang="0">
                    <a:pos x="153" y="52"/>
                  </a:cxn>
                  <a:cxn ang="0">
                    <a:pos x="157" y="64"/>
                  </a:cxn>
                  <a:cxn ang="0">
                    <a:pos x="121" y="75"/>
                  </a:cxn>
                  <a:cxn ang="0">
                    <a:pos x="0" y="23"/>
                  </a:cxn>
                  <a:cxn ang="0">
                    <a:pos x="30" y="14"/>
                  </a:cxn>
                </a:cxnLst>
                <a:pathLst>
                  <a:path w="158" h="76">
                    <a:moveTo>
                      <a:pt x="30" y="14"/>
                    </a:moveTo>
                    <a:lnTo>
                      <a:pt x="50" y="12"/>
                    </a:lnTo>
                    <a:lnTo>
                      <a:pt x="70" y="0"/>
                    </a:lnTo>
                    <a:lnTo>
                      <a:pt x="89" y="17"/>
                    </a:lnTo>
                    <a:lnTo>
                      <a:pt x="153" y="52"/>
                    </a:lnTo>
                    <a:lnTo>
                      <a:pt x="157" y="64"/>
                    </a:lnTo>
                    <a:lnTo>
                      <a:pt x="121" y="75"/>
                    </a:lnTo>
                    <a:lnTo>
                      <a:pt x="0" y="23"/>
                    </a:lnTo>
                    <a:lnTo>
                      <a:pt x="30" y="14"/>
                    </a:lnTo>
                  </a:path>
                </a:pathLst>
              </a:custGeom>
              <a:solidFill>
                <a:srgbClr val="333333">
                  <a:alpha val="100000"/>
                </a:srgbClr>
              </a:solidFill>
              <a:ln w="127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63" name="未知"/>
              <p:cNvSpPr/>
              <p:nvPr/>
            </p:nvSpPr>
            <p:spPr>
              <a:xfrm>
                <a:off x="438" y="108"/>
                <a:ext cx="211" cy="235"/>
              </a:xfrm>
              <a:custGeom>
                <a:avLst/>
                <a:gdLst/>
                <a:ahLst/>
                <a:cxnLst>
                  <a:cxn ang="0">
                    <a:pos x="47" y="69"/>
                  </a:cxn>
                  <a:cxn ang="0">
                    <a:pos x="63" y="36"/>
                  </a:cxn>
                  <a:cxn ang="0">
                    <a:pos x="76" y="6"/>
                  </a:cxn>
                  <a:cxn ang="0">
                    <a:pos x="79" y="5"/>
                  </a:cxn>
                  <a:cxn ang="0">
                    <a:pos x="81" y="4"/>
                  </a:cxn>
                  <a:cxn ang="0">
                    <a:pos x="85" y="4"/>
                  </a:cxn>
                  <a:cxn ang="0">
                    <a:pos x="145" y="0"/>
                  </a:cxn>
                  <a:cxn ang="0">
                    <a:pos x="203" y="0"/>
                  </a:cxn>
                  <a:cxn ang="0">
                    <a:pos x="207" y="1"/>
                  </a:cxn>
                  <a:cxn ang="0">
                    <a:pos x="209" y="1"/>
                  </a:cxn>
                  <a:cxn ang="0">
                    <a:pos x="210" y="4"/>
                  </a:cxn>
                  <a:cxn ang="0">
                    <a:pos x="206" y="25"/>
                  </a:cxn>
                  <a:cxn ang="0">
                    <a:pos x="196" y="44"/>
                  </a:cxn>
                  <a:cxn ang="0">
                    <a:pos x="180" y="77"/>
                  </a:cxn>
                  <a:cxn ang="0">
                    <a:pos x="151" y="135"/>
                  </a:cxn>
                  <a:cxn ang="0">
                    <a:pos x="125" y="185"/>
                  </a:cxn>
                  <a:cxn ang="0">
                    <a:pos x="118" y="204"/>
                  </a:cxn>
                  <a:cxn ang="0">
                    <a:pos x="114" y="217"/>
                  </a:cxn>
                  <a:cxn ang="0">
                    <a:pos x="110" y="224"/>
                  </a:cxn>
                  <a:cxn ang="0">
                    <a:pos x="106" y="230"/>
                  </a:cxn>
                  <a:cxn ang="0">
                    <a:pos x="103" y="232"/>
                  </a:cxn>
                  <a:cxn ang="0">
                    <a:pos x="101" y="233"/>
                  </a:cxn>
                  <a:cxn ang="0">
                    <a:pos x="97" y="234"/>
                  </a:cxn>
                  <a:cxn ang="0">
                    <a:pos x="94" y="233"/>
                  </a:cxn>
                  <a:cxn ang="0">
                    <a:pos x="88" y="230"/>
                  </a:cxn>
                  <a:cxn ang="0">
                    <a:pos x="82" y="226"/>
                  </a:cxn>
                  <a:cxn ang="0">
                    <a:pos x="76" y="221"/>
                  </a:cxn>
                  <a:cxn ang="0">
                    <a:pos x="68" y="217"/>
                  </a:cxn>
                  <a:cxn ang="0">
                    <a:pos x="62" y="213"/>
                  </a:cxn>
                  <a:cxn ang="0">
                    <a:pos x="2" y="192"/>
                  </a:cxn>
                  <a:cxn ang="0">
                    <a:pos x="1" y="191"/>
                  </a:cxn>
                  <a:cxn ang="0">
                    <a:pos x="0" y="189"/>
                  </a:cxn>
                  <a:cxn ang="0">
                    <a:pos x="0" y="186"/>
                  </a:cxn>
                  <a:cxn ang="0">
                    <a:pos x="1" y="183"/>
                  </a:cxn>
                  <a:cxn ang="0">
                    <a:pos x="47" y="69"/>
                  </a:cxn>
                </a:cxnLst>
                <a:pathLst>
                  <a:path w="211" h="235">
                    <a:moveTo>
                      <a:pt x="47" y="69"/>
                    </a:moveTo>
                    <a:lnTo>
                      <a:pt x="63" y="36"/>
                    </a:lnTo>
                    <a:lnTo>
                      <a:pt x="76" y="6"/>
                    </a:lnTo>
                    <a:lnTo>
                      <a:pt x="79" y="5"/>
                    </a:lnTo>
                    <a:lnTo>
                      <a:pt x="81" y="4"/>
                    </a:lnTo>
                    <a:lnTo>
                      <a:pt x="85" y="4"/>
                    </a:lnTo>
                    <a:lnTo>
                      <a:pt x="145" y="0"/>
                    </a:lnTo>
                    <a:lnTo>
                      <a:pt x="203" y="0"/>
                    </a:lnTo>
                    <a:lnTo>
                      <a:pt x="207" y="1"/>
                    </a:lnTo>
                    <a:lnTo>
                      <a:pt x="209" y="1"/>
                    </a:lnTo>
                    <a:lnTo>
                      <a:pt x="210" y="4"/>
                    </a:lnTo>
                    <a:lnTo>
                      <a:pt x="206" y="25"/>
                    </a:lnTo>
                    <a:lnTo>
                      <a:pt x="196" y="44"/>
                    </a:lnTo>
                    <a:lnTo>
                      <a:pt x="180" y="77"/>
                    </a:lnTo>
                    <a:lnTo>
                      <a:pt x="151" y="135"/>
                    </a:lnTo>
                    <a:lnTo>
                      <a:pt x="125" y="185"/>
                    </a:lnTo>
                    <a:lnTo>
                      <a:pt x="118" y="204"/>
                    </a:lnTo>
                    <a:lnTo>
                      <a:pt x="114" y="217"/>
                    </a:lnTo>
                    <a:lnTo>
                      <a:pt x="110" y="224"/>
                    </a:lnTo>
                    <a:lnTo>
                      <a:pt x="106" y="230"/>
                    </a:lnTo>
                    <a:lnTo>
                      <a:pt x="103" y="232"/>
                    </a:lnTo>
                    <a:lnTo>
                      <a:pt x="101" y="233"/>
                    </a:lnTo>
                    <a:lnTo>
                      <a:pt x="97" y="234"/>
                    </a:lnTo>
                    <a:lnTo>
                      <a:pt x="94" y="233"/>
                    </a:lnTo>
                    <a:lnTo>
                      <a:pt x="88" y="230"/>
                    </a:lnTo>
                    <a:lnTo>
                      <a:pt x="82" y="226"/>
                    </a:lnTo>
                    <a:lnTo>
                      <a:pt x="76" y="221"/>
                    </a:lnTo>
                    <a:lnTo>
                      <a:pt x="68" y="217"/>
                    </a:lnTo>
                    <a:lnTo>
                      <a:pt x="62" y="213"/>
                    </a:lnTo>
                    <a:lnTo>
                      <a:pt x="2" y="192"/>
                    </a:lnTo>
                    <a:lnTo>
                      <a:pt x="1" y="191"/>
                    </a:lnTo>
                    <a:lnTo>
                      <a:pt x="0" y="189"/>
                    </a:lnTo>
                    <a:lnTo>
                      <a:pt x="0" y="186"/>
                    </a:lnTo>
                    <a:lnTo>
                      <a:pt x="1" y="183"/>
                    </a:lnTo>
                    <a:lnTo>
                      <a:pt x="47" y="69"/>
                    </a:lnTo>
                  </a:path>
                </a:pathLst>
              </a:custGeom>
              <a:solidFill>
                <a:srgbClr val="333333">
                  <a:alpha val="100000"/>
                </a:srgbClr>
              </a:solidFill>
              <a:ln w="127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64" name="未知"/>
              <p:cNvSpPr/>
              <p:nvPr/>
            </p:nvSpPr>
            <p:spPr>
              <a:xfrm>
                <a:off x="0" y="289"/>
                <a:ext cx="249" cy="351"/>
              </a:xfrm>
              <a:custGeom>
                <a:avLst/>
                <a:gdLst/>
                <a:ahLst/>
                <a:cxnLst>
                  <a:cxn ang="0">
                    <a:pos x="248" y="165"/>
                  </a:cxn>
                  <a:cxn ang="0">
                    <a:pos x="178" y="129"/>
                  </a:cxn>
                  <a:cxn ang="0">
                    <a:pos x="100" y="6"/>
                  </a:cxn>
                  <a:cxn ang="0">
                    <a:pos x="97" y="5"/>
                  </a:cxn>
                  <a:cxn ang="0">
                    <a:pos x="91" y="2"/>
                  </a:cxn>
                  <a:cxn ang="0">
                    <a:pos x="85" y="1"/>
                  </a:cxn>
                  <a:cxn ang="0">
                    <a:pos x="76" y="0"/>
                  </a:cxn>
                  <a:cxn ang="0">
                    <a:pos x="69" y="1"/>
                  </a:cxn>
                  <a:cxn ang="0">
                    <a:pos x="61" y="3"/>
                  </a:cxn>
                  <a:cxn ang="0">
                    <a:pos x="53" y="6"/>
                  </a:cxn>
                  <a:cxn ang="0">
                    <a:pos x="42" y="12"/>
                  </a:cxn>
                  <a:cxn ang="0">
                    <a:pos x="34" y="16"/>
                  </a:cxn>
                  <a:cxn ang="0">
                    <a:pos x="26" y="21"/>
                  </a:cxn>
                  <a:cxn ang="0">
                    <a:pos x="20" y="27"/>
                  </a:cxn>
                  <a:cxn ang="0">
                    <a:pos x="15" y="32"/>
                  </a:cxn>
                  <a:cxn ang="0">
                    <a:pos x="8" y="41"/>
                  </a:cxn>
                  <a:cxn ang="0">
                    <a:pos x="4" y="47"/>
                  </a:cxn>
                  <a:cxn ang="0">
                    <a:pos x="1" y="56"/>
                  </a:cxn>
                  <a:cxn ang="0">
                    <a:pos x="0" y="66"/>
                  </a:cxn>
                  <a:cxn ang="0">
                    <a:pos x="0" y="81"/>
                  </a:cxn>
                  <a:cxn ang="0">
                    <a:pos x="2" y="99"/>
                  </a:cxn>
                  <a:cxn ang="0">
                    <a:pos x="6" y="115"/>
                  </a:cxn>
                  <a:cxn ang="0">
                    <a:pos x="13" y="134"/>
                  </a:cxn>
                  <a:cxn ang="0">
                    <a:pos x="20" y="151"/>
                  </a:cxn>
                  <a:cxn ang="0">
                    <a:pos x="25" y="162"/>
                  </a:cxn>
                  <a:cxn ang="0">
                    <a:pos x="34" y="173"/>
                  </a:cxn>
                  <a:cxn ang="0">
                    <a:pos x="41" y="181"/>
                  </a:cxn>
                  <a:cxn ang="0">
                    <a:pos x="48" y="191"/>
                  </a:cxn>
                  <a:cxn ang="0">
                    <a:pos x="57" y="200"/>
                  </a:cxn>
                  <a:cxn ang="0">
                    <a:pos x="64" y="206"/>
                  </a:cxn>
                  <a:cxn ang="0">
                    <a:pos x="97" y="202"/>
                  </a:cxn>
                  <a:cxn ang="0">
                    <a:pos x="122" y="195"/>
                  </a:cxn>
                  <a:cxn ang="0">
                    <a:pos x="137" y="199"/>
                  </a:cxn>
                  <a:cxn ang="0">
                    <a:pos x="174" y="200"/>
                  </a:cxn>
                  <a:cxn ang="0">
                    <a:pos x="219" y="195"/>
                  </a:cxn>
                  <a:cxn ang="0">
                    <a:pos x="225" y="207"/>
                  </a:cxn>
                  <a:cxn ang="0">
                    <a:pos x="225" y="300"/>
                  </a:cxn>
                  <a:cxn ang="0">
                    <a:pos x="224" y="308"/>
                  </a:cxn>
                  <a:cxn ang="0">
                    <a:pos x="222" y="314"/>
                  </a:cxn>
                  <a:cxn ang="0">
                    <a:pos x="220" y="319"/>
                  </a:cxn>
                  <a:cxn ang="0">
                    <a:pos x="216" y="324"/>
                  </a:cxn>
                  <a:cxn ang="0">
                    <a:pos x="211" y="328"/>
                  </a:cxn>
                  <a:cxn ang="0">
                    <a:pos x="205" y="330"/>
                  </a:cxn>
                  <a:cxn ang="0">
                    <a:pos x="200" y="332"/>
                  </a:cxn>
                  <a:cxn ang="0">
                    <a:pos x="194" y="333"/>
                  </a:cxn>
                  <a:cxn ang="0">
                    <a:pos x="26" y="333"/>
                  </a:cxn>
                  <a:cxn ang="0">
                    <a:pos x="26" y="350"/>
                  </a:cxn>
                  <a:cxn ang="0">
                    <a:pos x="199" y="349"/>
                  </a:cxn>
                  <a:cxn ang="0">
                    <a:pos x="208" y="348"/>
                  </a:cxn>
                  <a:cxn ang="0">
                    <a:pos x="213" y="348"/>
                  </a:cxn>
                  <a:cxn ang="0">
                    <a:pos x="220" y="346"/>
                  </a:cxn>
                  <a:cxn ang="0">
                    <a:pos x="225" y="345"/>
                  </a:cxn>
                  <a:cxn ang="0">
                    <a:pos x="231" y="341"/>
                  </a:cxn>
                  <a:cxn ang="0">
                    <a:pos x="237" y="334"/>
                  </a:cxn>
                  <a:cxn ang="0">
                    <a:pos x="240" y="328"/>
                  </a:cxn>
                  <a:cxn ang="0">
                    <a:pos x="244" y="322"/>
                  </a:cxn>
                  <a:cxn ang="0">
                    <a:pos x="246" y="315"/>
                  </a:cxn>
                  <a:cxn ang="0">
                    <a:pos x="248" y="307"/>
                  </a:cxn>
                  <a:cxn ang="0">
                    <a:pos x="248" y="297"/>
                  </a:cxn>
                  <a:cxn ang="0">
                    <a:pos x="248" y="165"/>
                  </a:cxn>
                </a:cxnLst>
                <a:pathLst>
                  <a:path w="249" h="351">
                    <a:moveTo>
                      <a:pt x="248" y="165"/>
                    </a:moveTo>
                    <a:lnTo>
                      <a:pt x="178" y="129"/>
                    </a:lnTo>
                    <a:lnTo>
                      <a:pt x="100" y="6"/>
                    </a:lnTo>
                    <a:lnTo>
                      <a:pt x="97" y="5"/>
                    </a:lnTo>
                    <a:lnTo>
                      <a:pt x="91" y="2"/>
                    </a:lnTo>
                    <a:lnTo>
                      <a:pt x="85" y="1"/>
                    </a:lnTo>
                    <a:lnTo>
                      <a:pt x="76" y="0"/>
                    </a:lnTo>
                    <a:lnTo>
                      <a:pt x="69" y="1"/>
                    </a:lnTo>
                    <a:lnTo>
                      <a:pt x="61" y="3"/>
                    </a:lnTo>
                    <a:lnTo>
                      <a:pt x="53" y="6"/>
                    </a:lnTo>
                    <a:lnTo>
                      <a:pt x="42" y="12"/>
                    </a:lnTo>
                    <a:lnTo>
                      <a:pt x="34" y="16"/>
                    </a:lnTo>
                    <a:lnTo>
                      <a:pt x="26" y="21"/>
                    </a:lnTo>
                    <a:lnTo>
                      <a:pt x="20" y="27"/>
                    </a:lnTo>
                    <a:lnTo>
                      <a:pt x="15" y="32"/>
                    </a:lnTo>
                    <a:lnTo>
                      <a:pt x="8" y="41"/>
                    </a:lnTo>
                    <a:lnTo>
                      <a:pt x="4" y="47"/>
                    </a:lnTo>
                    <a:lnTo>
                      <a:pt x="1" y="56"/>
                    </a:lnTo>
                    <a:lnTo>
                      <a:pt x="0" y="66"/>
                    </a:lnTo>
                    <a:lnTo>
                      <a:pt x="0" y="81"/>
                    </a:lnTo>
                    <a:lnTo>
                      <a:pt x="2" y="99"/>
                    </a:lnTo>
                    <a:lnTo>
                      <a:pt x="6" y="115"/>
                    </a:lnTo>
                    <a:lnTo>
                      <a:pt x="13" y="134"/>
                    </a:lnTo>
                    <a:lnTo>
                      <a:pt x="20" y="151"/>
                    </a:lnTo>
                    <a:lnTo>
                      <a:pt x="25" y="162"/>
                    </a:lnTo>
                    <a:lnTo>
                      <a:pt x="34" y="173"/>
                    </a:lnTo>
                    <a:lnTo>
                      <a:pt x="41" y="181"/>
                    </a:lnTo>
                    <a:lnTo>
                      <a:pt x="48" y="191"/>
                    </a:lnTo>
                    <a:lnTo>
                      <a:pt x="57" y="200"/>
                    </a:lnTo>
                    <a:lnTo>
                      <a:pt x="64" y="206"/>
                    </a:lnTo>
                    <a:lnTo>
                      <a:pt x="97" y="202"/>
                    </a:lnTo>
                    <a:lnTo>
                      <a:pt x="122" y="195"/>
                    </a:lnTo>
                    <a:lnTo>
                      <a:pt x="137" y="199"/>
                    </a:lnTo>
                    <a:lnTo>
                      <a:pt x="174" y="200"/>
                    </a:lnTo>
                    <a:lnTo>
                      <a:pt x="219" y="195"/>
                    </a:lnTo>
                    <a:lnTo>
                      <a:pt x="225" y="207"/>
                    </a:lnTo>
                    <a:lnTo>
                      <a:pt x="225" y="300"/>
                    </a:lnTo>
                    <a:lnTo>
                      <a:pt x="224" y="308"/>
                    </a:lnTo>
                    <a:lnTo>
                      <a:pt x="222" y="314"/>
                    </a:lnTo>
                    <a:lnTo>
                      <a:pt x="220" y="319"/>
                    </a:lnTo>
                    <a:lnTo>
                      <a:pt x="216" y="324"/>
                    </a:lnTo>
                    <a:lnTo>
                      <a:pt x="211" y="328"/>
                    </a:lnTo>
                    <a:lnTo>
                      <a:pt x="205" y="330"/>
                    </a:lnTo>
                    <a:lnTo>
                      <a:pt x="200" y="332"/>
                    </a:lnTo>
                    <a:lnTo>
                      <a:pt x="194" y="333"/>
                    </a:lnTo>
                    <a:lnTo>
                      <a:pt x="26" y="333"/>
                    </a:lnTo>
                    <a:lnTo>
                      <a:pt x="26" y="350"/>
                    </a:lnTo>
                    <a:lnTo>
                      <a:pt x="199" y="349"/>
                    </a:lnTo>
                    <a:lnTo>
                      <a:pt x="208" y="348"/>
                    </a:lnTo>
                    <a:lnTo>
                      <a:pt x="213" y="348"/>
                    </a:lnTo>
                    <a:lnTo>
                      <a:pt x="220" y="346"/>
                    </a:lnTo>
                    <a:lnTo>
                      <a:pt x="225" y="345"/>
                    </a:lnTo>
                    <a:lnTo>
                      <a:pt x="231" y="341"/>
                    </a:lnTo>
                    <a:lnTo>
                      <a:pt x="237" y="334"/>
                    </a:lnTo>
                    <a:lnTo>
                      <a:pt x="240" y="328"/>
                    </a:lnTo>
                    <a:lnTo>
                      <a:pt x="244" y="322"/>
                    </a:lnTo>
                    <a:lnTo>
                      <a:pt x="246" y="315"/>
                    </a:lnTo>
                    <a:lnTo>
                      <a:pt x="248" y="307"/>
                    </a:lnTo>
                    <a:lnTo>
                      <a:pt x="248" y="297"/>
                    </a:lnTo>
                    <a:lnTo>
                      <a:pt x="248" y="165"/>
                    </a:lnTo>
                  </a:path>
                </a:pathLst>
              </a:custGeom>
              <a:solidFill>
                <a:srgbClr val="333333">
                  <a:alpha val="100000"/>
                </a:srgbClr>
              </a:solidFill>
              <a:ln w="127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65" name="未知"/>
              <p:cNvSpPr/>
              <p:nvPr/>
            </p:nvSpPr>
            <p:spPr>
              <a:xfrm>
                <a:off x="50" y="0"/>
                <a:ext cx="380" cy="636"/>
              </a:xfrm>
              <a:custGeom>
                <a:avLst/>
                <a:gdLst/>
                <a:ahLst/>
                <a:cxnLst>
                  <a:cxn ang="0">
                    <a:pos x="153" y="43"/>
                  </a:cxn>
                  <a:cxn ang="0">
                    <a:pos x="158" y="42"/>
                  </a:cxn>
                  <a:cxn ang="0">
                    <a:pos x="178" y="48"/>
                  </a:cxn>
                  <a:cxn ang="0">
                    <a:pos x="174" y="2"/>
                  </a:cxn>
                  <a:cxn ang="0">
                    <a:pos x="203" y="35"/>
                  </a:cxn>
                  <a:cxn ang="0">
                    <a:pos x="211" y="9"/>
                  </a:cxn>
                  <a:cxn ang="0">
                    <a:pos x="236" y="0"/>
                  </a:cxn>
                  <a:cxn ang="0">
                    <a:pos x="233" y="24"/>
                  </a:cxn>
                  <a:cxn ang="0">
                    <a:pos x="248" y="15"/>
                  </a:cxn>
                  <a:cxn ang="0">
                    <a:pos x="246" y="28"/>
                  </a:cxn>
                  <a:cxn ang="0">
                    <a:pos x="255" y="51"/>
                  </a:cxn>
                  <a:cxn ang="0">
                    <a:pos x="288" y="18"/>
                  </a:cxn>
                  <a:cxn ang="0">
                    <a:pos x="266" y="50"/>
                  </a:cxn>
                  <a:cxn ang="0">
                    <a:pos x="304" y="28"/>
                  </a:cxn>
                  <a:cxn ang="0">
                    <a:pos x="287" y="53"/>
                  </a:cxn>
                  <a:cxn ang="0">
                    <a:pos x="291" y="66"/>
                  </a:cxn>
                  <a:cxn ang="0">
                    <a:pos x="289" y="94"/>
                  </a:cxn>
                  <a:cxn ang="0">
                    <a:pos x="318" y="130"/>
                  </a:cxn>
                  <a:cxn ang="0">
                    <a:pos x="344" y="174"/>
                  </a:cxn>
                  <a:cxn ang="0">
                    <a:pos x="337" y="182"/>
                  </a:cxn>
                  <a:cxn ang="0">
                    <a:pos x="276" y="216"/>
                  </a:cxn>
                  <a:cxn ang="0">
                    <a:pos x="258" y="257"/>
                  </a:cxn>
                  <a:cxn ang="0">
                    <a:pos x="197" y="249"/>
                  </a:cxn>
                  <a:cxn ang="0">
                    <a:pos x="180" y="322"/>
                  </a:cxn>
                  <a:cxn ang="0">
                    <a:pos x="230" y="363"/>
                  </a:cxn>
                  <a:cxn ang="0">
                    <a:pos x="287" y="372"/>
                  </a:cxn>
                  <a:cxn ang="0">
                    <a:pos x="325" y="371"/>
                  </a:cxn>
                  <a:cxn ang="0">
                    <a:pos x="350" y="364"/>
                  </a:cxn>
                  <a:cxn ang="0">
                    <a:pos x="357" y="381"/>
                  </a:cxn>
                  <a:cxn ang="0">
                    <a:pos x="379" y="394"/>
                  </a:cxn>
                  <a:cxn ang="0">
                    <a:pos x="370" y="406"/>
                  </a:cxn>
                  <a:cxn ang="0">
                    <a:pos x="375" y="421"/>
                  </a:cxn>
                  <a:cxn ang="0">
                    <a:pos x="363" y="439"/>
                  </a:cxn>
                  <a:cxn ang="0">
                    <a:pos x="358" y="448"/>
                  </a:cxn>
                  <a:cxn ang="0">
                    <a:pos x="312" y="433"/>
                  </a:cxn>
                  <a:cxn ang="0">
                    <a:pos x="231" y="414"/>
                  </a:cxn>
                  <a:cxn ang="0">
                    <a:pos x="178" y="407"/>
                  </a:cxn>
                  <a:cxn ang="0">
                    <a:pos x="164" y="392"/>
                  </a:cxn>
                  <a:cxn ang="0">
                    <a:pos x="170" y="402"/>
                  </a:cxn>
                  <a:cxn ang="0">
                    <a:pos x="205" y="412"/>
                  </a:cxn>
                  <a:cxn ang="0">
                    <a:pos x="234" y="431"/>
                  </a:cxn>
                  <a:cxn ang="0">
                    <a:pos x="227" y="451"/>
                  </a:cxn>
                  <a:cxn ang="0">
                    <a:pos x="175" y="493"/>
                  </a:cxn>
                  <a:cxn ang="0">
                    <a:pos x="115" y="528"/>
                  </a:cxn>
                  <a:cxn ang="0">
                    <a:pos x="104" y="582"/>
                  </a:cxn>
                  <a:cxn ang="0">
                    <a:pos x="138" y="626"/>
                  </a:cxn>
                  <a:cxn ang="0">
                    <a:pos x="83" y="632"/>
                  </a:cxn>
                  <a:cxn ang="0">
                    <a:pos x="47" y="629"/>
                  </a:cxn>
                  <a:cxn ang="0">
                    <a:pos x="48" y="549"/>
                  </a:cxn>
                  <a:cxn ang="0">
                    <a:pos x="27" y="528"/>
                  </a:cxn>
                  <a:cxn ang="0">
                    <a:pos x="40" y="508"/>
                  </a:cxn>
                  <a:cxn ang="0">
                    <a:pos x="103" y="483"/>
                  </a:cxn>
                  <a:cxn ang="0">
                    <a:pos x="124" y="447"/>
                  </a:cxn>
                  <a:cxn ang="0">
                    <a:pos x="26" y="440"/>
                  </a:cxn>
                  <a:cxn ang="0">
                    <a:pos x="6" y="431"/>
                  </a:cxn>
                  <a:cxn ang="0">
                    <a:pos x="0" y="399"/>
                  </a:cxn>
                  <a:cxn ang="0">
                    <a:pos x="6" y="368"/>
                  </a:cxn>
                  <a:cxn ang="0">
                    <a:pos x="51" y="265"/>
                  </a:cxn>
                  <a:cxn ang="0">
                    <a:pos x="104" y="196"/>
                  </a:cxn>
                  <a:cxn ang="0">
                    <a:pos x="130" y="136"/>
                  </a:cxn>
                </a:cxnLst>
                <a:pathLst>
                  <a:path w="380" h="636">
                    <a:moveTo>
                      <a:pt x="130" y="136"/>
                    </a:moveTo>
                    <a:lnTo>
                      <a:pt x="140" y="107"/>
                    </a:lnTo>
                    <a:lnTo>
                      <a:pt x="148" y="73"/>
                    </a:lnTo>
                    <a:lnTo>
                      <a:pt x="153" y="43"/>
                    </a:lnTo>
                    <a:lnTo>
                      <a:pt x="144" y="27"/>
                    </a:lnTo>
                    <a:lnTo>
                      <a:pt x="135" y="19"/>
                    </a:lnTo>
                    <a:lnTo>
                      <a:pt x="148" y="28"/>
                    </a:lnTo>
                    <a:lnTo>
                      <a:pt x="158" y="42"/>
                    </a:lnTo>
                    <a:lnTo>
                      <a:pt x="150" y="10"/>
                    </a:lnTo>
                    <a:lnTo>
                      <a:pt x="157" y="25"/>
                    </a:lnTo>
                    <a:lnTo>
                      <a:pt x="171" y="46"/>
                    </a:lnTo>
                    <a:lnTo>
                      <a:pt x="178" y="48"/>
                    </a:lnTo>
                    <a:lnTo>
                      <a:pt x="174" y="31"/>
                    </a:lnTo>
                    <a:lnTo>
                      <a:pt x="177" y="33"/>
                    </a:lnTo>
                    <a:lnTo>
                      <a:pt x="178" y="18"/>
                    </a:lnTo>
                    <a:lnTo>
                      <a:pt x="174" y="2"/>
                    </a:lnTo>
                    <a:lnTo>
                      <a:pt x="197" y="44"/>
                    </a:lnTo>
                    <a:lnTo>
                      <a:pt x="198" y="37"/>
                    </a:lnTo>
                    <a:lnTo>
                      <a:pt x="201" y="42"/>
                    </a:lnTo>
                    <a:lnTo>
                      <a:pt x="203" y="35"/>
                    </a:lnTo>
                    <a:lnTo>
                      <a:pt x="198" y="25"/>
                    </a:lnTo>
                    <a:lnTo>
                      <a:pt x="199" y="6"/>
                    </a:lnTo>
                    <a:lnTo>
                      <a:pt x="207" y="44"/>
                    </a:lnTo>
                    <a:lnTo>
                      <a:pt x="211" y="9"/>
                    </a:lnTo>
                    <a:lnTo>
                      <a:pt x="211" y="36"/>
                    </a:lnTo>
                    <a:lnTo>
                      <a:pt x="215" y="43"/>
                    </a:lnTo>
                    <a:lnTo>
                      <a:pt x="222" y="13"/>
                    </a:lnTo>
                    <a:lnTo>
                      <a:pt x="236" y="0"/>
                    </a:lnTo>
                    <a:lnTo>
                      <a:pt x="226" y="13"/>
                    </a:lnTo>
                    <a:lnTo>
                      <a:pt x="221" y="36"/>
                    </a:lnTo>
                    <a:lnTo>
                      <a:pt x="223" y="41"/>
                    </a:lnTo>
                    <a:lnTo>
                      <a:pt x="233" y="24"/>
                    </a:lnTo>
                    <a:lnTo>
                      <a:pt x="226" y="39"/>
                    </a:lnTo>
                    <a:lnTo>
                      <a:pt x="226" y="45"/>
                    </a:lnTo>
                    <a:lnTo>
                      <a:pt x="247" y="9"/>
                    </a:lnTo>
                    <a:lnTo>
                      <a:pt x="248" y="15"/>
                    </a:lnTo>
                    <a:lnTo>
                      <a:pt x="238" y="35"/>
                    </a:lnTo>
                    <a:lnTo>
                      <a:pt x="238" y="48"/>
                    </a:lnTo>
                    <a:lnTo>
                      <a:pt x="241" y="50"/>
                    </a:lnTo>
                    <a:lnTo>
                      <a:pt x="246" y="28"/>
                    </a:lnTo>
                    <a:lnTo>
                      <a:pt x="256" y="12"/>
                    </a:lnTo>
                    <a:lnTo>
                      <a:pt x="248" y="29"/>
                    </a:lnTo>
                    <a:lnTo>
                      <a:pt x="250" y="53"/>
                    </a:lnTo>
                    <a:lnTo>
                      <a:pt x="255" y="51"/>
                    </a:lnTo>
                    <a:lnTo>
                      <a:pt x="265" y="20"/>
                    </a:lnTo>
                    <a:lnTo>
                      <a:pt x="258" y="53"/>
                    </a:lnTo>
                    <a:lnTo>
                      <a:pt x="274" y="27"/>
                    </a:lnTo>
                    <a:lnTo>
                      <a:pt x="288" y="18"/>
                    </a:lnTo>
                    <a:lnTo>
                      <a:pt x="277" y="31"/>
                    </a:lnTo>
                    <a:lnTo>
                      <a:pt x="269" y="45"/>
                    </a:lnTo>
                    <a:lnTo>
                      <a:pt x="281" y="40"/>
                    </a:lnTo>
                    <a:lnTo>
                      <a:pt x="266" y="50"/>
                    </a:lnTo>
                    <a:lnTo>
                      <a:pt x="263" y="61"/>
                    </a:lnTo>
                    <a:lnTo>
                      <a:pt x="268" y="63"/>
                    </a:lnTo>
                    <a:lnTo>
                      <a:pt x="284" y="41"/>
                    </a:lnTo>
                    <a:lnTo>
                      <a:pt x="304" y="28"/>
                    </a:lnTo>
                    <a:lnTo>
                      <a:pt x="278" y="57"/>
                    </a:lnTo>
                    <a:lnTo>
                      <a:pt x="290" y="48"/>
                    </a:lnTo>
                    <a:lnTo>
                      <a:pt x="355" y="39"/>
                    </a:lnTo>
                    <a:lnTo>
                      <a:pt x="287" y="53"/>
                    </a:lnTo>
                    <a:lnTo>
                      <a:pt x="280" y="63"/>
                    </a:lnTo>
                    <a:lnTo>
                      <a:pt x="287" y="61"/>
                    </a:lnTo>
                    <a:lnTo>
                      <a:pt x="307" y="52"/>
                    </a:lnTo>
                    <a:lnTo>
                      <a:pt x="291" y="66"/>
                    </a:lnTo>
                    <a:lnTo>
                      <a:pt x="278" y="72"/>
                    </a:lnTo>
                    <a:lnTo>
                      <a:pt x="278" y="81"/>
                    </a:lnTo>
                    <a:lnTo>
                      <a:pt x="281" y="87"/>
                    </a:lnTo>
                    <a:lnTo>
                      <a:pt x="289" y="94"/>
                    </a:lnTo>
                    <a:lnTo>
                      <a:pt x="297" y="105"/>
                    </a:lnTo>
                    <a:lnTo>
                      <a:pt x="304" y="113"/>
                    </a:lnTo>
                    <a:lnTo>
                      <a:pt x="311" y="122"/>
                    </a:lnTo>
                    <a:lnTo>
                      <a:pt x="318" y="130"/>
                    </a:lnTo>
                    <a:lnTo>
                      <a:pt x="322" y="137"/>
                    </a:lnTo>
                    <a:lnTo>
                      <a:pt x="330" y="149"/>
                    </a:lnTo>
                    <a:lnTo>
                      <a:pt x="338" y="162"/>
                    </a:lnTo>
                    <a:lnTo>
                      <a:pt x="344" y="174"/>
                    </a:lnTo>
                    <a:lnTo>
                      <a:pt x="344" y="176"/>
                    </a:lnTo>
                    <a:lnTo>
                      <a:pt x="342" y="178"/>
                    </a:lnTo>
                    <a:lnTo>
                      <a:pt x="340" y="181"/>
                    </a:lnTo>
                    <a:lnTo>
                      <a:pt x="337" y="182"/>
                    </a:lnTo>
                    <a:lnTo>
                      <a:pt x="333" y="182"/>
                    </a:lnTo>
                    <a:lnTo>
                      <a:pt x="285" y="178"/>
                    </a:lnTo>
                    <a:lnTo>
                      <a:pt x="282" y="187"/>
                    </a:lnTo>
                    <a:lnTo>
                      <a:pt x="276" y="216"/>
                    </a:lnTo>
                    <a:lnTo>
                      <a:pt x="271" y="237"/>
                    </a:lnTo>
                    <a:lnTo>
                      <a:pt x="265" y="255"/>
                    </a:lnTo>
                    <a:lnTo>
                      <a:pt x="262" y="255"/>
                    </a:lnTo>
                    <a:lnTo>
                      <a:pt x="258" y="257"/>
                    </a:lnTo>
                    <a:lnTo>
                      <a:pt x="253" y="257"/>
                    </a:lnTo>
                    <a:lnTo>
                      <a:pt x="238" y="257"/>
                    </a:lnTo>
                    <a:lnTo>
                      <a:pt x="201" y="244"/>
                    </a:lnTo>
                    <a:lnTo>
                      <a:pt x="197" y="249"/>
                    </a:lnTo>
                    <a:lnTo>
                      <a:pt x="192" y="270"/>
                    </a:lnTo>
                    <a:lnTo>
                      <a:pt x="187" y="286"/>
                    </a:lnTo>
                    <a:lnTo>
                      <a:pt x="182" y="308"/>
                    </a:lnTo>
                    <a:lnTo>
                      <a:pt x="180" y="322"/>
                    </a:lnTo>
                    <a:lnTo>
                      <a:pt x="188" y="332"/>
                    </a:lnTo>
                    <a:lnTo>
                      <a:pt x="198" y="343"/>
                    </a:lnTo>
                    <a:lnTo>
                      <a:pt x="211" y="359"/>
                    </a:lnTo>
                    <a:lnTo>
                      <a:pt x="230" y="363"/>
                    </a:lnTo>
                    <a:lnTo>
                      <a:pt x="244" y="365"/>
                    </a:lnTo>
                    <a:lnTo>
                      <a:pt x="264" y="369"/>
                    </a:lnTo>
                    <a:lnTo>
                      <a:pt x="276" y="371"/>
                    </a:lnTo>
                    <a:lnTo>
                      <a:pt x="287" y="372"/>
                    </a:lnTo>
                    <a:lnTo>
                      <a:pt x="295" y="373"/>
                    </a:lnTo>
                    <a:lnTo>
                      <a:pt x="302" y="373"/>
                    </a:lnTo>
                    <a:lnTo>
                      <a:pt x="311" y="372"/>
                    </a:lnTo>
                    <a:lnTo>
                      <a:pt x="325" y="371"/>
                    </a:lnTo>
                    <a:lnTo>
                      <a:pt x="339" y="364"/>
                    </a:lnTo>
                    <a:lnTo>
                      <a:pt x="343" y="362"/>
                    </a:lnTo>
                    <a:lnTo>
                      <a:pt x="347" y="362"/>
                    </a:lnTo>
                    <a:lnTo>
                      <a:pt x="350" y="364"/>
                    </a:lnTo>
                    <a:lnTo>
                      <a:pt x="354" y="368"/>
                    </a:lnTo>
                    <a:lnTo>
                      <a:pt x="355" y="371"/>
                    </a:lnTo>
                    <a:lnTo>
                      <a:pt x="356" y="376"/>
                    </a:lnTo>
                    <a:lnTo>
                      <a:pt x="357" y="381"/>
                    </a:lnTo>
                    <a:lnTo>
                      <a:pt x="362" y="383"/>
                    </a:lnTo>
                    <a:lnTo>
                      <a:pt x="368" y="386"/>
                    </a:lnTo>
                    <a:lnTo>
                      <a:pt x="373" y="389"/>
                    </a:lnTo>
                    <a:lnTo>
                      <a:pt x="379" y="394"/>
                    </a:lnTo>
                    <a:lnTo>
                      <a:pt x="378" y="397"/>
                    </a:lnTo>
                    <a:lnTo>
                      <a:pt x="377" y="401"/>
                    </a:lnTo>
                    <a:lnTo>
                      <a:pt x="373" y="404"/>
                    </a:lnTo>
                    <a:lnTo>
                      <a:pt x="370" y="406"/>
                    </a:lnTo>
                    <a:lnTo>
                      <a:pt x="372" y="409"/>
                    </a:lnTo>
                    <a:lnTo>
                      <a:pt x="373" y="413"/>
                    </a:lnTo>
                    <a:lnTo>
                      <a:pt x="375" y="418"/>
                    </a:lnTo>
                    <a:lnTo>
                      <a:pt x="375" y="421"/>
                    </a:lnTo>
                    <a:lnTo>
                      <a:pt x="373" y="426"/>
                    </a:lnTo>
                    <a:lnTo>
                      <a:pt x="370" y="428"/>
                    </a:lnTo>
                    <a:lnTo>
                      <a:pt x="362" y="433"/>
                    </a:lnTo>
                    <a:lnTo>
                      <a:pt x="363" y="439"/>
                    </a:lnTo>
                    <a:lnTo>
                      <a:pt x="363" y="442"/>
                    </a:lnTo>
                    <a:lnTo>
                      <a:pt x="362" y="445"/>
                    </a:lnTo>
                    <a:lnTo>
                      <a:pt x="361" y="447"/>
                    </a:lnTo>
                    <a:lnTo>
                      <a:pt x="358" y="448"/>
                    </a:lnTo>
                    <a:lnTo>
                      <a:pt x="355" y="447"/>
                    </a:lnTo>
                    <a:lnTo>
                      <a:pt x="348" y="446"/>
                    </a:lnTo>
                    <a:lnTo>
                      <a:pt x="332" y="440"/>
                    </a:lnTo>
                    <a:lnTo>
                      <a:pt x="312" y="433"/>
                    </a:lnTo>
                    <a:lnTo>
                      <a:pt x="284" y="426"/>
                    </a:lnTo>
                    <a:lnTo>
                      <a:pt x="279" y="426"/>
                    </a:lnTo>
                    <a:lnTo>
                      <a:pt x="263" y="422"/>
                    </a:lnTo>
                    <a:lnTo>
                      <a:pt x="231" y="414"/>
                    </a:lnTo>
                    <a:lnTo>
                      <a:pt x="204" y="411"/>
                    </a:lnTo>
                    <a:lnTo>
                      <a:pt x="198" y="412"/>
                    </a:lnTo>
                    <a:lnTo>
                      <a:pt x="184" y="413"/>
                    </a:lnTo>
                    <a:lnTo>
                      <a:pt x="178" y="407"/>
                    </a:lnTo>
                    <a:lnTo>
                      <a:pt x="172" y="404"/>
                    </a:lnTo>
                    <a:lnTo>
                      <a:pt x="170" y="401"/>
                    </a:lnTo>
                    <a:lnTo>
                      <a:pt x="167" y="397"/>
                    </a:lnTo>
                    <a:lnTo>
                      <a:pt x="164" y="392"/>
                    </a:lnTo>
                    <a:lnTo>
                      <a:pt x="149" y="373"/>
                    </a:lnTo>
                    <a:lnTo>
                      <a:pt x="163" y="390"/>
                    </a:lnTo>
                    <a:lnTo>
                      <a:pt x="168" y="396"/>
                    </a:lnTo>
                    <a:lnTo>
                      <a:pt x="170" y="402"/>
                    </a:lnTo>
                    <a:lnTo>
                      <a:pt x="183" y="412"/>
                    </a:lnTo>
                    <a:lnTo>
                      <a:pt x="190" y="413"/>
                    </a:lnTo>
                    <a:lnTo>
                      <a:pt x="199" y="412"/>
                    </a:lnTo>
                    <a:lnTo>
                      <a:pt x="205" y="412"/>
                    </a:lnTo>
                    <a:lnTo>
                      <a:pt x="216" y="416"/>
                    </a:lnTo>
                    <a:lnTo>
                      <a:pt x="223" y="420"/>
                    </a:lnTo>
                    <a:lnTo>
                      <a:pt x="229" y="425"/>
                    </a:lnTo>
                    <a:lnTo>
                      <a:pt x="234" y="431"/>
                    </a:lnTo>
                    <a:lnTo>
                      <a:pt x="237" y="435"/>
                    </a:lnTo>
                    <a:lnTo>
                      <a:pt x="236" y="439"/>
                    </a:lnTo>
                    <a:lnTo>
                      <a:pt x="233" y="445"/>
                    </a:lnTo>
                    <a:lnTo>
                      <a:pt x="227" y="451"/>
                    </a:lnTo>
                    <a:lnTo>
                      <a:pt x="218" y="460"/>
                    </a:lnTo>
                    <a:lnTo>
                      <a:pt x="204" y="472"/>
                    </a:lnTo>
                    <a:lnTo>
                      <a:pt x="194" y="482"/>
                    </a:lnTo>
                    <a:lnTo>
                      <a:pt x="175" y="493"/>
                    </a:lnTo>
                    <a:lnTo>
                      <a:pt x="145" y="508"/>
                    </a:lnTo>
                    <a:lnTo>
                      <a:pt x="126" y="517"/>
                    </a:lnTo>
                    <a:lnTo>
                      <a:pt x="120" y="523"/>
                    </a:lnTo>
                    <a:lnTo>
                      <a:pt x="115" y="528"/>
                    </a:lnTo>
                    <a:lnTo>
                      <a:pt x="104" y="535"/>
                    </a:lnTo>
                    <a:lnTo>
                      <a:pt x="101" y="545"/>
                    </a:lnTo>
                    <a:lnTo>
                      <a:pt x="101" y="565"/>
                    </a:lnTo>
                    <a:lnTo>
                      <a:pt x="104" y="582"/>
                    </a:lnTo>
                    <a:lnTo>
                      <a:pt x="107" y="593"/>
                    </a:lnTo>
                    <a:lnTo>
                      <a:pt x="125" y="614"/>
                    </a:lnTo>
                    <a:lnTo>
                      <a:pt x="136" y="622"/>
                    </a:lnTo>
                    <a:lnTo>
                      <a:pt x="138" y="626"/>
                    </a:lnTo>
                    <a:lnTo>
                      <a:pt x="137" y="629"/>
                    </a:lnTo>
                    <a:lnTo>
                      <a:pt x="116" y="635"/>
                    </a:lnTo>
                    <a:lnTo>
                      <a:pt x="94" y="632"/>
                    </a:lnTo>
                    <a:lnTo>
                      <a:pt x="83" y="632"/>
                    </a:lnTo>
                    <a:lnTo>
                      <a:pt x="71" y="633"/>
                    </a:lnTo>
                    <a:lnTo>
                      <a:pt x="60" y="633"/>
                    </a:lnTo>
                    <a:lnTo>
                      <a:pt x="49" y="631"/>
                    </a:lnTo>
                    <a:lnTo>
                      <a:pt x="47" y="629"/>
                    </a:lnTo>
                    <a:lnTo>
                      <a:pt x="46" y="626"/>
                    </a:lnTo>
                    <a:lnTo>
                      <a:pt x="46" y="593"/>
                    </a:lnTo>
                    <a:lnTo>
                      <a:pt x="52" y="560"/>
                    </a:lnTo>
                    <a:lnTo>
                      <a:pt x="48" y="549"/>
                    </a:lnTo>
                    <a:lnTo>
                      <a:pt x="40" y="539"/>
                    </a:lnTo>
                    <a:lnTo>
                      <a:pt x="37" y="536"/>
                    </a:lnTo>
                    <a:lnTo>
                      <a:pt x="31" y="530"/>
                    </a:lnTo>
                    <a:lnTo>
                      <a:pt x="27" y="528"/>
                    </a:lnTo>
                    <a:lnTo>
                      <a:pt x="26" y="524"/>
                    </a:lnTo>
                    <a:lnTo>
                      <a:pt x="27" y="521"/>
                    </a:lnTo>
                    <a:lnTo>
                      <a:pt x="32" y="515"/>
                    </a:lnTo>
                    <a:lnTo>
                      <a:pt x="40" y="508"/>
                    </a:lnTo>
                    <a:lnTo>
                      <a:pt x="47" y="504"/>
                    </a:lnTo>
                    <a:lnTo>
                      <a:pt x="57" y="504"/>
                    </a:lnTo>
                    <a:lnTo>
                      <a:pt x="65" y="505"/>
                    </a:lnTo>
                    <a:lnTo>
                      <a:pt x="103" y="483"/>
                    </a:lnTo>
                    <a:lnTo>
                      <a:pt x="132" y="466"/>
                    </a:lnTo>
                    <a:lnTo>
                      <a:pt x="157" y="453"/>
                    </a:lnTo>
                    <a:lnTo>
                      <a:pt x="149" y="453"/>
                    </a:lnTo>
                    <a:lnTo>
                      <a:pt x="124" y="447"/>
                    </a:lnTo>
                    <a:lnTo>
                      <a:pt x="98" y="446"/>
                    </a:lnTo>
                    <a:lnTo>
                      <a:pt x="63" y="441"/>
                    </a:lnTo>
                    <a:lnTo>
                      <a:pt x="52" y="442"/>
                    </a:lnTo>
                    <a:lnTo>
                      <a:pt x="26" y="440"/>
                    </a:lnTo>
                    <a:lnTo>
                      <a:pt x="20" y="439"/>
                    </a:lnTo>
                    <a:lnTo>
                      <a:pt x="14" y="436"/>
                    </a:lnTo>
                    <a:lnTo>
                      <a:pt x="9" y="434"/>
                    </a:lnTo>
                    <a:lnTo>
                      <a:pt x="6" y="431"/>
                    </a:lnTo>
                    <a:lnTo>
                      <a:pt x="3" y="424"/>
                    </a:lnTo>
                    <a:lnTo>
                      <a:pt x="2" y="417"/>
                    </a:lnTo>
                    <a:lnTo>
                      <a:pt x="0" y="409"/>
                    </a:lnTo>
                    <a:lnTo>
                      <a:pt x="0" y="399"/>
                    </a:lnTo>
                    <a:lnTo>
                      <a:pt x="1" y="391"/>
                    </a:lnTo>
                    <a:lnTo>
                      <a:pt x="2" y="382"/>
                    </a:lnTo>
                    <a:lnTo>
                      <a:pt x="3" y="374"/>
                    </a:lnTo>
                    <a:lnTo>
                      <a:pt x="6" y="368"/>
                    </a:lnTo>
                    <a:lnTo>
                      <a:pt x="15" y="344"/>
                    </a:lnTo>
                    <a:lnTo>
                      <a:pt x="25" y="315"/>
                    </a:lnTo>
                    <a:lnTo>
                      <a:pt x="32" y="296"/>
                    </a:lnTo>
                    <a:lnTo>
                      <a:pt x="51" y="265"/>
                    </a:lnTo>
                    <a:lnTo>
                      <a:pt x="69" y="240"/>
                    </a:lnTo>
                    <a:lnTo>
                      <a:pt x="86" y="221"/>
                    </a:lnTo>
                    <a:lnTo>
                      <a:pt x="96" y="208"/>
                    </a:lnTo>
                    <a:lnTo>
                      <a:pt x="104" y="196"/>
                    </a:lnTo>
                    <a:lnTo>
                      <a:pt x="112" y="187"/>
                    </a:lnTo>
                    <a:lnTo>
                      <a:pt x="115" y="172"/>
                    </a:lnTo>
                    <a:lnTo>
                      <a:pt x="123" y="153"/>
                    </a:lnTo>
                    <a:lnTo>
                      <a:pt x="130" y="136"/>
                    </a:lnTo>
                  </a:path>
                </a:pathLst>
              </a:custGeom>
              <a:solidFill>
                <a:srgbClr val="333333">
                  <a:alpha val="100000"/>
                </a:srgbClr>
              </a:solidFill>
              <a:ln w="127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22566" name="未知"/>
              <p:cNvSpPr/>
              <p:nvPr/>
            </p:nvSpPr>
            <p:spPr>
              <a:xfrm>
                <a:off x="304" y="101"/>
                <a:ext cx="17" cy="36"/>
              </a:xfrm>
              <a:custGeom>
                <a:avLst/>
                <a:gdLst/>
                <a:ahLst/>
                <a:cxnLst>
                  <a:cxn ang="0">
                    <a:pos x="14" y="0"/>
                  </a:cxn>
                  <a:cxn ang="0">
                    <a:pos x="10" y="2"/>
                  </a:cxn>
                  <a:cxn ang="0">
                    <a:pos x="8" y="6"/>
                  </a:cxn>
                  <a:cxn ang="0">
                    <a:pos x="5" y="10"/>
                  </a:cxn>
                  <a:cxn ang="0">
                    <a:pos x="2" y="14"/>
                  </a:cxn>
                  <a:cxn ang="0">
                    <a:pos x="1" y="19"/>
                  </a:cxn>
                  <a:cxn ang="0">
                    <a:pos x="0" y="24"/>
                  </a:cxn>
                  <a:cxn ang="0">
                    <a:pos x="0" y="28"/>
                  </a:cxn>
                  <a:cxn ang="0">
                    <a:pos x="2" y="33"/>
                  </a:cxn>
                  <a:cxn ang="0">
                    <a:pos x="2" y="35"/>
                  </a:cxn>
                  <a:cxn ang="0">
                    <a:pos x="5" y="33"/>
                  </a:cxn>
                  <a:cxn ang="0">
                    <a:pos x="7" y="31"/>
                  </a:cxn>
                  <a:cxn ang="0">
                    <a:pos x="10" y="28"/>
                  </a:cxn>
                  <a:cxn ang="0">
                    <a:pos x="11" y="24"/>
                  </a:cxn>
                  <a:cxn ang="0">
                    <a:pos x="14" y="20"/>
                  </a:cxn>
                  <a:cxn ang="0">
                    <a:pos x="14" y="17"/>
                  </a:cxn>
                  <a:cxn ang="0">
                    <a:pos x="15" y="12"/>
                  </a:cxn>
                  <a:cxn ang="0">
                    <a:pos x="16" y="8"/>
                  </a:cxn>
                  <a:cxn ang="0">
                    <a:pos x="15" y="3"/>
                  </a:cxn>
                  <a:cxn ang="0">
                    <a:pos x="14" y="0"/>
                  </a:cxn>
                </a:cxnLst>
                <a:pathLst>
                  <a:path w="17" h="36">
                    <a:moveTo>
                      <a:pt x="14" y="0"/>
                    </a:moveTo>
                    <a:lnTo>
                      <a:pt x="10" y="2"/>
                    </a:lnTo>
                    <a:lnTo>
                      <a:pt x="8" y="6"/>
                    </a:lnTo>
                    <a:lnTo>
                      <a:pt x="5" y="10"/>
                    </a:lnTo>
                    <a:lnTo>
                      <a:pt x="2" y="14"/>
                    </a:lnTo>
                    <a:lnTo>
                      <a:pt x="1" y="19"/>
                    </a:lnTo>
                    <a:lnTo>
                      <a:pt x="0" y="24"/>
                    </a:lnTo>
                    <a:lnTo>
                      <a:pt x="0" y="28"/>
                    </a:lnTo>
                    <a:lnTo>
                      <a:pt x="2" y="33"/>
                    </a:lnTo>
                    <a:lnTo>
                      <a:pt x="2" y="35"/>
                    </a:lnTo>
                    <a:lnTo>
                      <a:pt x="5" y="33"/>
                    </a:lnTo>
                    <a:lnTo>
                      <a:pt x="7" y="31"/>
                    </a:lnTo>
                    <a:lnTo>
                      <a:pt x="10" y="28"/>
                    </a:lnTo>
                    <a:lnTo>
                      <a:pt x="11" y="24"/>
                    </a:lnTo>
                    <a:lnTo>
                      <a:pt x="14" y="20"/>
                    </a:lnTo>
                    <a:lnTo>
                      <a:pt x="14" y="17"/>
                    </a:lnTo>
                    <a:lnTo>
                      <a:pt x="15" y="12"/>
                    </a:lnTo>
                    <a:lnTo>
                      <a:pt x="16" y="8"/>
                    </a:lnTo>
                    <a:lnTo>
                      <a:pt x="15" y="3"/>
                    </a:lnTo>
                    <a:lnTo>
                      <a:pt x="14" y="0"/>
                    </a:lnTo>
                  </a:path>
                </a:pathLst>
              </a:custGeom>
              <a:solidFill>
                <a:srgbClr val="333333">
                  <a:alpha val="100000"/>
                </a:srgbClr>
              </a:solidFill>
              <a:ln w="12700" cap="rnd" cmpd="sng">
                <a:solidFill>
                  <a:schemeClr val="tx1">
                    <a:alpha val="10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/>
              </a:p>
            </p:txBody>
          </p:sp>
        </p:grpSp>
        <p:pic>
          <p:nvPicPr>
            <p:cNvPr id="22540" name="Picture 20" descr="money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191" y="4335"/>
              <a:ext cx="1287" cy="79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41" name="Text Box 21"/>
            <p:cNvSpPr txBox="1"/>
            <p:nvPr/>
          </p:nvSpPr>
          <p:spPr>
            <a:xfrm>
              <a:off x="9471" y="5150"/>
              <a:ext cx="1642" cy="625"/>
            </a:xfrm>
            <a:prstGeom prst="rect">
              <a:avLst/>
            </a:prstGeom>
            <a:noFill/>
            <a:ln w="9525">
              <a:noFill/>
            </a:ln>
          </p:spPr>
          <p:txBody>
            <a:bodyPr>
              <a:spAutoFit/>
            </a:bodyPr>
            <a:p>
              <a:pPr algn="ctr" eaLnBrk="0" hangingPunct="0">
                <a:buFont typeface="Arial" panose="020B0604020202090204" pitchFamily="34" charset="0"/>
                <a:buNone/>
              </a:pPr>
              <a:r>
                <a:rPr lang="zh-CN" altLang="en-US" sz="2000" b="1" dirty="0">
                  <a:solidFill>
                    <a:srgbClr val="000000"/>
                  </a:solidFill>
                  <a:latin typeface="Times New Roman" panose="02020603050405020304" pitchFamily="18" charset="0"/>
                </a:rPr>
                <a:t>数据库</a:t>
              </a:r>
              <a:endParaRPr lang="zh-CN" altLang="en-US" sz="2000" b="1" dirty="0">
                <a:solidFill>
                  <a:srgbClr val="000000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542" name="Text Box 22"/>
            <p:cNvSpPr txBox="1"/>
            <p:nvPr/>
          </p:nvSpPr>
          <p:spPr>
            <a:xfrm>
              <a:off x="4029" y="6563"/>
              <a:ext cx="1248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0" hangingPunct="0">
                <a:buFont typeface="Arial" panose="020B0604020202090204" pitchFamily="34" charset="0"/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偷看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43" name="Picture 23" descr="eyes"/>
            <p:cNvSpPr>
              <a:spLocks noChangeAspect="1"/>
            </p:cNvSpPr>
            <p:nvPr/>
          </p:nvSpPr>
          <p:spPr>
            <a:xfrm>
              <a:off x="5048" y="6345"/>
              <a:ext cx="1167" cy="103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pic>
          <p:nvPicPr>
            <p:cNvPr id="22544" name="Picture 24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833" y="7235"/>
              <a:ext cx="2022" cy="1401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</p:pic>
        <p:sp>
          <p:nvSpPr>
            <p:cNvPr id="22545" name="Text Box 25"/>
            <p:cNvSpPr txBox="1"/>
            <p:nvPr/>
          </p:nvSpPr>
          <p:spPr>
            <a:xfrm>
              <a:off x="5379" y="8633"/>
              <a:ext cx="1248" cy="725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0" hangingPunct="0">
                <a:buFont typeface="Arial" panose="020B0604020202090204" pitchFamily="34" charset="0"/>
                <a:buNone/>
              </a:pPr>
              <a:r>
                <a:rPr lang="zh-CN" altLang="en-US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篡改</a:t>
              </a:r>
              <a:endPara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46" name="Text Box 26"/>
            <p:cNvSpPr txBox="1"/>
            <p:nvPr/>
          </p:nvSpPr>
          <p:spPr>
            <a:xfrm>
              <a:off x="1197" y="8672"/>
              <a:ext cx="1008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algn="ctr" eaLnBrk="0" hangingPunct="0">
                <a:buFont typeface="Arial" panose="020B0604020202090204" pitchFamily="34" charset="0"/>
                <a:buNone/>
              </a:pPr>
              <a:r>
                <a:rPr lang="zh-CN" altLang="en-US" sz="2400" b="1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抵赖</a:t>
              </a:r>
              <a:endParaRPr lang="zh-CN" altLang="en-US" sz="1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22547" name="Picture 27" descr="ENT6000_00A4_005_idx"/>
            <p:cNvSpPr>
              <a:spLocks noChangeAspect="1"/>
            </p:cNvSpPr>
            <p:nvPr/>
          </p:nvSpPr>
          <p:spPr>
            <a:xfrm>
              <a:off x="8223" y="3243"/>
              <a:ext cx="1067" cy="1889"/>
            </a:xfrm>
            <a:prstGeom prst="rect">
              <a:avLst/>
            </a:prstGeom>
            <a:noFill/>
            <a:ln w="9525">
              <a:noFill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pic>
          <p:nvPicPr>
            <p:cNvPr id="22548" name="Picture 28" descr="DataBase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9130" y="3675"/>
              <a:ext cx="1897" cy="1716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22549" name="Text Box 29"/>
            <p:cNvSpPr txBox="1"/>
            <p:nvPr/>
          </p:nvSpPr>
          <p:spPr>
            <a:xfrm>
              <a:off x="4452" y="7645"/>
              <a:ext cx="1008" cy="58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lvl="0" algn="ctr" eaLnBrk="0" hangingPunct="0">
                <a:buClrTx/>
                <a:buSzTx/>
                <a:buFont typeface="Arial" panose="020B0604020202090204" pitchFamily="34" charset="0"/>
              </a:pPr>
              <a:r>
                <a:rPr lang="zh-CN" altLang="en-US" dirty="0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假冒</a:t>
              </a:r>
              <a:endPara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endParaRPr>
            </a:p>
          </p:txBody>
        </p:sp>
        <p:sp>
          <p:nvSpPr>
            <p:cNvPr id="22550" name="Cloud"/>
            <p:cNvSpPr>
              <a:spLocks noChangeAspect="1" noEditPoints="1"/>
            </p:cNvSpPr>
            <p:nvPr/>
          </p:nvSpPr>
          <p:spPr>
            <a:xfrm>
              <a:off x="3915" y="3223"/>
              <a:ext cx="3454" cy="2527"/>
            </a:xfrm>
            <a:custGeom>
              <a:avLst/>
              <a:gdLst>
                <a:gd name="txL" fmla="*/ 2977 w 21600"/>
                <a:gd name="txT" fmla="*/ 3262 h 21600"/>
                <a:gd name="txR" fmla="*/ 17087 w 21600"/>
                <a:gd name="txB" fmla="*/ 17337 h 21600"/>
              </a:gdLst>
              <a:ahLst/>
              <a:cxnLst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  <a:cxn ang="0">
                  <a:pos x="2147483647" y="2147483647"/>
                </a:cxn>
              </a:cxnLst>
              <a:rect l="txL" t="txT" r="txR" b="txB"/>
              <a:pathLst>
                <a:path w="21600" h="21600">
                  <a:moveTo>
                    <a:pt x="1949" y="7180"/>
                  </a:moveTo>
                  <a:cubicBezTo>
                    <a:pt x="841" y="7336"/>
                    <a:pt x="0" y="8613"/>
                    <a:pt x="0" y="10137"/>
                  </a:cubicBezTo>
                  <a:cubicBezTo>
                    <a:pt x="-1" y="11192"/>
                    <a:pt x="409" y="12169"/>
                    <a:pt x="1074" y="12702"/>
                  </a:cubicBezTo>
                  <a:lnTo>
                    <a:pt x="1063" y="12668"/>
                  </a:lnTo>
                  <a:cubicBezTo>
                    <a:pt x="685" y="13217"/>
                    <a:pt x="475" y="13940"/>
                    <a:pt x="475" y="14690"/>
                  </a:cubicBezTo>
                  <a:cubicBezTo>
                    <a:pt x="475" y="16325"/>
                    <a:pt x="1451" y="17650"/>
                    <a:pt x="2655" y="17650"/>
                  </a:cubicBezTo>
                  <a:cubicBezTo>
                    <a:pt x="2739" y="17650"/>
                    <a:pt x="2824" y="17643"/>
                    <a:pt x="2909" y="17629"/>
                  </a:cubicBezTo>
                  <a:lnTo>
                    <a:pt x="2897" y="17649"/>
                  </a:lnTo>
                  <a:cubicBezTo>
                    <a:pt x="3585" y="19288"/>
                    <a:pt x="4863" y="20300"/>
                    <a:pt x="6247" y="20300"/>
                  </a:cubicBezTo>
                  <a:cubicBezTo>
                    <a:pt x="6947" y="20299"/>
                    <a:pt x="7635" y="20039"/>
                    <a:pt x="8235" y="19546"/>
                  </a:cubicBezTo>
                  <a:lnTo>
                    <a:pt x="8229" y="19550"/>
                  </a:lnTo>
                  <a:cubicBezTo>
                    <a:pt x="8855" y="20829"/>
                    <a:pt x="9908" y="21597"/>
                    <a:pt x="11036" y="21597"/>
                  </a:cubicBezTo>
                  <a:cubicBezTo>
                    <a:pt x="12523" y="21596"/>
                    <a:pt x="13836" y="20267"/>
                    <a:pt x="14267" y="18324"/>
                  </a:cubicBezTo>
                  <a:lnTo>
                    <a:pt x="14270" y="18350"/>
                  </a:lnTo>
                  <a:cubicBezTo>
                    <a:pt x="14730" y="18740"/>
                    <a:pt x="15260" y="18947"/>
                    <a:pt x="15802" y="18947"/>
                  </a:cubicBezTo>
                  <a:cubicBezTo>
                    <a:pt x="17390" y="18946"/>
                    <a:pt x="18682" y="17205"/>
                    <a:pt x="18694" y="15045"/>
                  </a:cubicBezTo>
                  <a:lnTo>
                    <a:pt x="18689" y="15035"/>
                  </a:lnTo>
                  <a:cubicBezTo>
                    <a:pt x="20357" y="14710"/>
                    <a:pt x="21597" y="12765"/>
                    <a:pt x="21597" y="10472"/>
                  </a:cubicBezTo>
                  <a:cubicBezTo>
                    <a:pt x="21597" y="9456"/>
                    <a:pt x="21350" y="8469"/>
                    <a:pt x="20896" y="7663"/>
                  </a:cubicBezTo>
                  <a:lnTo>
                    <a:pt x="20889" y="7661"/>
                  </a:lnTo>
                  <a:cubicBezTo>
                    <a:pt x="21031" y="7208"/>
                    <a:pt x="21105" y="6721"/>
                    <a:pt x="21105" y="6228"/>
                  </a:cubicBezTo>
                  <a:cubicBezTo>
                    <a:pt x="21105" y="4588"/>
                    <a:pt x="20299" y="3150"/>
                    <a:pt x="19139" y="2719"/>
                  </a:cubicBezTo>
                  <a:lnTo>
                    <a:pt x="19148" y="2712"/>
                  </a:lnTo>
                  <a:cubicBezTo>
                    <a:pt x="18940" y="1142"/>
                    <a:pt x="17933" y="0"/>
                    <a:pt x="16758" y="0"/>
                  </a:cubicBezTo>
                  <a:cubicBezTo>
                    <a:pt x="16044" y="-1"/>
                    <a:pt x="15367" y="426"/>
                    <a:pt x="14905" y="1165"/>
                  </a:cubicBezTo>
                  <a:lnTo>
                    <a:pt x="14909" y="1170"/>
                  </a:lnTo>
                  <a:cubicBezTo>
                    <a:pt x="14497" y="432"/>
                    <a:pt x="13855" y="0"/>
                    <a:pt x="13174" y="0"/>
                  </a:cubicBezTo>
                  <a:cubicBezTo>
                    <a:pt x="12347" y="-1"/>
                    <a:pt x="11590" y="637"/>
                    <a:pt x="11221" y="1645"/>
                  </a:cubicBezTo>
                  <a:lnTo>
                    <a:pt x="11229" y="1694"/>
                  </a:lnTo>
                  <a:cubicBezTo>
                    <a:pt x="10730" y="1024"/>
                    <a:pt x="10058" y="650"/>
                    <a:pt x="9358" y="650"/>
                  </a:cubicBezTo>
                  <a:cubicBezTo>
                    <a:pt x="8372" y="649"/>
                    <a:pt x="7466" y="1391"/>
                    <a:pt x="7003" y="2578"/>
                  </a:cubicBezTo>
                  <a:lnTo>
                    <a:pt x="6995" y="2602"/>
                  </a:lnTo>
                  <a:cubicBezTo>
                    <a:pt x="6477" y="2189"/>
                    <a:pt x="5888" y="1972"/>
                    <a:pt x="5288" y="1972"/>
                  </a:cubicBezTo>
                  <a:cubicBezTo>
                    <a:pt x="3423" y="1972"/>
                    <a:pt x="1912" y="4029"/>
                    <a:pt x="1912" y="6567"/>
                  </a:cubicBezTo>
                  <a:cubicBezTo>
                    <a:pt x="1911" y="6774"/>
                    <a:pt x="1922" y="6981"/>
                    <a:pt x="1942" y="7186"/>
                  </a:cubicBezTo>
                  <a:lnTo>
                    <a:pt x="1949" y="7180"/>
                  </a:lnTo>
                  <a:close/>
                </a:path>
                <a:path w="21600" h="21600" fill="none">
                  <a:moveTo>
                    <a:pt x="1074" y="12702"/>
                  </a:moveTo>
                  <a:cubicBezTo>
                    <a:pt x="1407" y="12969"/>
                    <a:pt x="1786" y="13110"/>
                    <a:pt x="2172" y="13110"/>
                  </a:cubicBezTo>
                  <a:cubicBezTo>
                    <a:pt x="2228" y="13109"/>
                    <a:pt x="2285" y="13107"/>
                    <a:pt x="2341" y="13101"/>
                  </a:cubicBezTo>
                </a:path>
                <a:path w="21600" h="21600" fill="none">
                  <a:moveTo>
                    <a:pt x="2909" y="17629"/>
                  </a:moveTo>
                  <a:cubicBezTo>
                    <a:pt x="3099" y="17599"/>
                    <a:pt x="3285" y="17535"/>
                    <a:pt x="3463" y="17439"/>
                  </a:cubicBezTo>
                </a:path>
                <a:path w="21600" h="21600" fill="none">
                  <a:moveTo>
                    <a:pt x="7895" y="18680"/>
                  </a:moveTo>
                  <a:cubicBezTo>
                    <a:pt x="7983" y="18985"/>
                    <a:pt x="8095" y="19277"/>
                    <a:pt x="8229" y="19550"/>
                  </a:cubicBezTo>
                </a:path>
                <a:path w="21600" h="21600" fill="none">
                  <a:moveTo>
                    <a:pt x="14267" y="18324"/>
                  </a:moveTo>
                  <a:cubicBezTo>
                    <a:pt x="14336" y="18013"/>
                    <a:pt x="14380" y="17693"/>
                    <a:pt x="14400" y="17370"/>
                  </a:cubicBezTo>
                </a:path>
                <a:path w="21600" h="21600" fill="none">
                  <a:moveTo>
                    <a:pt x="18694" y="15045"/>
                  </a:moveTo>
                  <a:cubicBezTo>
                    <a:pt x="18694" y="15034"/>
                    <a:pt x="18695" y="15024"/>
                    <a:pt x="18695" y="15013"/>
                  </a:cubicBezTo>
                  <a:cubicBezTo>
                    <a:pt x="18695" y="13508"/>
                    <a:pt x="18063" y="12136"/>
                    <a:pt x="17069" y="11477"/>
                  </a:cubicBezTo>
                </a:path>
                <a:path w="21600" h="21600" fill="none">
                  <a:moveTo>
                    <a:pt x="20165" y="8999"/>
                  </a:moveTo>
                  <a:cubicBezTo>
                    <a:pt x="20479" y="8635"/>
                    <a:pt x="20726" y="8177"/>
                    <a:pt x="20889" y="7661"/>
                  </a:cubicBezTo>
                </a:path>
                <a:path w="21600" h="21600" fill="none">
                  <a:moveTo>
                    <a:pt x="19186" y="3344"/>
                  </a:moveTo>
                  <a:cubicBezTo>
                    <a:pt x="19186" y="3328"/>
                    <a:pt x="19187" y="3313"/>
                    <a:pt x="19187" y="3297"/>
                  </a:cubicBezTo>
                  <a:cubicBezTo>
                    <a:pt x="19187" y="3101"/>
                    <a:pt x="19174" y="2905"/>
                    <a:pt x="19148" y="2712"/>
                  </a:cubicBezTo>
                </a:path>
                <a:path w="21600" h="21600" fill="none">
                  <a:moveTo>
                    <a:pt x="14905" y="1165"/>
                  </a:moveTo>
                  <a:cubicBezTo>
                    <a:pt x="14754" y="1408"/>
                    <a:pt x="14629" y="1679"/>
                    <a:pt x="14535" y="1971"/>
                  </a:cubicBezTo>
                </a:path>
                <a:path w="21600" h="21600" fill="none">
                  <a:moveTo>
                    <a:pt x="11221" y="1645"/>
                  </a:moveTo>
                  <a:cubicBezTo>
                    <a:pt x="11140" y="1866"/>
                    <a:pt x="11080" y="2099"/>
                    <a:pt x="11041" y="2340"/>
                  </a:cubicBezTo>
                </a:path>
                <a:path w="21600" h="21600" fill="none">
                  <a:moveTo>
                    <a:pt x="7645" y="3276"/>
                  </a:moveTo>
                  <a:cubicBezTo>
                    <a:pt x="7449" y="3016"/>
                    <a:pt x="7231" y="2790"/>
                    <a:pt x="6995" y="2602"/>
                  </a:cubicBezTo>
                </a:path>
                <a:path w="21600" h="21600" fill="none">
                  <a:moveTo>
                    <a:pt x="1942" y="7186"/>
                  </a:moveTo>
                  <a:cubicBezTo>
                    <a:pt x="1966" y="7426"/>
                    <a:pt x="2004" y="7663"/>
                    <a:pt x="2056" y="7895"/>
                  </a:cubicBezTo>
                </a:path>
              </a:pathLst>
            </a:custGeom>
            <a:solidFill>
              <a:schemeClr val="bg1"/>
            </a:solidFill>
            <a:ln w="9525" cap="flat" cmpd="sng">
              <a:solidFill>
                <a:srgbClr val="000000"/>
              </a:solidFill>
              <a:prstDash val="solid"/>
              <a:miter/>
              <a:headEnd type="none" w="med" len="med"/>
              <a:tailEnd type="none" w="med" len="med"/>
            </a:ln>
            <a:effectLst>
              <a:outerShdw dist="107763" dir="2699999" algn="ctr" rotWithShape="0">
                <a:srgbClr val="808080"/>
              </a:outerShdw>
            </a:effectLst>
          </p:spPr>
          <p:txBody>
            <a:bodyPr/>
            <a:p>
              <a:pPr algn="ctr">
                <a:spcBef>
                  <a:spcPct val="20000"/>
                </a:spcBef>
                <a:buFont typeface="Arial" panose="020B0604020202090204" pitchFamily="34" charset="0"/>
                <a:buNone/>
              </a:pPr>
              <a:r>
                <a:rPr lang="zh-CN" altLang="en-US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公共</a:t>
              </a:r>
              <a:r>
                <a:rPr lang="en-US" altLang="zh-CN" dirty="0">
                  <a:solidFill>
                    <a:schemeClr val="accent2"/>
                  </a:solidFill>
                  <a:latin typeface="Times New Roman" panose="02020603050405020304" pitchFamily="18" charset="0"/>
                  <a:ea typeface="楷体_GB2312" pitchFamily="49" charset="-122"/>
                </a:rPr>
                <a:t>Internet</a:t>
              </a:r>
              <a:endParaRPr lang="en-US" altLang="zh-CN" dirty="0">
                <a:solidFill>
                  <a:schemeClr val="accent2"/>
                </a:solidFill>
                <a:latin typeface="Times New Roman" panose="02020603050405020304" pitchFamily="18" charset="0"/>
                <a:ea typeface="楷体_GB2312" pitchFamily="49" charset="-122"/>
              </a:endParaRPr>
            </a:p>
          </p:txBody>
        </p:sp>
        <p:sp>
          <p:nvSpPr>
            <p:cNvPr id="22551" name="Line 31"/>
            <p:cNvSpPr/>
            <p:nvPr/>
          </p:nvSpPr>
          <p:spPr>
            <a:xfrm>
              <a:off x="6411" y="4470"/>
              <a:ext cx="0" cy="3413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triangle" w="med" len="lg"/>
              <a:tailEnd type="none" w="med" len="med"/>
            </a:ln>
            <a:effectLst>
              <a:prstShdw prst="shdw17" dist="17961" dir="13499999">
                <a:srgbClr val="990000"/>
              </a:prstShdw>
            </a:effectLst>
          </p:spPr>
        </p:sp>
        <p:sp>
          <p:nvSpPr>
            <p:cNvPr id="22552" name="Line 32"/>
            <p:cNvSpPr/>
            <p:nvPr/>
          </p:nvSpPr>
          <p:spPr>
            <a:xfrm>
              <a:off x="5593" y="4525"/>
              <a:ext cx="58" cy="1961"/>
            </a:xfrm>
            <a:prstGeom prst="line">
              <a:avLst/>
            </a:prstGeom>
            <a:ln w="9525" cap="flat" cmpd="sng">
              <a:solidFill>
                <a:srgbClr val="FF0000"/>
              </a:solidFill>
              <a:prstDash val="solid"/>
              <a:headEnd type="none" w="med" len="med"/>
              <a:tailEnd type="triangle" w="med" len="lg"/>
            </a:ln>
            <a:effectLst>
              <a:prstShdw prst="shdw17" dist="17961" dir="13499999">
                <a:srgbClr val="990000"/>
              </a:prstShdw>
            </a:effectLst>
          </p:spPr>
        </p:sp>
        <p:sp>
          <p:nvSpPr>
            <p:cNvPr id="22553" name="Rectangle 33"/>
            <p:cNvSpPr/>
            <p:nvPr/>
          </p:nvSpPr>
          <p:spPr>
            <a:xfrm>
              <a:off x="288" y="3223"/>
              <a:ext cx="10772" cy="3034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/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endParaRPr lang="zh-CN" altLang="zh-CN" sz="200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2554" name="Rectangle 34"/>
            <p:cNvSpPr/>
            <p:nvPr/>
          </p:nvSpPr>
          <p:spPr>
            <a:xfrm>
              <a:off x="401" y="6058"/>
              <a:ext cx="7030" cy="3791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lIns="90000" tIns="46800" rIns="90000" bIns="46800" anchor="ctr"/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endParaRPr lang="zh-CN" altLang="zh-CN" sz="200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</p:grpSp>
      <p:sp>
        <p:nvSpPr>
          <p:cNvPr id="44" name="矩形 43"/>
          <p:cNvSpPr/>
          <p:nvPr/>
        </p:nvSpPr>
        <p:spPr>
          <a:xfrm>
            <a:off x="2981167" y="333375"/>
            <a:ext cx="3230880" cy="7067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其它安全</a:t>
            </a:r>
            <a:r>
              <a:rPr kumimoji="1" lang="zh-CN" altLang="zh-CN" sz="40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j-cs"/>
              </a:rPr>
              <a:t>威胁</a:t>
            </a:r>
            <a:endParaRPr kumimoji="1" lang="zh-CN" altLang="en-US" sz="40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j-cs"/>
            </a:endParaRPr>
          </a:p>
        </p:txBody>
      </p:sp>
      <p:sp>
        <p:nvSpPr>
          <p:cNvPr id="5" name="Text Box 25"/>
          <p:cNvSpPr txBox="1"/>
          <p:nvPr/>
        </p:nvSpPr>
        <p:spPr>
          <a:xfrm>
            <a:off x="1151890" y="6234430"/>
            <a:ext cx="5372735" cy="46037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algn="ctr" eaLnBrk="0" hangingPunct="0">
              <a:buFont typeface="Arial" panose="020B0604020202090204" pitchFamily="34" charset="0"/>
              <a:buNone/>
            </a:pP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对称加密</a:t>
            </a:r>
            <a:r>
              <a:rPr lang="zh-CN" altLang="en-US" b="0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可解决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偷看，篡改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</a:rPr>
              <a:t>问题</a:t>
            </a:r>
            <a:endParaRPr lang="zh-CN" altLang="en-US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63490" name="Group 9"/>
          <p:cNvGrpSpPr/>
          <p:nvPr/>
        </p:nvGrpSpPr>
        <p:grpSpPr>
          <a:xfrm>
            <a:off x="4859338" y="3644900"/>
            <a:ext cx="865187" cy="730250"/>
            <a:chOff x="0" y="0"/>
            <a:chExt cx="777" cy="649"/>
          </a:xfrm>
        </p:grpSpPr>
        <p:grpSp>
          <p:nvGrpSpPr>
            <p:cNvPr id="63520" name="Group 10"/>
            <p:cNvGrpSpPr/>
            <p:nvPr/>
          </p:nvGrpSpPr>
          <p:grpSpPr>
            <a:xfrm>
              <a:off x="673" y="381"/>
              <a:ext cx="59" cy="147"/>
              <a:chOff x="0" y="0"/>
              <a:chExt cx="59" cy="147"/>
            </a:xfrm>
          </p:grpSpPr>
          <p:sp>
            <p:nvSpPr>
              <p:cNvPr id="63528" name="未知"/>
              <p:cNvSpPr/>
              <p:nvPr/>
            </p:nvSpPr>
            <p:spPr>
              <a:xfrm>
                <a:off x="2" y="5"/>
                <a:ext cx="57" cy="142"/>
              </a:xfrm>
              <a:custGeom>
                <a:avLst/>
                <a:gdLst>
                  <a:gd name="txL" fmla="*/ 0 w 57"/>
                  <a:gd name="txT" fmla="*/ 0 h 142"/>
                  <a:gd name="txR" fmla="*/ 57 w 57"/>
                  <a:gd name="txB" fmla="*/ 142 h 142"/>
                </a:gdLst>
                <a:ahLst/>
                <a:cxnLst>
                  <a:cxn ang="0">
                    <a:pos x="0" y="0"/>
                  </a:cxn>
                  <a:cxn ang="0">
                    <a:pos x="2" y="9"/>
                  </a:cxn>
                  <a:cxn ang="0">
                    <a:pos x="5" y="17"/>
                  </a:cxn>
                  <a:cxn ang="0">
                    <a:pos x="10" y="23"/>
                  </a:cxn>
                  <a:cxn ang="0">
                    <a:pos x="17" y="27"/>
                  </a:cxn>
                  <a:cxn ang="0">
                    <a:pos x="26" y="30"/>
                  </a:cxn>
                  <a:cxn ang="0">
                    <a:pos x="33" y="35"/>
                  </a:cxn>
                  <a:cxn ang="0">
                    <a:pos x="39" y="43"/>
                  </a:cxn>
                  <a:cxn ang="0">
                    <a:pos x="45" y="54"/>
                  </a:cxn>
                  <a:cxn ang="0">
                    <a:pos x="47" y="63"/>
                  </a:cxn>
                  <a:cxn ang="0">
                    <a:pos x="46" y="71"/>
                  </a:cxn>
                  <a:cxn ang="0">
                    <a:pos x="39" y="77"/>
                  </a:cxn>
                  <a:cxn ang="0">
                    <a:pos x="34" y="83"/>
                  </a:cxn>
                  <a:cxn ang="0">
                    <a:pos x="30" y="90"/>
                  </a:cxn>
                  <a:cxn ang="0">
                    <a:pos x="26" y="98"/>
                  </a:cxn>
                  <a:cxn ang="0">
                    <a:pos x="26" y="107"/>
                  </a:cxn>
                  <a:cxn ang="0">
                    <a:pos x="28" y="116"/>
                  </a:cxn>
                  <a:cxn ang="0">
                    <a:pos x="32" y="122"/>
                  </a:cxn>
                  <a:cxn ang="0">
                    <a:pos x="40" y="130"/>
                  </a:cxn>
                  <a:cxn ang="0">
                    <a:pos x="47" y="135"/>
                  </a:cxn>
                  <a:cxn ang="0">
                    <a:pos x="56" y="141"/>
                  </a:cxn>
                </a:cxnLst>
                <a:rect l="txL" t="txT" r="txR" b="txB"/>
                <a:pathLst>
                  <a:path w="57" h="142">
                    <a:moveTo>
                      <a:pt x="0" y="0"/>
                    </a:moveTo>
                    <a:lnTo>
                      <a:pt x="2" y="9"/>
                    </a:lnTo>
                    <a:lnTo>
                      <a:pt x="5" y="17"/>
                    </a:lnTo>
                    <a:lnTo>
                      <a:pt x="10" y="23"/>
                    </a:lnTo>
                    <a:lnTo>
                      <a:pt x="17" y="27"/>
                    </a:lnTo>
                    <a:lnTo>
                      <a:pt x="26" y="30"/>
                    </a:lnTo>
                    <a:lnTo>
                      <a:pt x="33" y="35"/>
                    </a:lnTo>
                    <a:lnTo>
                      <a:pt x="39" y="43"/>
                    </a:lnTo>
                    <a:lnTo>
                      <a:pt x="45" y="54"/>
                    </a:lnTo>
                    <a:lnTo>
                      <a:pt x="47" y="63"/>
                    </a:lnTo>
                    <a:lnTo>
                      <a:pt x="46" y="71"/>
                    </a:lnTo>
                    <a:lnTo>
                      <a:pt x="39" y="77"/>
                    </a:lnTo>
                    <a:lnTo>
                      <a:pt x="34" y="83"/>
                    </a:lnTo>
                    <a:lnTo>
                      <a:pt x="30" y="90"/>
                    </a:lnTo>
                    <a:lnTo>
                      <a:pt x="26" y="98"/>
                    </a:lnTo>
                    <a:lnTo>
                      <a:pt x="26" y="107"/>
                    </a:lnTo>
                    <a:lnTo>
                      <a:pt x="28" y="116"/>
                    </a:lnTo>
                    <a:lnTo>
                      <a:pt x="32" y="122"/>
                    </a:lnTo>
                    <a:lnTo>
                      <a:pt x="40" y="130"/>
                    </a:lnTo>
                    <a:lnTo>
                      <a:pt x="47" y="135"/>
                    </a:lnTo>
                    <a:lnTo>
                      <a:pt x="56" y="141"/>
                    </a:lnTo>
                  </a:path>
                </a:pathLst>
              </a:custGeom>
              <a:solidFill>
                <a:srgbClr val="333333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3529" name="Oval 12"/>
              <p:cNvSpPr/>
              <p:nvPr/>
            </p:nvSpPr>
            <p:spPr>
              <a:xfrm flipH="1" flipV="1">
                <a:off x="0" y="0"/>
                <a:ext cx="1" cy="3"/>
              </a:xfrm>
              <a:prstGeom prst="ellipse">
                <a:avLst/>
              </a:prstGeom>
              <a:solidFill>
                <a:srgbClr val="333333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rot="10800000"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sp>
          <p:nvSpPr>
            <p:cNvPr id="63521" name="未知"/>
            <p:cNvSpPr/>
            <p:nvPr/>
          </p:nvSpPr>
          <p:spPr>
            <a:xfrm>
              <a:off x="401" y="84"/>
              <a:ext cx="376" cy="338"/>
            </a:xfrm>
            <a:custGeom>
              <a:avLst/>
              <a:gdLst>
                <a:gd name="txL" fmla="*/ 0 w 376"/>
                <a:gd name="txT" fmla="*/ 0 h 338"/>
                <a:gd name="txR" fmla="*/ 376 w 376"/>
                <a:gd name="txB" fmla="*/ 338 h 338"/>
              </a:gdLst>
              <a:ahLst/>
              <a:cxnLst>
                <a:cxn ang="0">
                  <a:pos x="71" y="68"/>
                </a:cxn>
                <a:cxn ang="0">
                  <a:pos x="79" y="45"/>
                </a:cxn>
                <a:cxn ang="0">
                  <a:pos x="86" y="31"/>
                </a:cxn>
                <a:cxn ang="0">
                  <a:pos x="87" y="26"/>
                </a:cxn>
                <a:cxn ang="0">
                  <a:pos x="91" y="23"/>
                </a:cxn>
                <a:cxn ang="0">
                  <a:pos x="93" y="20"/>
                </a:cxn>
                <a:cxn ang="0">
                  <a:pos x="97" y="20"/>
                </a:cxn>
                <a:cxn ang="0">
                  <a:pos x="144" y="11"/>
                </a:cxn>
                <a:cxn ang="0">
                  <a:pos x="195" y="3"/>
                </a:cxn>
                <a:cxn ang="0">
                  <a:pos x="241" y="0"/>
                </a:cxn>
                <a:cxn ang="0">
                  <a:pos x="267" y="0"/>
                </a:cxn>
                <a:cxn ang="0">
                  <a:pos x="322" y="3"/>
                </a:cxn>
                <a:cxn ang="0">
                  <a:pos x="362" y="5"/>
                </a:cxn>
                <a:cxn ang="0">
                  <a:pos x="367" y="5"/>
                </a:cxn>
                <a:cxn ang="0">
                  <a:pos x="371" y="6"/>
                </a:cxn>
                <a:cxn ang="0">
                  <a:pos x="373" y="8"/>
                </a:cxn>
                <a:cxn ang="0">
                  <a:pos x="375" y="10"/>
                </a:cxn>
                <a:cxn ang="0">
                  <a:pos x="375" y="13"/>
                </a:cxn>
                <a:cxn ang="0">
                  <a:pos x="373" y="23"/>
                </a:cxn>
                <a:cxn ang="0">
                  <a:pos x="366" y="53"/>
                </a:cxn>
                <a:cxn ang="0">
                  <a:pos x="359" y="76"/>
                </a:cxn>
                <a:cxn ang="0">
                  <a:pos x="347" y="126"/>
                </a:cxn>
                <a:cxn ang="0">
                  <a:pos x="339" y="158"/>
                </a:cxn>
                <a:cxn ang="0">
                  <a:pos x="317" y="231"/>
                </a:cxn>
                <a:cxn ang="0">
                  <a:pos x="295" y="291"/>
                </a:cxn>
                <a:cxn ang="0">
                  <a:pos x="291" y="302"/>
                </a:cxn>
                <a:cxn ang="0">
                  <a:pos x="289" y="308"/>
                </a:cxn>
                <a:cxn ang="0">
                  <a:pos x="286" y="314"/>
                </a:cxn>
                <a:cxn ang="0">
                  <a:pos x="284" y="318"/>
                </a:cxn>
                <a:cxn ang="0">
                  <a:pos x="280" y="322"/>
                </a:cxn>
                <a:cxn ang="0">
                  <a:pos x="276" y="324"/>
                </a:cxn>
                <a:cxn ang="0">
                  <a:pos x="270" y="325"/>
                </a:cxn>
                <a:cxn ang="0">
                  <a:pos x="256" y="326"/>
                </a:cxn>
                <a:cxn ang="0">
                  <a:pos x="235" y="326"/>
                </a:cxn>
                <a:cxn ang="0">
                  <a:pos x="217" y="328"/>
                </a:cxn>
                <a:cxn ang="0">
                  <a:pos x="193" y="332"/>
                </a:cxn>
                <a:cxn ang="0">
                  <a:pos x="169" y="335"/>
                </a:cxn>
                <a:cxn ang="0">
                  <a:pos x="153" y="337"/>
                </a:cxn>
                <a:cxn ang="0">
                  <a:pos x="132" y="337"/>
                </a:cxn>
                <a:cxn ang="0">
                  <a:pos x="127" y="335"/>
                </a:cxn>
                <a:cxn ang="0">
                  <a:pos x="12" y="267"/>
                </a:cxn>
                <a:cxn ang="0">
                  <a:pos x="6" y="263"/>
                </a:cxn>
                <a:cxn ang="0">
                  <a:pos x="2" y="259"/>
                </a:cxn>
                <a:cxn ang="0">
                  <a:pos x="0" y="254"/>
                </a:cxn>
                <a:cxn ang="0">
                  <a:pos x="0" y="248"/>
                </a:cxn>
                <a:cxn ang="0">
                  <a:pos x="2" y="242"/>
                </a:cxn>
                <a:cxn ang="0">
                  <a:pos x="35" y="159"/>
                </a:cxn>
                <a:cxn ang="0">
                  <a:pos x="56" y="107"/>
                </a:cxn>
                <a:cxn ang="0">
                  <a:pos x="71" y="68"/>
                </a:cxn>
              </a:cxnLst>
              <a:rect l="txL" t="txT" r="txR" b="txB"/>
              <a:pathLst>
                <a:path w="376" h="338">
                  <a:moveTo>
                    <a:pt x="71" y="68"/>
                  </a:moveTo>
                  <a:lnTo>
                    <a:pt x="79" y="45"/>
                  </a:lnTo>
                  <a:lnTo>
                    <a:pt x="86" y="31"/>
                  </a:lnTo>
                  <a:lnTo>
                    <a:pt x="87" y="26"/>
                  </a:lnTo>
                  <a:lnTo>
                    <a:pt x="91" y="23"/>
                  </a:lnTo>
                  <a:lnTo>
                    <a:pt x="93" y="20"/>
                  </a:lnTo>
                  <a:lnTo>
                    <a:pt x="97" y="20"/>
                  </a:lnTo>
                  <a:lnTo>
                    <a:pt x="144" y="11"/>
                  </a:lnTo>
                  <a:lnTo>
                    <a:pt x="195" y="3"/>
                  </a:lnTo>
                  <a:lnTo>
                    <a:pt x="241" y="0"/>
                  </a:lnTo>
                  <a:lnTo>
                    <a:pt x="267" y="0"/>
                  </a:lnTo>
                  <a:lnTo>
                    <a:pt x="322" y="3"/>
                  </a:lnTo>
                  <a:lnTo>
                    <a:pt x="362" y="5"/>
                  </a:lnTo>
                  <a:lnTo>
                    <a:pt x="367" y="5"/>
                  </a:lnTo>
                  <a:lnTo>
                    <a:pt x="371" y="6"/>
                  </a:lnTo>
                  <a:lnTo>
                    <a:pt x="373" y="8"/>
                  </a:lnTo>
                  <a:lnTo>
                    <a:pt x="375" y="10"/>
                  </a:lnTo>
                  <a:lnTo>
                    <a:pt x="375" y="13"/>
                  </a:lnTo>
                  <a:lnTo>
                    <a:pt x="373" y="23"/>
                  </a:lnTo>
                  <a:lnTo>
                    <a:pt x="366" y="53"/>
                  </a:lnTo>
                  <a:lnTo>
                    <a:pt x="359" y="76"/>
                  </a:lnTo>
                  <a:lnTo>
                    <a:pt x="347" y="126"/>
                  </a:lnTo>
                  <a:lnTo>
                    <a:pt x="339" y="158"/>
                  </a:lnTo>
                  <a:lnTo>
                    <a:pt x="317" y="231"/>
                  </a:lnTo>
                  <a:lnTo>
                    <a:pt x="295" y="291"/>
                  </a:lnTo>
                  <a:lnTo>
                    <a:pt x="291" y="302"/>
                  </a:lnTo>
                  <a:lnTo>
                    <a:pt x="289" y="308"/>
                  </a:lnTo>
                  <a:lnTo>
                    <a:pt x="286" y="314"/>
                  </a:lnTo>
                  <a:lnTo>
                    <a:pt x="284" y="318"/>
                  </a:lnTo>
                  <a:lnTo>
                    <a:pt x="280" y="322"/>
                  </a:lnTo>
                  <a:lnTo>
                    <a:pt x="276" y="324"/>
                  </a:lnTo>
                  <a:lnTo>
                    <a:pt x="270" y="325"/>
                  </a:lnTo>
                  <a:lnTo>
                    <a:pt x="256" y="326"/>
                  </a:lnTo>
                  <a:lnTo>
                    <a:pt x="235" y="326"/>
                  </a:lnTo>
                  <a:lnTo>
                    <a:pt x="217" y="328"/>
                  </a:lnTo>
                  <a:lnTo>
                    <a:pt x="193" y="332"/>
                  </a:lnTo>
                  <a:lnTo>
                    <a:pt x="169" y="335"/>
                  </a:lnTo>
                  <a:lnTo>
                    <a:pt x="153" y="337"/>
                  </a:lnTo>
                  <a:lnTo>
                    <a:pt x="132" y="337"/>
                  </a:lnTo>
                  <a:lnTo>
                    <a:pt x="127" y="335"/>
                  </a:lnTo>
                  <a:lnTo>
                    <a:pt x="12" y="267"/>
                  </a:lnTo>
                  <a:lnTo>
                    <a:pt x="6" y="263"/>
                  </a:lnTo>
                  <a:lnTo>
                    <a:pt x="2" y="259"/>
                  </a:lnTo>
                  <a:lnTo>
                    <a:pt x="0" y="254"/>
                  </a:lnTo>
                  <a:lnTo>
                    <a:pt x="0" y="248"/>
                  </a:lnTo>
                  <a:lnTo>
                    <a:pt x="2" y="242"/>
                  </a:lnTo>
                  <a:lnTo>
                    <a:pt x="35" y="159"/>
                  </a:lnTo>
                  <a:lnTo>
                    <a:pt x="56" y="107"/>
                  </a:lnTo>
                  <a:lnTo>
                    <a:pt x="71" y="68"/>
                  </a:lnTo>
                </a:path>
              </a:pathLst>
            </a:custGeom>
            <a:solidFill>
              <a:srgbClr val="333333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3522" name="未知"/>
            <p:cNvSpPr/>
            <p:nvPr/>
          </p:nvSpPr>
          <p:spPr>
            <a:xfrm>
              <a:off x="275" y="352"/>
              <a:ext cx="401" cy="297"/>
            </a:xfrm>
            <a:custGeom>
              <a:avLst/>
              <a:gdLst>
                <a:gd name="txL" fmla="*/ 0 w 401"/>
                <a:gd name="txT" fmla="*/ 0 h 297"/>
                <a:gd name="txR" fmla="*/ 401 w 401"/>
                <a:gd name="txB" fmla="*/ 297 h 297"/>
              </a:gdLst>
              <a:ahLst/>
              <a:cxnLst>
                <a:cxn ang="0">
                  <a:pos x="400" y="295"/>
                </a:cxn>
                <a:cxn ang="0">
                  <a:pos x="400" y="142"/>
                </a:cxn>
                <a:cxn ang="0">
                  <a:pos x="395" y="20"/>
                </a:cxn>
                <a:cxn ang="0">
                  <a:pos x="191" y="0"/>
                </a:cxn>
                <a:cxn ang="0">
                  <a:pos x="6" y="18"/>
                </a:cxn>
                <a:cxn ang="0">
                  <a:pos x="5" y="61"/>
                </a:cxn>
                <a:cxn ang="0">
                  <a:pos x="0" y="294"/>
                </a:cxn>
                <a:cxn ang="0">
                  <a:pos x="41" y="294"/>
                </a:cxn>
                <a:cxn ang="0">
                  <a:pos x="41" y="83"/>
                </a:cxn>
                <a:cxn ang="0">
                  <a:pos x="121" y="78"/>
                </a:cxn>
                <a:cxn ang="0">
                  <a:pos x="363" y="78"/>
                </a:cxn>
                <a:cxn ang="0">
                  <a:pos x="366" y="296"/>
                </a:cxn>
                <a:cxn ang="0">
                  <a:pos x="400" y="295"/>
                </a:cxn>
              </a:cxnLst>
              <a:rect l="txL" t="txT" r="txR" b="txB"/>
              <a:pathLst>
                <a:path w="401" h="297">
                  <a:moveTo>
                    <a:pt x="400" y="295"/>
                  </a:moveTo>
                  <a:lnTo>
                    <a:pt x="400" y="142"/>
                  </a:lnTo>
                  <a:lnTo>
                    <a:pt x="395" y="20"/>
                  </a:lnTo>
                  <a:lnTo>
                    <a:pt x="191" y="0"/>
                  </a:lnTo>
                  <a:lnTo>
                    <a:pt x="6" y="18"/>
                  </a:lnTo>
                  <a:lnTo>
                    <a:pt x="5" y="61"/>
                  </a:lnTo>
                  <a:lnTo>
                    <a:pt x="0" y="294"/>
                  </a:lnTo>
                  <a:lnTo>
                    <a:pt x="41" y="294"/>
                  </a:lnTo>
                  <a:lnTo>
                    <a:pt x="41" y="83"/>
                  </a:lnTo>
                  <a:lnTo>
                    <a:pt x="121" y="78"/>
                  </a:lnTo>
                  <a:lnTo>
                    <a:pt x="363" y="78"/>
                  </a:lnTo>
                  <a:lnTo>
                    <a:pt x="366" y="296"/>
                  </a:lnTo>
                  <a:lnTo>
                    <a:pt x="400" y="295"/>
                  </a:lnTo>
                </a:path>
              </a:pathLst>
            </a:custGeom>
            <a:solidFill>
              <a:srgbClr val="333333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3523" name="未知"/>
            <p:cNvSpPr/>
            <p:nvPr/>
          </p:nvSpPr>
          <p:spPr>
            <a:xfrm>
              <a:off x="304" y="350"/>
              <a:ext cx="158" cy="76"/>
            </a:xfrm>
            <a:custGeom>
              <a:avLst/>
              <a:gdLst>
                <a:gd name="txL" fmla="*/ 0 w 158"/>
                <a:gd name="txT" fmla="*/ 0 h 76"/>
                <a:gd name="txR" fmla="*/ 158 w 158"/>
                <a:gd name="txB" fmla="*/ 76 h 76"/>
              </a:gdLst>
              <a:ahLst/>
              <a:cxnLst>
                <a:cxn ang="0">
                  <a:pos x="30" y="14"/>
                </a:cxn>
                <a:cxn ang="0">
                  <a:pos x="50" y="12"/>
                </a:cxn>
                <a:cxn ang="0">
                  <a:pos x="70" y="0"/>
                </a:cxn>
                <a:cxn ang="0">
                  <a:pos x="89" y="17"/>
                </a:cxn>
                <a:cxn ang="0">
                  <a:pos x="153" y="52"/>
                </a:cxn>
                <a:cxn ang="0">
                  <a:pos x="157" y="64"/>
                </a:cxn>
                <a:cxn ang="0">
                  <a:pos x="121" y="75"/>
                </a:cxn>
                <a:cxn ang="0">
                  <a:pos x="0" y="23"/>
                </a:cxn>
                <a:cxn ang="0">
                  <a:pos x="30" y="14"/>
                </a:cxn>
              </a:cxnLst>
              <a:rect l="txL" t="txT" r="txR" b="txB"/>
              <a:pathLst>
                <a:path w="158" h="76">
                  <a:moveTo>
                    <a:pt x="30" y="14"/>
                  </a:moveTo>
                  <a:lnTo>
                    <a:pt x="50" y="12"/>
                  </a:lnTo>
                  <a:lnTo>
                    <a:pt x="70" y="0"/>
                  </a:lnTo>
                  <a:lnTo>
                    <a:pt x="89" y="17"/>
                  </a:lnTo>
                  <a:lnTo>
                    <a:pt x="153" y="52"/>
                  </a:lnTo>
                  <a:lnTo>
                    <a:pt x="157" y="64"/>
                  </a:lnTo>
                  <a:lnTo>
                    <a:pt x="121" y="75"/>
                  </a:lnTo>
                  <a:lnTo>
                    <a:pt x="0" y="23"/>
                  </a:lnTo>
                  <a:lnTo>
                    <a:pt x="30" y="14"/>
                  </a:lnTo>
                </a:path>
              </a:pathLst>
            </a:custGeom>
            <a:solidFill>
              <a:srgbClr val="333333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3524" name="未知"/>
            <p:cNvSpPr/>
            <p:nvPr/>
          </p:nvSpPr>
          <p:spPr>
            <a:xfrm>
              <a:off x="438" y="108"/>
              <a:ext cx="211" cy="235"/>
            </a:xfrm>
            <a:custGeom>
              <a:avLst/>
              <a:gdLst>
                <a:gd name="txL" fmla="*/ 0 w 211"/>
                <a:gd name="txT" fmla="*/ 0 h 235"/>
                <a:gd name="txR" fmla="*/ 211 w 211"/>
                <a:gd name="txB" fmla="*/ 235 h 235"/>
              </a:gdLst>
              <a:ahLst/>
              <a:cxnLst>
                <a:cxn ang="0">
                  <a:pos x="47" y="69"/>
                </a:cxn>
                <a:cxn ang="0">
                  <a:pos x="63" y="36"/>
                </a:cxn>
                <a:cxn ang="0">
                  <a:pos x="76" y="6"/>
                </a:cxn>
                <a:cxn ang="0">
                  <a:pos x="79" y="5"/>
                </a:cxn>
                <a:cxn ang="0">
                  <a:pos x="81" y="4"/>
                </a:cxn>
                <a:cxn ang="0">
                  <a:pos x="85" y="4"/>
                </a:cxn>
                <a:cxn ang="0">
                  <a:pos x="145" y="0"/>
                </a:cxn>
                <a:cxn ang="0">
                  <a:pos x="203" y="0"/>
                </a:cxn>
                <a:cxn ang="0">
                  <a:pos x="207" y="1"/>
                </a:cxn>
                <a:cxn ang="0">
                  <a:pos x="209" y="1"/>
                </a:cxn>
                <a:cxn ang="0">
                  <a:pos x="210" y="4"/>
                </a:cxn>
                <a:cxn ang="0">
                  <a:pos x="206" y="25"/>
                </a:cxn>
                <a:cxn ang="0">
                  <a:pos x="196" y="44"/>
                </a:cxn>
                <a:cxn ang="0">
                  <a:pos x="180" y="77"/>
                </a:cxn>
                <a:cxn ang="0">
                  <a:pos x="151" y="135"/>
                </a:cxn>
                <a:cxn ang="0">
                  <a:pos x="125" y="185"/>
                </a:cxn>
                <a:cxn ang="0">
                  <a:pos x="118" y="204"/>
                </a:cxn>
                <a:cxn ang="0">
                  <a:pos x="114" y="217"/>
                </a:cxn>
                <a:cxn ang="0">
                  <a:pos x="110" y="224"/>
                </a:cxn>
                <a:cxn ang="0">
                  <a:pos x="106" y="230"/>
                </a:cxn>
                <a:cxn ang="0">
                  <a:pos x="103" y="232"/>
                </a:cxn>
                <a:cxn ang="0">
                  <a:pos x="101" y="233"/>
                </a:cxn>
                <a:cxn ang="0">
                  <a:pos x="97" y="234"/>
                </a:cxn>
                <a:cxn ang="0">
                  <a:pos x="94" y="233"/>
                </a:cxn>
                <a:cxn ang="0">
                  <a:pos x="88" y="230"/>
                </a:cxn>
                <a:cxn ang="0">
                  <a:pos x="82" y="226"/>
                </a:cxn>
                <a:cxn ang="0">
                  <a:pos x="76" y="221"/>
                </a:cxn>
                <a:cxn ang="0">
                  <a:pos x="68" y="217"/>
                </a:cxn>
                <a:cxn ang="0">
                  <a:pos x="62" y="213"/>
                </a:cxn>
                <a:cxn ang="0">
                  <a:pos x="2" y="192"/>
                </a:cxn>
                <a:cxn ang="0">
                  <a:pos x="1" y="191"/>
                </a:cxn>
                <a:cxn ang="0">
                  <a:pos x="0" y="189"/>
                </a:cxn>
                <a:cxn ang="0">
                  <a:pos x="0" y="186"/>
                </a:cxn>
                <a:cxn ang="0">
                  <a:pos x="1" y="183"/>
                </a:cxn>
                <a:cxn ang="0">
                  <a:pos x="47" y="69"/>
                </a:cxn>
              </a:cxnLst>
              <a:rect l="txL" t="txT" r="txR" b="txB"/>
              <a:pathLst>
                <a:path w="211" h="235">
                  <a:moveTo>
                    <a:pt x="47" y="69"/>
                  </a:moveTo>
                  <a:lnTo>
                    <a:pt x="63" y="36"/>
                  </a:lnTo>
                  <a:lnTo>
                    <a:pt x="76" y="6"/>
                  </a:lnTo>
                  <a:lnTo>
                    <a:pt x="79" y="5"/>
                  </a:lnTo>
                  <a:lnTo>
                    <a:pt x="81" y="4"/>
                  </a:lnTo>
                  <a:lnTo>
                    <a:pt x="85" y="4"/>
                  </a:lnTo>
                  <a:lnTo>
                    <a:pt x="145" y="0"/>
                  </a:lnTo>
                  <a:lnTo>
                    <a:pt x="203" y="0"/>
                  </a:lnTo>
                  <a:lnTo>
                    <a:pt x="207" y="1"/>
                  </a:lnTo>
                  <a:lnTo>
                    <a:pt x="209" y="1"/>
                  </a:lnTo>
                  <a:lnTo>
                    <a:pt x="210" y="4"/>
                  </a:lnTo>
                  <a:lnTo>
                    <a:pt x="206" y="25"/>
                  </a:lnTo>
                  <a:lnTo>
                    <a:pt x="196" y="44"/>
                  </a:lnTo>
                  <a:lnTo>
                    <a:pt x="180" y="77"/>
                  </a:lnTo>
                  <a:lnTo>
                    <a:pt x="151" y="135"/>
                  </a:lnTo>
                  <a:lnTo>
                    <a:pt x="125" y="185"/>
                  </a:lnTo>
                  <a:lnTo>
                    <a:pt x="118" y="204"/>
                  </a:lnTo>
                  <a:lnTo>
                    <a:pt x="114" y="217"/>
                  </a:lnTo>
                  <a:lnTo>
                    <a:pt x="110" y="224"/>
                  </a:lnTo>
                  <a:lnTo>
                    <a:pt x="106" y="230"/>
                  </a:lnTo>
                  <a:lnTo>
                    <a:pt x="103" y="232"/>
                  </a:lnTo>
                  <a:lnTo>
                    <a:pt x="101" y="233"/>
                  </a:lnTo>
                  <a:lnTo>
                    <a:pt x="97" y="234"/>
                  </a:lnTo>
                  <a:lnTo>
                    <a:pt x="94" y="233"/>
                  </a:lnTo>
                  <a:lnTo>
                    <a:pt x="88" y="230"/>
                  </a:lnTo>
                  <a:lnTo>
                    <a:pt x="82" y="226"/>
                  </a:lnTo>
                  <a:lnTo>
                    <a:pt x="76" y="221"/>
                  </a:lnTo>
                  <a:lnTo>
                    <a:pt x="68" y="217"/>
                  </a:lnTo>
                  <a:lnTo>
                    <a:pt x="62" y="213"/>
                  </a:lnTo>
                  <a:lnTo>
                    <a:pt x="2" y="192"/>
                  </a:lnTo>
                  <a:lnTo>
                    <a:pt x="1" y="191"/>
                  </a:lnTo>
                  <a:lnTo>
                    <a:pt x="0" y="189"/>
                  </a:lnTo>
                  <a:lnTo>
                    <a:pt x="0" y="186"/>
                  </a:lnTo>
                  <a:lnTo>
                    <a:pt x="1" y="183"/>
                  </a:lnTo>
                  <a:lnTo>
                    <a:pt x="47" y="69"/>
                  </a:lnTo>
                </a:path>
              </a:pathLst>
            </a:custGeom>
            <a:solidFill>
              <a:srgbClr val="333333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3525" name="未知"/>
            <p:cNvSpPr/>
            <p:nvPr/>
          </p:nvSpPr>
          <p:spPr>
            <a:xfrm>
              <a:off x="0" y="289"/>
              <a:ext cx="249" cy="351"/>
            </a:xfrm>
            <a:custGeom>
              <a:avLst/>
              <a:gdLst>
                <a:gd name="txL" fmla="*/ 0 w 249"/>
                <a:gd name="txT" fmla="*/ 0 h 351"/>
                <a:gd name="txR" fmla="*/ 249 w 249"/>
                <a:gd name="txB" fmla="*/ 351 h 351"/>
              </a:gdLst>
              <a:ahLst/>
              <a:cxnLst>
                <a:cxn ang="0">
                  <a:pos x="248" y="165"/>
                </a:cxn>
                <a:cxn ang="0">
                  <a:pos x="178" y="129"/>
                </a:cxn>
                <a:cxn ang="0">
                  <a:pos x="100" y="6"/>
                </a:cxn>
                <a:cxn ang="0">
                  <a:pos x="97" y="5"/>
                </a:cxn>
                <a:cxn ang="0">
                  <a:pos x="91" y="2"/>
                </a:cxn>
                <a:cxn ang="0">
                  <a:pos x="85" y="1"/>
                </a:cxn>
                <a:cxn ang="0">
                  <a:pos x="76" y="0"/>
                </a:cxn>
                <a:cxn ang="0">
                  <a:pos x="69" y="1"/>
                </a:cxn>
                <a:cxn ang="0">
                  <a:pos x="61" y="3"/>
                </a:cxn>
                <a:cxn ang="0">
                  <a:pos x="53" y="6"/>
                </a:cxn>
                <a:cxn ang="0">
                  <a:pos x="42" y="12"/>
                </a:cxn>
                <a:cxn ang="0">
                  <a:pos x="34" y="16"/>
                </a:cxn>
                <a:cxn ang="0">
                  <a:pos x="26" y="21"/>
                </a:cxn>
                <a:cxn ang="0">
                  <a:pos x="20" y="27"/>
                </a:cxn>
                <a:cxn ang="0">
                  <a:pos x="15" y="32"/>
                </a:cxn>
                <a:cxn ang="0">
                  <a:pos x="8" y="41"/>
                </a:cxn>
                <a:cxn ang="0">
                  <a:pos x="4" y="47"/>
                </a:cxn>
                <a:cxn ang="0">
                  <a:pos x="1" y="56"/>
                </a:cxn>
                <a:cxn ang="0">
                  <a:pos x="0" y="66"/>
                </a:cxn>
                <a:cxn ang="0">
                  <a:pos x="0" y="81"/>
                </a:cxn>
                <a:cxn ang="0">
                  <a:pos x="2" y="99"/>
                </a:cxn>
                <a:cxn ang="0">
                  <a:pos x="6" y="115"/>
                </a:cxn>
                <a:cxn ang="0">
                  <a:pos x="13" y="134"/>
                </a:cxn>
                <a:cxn ang="0">
                  <a:pos x="20" y="151"/>
                </a:cxn>
                <a:cxn ang="0">
                  <a:pos x="25" y="162"/>
                </a:cxn>
                <a:cxn ang="0">
                  <a:pos x="34" y="173"/>
                </a:cxn>
                <a:cxn ang="0">
                  <a:pos x="41" y="181"/>
                </a:cxn>
                <a:cxn ang="0">
                  <a:pos x="48" y="191"/>
                </a:cxn>
                <a:cxn ang="0">
                  <a:pos x="57" y="200"/>
                </a:cxn>
                <a:cxn ang="0">
                  <a:pos x="64" y="206"/>
                </a:cxn>
                <a:cxn ang="0">
                  <a:pos x="97" y="202"/>
                </a:cxn>
                <a:cxn ang="0">
                  <a:pos x="122" y="195"/>
                </a:cxn>
                <a:cxn ang="0">
                  <a:pos x="137" y="199"/>
                </a:cxn>
                <a:cxn ang="0">
                  <a:pos x="174" y="200"/>
                </a:cxn>
                <a:cxn ang="0">
                  <a:pos x="219" y="195"/>
                </a:cxn>
                <a:cxn ang="0">
                  <a:pos x="225" y="207"/>
                </a:cxn>
                <a:cxn ang="0">
                  <a:pos x="225" y="300"/>
                </a:cxn>
                <a:cxn ang="0">
                  <a:pos x="224" y="308"/>
                </a:cxn>
                <a:cxn ang="0">
                  <a:pos x="222" y="314"/>
                </a:cxn>
                <a:cxn ang="0">
                  <a:pos x="220" y="319"/>
                </a:cxn>
                <a:cxn ang="0">
                  <a:pos x="216" y="324"/>
                </a:cxn>
                <a:cxn ang="0">
                  <a:pos x="211" y="328"/>
                </a:cxn>
                <a:cxn ang="0">
                  <a:pos x="205" y="330"/>
                </a:cxn>
                <a:cxn ang="0">
                  <a:pos x="200" y="332"/>
                </a:cxn>
                <a:cxn ang="0">
                  <a:pos x="194" y="333"/>
                </a:cxn>
                <a:cxn ang="0">
                  <a:pos x="26" y="333"/>
                </a:cxn>
                <a:cxn ang="0">
                  <a:pos x="26" y="350"/>
                </a:cxn>
                <a:cxn ang="0">
                  <a:pos x="199" y="349"/>
                </a:cxn>
                <a:cxn ang="0">
                  <a:pos x="208" y="348"/>
                </a:cxn>
                <a:cxn ang="0">
                  <a:pos x="213" y="348"/>
                </a:cxn>
                <a:cxn ang="0">
                  <a:pos x="220" y="346"/>
                </a:cxn>
                <a:cxn ang="0">
                  <a:pos x="225" y="345"/>
                </a:cxn>
                <a:cxn ang="0">
                  <a:pos x="231" y="341"/>
                </a:cxn>
                <a:cxn ang="0">
                  <a:pos x="237" y="334"/>
                </a:cxn>
                <a:cxn ang="0">
                  <a:pos x="240" y="328"/>
                </a:cxn>
                <a:cxn ang="0">
                  <a:pos x="244" y="322"/>
                </a:cxn>
                <a:cxn ang="0">
                  <a:pos x="246" y="315"/>
                </a:cxn>
                <a:cxn ang="0">
                  <a:pos x="248" y="307"/>
                </a:cxn>
                <a:cxn ang="0">
                  <a:pos x="248" y="297"/>
                </a:cxn>
                <a:cxn ang="0">
                  <a:pos x="248" y="165"/>
                </a:cxn>
              </a:cxnLst>
              <a:rect l="txL" t="txT" r="txR" b="txB"/>
              <a:pathLst>
                <a:path w="249" h="351">
                  <a:moveTo>
                    <a:pt x="248" y="165"/>
                  </a:moveTo>
                  <a:lnTo>
                    <a:pt x="178" y="129"/>
                  </a:lnTo>
                  <a:lnTo>
                    <a:pt x="100" y="6"/>
                  </a:lnTo>
                  <a:lnTo>
                    <a:pt x="97" y="5"/>
                  </a:lnTo>
                  <a:lnTo>
                    <a:pt x="91" y="2"/>
                  </a:lnTo>
                  <a:lnTo>
                    <a:pt x="85" y="1"/>
                  </a:lnTo>
                  <a:lnTo>
                    <a:pt x="76" y="0"/>
                  </a:lnTo>
                  <a:lnTo>
                    <a:pt x="69" y="1"/>
                  </a:lnTo>
                  <a:lnTo>
                    <a:pt x="61" y="3"/>
                  </a:lnTo>
                  <a:lnTo>
                    <a:pt x="53" y="6"/>
                  </a:lnTo>
                  <a:lnTo>
                    <a:pt x="42" y="12"/>
                  </a:lnTo>
                  <a:lnTo>
                    <a:pt x="34" y="16"/>
                  </a:lnTo>
                  <a:lnTo>
                    <a:pt x="26" y="21"/>
                  </a:lnTo>
                  <a:lnTo>
                    <a:pt x="20" y="27"/>
                  </a:lnTo>
                  <a:lnTo>
                    <a:pt x="15" y="32"/>
                  </a:lnTo>
                  <a:lnTo>
                    <a:pt x="8" y="41"/>
                  </a:lnTo>
                  <a:lnTo>
                    <a:pt x="4" y="47"/>
                  </a:lnTo>
                  <a:lnTo>
                    <a:pt x="1" y="56"/>
                  </a:lnTo>
                  <a:lnTo>
                    <a:pt x="0" y="66"/>
                  </a:lnTo>
                  <a:lnTo>
                    <a:pt x="0" y="81"/>
                  </a:lnTo>
                  <a:lnTo>
                    <a:pt x="2" y="99"/>
                  </a:lnTo>
                  <a:lnTo>
                    <a:pt x="6" y="115"/>
                  </a:lnTo>
                  <a:lnTo>
                    <a:pt x="13" y="134"/>
                  </a:lnTo>
                  <a:lnTo>
                    <a:pt x="20" y="151"/>
                  </a:lnTo>
                  <a:lnTo>
                    <a:pt x="25" y="162"/>
                  </a:lnTo>
                  <a:lnTo>
                    <a:pt x="34" y="173"/>
                  </a:lnTo>
                  <a:lnTo>
                    <a:pt x="41" y="181"/>
                  </a:lnTo>
                  <a:lnTo>
                    <a:pt x="48" y="191"/>
                  </a:lnTo>
                  <a:lnTo>
                    <a:pt x="57" y="200"/>
                  </a:lnTo>
                  <a:lnTo>
                    <a:pt x="64" y="206"/>
                  </a:lnTo>
                  <a:lnTo>
                    <a:pt x="97" y="202"/>
                  </a:lnTo>
                  <a:lnTo>
                    <a:pt x="122" y="195"/>
                  </a:lnTo>
                  <a:lnTo>
                    <a:pt x="137" y="199"/>
                  </a:lnTo>
                  <a:lnTo>
                    <a:pt x="174" y="200"/>
                  </a:lnTo>
                  <a:lnTo>
                    <a:pt x="219" y="195"/>
                  </a:lnTo>
                  <a:lnTo>
                    <a:pt x="225" y="207"/>
                  </a:lnTo>
                  <a:lnTo>
                    <a:pt x="225" y="300"/>
                  </a:lnTo>
                  <a:lnTo>
                    <a:pt x="224" y="308"/>
                  </a:lnTo>
                  <a:lnTo>
                    <a:pt x="222" y="314"/>
                  </a:lnTo>
                  <a:lnTo>
                    <a:pt x="220" y="319"/>
                  </a:lnTo>
                  <a:lnTo>
                    <a:pt x="216" y="324"/>
                  </a:lnTo>
                  <a:lnTo>
                    <a:pt x="211" y="328"/>
                  </a:lnTo>
                  <a:lnTo>
                    <a:pt x="205" y="330"/>
                  </a:lnTo>
                  <a:lnTo>
                    <a:pt x="200" y="332"/>
                  </a:lnTo>
                  <a:lnTo>
                    <a:pt x="194" y="333"/>
                  </a:lnTo>
                  <a:lnTo>
                    <a:pt x="26" y="333"/>
                  </a:lnTo>
                  <a:lnTo>
                    <a:pt x="26" y="350"/>
                  </a:lnTo>
                  <a:lnTo>
                    <a:pt x="199" y="349"/>
                  </a:lnTo>
                  <a:lnTo>
                    <a:pt x="208" y="348"/>
                  </a:lnTo>
                  <a:lnTo>
                    <a:pt x="213" y="348"/>
                  </a:lnTo>
                  <a:lnTo>
                    <a:pt x="220" y="346"/>
                  </a:lnTo>
                  <a:lnTo>
                    <a:pt x="225" y="345"/>
                  </a:lnTo>
                  <a:lnTo>
                    <a:pt x="231" y="341"/>
                  </a:lnTo>
                  <a:lnTo>
                    <a:pt x="237" y="334"/>
                  </a:lnTo>
                  <a:lnTo>
                    <a:pt x="240" y="328"/>
                  </a:lnTo>
                  <a:lnTo>
                    <a:pt x="244" y="322"/>
                  </a:lnTo>
                  <a:lnTo>
                    <a:pt x="246" y="315"/>
                  </a:lnTo>
                  <a:lnTo>
                    <a:pt x="248" y="307"/>
                  </a:lnTo>
                  <a:lnTo>
                    <a:pt x="248" y="297"/>
                  </a:lnTo>
                  <a:lnTo>
                    <a:pt x="248" y="165"/>
                  </a:lnTo>
                </a:path>
              </a:pathLst>
            </a:custGeom>
            <a:solidFill>
              <a:srgbClr val="333333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3526" name="未知"/>
            <p:cNvSpPr/>
            <p:nvPr/>
          </p:nvSpPr>
          <p:spPr>
            <a:xfrm>
              <a:off x="50" y="0"/>
              <a:ext cx="380" cy="636"/>
            </a:xfrm>
            <a:custGeom>
              <a:avLst/>
              <a:gdLst>
                <a:gd name="txL" fmla="*/ 0 w 380"/>
                <a:gd name="txT" fmla="*/ 0 h 636"/>
                <a:gd name="txR" fmla="*/ 380 w 380"/>
                <a:gd name="txB" fmla="*/ 636 h 636"/>
              </a:gdLst>
              <a:ahLst/>
              <a:cxnLst>
                <a:cxn ang="0">
                  <a:pos x="153" y="43"/>
                </a:cxn>
                <a:cxn ang="0">
                  <a:pos x="158" y="42"/>
                </a:cxn>
                <a:cxn ang="0">
                  <a:pos x="178" y="48"/>
                </a:cxn>
                <a:cxn ang="0">
                  <a:pos x="174" y="2"/>
                </a:cxn>
                <a:cxn ang="0">
                  <a:pos x="203" y="35"/>
                </a:cxn>
                <a:cxn ang="0">
                  <a:pos x="211" y="9"/>
                </a:cxn>
                <a:cxn ang="0">
                  <a:pos x="236" y="0"/>
                </a:cxn>
                <a:cxn ang="0">
                  <a:pos x="233" y="24"/>
                </a:cxn>
                <a:cxn ang="0">
                  <a:pos x="248" y="15"/>
                </a:cxn>
                <a:cxn ang="0">
                  <a:pos x="246" y="28"/>
                </a:cxn>
                <a:cxn ang="0">
                  <a:pos x="255" y="51"/>
                </a:cxn>
                <a:cxn ang="0">
                  <a:pos x="288" y="18"/>
                </a:cxn>
                <a:cxn ang="0">
                  <a:pos x="266" y="50"/>
                </a:cxn>
                <a:cxn ang="0">
                  <a:pos x="304" y="28"/>
                </a:cxn>
                <a:cxn ang="0">
                  <a:pos x="287" y="53"/>
                </a:cxn>
                <a:cxn ang="0">
                  <a:pos x="291" y="66"/>
                </a:cxn>
                <a:cxn ang="0">
                  <a:pos x="289" y="94"/>
                </a:cxn>
                <a:cxn ang="0">
                  <a:pos x="318" y="130"/>
                </a:cxn>
                <a:cxn ang="0">
                  <a:pos x="344" y="174"/>
                </a:cxn>
                <a:cxn ang="0">
                  <a:pos x="337" y="182"/>
                </a:cxn>
                <a:cxn ang="0">
                  <a:pos x="276" y="216"/>
                </a:cxn>
                <a:cxn ang="0">
                  <a:pos x="258" y="257"/>
                </a:cxn>
                <a:cxn ang="0">
                  <a:pos x="197" y="249"/>
                </a:cxn>
                <a:cxn ang="0">
                  <a:pos x="180" y="322"/>
                </a:cxn>
                <a:cxn ang="0">
                  <a:pos x="230" y="363"/>
                </a:cxn>
                <a:cxn ang="0">
                  <a:pos x="287" y="372"/>
                </a:cxn>
                <a:cxn ang="0">
                  <a:pos x="325" y="371"/>
                </a:cxn>
                <a:cxn ang="0">
                  <a:pos x="350" y="364"/>
                </a:cxn>
                <a:cxn ang="0">
                  <a:pos x="357" y="381"/>
                </a:cxn>
                <a:cxn ang="0">
                  <a:pos x="379" y="394"/>
                </a:cxn>
                <a:cxn ang="0">
                  <a:pos x="370" y="406"/>
                </a:cxn>
                <a:cxn ang="0">
                  <a:pos x="375" y="421"/>
                </a:cxn>
                <a:cxn ang="0">
                  <a:pos x="363" y="439"/>
                </a:cxn>
                <a:cxn ang="0">
                  <a:pos x="358" y="448"/>
                </a:cxn>
                <a:cxn ang="0">
                  <a:pos x="312" y="433"/>
                </a:cxn>
                <a:cxn ang="0">
                  <a:pos x="231" y="414"/>
                </a:cxn>
                <a:cxn ang="0">
                  <a:pos x="178" y="407"/>
                </a:cxn>
                <a:cxn ang="0">
                  <a:pos x="164" y="392"/>
                </a:cxn>
                <a:cxn ang="0">
                  <a:pos x="170" y="402"/>
                </a:cxn>
                <a:cxn ang="0">
                  <a:pos x="205" y="412"/>
                </a:cxn>
                <a:cxn ang="0">
                  <a:pos x="234" y="431"/>
                </a:cxn>
                <a:cxn ang="0">
                  <a:pos x="227" y="451"/>
                </a:cxn>
                <a:cxn ang="0">
                  <a:pos x="175" y="493"/>
                </a:cxn>
                <a:cxn ang="0">
                  <a:pos x="115" y="528"/>
                </a:cxn>
                <a:cxn ang="0">
                  <a:pos x="104" y="582"/>
                </a:cxn>
                <a:cxn ang="0">
                  <a:pos x="138" y="626"/>
                </a:cxn>
                <a:cxn ang="0">
                  <a:pos x="83" y="632"/>
                </a:cxn>
                <a:cxn ang="0">
                  <a:pos x="47" y="629"/>
                </a:cxn>
                <a:cxn ang="0">
                  <a:pos x="48" y="549"/>
                </a:cxn>
                <a:cxn ang="0">
                  <a:pos x="27" y="528"/>
                </a:cxn>
                <a:cxn ang="0">
                  <a:pos x="40" y="508"/>
                </a:cxn>
                <a:cxn ang="0">
                  <a:pos x="103" y="483"/>
                </a:cxn>
                <a:cxn ang="0">
                  <a:pos x="124" y="447"/>
                </a:cxn>
                <a:cxn ang="0">
                  <a:pos x="26" y="440"/>
                </a:cxn>
                <a:cxn ang="0">
                  <a:pos x="6" y="431"/>
                </a:cxn>
                <a:cxn ang="0">
                  <a:pos x="0" y="399"/>
                </a:cxn>
                <a:cxn ang="0">
                  <a:pos x="6" y="368"/>
                </a:cxn>
                <a:cxn ang="0">
                  <a:pos x="51" y="265"/>
                </a:cxn>
                <a:cxn ang="0">
                  <a:pos x="104" y="196"/>
                </a:cxn>
                <a:cxn ang="0">
                  <a:pos x="130" y="136"/>
                </a:cxn>
              </a:cxnLst>
              <a:rect l="txL" t="txT" r="txR" b="txB"/>
              <a:pathLst>
                <a:path w="380" h="636">
                  <a:moveTo>
                    <a:pt x="130" y="136"/>
                  </a:moveTo>
                  <a:lnTo>
                    <a:pt x="140" y="107"/>
                  </a:lnTo>
                  <a:lnTo>
                    <a:pt x="148" y="73"/>
                  </a:lnTo>
                  <a:lnTo>
                    <a:pt x="153" y="43"/>
                  </a:lnTo>
                  <a:lnTo>
                    <a:pt x="144" y="27"/>
                  </a:lnTo>
                  <a:lnTo>
                    <a:pt x="135" y="19"/>
                  </a:lnTo>
                  <a:lnTo>
                    <a:pt x="148" y="28"/>
                  </a:lnTo>
                  <a:lnTo>
                    <a:pt x="158" y="42"/>
                  </a:lnTo>
                  <a:lnTo>
                    <a:pt x="150" y="10"/>
                  </a:lnTo>
                  <a:lnTo>
                    <a:pt x="157" y="25"/>
                  </a:lnTo>
                  <a:lnTo>
                    <a:pt x="171" y="46"/>
                  </a:lnTo>
                  <a:lnTo>
                    <a:pt x="178" y="48"/>
                  </a:lnTo>
                  <a:lnTo>
                    <a:pt x="174" y="31"/>
                  </a:lnTo>
                  <a:lnTo>
                    <a:pt x="177" y="33"/>
                  </a:lnTo>
                  <a:lnTo>
                    <a:pt x="178" y="18"/>
                  </a:lnTo>
                  <a:lnTo>
                    <a:pt x="174" y="2"/>
                  </a:lnTo>
                  <a:lnTo>
                    <a:pt x="197" y="44"/>
                  </a:lnTo>
                  <a:lnTo>
                    <a:pt x="198" y="37"/>
                  </a:lnTo>
                  <a:lnTo>
                    <a:pt x="201" y="42"/>
                  </a:lnTo>
                  <a:lnTo>
                    <a:pt x="203" y="35"/>
                  </a:lnTo>
                  <a:lnTo>
                    <a:pt x="198" y="25"/>
                  </a:lnTo>
                  <a:lnTo>
                    <a:pt x="199" y="6"/>
                  </a:lnTo>
                  <a:lnTo>
                    <a:pt x="207" y="44"/>
                  </a:lnTo>
                  <a:lnTo>
                    <a:pt x="211" y="9"/>
                  </a:lnTo>
                  <a:lnTo>
                    <a:pt x="211" y="36"/>
                  </a:lnTo>
                  <a:lnTo>
                    <a:pt x="215" y="43"/>
                  </a:lnTo>
                  <a:lnTo>
                    <a:pt x="222" y="13"/>
                  </a:lnTo>
                  <a:lnTo>
                    <a:pt x="236" y="0"/>
                  </a:lnTo>
                  <a:lnTo>
                    <a:pt x="226" y="13"/>
                  </a:lnTo>
                  <a:lnTo>
                    <a:pt x="221" y="36"/>
                  </a:lnTo>
                  <a:lnTo>
                    <a:pt x="223" y="41"/>
                  </a:lnTo>
                  <a:lnTo>
                    <a:pt x="233" y="24"/>
                  </a:lnTo>
                  <a:lnTo>
                    <a:pt x="226" y="39"/>
                  </a:lnTo>
                  <a:lnTo>
                    <a:pt x="226" y="45"/>
                  </a:lnTo>
                  <a:lnTo>
                    <a:pt x="247" y="9"/>
                  </a:lnTo>
                  <a:lnTo>
                    <a:pt x="248" y="15"/>
                  </a:lnTo>
                  <a:lnTo>
                    <a:pt x="238" y="35"/>
                  </a:lnTo>
                  <a:lnTo>
                    <a:pt x="238" y="48"/>
                  </a:lnTo>
                  <a:lnTo>
                    <a:pt x="241" y="50"/>
                  </a:lnTo>
                  <a:lnTo>
                    <a:pt x="246" y="28"/>
                  </a:lnTo>
                  <a:lnTo>
                    <a:pt x="256" y="12"/>
                  </a:lnTo>
                  <a:lnTo>
                    <a:pt x="248" y="29"/>
                  </a:lnTo>
                  <a:lnTo>
                    <a:pt x="250" y="53"/>
                  </a:lnTo>
                  <a:lnTo>
                    <a:pt x="255" y="51"/>
                  </a:lnTo>
                  <a:lnTo>
                    <a:pt x="265" y="20"/>
                  </a:lnTo>
                  <a:lnTo>
                    <a:pt x="258" y="53"/>
                  </a:lnTo>
                  <a:lnTo>
                    <a:pt x="274" y="27"/>
                  </a:lnTo>
                  <a:lnTo>
                    <a:pt x="288" y="18"/>
                  </a:lnTo>
                  <a:lnTo>
                    <a:pt x="277" y="31"/>
                  </a:lnTo>
                  <a:lnTo>
                    <a:pt x="269" y="45"/>
                  </a:lnTo>
                  <a:lnTo>
                    <a:pt x="281" y="40"/>
                  </a:lnTo>
                  <a:lnTo>
                    <a:pt x="266" y="50"/>
                  </a:lnTo>
                  <a:lnTo>
                    <a:pt x="263" y="61"/>
                  </a:lnTo>
                  <a:lnTo>
                    <a:pt x="268" y="63"/>
                  </a:lnTo>
                  <a:lnTo>
                    <a:pt x="284" y="41"/>
                  </a:lnTo>
                  <a:lnTo>
                    <a:pt x="304" y="28"/>
                  </a:lnTo>
                  <a:lnTo>
                    <a:pt x="278" y="57"/>
                  </a:lnTo>
                  <a:lnTo>
                    <a:pt x="290" y="48"/>
                  </a:lnTo>
                  <a:lnTo>
                    <a:pt x="355" y="39"/>
                  </a:lnTo>
                  <a:lnTo>
                    <a:pt x="287" y="53"/>
                  </a:lnTo>
                  <a:lnTo>
                    <a:pt x="280" y="63"/>
                  </a:lnTo>
                  <a:lnTo>
                    <a:pt x="287" y="61"/>
                  </a:lnTo>
                  <a:lnTo>
                    <a:pt x="307" y="52"/>
                  </a:lnTo>
                  <a:lnTo>
                    <a:pt x="291" y="66"/>
                  </a:lnTo>
                  <a:lnTo>
                    <a:pt x="278" y="72"/>
                  </a:lnTo>
                  <a:lnTo>
                    <a:pt x="278" y="81"/>
                  </a:lnTo>
                  <a:lnTo>
                    <a:pt x="281" y="87"/>
                  </a:lnTo>
                  <a:lnTo>
                    <a:pt x="289" y="94"/>
                  </a:lnTo>
                  <a:lnTo>
                    <a:pt x="297" y="105"/>
                  </a:lnTo>
                  <a:lnTo>
                    <a:pt x="304" y="113"/>
                  </a:lnTo>
                  <a:lnTo>
                    <a:pt x="311" y="122"/>
                  </a:lnTo>
                  <a:lnTo>
                    <a:pt x="318" y="130"/>
                  </a:lnTo>
                  <a:lnTo>
                    <a:pt x="322" y="137"/>
                  </a:lnTo>
                  <a:lnTo>
                    <a:pt x="330" y="149"/>
                  </a:lnTo>
                  <a:lnTo>
                    <a:pt x="338" y="162"/>
                  </a:lnTo>
                  <a:lnTo>
                    <a:pt x="344" y="174"/>
                  </a:lnTo>
                  <a:lnTo>
                    <a:pt x="344" y="176"/>
                  </a:lnTo>
                  <a:lnTo>
                    <a:pt x="342" y="178"/>
                  </a:lnTo>
                  <a:lnTo>
                    <a:pt x="340" y="181"/>
                  </a:lnTo>
                  <a:lnTo>
                    <a:pt x="337" y="182"/>
                  </a:lnTo>
                  <a:lnTo>
                    <a:pt x="333" y="182"/>
                  </a:lnTo>
                  <a:lnTo>
                    <a:pt x="285" y="178"/>
                  </a:lnTo>
                  <a:lnTo>
                    <a:pt x="282" y="187"/>
                  </a:lnTo>
                  <a:lnTo>
                    <a:pt x="276" y="216"/>
                  </a:lnTo>
                  <a:lnTo>
                    <a:pt x="271" y="237"/>
                  </a:lnTo>
                  <a:lnTo>
                    <a:pt x="265" y="255"/>
                  </a:lnTo>
                  <a:lnTo>
                    <a:pt x="262" y="255"/>
                  </a:lnTo>
                  <a:lnTo>
                    <a:pt x="258" y="257"/>
                  </a:lnTo>
                  <a:lnTo>
                    <a:pt x="253" y="257"/>
                  </a:lnTo>
                  <a:lnTo>
                    <a:pt x="238" y="257"/>
                  </a:lnTo>
                  <a:lnTo>
                    <a:pt x="201" y="244"/>
                  </a:lnTo>
                  <a:lnTo>
                    <a:pt x="197" y="249"/>
                  </a:lnTo>
                  <a:lnTo>
                    <a:pt x="192" y="270"/>
                  </a:lnTo>
                  <a:lnTo>
                    <a:pt x="187" y="286"/>
                  </a:lnTo>
                  <a:lnTo>
                    <a:pt x="182" y="308"/>
                  </a:lnTo>
                  <a:lnTo>
                    <a:pt x="180" y="322"/>
                  </a:lnTo>
                  <a:lnTo>
                    <a:pt x="188" y="332"/>
                  </a:lnTo>
                  <a:lnTo>
                    <a:pt x="198" y="343"/>
                  </a:lnTo>
                  <a:lnTo>
                    <a:pt x="211" y="359"/>
                  </a:lnTo>
                  <a:lnTo>
                    <a:pt x="230" y="363"/>
                  </a:lnTo>
                  <a:lnTo>
                    <a:pt x="244" y="365"/>
                  </a:lnTo>
                  <a:lnTo>
                    <a:pt x="264" y="369"/>
                  </a:lnTo>
                  <a:lnTo>
                    <a:pt x="276" y="371"/>
                  </a:lnTo>
                  <a:lnTo>
                    <a:pt x="287" y="372"/>
                  </a:lnTo>
                  <a:lnTo>
                    <a:pt x="295" y="373"/>
                  </a:lnTo>
                  <a:lnTo>
                    <a:pt x="302" y="373"/>
                  </a:lnTo>
                  <a:lnTo>
                    <a:pt x="311" y="372"/>
                  </a:lnTo>
                  <a:lnTo>
                    <a:pt x="325" y="371"/>
                  </a:lnTo>
                  <a:lnTo>
                    <a:pt x="339" y="364"/>
                  </a:lnTo>
                  <a:lnTo>
                    <a:pt x="343" y="362"/>
                  </a:lnTo>
                  <a:lnTo>
                    <a:pt x="347" y="362"/>
                  </a:lnTo>
                  <a:lnTo>
                    <a:pt x="350" y="364"/>
                  </a:lnTo>
                  <a:lnTo>
                    <a:pt x="354" y="368"/>
                  </a:lnTo>
                  <a:lnTo>
                    <a:pt x="355" y="371"/>
                  </a:lnTo>
                  <a:lnTo>
                    <a:pt x="356" y="376"/>
                  </a:lnTo>
                  <a:lnTo>
                    <a:pt x="357" y="381"/>
                  </a:lnTo>
                  <a:lnTo>
                    <a:pt x="362" y="383"/>
                  </a:lnTo>
                  <a:lnTo>
                    <a:pt x="368" y="386"/>
                  </a:lnTo>
                  <a:lnTo>
                    <a:pt x="373" y="389"/>
                  </a:lnTo>
                  <a:lnTo>
                    <a:pt x="379" y="394"/>
                  </a:lnTo>
                  <a:lnTo>
                    <a:pt x="378" y="397"/>
                  </a:lnTo>
                  <a:lnTo>
                    <a:pt x="377" y="401"/>
                  </a:lnTo>
                  <a:lnTo>
                    <a:pt x="373" y="404"/>
                  </a:lnTo>
                  <a:lnTo>
                    <a:pt x="370" y="406"/>
                  </a:lnTo>
                  <a:lnTo>
                    <a:pt x="372" y="409"/>
                  </a:lnTo>
                  <a:lnTo>
                    <a:pt x="373" y="413"/>
                  </a:lnTo>
                  <a:lnTo>
                    <a:pt x="375" y="418"/>
                  </a:lnTo>
                  <a:lnTo>
                    <a:pt x="375" y="421"/>
                  </a:lnTo>
                  <a:lnTo>
                    <a:pt x="373" y="426"/>
                  </a:lnTo>
                  <a:lnTo>
                    <a:pt x="370" y="428"/>
                  </a:lnTo>
                  <a:lnTo>
                    <a:pt x="362" y="433"/>
                  </a:lnTo>
                  <a:lnTo>
                    <a:pt x="363" y="439"/>
                  </a:lnTo>
                  <a:lnTo>
                    <a:pt x="363" y="442"/>
                  </a:lnTo>
                  <a:lnTo>
                    <a:pt x="362" y="445"/>
                  </a:lnTo>
                  <a:lnTo>
                    <a:pt x="361" y="447"/>
                  </a:lnTo>
                  <a:lnTo>
                    <a:pt x="358" y="448"/>
                  </a:lnTo>
                  <a:lnTo>
                    <a:pt x="355" y="447"/>
                  </a:lnTo>
                  <a:lnTo>
                    <a:pt x="348" y="446"/>
                  </a:lnTo>
                  <a:lnTo>
                    <a:pt x="332" y="440"/>
                  </a:lnTo>
                  <a:lnTo>
                    <a:pt x="312" y="433"/>
                  </a:lnTo>
                  <a:lnTo>
                    <a:pt x="284" y="426"/>
                  </a:lnTo>
                  <a:lnTo>
                    <a:pt x="279" y="426"/>
                  </a:lnTo>
                  <a:lnTo>
                    <a:pt x="263" y="422"/>
                  </a:lnTo>
                  <a:lnTo>
                    <a:pt x="231" y="414"/>
                  </a:lnTo>
                  <a:lnTo>
                    <a:pt x="204" y="411"/>
                  </a:lnTo>
                  <a:lnTo>
                    <a:pt x="198" y="412"/>
                  </a:lnTo>
                  <a:lnTo>
                    <a:pt x="184" y="413"/>
                  </a:lnTo>
                  <a:lnTo>
                    <a:pt x="178" y="407"/>
                  </a:lnTo>
                  <a:lnTo>
                    <a:pt x="172" y="404"/>
                  </a:lnTo>
                  <a:lnTo>
                    <a:pt x="170" y="401"/>
                  </a:lnTo>
                  <a:lnTo>
                    <a:pt x="167" y="397"/>
                  </a:lnTo>
                  <a:lnTo>
                    <a:pt x="164" y="392"/>
                  </a:lnTo>
                  <a:lnTo>
                    <a:pt x="149" y="373"/>
                  </a:lnTo>
                  <a:lnTo>
                    <a:pt x="163" y="390"/>
                  </a:lnTo>
                  <a:lnTo>
                    <a:pt x="168" y="396"/>
                  </a:lnTo>
                  <a:lnTo>
                    <a:pt x="170" y="402"/>
                  </a:lnTo>
                  <a:lnTo>
                    <a:pt x="183" y="412"/>
                  </a:lnTo>
                  <a:lnTo>
                    <a:pt x="190" y="413"/>
                  </a:lnTo>
                  <a:lnTo>
                    <a:pt x="199" y="412"/>
                  </a:lnTo>
                  <a:lnTo>
                    <a:pt x="205" y="412"/>
                  </a:lnTo>
                  <a:lnTo>
                    <a:pt x="216" y="416"/>
                  </a:lnTo>
                  <a:lnTo>
                    <a:pt x="223" y="420"/>
                  </a:lnTo>
                  <a:lnTo>
                    <a:pt x="229" y="425"/>
                  </a:lnTo>
                  <a:lnTo>
                    <a:pt x="234" y="431"/>
                  </a:lnTo>
                  <a:lnTo>
                    <a:pt x="237" y="435"/>
                  </a:lnTo>
                  <a:lnTo>
                    <a:pt x="236" y="439"/>
                  </a:lnTo>
                  <a:lnTo>
                    <a:pt x="233" y="445"/>
                  </a:lnTo>
                  <a:lnTo>
                    <a:pt x="227" y="451"/>
                  </a:lnTo>
                  <a:lnTo>
                    <a:pt x="218" y="460"/>
                  </a:lnTo>
                  <a:lnTo>
                    <a:pt x="204" y="472"/>
                  </a:lnTo>
                  <a:lnTo>
                    <a:pt x="194" y="482"/>
                  </a:lnTo>
                  <a:lnTo>
                    <a:pt x="175" y="493"/>
                  </a:lnTo>
                  <a:lnTo>
                    <a:pt x="145" y="508"/>
                  </a:lnTo>
                  <a:lnTo>
                    <a:pt x="126" y="517"/>
                  </a:lnTo>
                  <a:lnTo>
                    <a:pt x="120" y="523"/>
                  </a:lnTo>
                  <a:lnTo>
                    <a:pt x="115" y="528"/>
                  </a:lnTo>
                  <a:lnTo>
                    <a:pt x="104" y="535"/>
                  </a:lnTo>
                  <a:lnTo>
                    <a:pt x="101" y="545"/>
                  </a:lnTo>
                  <a:lnTo>
                    <a:pt x="101" y="565"/>
                  </a:lnTo>
                  <a:lnTo>
                    <a:pt x="104" y="582"/>
                  </a:lnTo>
                  <a:lnTo>
                    <a:pt x="107" y="593"/>
                  </a:lnTo>
                  <a:lnTo>
                    <a:pt x="125" y="614"/>
                  </a:lnTo>
                  <a:lnTo>
                    <a:pt x="136" y="622"/>
                  </a:lnTo>
                  <a:lnTo>
                    <a:pt x="138" y="626"/>
                  </a:lnTo>
                  <a:lnTo>
                    <a:pt x="137" y="629"/>
                  </a:lnTo>
                  <a:lnTo>
                    <a:pt x="116" y="635"/>
                  </a:lnTo>
                  <a:lnTo>
                    <a:pt x="94" y="632"/>
                  </a:lnTo>
                  <a:lnTo>
                    <a:pt x="83" y="632"/>
                  </a:lnTo>
                  <a:lnTo>
                    <a:pt x="71" y="633"/>
                  </a:lnTo>
                  <a:lnTo>
                    <a:pt x="60" y="633"/>
                  </a:lnTo>
                  <a:lnTo>
                    <a:pt x="49" y="631"/>
                  </a:lnTo>
                  <a:lnTo>
                    <a:pt x="47" y="629"/>
                  </a:lnTo>
                  <a:lnTo>
                    <a:pt x="46" y="626"/>
                  </a:lnTo>
                  <a:lnTo>
                    <a:pt x="46" y="593"/>
                  </a:lnTo>
                  <a:lnTo>
                    <a:pt x="52" y="560"/>
                  </a:lnTo>
                  <a:lnTo>
                    <a:pt x="48" y="549"/>
                  </a:lnTo>
                  <a:lnTo>
                    <a:pt x="40" y="539"/>
                  </a:lnTo>
                  <a:lnTo>
                    <a:pt x="37" y="536"/>
                  </a:lnTo>
                  <a:lnTo>
                    <a:pt x="31" y="530"/>
                  </a:lnTo>
                  <a:lnTo>
                    <a:pt x="27" y="528"/>
                  </a:lnTo>
                  <a:lnTo>
                    <a:pt x="26" y="524"/>
                  </a:lnTo>
                  <a:lnTo>
                    <a:pt x="27" y="521"/>
                  </a:lnTo>
                  <a:lnTo>
                    <a:pt x="32" y="515"/>
                  </a:lnTo>
                  <a:lnTo>
                    <a:pt x="40" y="508"/>
                  </a:lnTo>
                  <a:lnTo>
                    <a:pt x="47" y="504"/>
                  </a:lnTo>
                  <a:lnTo>
                    <a:pt x="57" y="504"/>
                  </a:lnTo>
                  <a:lnTo>
                    <a:pt x="65" y="505"/>
                  </a:lnTo>
                  <a:lnTo>
                    <a:pt x="103" y="483"/>
                  </a:lnTo>
                  <a:lnTo>
                    <a:pt x="132" y="466"/>
                  </a:lnTo>
                  <a:lnTo>
                    <a:pt x="157" y="453"/>
                  </a:lnTo>
                  <a:lnTo>
                    <a:pt x="149" y="453"/>
                  </a:lnTo>
                  <a:lnTo>
                    <a:pt x="124" y="447"/>
                  </a:lnTo>
                  <a:lnTo>
                    <a:pt x="98" y="446"/>
                  </a:lnTo>
                  <a:lnTo>
                    <a:pt x="63" y="441"/>
                  </a:lnTo>
                  <a:lnTo>
                    <a:pt x="52" y="442"/>
                  </a:lnTo>
                  <a:lnTo>
                    <a:pt x="26" y="440"/>
                  </a:lnTo>
                  <a:lnTo>
                    <a:pt x="20" y="439"/>
                  </a:lnTo>
                  <a:lnTo>
                    <a:pt x="14" y="436"/>
                  </a:lnTo>
                  <a:lnTo>
                    <a:pt x="9" y="434"/>
                  </a:lnTo>
                  <a:lnTo>
                    <a:pt x="6" y="431"/>
                  </a:lnTo>
                  <a:lnTo>
                    <a:pt x="3" y="424"/>
                  </a:lnTo>
                  <a:lnTo>
                    <a:pt x="2" y="417"/>
                  </a:lnTo>
                  <a:lnTo>
                    <a:pt x="0" y="409"/>
                  </a:lnTo>
                  <a:lnTo>
                    <a:pt x="0" y="399"/>
                  </a:lnTo>
                  <a:lnTo>
                    <a:pt x="1" y="391"/>
                  </a:lnTo>
                  <a:lnTo>
                    <a:pt x="2" y="382"/>
                  </a:lnTo>
                  <a:lnTo>
                    <a:pt x="3" y="374"/>
                  </a:lnTo>
                  <a:lnTo>
                    <a:pt x="6" y="368"/>
                  </a:lnTo>
                  <a:lnTo>
                    <a:pt x="15" y="344"/>
                  </a:lnTo>
                  <a:lnTo>
                    <a:pt x="25" y="315"/>
                  </a:lnTo>
                  <a:lnTo>
                    <a:pt x="32" y="296"/>
                  </a:lnTo>
                  <a:lnTo>
                    <a:pt x="51" y="265"/>
                  </a:lnTo>
                  <a:lnTo>
                    <a:pt x="69" y="240"/>
                  </a:lnTo>
                  <a:lnTo>
                    <a:pt x="86" y="221"/>
                  </a:lnTo>
                  <a:lnTo>
                    <a:pt x="96" y="208"/>
                  </a:lnTo>
                  <a:lnTo>
                    <a:pt x="104" y="196"/>
                  </a:lnTo>
                  <a:lnTo>
                    <a:pt x="112" y="187"/>
                  </a:lnTo>
                  <a:lnTo>
                    <a:pt x="115" y="172"/>
                  </a:lnTo>
                  <a:lnTo>
                    <a:pt x="123" y="153"/>
                  </a:lnTo>
                  <a:lnTo>
                    <a:pt x="130" y="136"/>
                  </a:lnTo>
                </a:path>
              </a:pathLst>
            </a:custGeom>
            <a:solidFill>
              <a:srgbClr val="333333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3527" name="未知"/>
            <p:cNvSpPr/>
            <p:nvPr/>
          </p:nvSpPr>
          <p:spPr>
            <a:xfrm>
              <a:off x="304" y="101"/>
              <a:ext cx="17" cy="36"/>
            </a:xfrm>
            <a:custGeom>
              <a:avLst/>
              <a:gdLst>
                <a:gd name="txL" fmla="*/ 0 w 17"/>
                <a:gd name="txT" fmla="*/ 0 h 36"/>
                <a:gd name="txR" fmla="*/ 17 w 17"/>
                <a:gd name="txB" fmla="*/ 36 h 36"/>
              </a:gdLst>
              <a:ahLst/>
              <a:cxnLst>
                <a:cxn ang="0">
                  <a:pos x="14" y="0"/>
                </a:cxn>
                <a:cxn ang="0">
                  <a:pos x="10" y="2"/>
                </a:cxn>
                <a:cxn ang="0">
                  <a:pos x="8" y="6"/>
                </a:cxn>
                <a:cxn ang="0">
                  <a:pos x="5" y="10"/>
                </a:cxn>
                <a:cxn ang="0">
                  <a:pos x="2" y="14"/>
                </a:cxn>
                <a:cxn ang="0">
                  <a:pos x="1" y="19"/>
                </a:cxn>
                <a:cxn ang="0">
                  <a:pos x="0" y="24"/>
                </a:cxn>
                <a:cxn ang="0">
                  <a:pos x="0" y="28"/>
                </a:cxn>
                <a:cxn ang="0">
                  <a:pos x="2" y="33"/>
                </a:cxn>
                <a:cxn ang="0">
                  <a:pos x="2" y="35"/>
                </a:cxn>
                <a:cxn ang="0">
                  <a:pos x="5" y="33"/>
                </a:cxn>
                <a:cxn ang="0">
                  <a:pos x="7" y="31"/>
                </a:cxn>
                <a:cxn ang="0">
                  <a:pos x="10" y="28"/>
                </a:cxn>
                <a:cxn ang="0">
                  <a:pos x="11" y="24"/>
                </a:cxn>
                <a:cxn ang="0">
                  <a:pos x="14" y="20"/>
                </a:cxn>
                <a:cxn ang="0">
                  <a:pos x="14" y="17"/>
                </a:cxn>
                <a:cxn ang="0">
                  <a:pos x="15" y="12"/>
                </a:cxn>
                <a:cxn ang="0">
                  <a:pos x="16" y="8"/>
                </a:cxn>
                <a:cxn ang="0">
                  <a:pos x="15" y="3"/>
                </a:cxn>
                <a:cxn ang="0">
                  <a:pos x="14" y="0"/>
                </a:cxn>
              </a:cxnLst>
              <a:rect l="txL" t="txT" r="txR" b="txB"/>
              <a:pathLst>
                <a:path w="17" h="36">
                  <a:moveTo>
                    <a:pt x="14" y="0"/>
                  </a:moveTo>
                  <a:lnTo>
                    <a:pt x="10" y="2"/>
                  </a:lnTo>
                  <a:lnTo>
                    <a:pt x="8" y="6"/>
                  </a:lnTo>
                  <a:lnTo>
                    <a:pt x="5" y="10"/>
                  </a:lnTo>
                  <a:lnTo>
                    <a:pt x="2" y="14"/>
                  </a:lnTo>
                  <a:lnTo>
                    <a:pt x="1" y="19"/>
                  </a:lnTo>
                  <a:lnTo>
                    <a:pt x="0" y="24"/>
                  </a:lnTo>
                  <a:lnTo>
                    <a:pt x="0" y="28"/>
                  </a:lnTo>
                  <a:lnTo>
                    <a:pt x="2" y="33"/>
                  </a:lnTo>
                  <a:lnTo>
                    <a:pt x="2" y="35"/>
                  </a:lnTo>
                  <a:lnTo>
                    <a:pt x="5" y="33"/>
                  </a:lnTo>
                  <a:lnTo>
                    <a:pt x="7" y="31"/>
                  </a:lnTo>
                  <a:lnTo>
                    <a:pt x="10" y="28"/>
                  </a:lnTo>
                  <a:lnTo>
                    <a:pt x="11" y="24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5" y="12"/>
                  </a:lnTo>
                  <a:lnTo>
                    <a:pt x="16" y="8"/>
                  </a:lnTo>
                  <a:lnTo>
                    <a:pt x="15" y="3"/>
                  </a:lnTo>
                  <a:lnTo>
                    <a:pt x="14" y="0"/>
                  </a:lnTo>
                </a:path>
              </a:pathLst>
            </a:custGeom>
            <a:solidFill>
              <a:srgbClr val="333333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3491" name="Text Box 25"/>
          <p:cNvSpPr txBox="1"/>
          <p:nvPr/>
        </p:nvSpPr>
        <p:spPr>
          <a:xfrm>
            <a:off x="5650548" y="3716338"/>
            <a:ext cx="792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0" hangingPunct="0">
              <a:buFont typeface="Arial" panose="020B0604020202090204" pitchFamily="34" charset="0"/>
              <a:buNone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篡改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3492" name="Picture 3" descr="P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313" y="2263775"/>
            <a:ext cx="1106487" cy="866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493" name="Line 4"/>
          <p:cNvSpPr/>
          <p:nvPr/>
        </p:nvSpPr>
        <p:spPr>
          <a:xfrm flipV="1">
            <a:off x="1619250" y="2686050"/>
            <a:ext cx="5976938" cy="71438"/>
          </a:xfrm>
          <a:prstGeom prst="line">
            <a:avLst/>
          </a:prstGeom>
          <a:ln w="254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  <a:effectLst>
            <a:prstShdw prst="shdw17" dist="17961" dir="13499999">
              <a:srgbClr val="000099"/>
            </a:prstShdw>
          </a:effectLst>
        </p:spPr>
      </p:sp>
      <p:pic>
        <p:nvPicPr>
          <p:cNvPr id="409616" name="Picture 5"/>
          <p:cNvPicPr preferRelativeResize="0"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7613" y="2792413"/>
            <a:ext cx="5111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3882" dir="2700000" algn="ctr" rotWithShape="0">
              <a:schemeClr val="tx1"/>
            </a:outerShdw>
          </a:effectLst>
        </p:spPr>
      </p:pic>
      <p:sp>
        <p:nvSpPr>
          <p:cNvPr id="63495" name="Line 6"/>
          <p:cNvSpPr/>
          <p:nvPr/>
        </p:nvSpPr>
        <p:spPr>
          <a:xfrm>
            <a:off x="7489825" y="2719388"/>
            <a:ext cx="503238" cy="0"/>
          </a:xfrm>
          <a:prstGeom prst="line">
            <a:avLst/>
          </a:prstGeom>
          <a:ln w="254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  <a:effectLst>
            <a:prstShdw prst="shdw17" dist="17961" dir="13499999">
              <a:srgbClr val="000099"/>
            </a:prstShdw>
          </a:effectLst>
        </p:spPr>
      </p:sp>
      <p:sp>
        <p:nvSpPr>
          <p:cNvPr id="63496" name="Text Box 8"/>
          <p:cNvSpPr txBox="1"/>
          <p:nvPr/>
        </p:nvSpPr>
        <p:spPr>
          <a:xfrm>
            <a:off x="854075" y="3213100"/>
            <a:ext cx="6953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0" hangingPunct="0">
              <a:buFont typeface="Arial" panose="020B0604020202090204" pitchFamily="34" charset="0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用户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3497" name="Picture 20" descr="mon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075" y="2633663"/>
            <a:ext cx="733425" cy="4524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3498" name="Text Box 21"/>
          <p:cNvSpPr txBox="1"/>
          <p:nvPr/>
        </p:nvSpPr>
        <p:spPr>
          <a:xfrm>
            <a:off x="7524750" y="3151188"/>
            <a:ext cx="104298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buFont typeface="Arial" panose="020B0604020202090204" pitchFamily="34" charset="0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数据库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3499" name="Text Box 22"/>
          <p:cNvSpPr txBox="1"/>
          <p:nvPr/>
        </p:nvSpPr>
        <p:spPr>
          <a:xfrm>
            <a:off x="3130551" y="3716338"/>
            <a:ext cx="792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0" hangingPunct="0">
              <a:buFont typeface="Arial" panose="020B0604020202090204" pitchFamily="34" charset="0"/>
              <a:buNone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偷看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3500" name="Picture 23" descr="eyes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8275" y="3719513"/>
            <a:ext cx="665163" cy="592137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3501" name="Picture 27" descr="ENT6000_00A4_005_idx"/>
          <p:cNvPicPr>
            <a:picLocks noChangeAspect="1"/>
          </p:cNvPicPr>
          <p:nvPr/>
        </p:nvPicPr>
        <p:blipFill>
          <a:blip r:embed="rId5"/>
          <a:srcRect l="26190" t="6436" r="26190" b="30197"/>
          <a:stretch>
            <a:fillRect/>
          </a:stretch>
        </p:blipFill>
        <p:spPr>
          <a:xfrm>
            <a:off x="7345363" y="1939925"/>
            <a:ext cx="608012" cy="1076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3502" name="Picture 28" descr="DataBas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21625" y="2214563"/>
            <a:ext cx="1081088" cy="977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09625" name="Cloud"/>
          <p:cNvSpPr>
            <a:spLocks noChangeAspect="1" noEditPoints="1" noChangeArrowheads="1"/>
          </p:cNvSpPr>
          <p:nvPr/>
        </p:nvSpPr>
        <p:spPr bwMode="auto">
          <a:xfrm>
            <a:off x="3419475" y="1927225"/>
            <a:ext cx="1944688" cy="1439863"/>
          </a:xfrm>
          <a:custGeom>
            <a:avLst/>
            <a:gdLst>
              <a:gd name="T0" fmla="*/ 6106 w 21600"/>
              <a:gd name="T1" fmla="*/ 719931 h 21600"/>
              <a:gd name="T2" fmla="*/ 984250 w 21600"/>
              <a:gd name="T3" fmla="*/ 1438329 h 21600"/>
              <a:gd name="T4" fmla="*/ 1966860 w 21600"/>
              <a:gd name="T5" fmla="*/ 719931 h 21600"/>
              <a:gd name="T6" fmla="*/ 984250 w 21600"/>
              <a:gd name="T7" fmla="*/ 82325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</a:ln>
          <a:effectLst>
            <a:outerShdw dist="107763" dir="2700000" algn="ctr" rotWithShape="0">
              <a:srgbClr val="808080"/>
            </a:outerShdw>
          </a:effectLst>
        </p:spPr>
        <p:txBody>
          <a:bodyPr tIns="15480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公共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Internet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63504" name="Line 32"/>
          <p:cNvSpPr/>
          <p:nvPr/>
        </p:nvSpPr>
        <p:spPr>
          <a:xfrm>
            <a:off x="4197350" y="2678113"/>
            <a:ext cx="36513" cy="111760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lg"/>
          </a:ln>
          <a:effectLst>
            <a:prstShdw prst="shdw17" dist="17961" dir="13499999">
              <a:srgbClr val="990000"/>
            </a:prstShdw>
          </a:effectLst>
        </p:spPr>
      </p:sp>
      <p:sp>
        <p:nvSpPr>
          <p:cNvPr id="63505" name="Rectangle 33"/>
          <p:cNvSpPr/>
          <p:nvPr/>
        </p:nvSpPr>
        <p:spPr>
          <a:xfrm>
            <a:off x="250825" y="1711325"/>
            <a:ext cx="8642350" cy="1944688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/>
          <a:p>
            <a:pPr>
              <a:spcBef>
                <a:spcPct val="20000"/>
              </a:spcBef>
              <a:buFont typeface="Arial" panose="020B0604020202090204" pitchFamily="34" charset="0"/>
              <a:buNone/>
            </a:pPr>
            <a:endParaRPr lang="zh-CN" altLang="zh-CN" sz="2000" b="0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3510" name="Rectangle 32"/>
          <p:cNvSpPr/>
          <p:nvPr/>
        </p:nvSpPr>
        <p:spPr>
          <a:xfrm>
            <a:off x="3203575" y="2503488"/>
            <a:ext cx="914400" cy="1444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3511" name="Line 33"/>
          <p:cNvSpPr/>
          <p:nvPr/>
        </p:nvSpPr>
        <p:spPr>
          <a:xfrm>
            <a:off x="3179763" y="2428875"/>
            <a:ext cx="8651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3512" name="Line 31"/>
          <p:cNvSpPr/>
          <p:nvPr/>
        </p:nvSpPr>
        <p:spPr>
          <a:xfrm>
            <a:off x="5148263" y="2611438"/>
            <a:ext cx="0" cy="1008062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triangle" w="med" len="lg"/>
            <a:tailEnd type="none" w="med" len="med"/>
          </a:ln>
          <a:effectLst>
            <a:prstShdw prst="shdw17" dist="17961" dir="13499999">
              <a:srgbClr val="990000"/>
            </a:prstShdw>
          </a:effectLst>
        </p:spPr>
      </p:sp>
      <p:sp>
        <p:nvSpPr>
          <p:cNvPr id="63513" name="Rectangle 2"/>
          <p:cNvSpPr/>
          <p:nvPr/>
        </p:nvSpPr>
        <p:spPr>
          <a:xfrm>
            <a:off x="1763713" y="260350"/>
            <a:ext cx="6597650" cy="9144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algn="ctr"/>
            <a:r>
              <a:rPr lang="zh-CN" altLang="en-US" sz="4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偷看、篡改问题</a:t>
            </a:r>
            <a:endParaRPr lang="zh-CN" altLang="en-US" sz="4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514" name="Line 32"/>
          <p:cNvSpPr/>
          <p:nvPr/>
        </p:nvSpPr>
        <p:spPr>
          <a:xfrm>
            <a:off x="4343400" y="3789363"/>
            <a:ext cx="719138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lg"/>
          </a:ln>
          <a:effectLst>
            <a:prstShdw prst="shdw17" dist="17961" dir="13499999">
              <a:srgbClr val="990000"/>
            </a:prstShdw>
          </a:effectLst>
        </p:spPr>
      </p:sp>
      <p:sp>
        <p:nvSpPr>
          <p:cNvPr id="63515" name="Text Box 3"/>
          <p:cNvSpPr txBox="1"/>
          <p:nvPr/>
        </p:nvSpPr>
        <p:spPr>
          <a:xfrm>
            <a:off x="111125" y="5217160"/>
            <a:ext cx="8921750" cy="554355"/>
          </a:xfrm>
          <a:prstGeom prst="rect">
            <a:avLst/>
          </a:prstGeom>
          <a:noFill/>
          <a:ln w="1905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1">
            <a:spAutoFit/>
          </a:bodyPr>
          <a:p>
            <a:pPr>
              <a:lnSpc>
                <a:spcPct val="125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偷看是篡改的前提，连解密都不行，加密就更不用说了。 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3516" name="Rectangle 38"/>
          <p:cNvSpPr/>
          <p:nvPr/>
        </p:nvSpPr>
        <p:spPr>
          <a:xfrm>
            <a:off x="5651500" y="2492375"/>
            <a:ext cx="914400" cy="1444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3517" name="Line 39"/>
          <p:cNvSpPr/>
          <p:nvPr/>
        </p:nvSpPr>
        <p:spPr>
          <a:xfrm>
            <a:off x="5722938" y="2417763"/>
            <a:ext cx="865187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3518" name="Rectangle 40"/>
          <p:cNvSpPr/>
          <p:nvPr/>
        </p:nvSpPr>
        <p:spPr>
          <a:xfrm>
            <a:off x="5867400" y="2492375"/>
            <a:ext cx="287338" cy="144463"/>
          </a:xfrm>
          <a:prstGeom prst="rect">
            <a:avLst/>
          </a:prstGeom>
          <a:solidFill>
            <a:srgbClr val="FF0000"/>
          </a:solidFill>
          <a:ln w="9525">
            <a:noFill/>
          </a:ln>
        </p:spPr>
        <p:txBody>
          <a:bodyPr wrap="none" anchor="ctr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3519" name="Text Box 41"/>
          <p:cNvSpPr txBox="1"/>
          <p:nvPr/>
        </p:nvSpPr>
        <p:spPr>
          <a:xfrm>
            <a:off x="6129338" y="4124325"/>
            <a:ext cx="2763520" cy="460375"/>
          </a:xfrm>
          <a:prstGeom prst="rect">
            <a:avLst/>
          </a:prstGeom>
          <a:noFill/>
          <a:ln w="28575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转账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千改成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100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万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4514" name="Rectangle 2"/>
          <p:cNvSpPr/>
          <p:nvPr/>
        </p:nvSpPr>
        <p:spPr>
          <a:xfrm>
            <a:off x="1763713" y="260350"/>
            <a:ext cx="6597650" cy="9144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algn="ctr"/>
            <a:r>
              <a:rPr lang="zh-CN" altLang="en-US" sz="4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安全管理</a:t>
            </a:r>
            <a:r>
              <a:rPr lang="en-US" altLang="zh-CN" sz="4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</a:t>
            </a:r>
            <a:r>
              <a:rPr lang="zh-CN" altLang="en-US" sz="4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假冒问题</a:t>
            </a:r>
            <a:endParaRPr lang="zh-CN" altLang="en-US" sz="4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515" name="Text Box 3"/>
          <p:cNvSpPr txBox="1"/>
          <p:nvPr/>
        </p:nvSpPr>
        <p:spPr>
          <a:xfrm>
            <a:off x="118110" y="5013325"/>
            <a:ext cx="9025890" cy="1200150"/>
          </a:xfrm>
          <a:prstGeom prst="rect">
            <a:avLst/>
          </a:prstGeom>
          <a:noFill/>
          <a:ln w="1905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1">
            <a:spAutoFit/>
          </a:bodyPr>
          <a:p>
            <a:pPr>
              <a:lnSpc>
                <a:spcPct val="150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黑客在公网上截获了用户的数据操作请求包，进行复制，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再重复发送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给数据库，让数据库多次执行一样的操作，也可达到牟利目的。</a:t>
            </a:r>
            <a:endParaRPr lang="en-US" altLang="x-none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64516" name="Group 9"/>
          <p:cNvGrpSpPr/>
          <p:nvPr/>
        </p:nvGrpSpPr>
        <p:grpSpPr>
          <a:xfrm>
            <a:off x="4356100" y="3860800"/>
            <a:ext cx="865188" cy="730250"/>
            <a:chOff x="0" y="0"/>
            <a:chExt cx="777" cy="649"/>
          </a:xfrm>
        </p:grpSpPr>
        <p:grpSp>
          <p:nvGrpSpPr>
            <p:cNvPr id="64543" name="Group 10"/>
            <p:cNvGrpSpPr/>
            <p:nvPr/>
          </p:nvGrpSpPr>
          <p:grpSpPr>
            <a:xfrm>
              <a:off x="673" y="381"/>
              <a:ext cx="59" cy="147"/>
              <a:chOff x="0" y="0"/>
              <a:chExt cx="59" cy="147"/>
            </a:xfrm>
          </p:grpSpPr>
          <p:sp>
            <p:nvSpPr>
              <p:cNvPr id="64551" name="未知"/>
              <p:cNvSpPr/>
              <p:nvPr/>
            </p:nvSpPr>
            <p:spPr>
              <a:xfrm>
                <a:off x="2" y="5"/>
                <a:ext cx="57" cy="142"/>
              </a:xfrm>
              <a:custGeom>
                <a:avLst/>
                <a:gdLst>
                  <a:gd name="txL" fmla="*/ 0 w 57"/>
                  <a:gd name="txT" fmla="*/ 0 h 142"/>
                  <a:gd name="txR" fmla="*/ 57 w 57"/>
                  <a:gd name="txB" fmla="*/ 142 h 142"/>
                </a:gdLst>
                <a:ahLst/>
                <a:cxnLst>
                  <a:cxn ang="0">
                    <a:pos x="0" y="0"/>
                  </a:cxn>
                  <a:cxn ang="0">
                    <a:pos x="2" y="9"/>
                  </a:cxn>
                  <a:cxn ang="0">
                    <a:pos x="5" y="17"/>
                  </a:cxn>
                  <a:cxn ang="0">
                    <a:pos x="10" y="23"/>
                  </a:cxn>
                  <a:cxn ang="0">
                    <a:pos x="17" y="27"/>
                  </a:cxn>
                  <a:cxn ang="0">
                    <a:pos x="26" y="30"/>
                  </a:cxn>
                  <a:cxn ang="0">
                    <a:pos x="33" y="35"/>
                  </a:cxn>
                  <a:cxn ang="0">
                    <a:pos x="39" y="43"/>
                  </a:cxn>
                  <a:cxn ang="0">
                    <a:pos x="45" y="54"/>
                  </a:cxn>
                  <a:cxn ang="0">
                    <a:pos x="47" y="63"/>
                  </a:cxn>
                  <a:cxn ang="0">
                    <a:pos x="46" y="71"/>
                  </a:cxn>
                  <a:cxn ang="0">
                    <a:pos x="39" y="77"/>
                  </a:cxn>
                  <a:cxn ang="0">
                    <a:pos x="34" y="83"/>
                  </a:cxn>
                  <a:cxn ang="0">
                    <a:pos x="30" y="90"/>
                  </a:cxn>
                  <a:cxn ang="0">
                    <a:pos x="26" y="98"/>
                  </a:cxn>
                  <a:cxn ang="0">
                    <a:pos x="26" y="107"/>
                  </a:cxn>
                  <a:cxn ang="0">
                    <a:pos x="28" y="116"/>
                  </a:cxn>
                  <a:cxn ang="0">
                    <a:pos x="32" y="122"/>
                  </a:cxn>
                  <a:cxn ang="0">
                    <a:pos x="40" y="130"/>
                  </a:cxn>
                  <a:cxn ang="0">
                    <a:pos x="47" y="135"/>
                  </a:cxn>
                  <a:cxn ang="0">
                    <a:pos x="56" y="141"/>
                  </a:cxn>
                </a:cxnLst>
                <a:rect l="txL" t="txT" r="txR" b="txB"/>
                <a:pathLst>
                  <a:path w="57" h="142">
                    <a:moveTo>
                      <a:pt x="0" y="0"/>
                    </a:moveTo>
                    <a:lnTo>
                      <a:pt x="2" y="9"/>
                    </a:lnTo>
                    <a:lnTo>
                      <a:pt x="5" y="17"/>
                    </a:lnTo>
                    <a:lnTo>
                      <a:pt x="10" y="23"/>
                    </a:lnTo>
                    <a:lnTo>
                      <a:pt x="17" y="27"/>
                    </a:lnTo>
                    <a:lnTo>
                      <a:pt x="26" y="30"/>
                    </a:lnTo>
                    <a:lnTo>
                      <a:pt x="33" y="35"/>
                    </a:lnTo>
                    <a:lnTo>
                      <a:pt x="39" y="43"/>
                    </a:lnTo>
                    <a:lnTo>
                      <a:pt x="45" y="54"/>
                    </a:lnTo>
                    <a:lnTo>
                      <a:pt x="47" y="63"/>
                    </a:lnTo>
                    <a:lnTo>
                      <a:pt x="46" y="71"/>
                    </a:lnTo>
                    <a:lnTo>
                      <a:pt x="39" y="77"/>
                    </a:lnTo>
                    <a:lnTo>
                      <a:pt x="34" y="83"/>
                    </a:lnTo>
                    <a:lnTo>
                      <a:pt x="30" y="90"/>
                    </a:lnTo>
                    <a:lnTo>
                      <a:pt x="26" y="98"/>
                    </a:lnTo>
                    <a:lnTo>
                      <a:pt x="26" y="107"/>
                    </a:lnTo>
                    <a:lnTo>
                      <a:pt x="28" y="116"/>
                    </a:lnTo>
                    <a:lnTo>
                      <a:pt x="32" y="122"/>
                    </a:lnTo>
                    <a:lnTo>
                      <a:pt x="40" y="130"/>
                    </a:lnTo>
                    <a:lnTo>
                      <a:pt x="47" y="135"/>
                    </a:lnTo>
                    <a:lnTo>
                      <a:pt x="56" y="141"/>
                    </a:lnTo>
                  </a:path>
                </a:pathLst>
              </a:custGeom>
              <a:solidFill>
                <a:srgbClr val="333333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4552" name="Oval 12"/>
              <p:cNvSpPr/>
              <p:nvPr/>
            </p:nvSpPr>
            <p:spPr>
              <a:xfrm flipH="1" flipV="1">
                <a:off x="0" y="0"/>
                <a:ext cx="1" cy="3"/>
              </a:xfrm>
              <a:prstGeom prst="ellipse">
                <a:avLst/>
              </a:prstGeom>
              <a:solidFill>
                <a:srgbClr val="333333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rot="10800000"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sp>
          <p:nvSpPr>
            <p:cNvPr id="64544" name="未知"/>
            <p:cNvSpPr/>
            <p:nvPr/>
          </p:nvSpPr>
          <p:spPr>
            <a:xfrm>
              <a:off x="401" y="84"/>
              <a:ext cx="376" cy="338"/>
            </a:xfrm>
            <a:custGeom>
              <a:avLst/>
              <a:gdLst>
                <a:gd name="txL" fmla="*/ 0 w 376"/>
                <a:gd name="txT" fmla="*/ 0 h 338"/>
                <a:gd name="txR" fmla="*/ 376 w 376"/>
                <a:gd name="txB" fmla="*/ 338 h 338"/>
              </a:gdLst>
              <a:ahLst/>
              <a:cxnLst>
                <a:cxn ang="0">
                  <a:pos x="71" y="68"/>
                </a:cxn>
                <a:cxn ang="0">
                  <a:pos x="79" y="45"/>
                </a:cxn>
                <a:cxn ang="0">
                  <a:pos x="86" y="31"/>
                </a:cxn>
                <a:cxn ang="0">
                  <a:pos x="87" y="26"/>
                </a:cxn>
                <a:cxn ang="0">
                  <a:pos x="91" y="23"/>
                </a:cxn>
                <a:cxn ang="0">
                  <a:pos x="93" y="20"/>
                </a:cxn>
                <a:cxn ang="0">
                  <a:pos x="97" y="20"/>
                </a:cxn>
                <a:cxn ang="0">
                  <a:pos x="144" y="11"/>
                </a:cxn>
                <a:cxn ang="0">
                  <a:pos x="195" y="3"/>
                </a:cxn>
                <a:cxn ang="0">
                  <a:pos x="241" y="0"/>
                </a:cxn>
                <a:cxn ang="0">
                  <a:pos x="267" y="0"/>
                </a:cxn>
                <a:cxn ang="0">
                  <a:pos x="322" y="3"/>
                </a:cxn>
                <a:cxn ang="0">
                  <a:pos x="362" y="5"/>
                </a:cxn>
                <a:cxn ang="0">
                  <a:pos x="367" y="5"/>
                </a:cxn>
                <a:cxn ang="0">
                  <a:pos x="371" y="6"/>
                </a:cxn>
                <a:cxn ang="0">
                  <a:pos x="373" y="8"/>
                </a:cxn>
                <a:cxn ang="0">
                  <a:pos x="375" y="10"/>
                </a:cxn>
                <a:cxn ang="0">
                  <a:pos x="375" y="13"/>
                </a:cxn>
                <a:cxn ang="0">
                  <a:pos x="373" y="23"/>
                </a:cxn>
                <a:cxn ang="0">
                  <a:pos x="366" y="53"/>
                </a:cxn>
                <a:cxn ang="0">
                  <a:pos x="359" y="76"/>
                </a:cxn>
                <a:cxn ang="0">
                  <a:pos x="347" y="126"/>
                </a:cxn>
                <a:cxn ang="0">
                  <a:pos x="339" y="158"/>
                </a:cxn>
                <a:cxn ang="0">
                  <a:pos x="317" y="231"/>
                </a:cxn>
                <a:cxn ang="0">
                  <a:pos x="295" y="291"/>
                </a:cxn>
                <a:cxn ang="0">
                  <a:pos x="291" y="302"/>
                </a:cxn>
                <a:cxn ang="0">
                  <a:pos x="289" y="308"/>
                </a:cxn>
                <a:cxn ang="0">
                  <a:pos x="286" y="314"/>
                </a:cxn>
                <a:cxn ang="0">
                  <a:pos x="284" y="318"/>
                </a:cxn>
                <a:cxn ang="0">
                  <a:pos x="280" y="322"/>
                </a:cxn>
                <a:cxn ang="0">
                  <a:pos x="276" y="324"/>
                </a:cxn>
                <a:cxn ang="0">
                  <a:pos x="270" y="325"/>
                </a:cxn>
                <a:cxn ang="0">
                  <a:pos x="256" y="326"/>
                </a:cxn>
                <a:cxn ang="0">
                  <a:pos x="235" y="326"/>
                </a:cxn>
                <a:cxn ang="0">
                  <a:pos x="217" y="328"/>
                </a:cxn>
                <a:cxn ang="0">
                  <a:pos x="193" y="332"/>
                </a:cxn>
                <a:cxn ang="0">
                  <a:pos x="169" y="335"/>
                </a:cxn>
                <a:cxn ang="0">
                  <a:pos x="153" y="337"/>
                </a:cxn>
                <a:cxn ang="0">
                  <a:pos x="132" y="337"/>
                </a:cxn>
                <a:cxn ang="0">
                  <a:pos x="127" y="335"/>
                </a:cxn>
                <a:cxn ang="0">
                  <a:pos x="12" y="267"/>
                </a:cxn>
                <a:cxn ang="0">
                  <a:pos x="6" y="263"/>
                </a:cxn>
                <a:cxn ang="0">
                  <a:pos x="2" y="259"/>
                </a:cxn>
                <a:cxn ang="0">
                  <a:pos x="0" y="254"/>
                </a:cxn>
                <a:cxn ang="0">
                  <a:pos x="0" y="248"/>
                </a:cxn>
                <a:cxn ang="0">
                  <a:pos x="2" y="242"/>
                </a:cxn>
                <a:cxn ang="0">
                  <a:pos x="35" y="159"/>
                </a:cxn>
                <a:cxn ang="0">
                  <a:pos x="56" y="107"/>
                </a:cxn>
                <a:cxn ang="0">
                  <a:pos x="71" y="68"/>
                </a:cxn>
              </a:cxnLst>
              <a:rect l="txL" t="txT" r="txR" b="txB"/>
              <a:pathLst>
                <a:path w="376" h="338">
                  <a:moveTo>
                    <a:pt x="71" y="68"/>
                  </a:moveTo>
                  <a:lnTo>
                    <a:pt x="79" y="45"/>
                  </a:lnTo>
                  <a:lnTo>
                    <a:pt x="86" y="31"/>
                  </a:lnTo>
                  <a:lnTo>
                    <a:pt x="87" y="26"/>
                  </a:lnTo>
                  <a:lnTo>
                    <a:pt x="91" y="23"/>
                  </a:lnTo>
                  <a:lnTo>
                    <a:pt x="93" y="20"/>
                  </a:lnTo>
                  <a:lnTo>
                    <a:pt x="97" y="20"/>
                  </a:lnTo>
                  <a:lnTo>
                    <a:pt x="144" y="11"/>
                  </a:lnTo>
                  <a:lnTo>
                    <a:pt x="195" y="3"/>
                  </a:lnTo>
                  <a:lnTo>
                    <a:pt x="241" y="0"/>
                  </a:lnTo>
                  <a:lnTo>
                    <a:pt x="267" y="0"/>
                  </a:lnTo>
                  <a:lnTo>
                    <a:pt x="322" y="3"/>
                  </a:lnTo>
                  <a:lnTo>
                    <a:pt x="362" y="5"/>
                  </a:lnTo>
                  <a:lnTo>
                    <a:pt x="367" y="5"/>
                  </a:lnTo>
                  <a:lnTo>
                    <a:pt x="371" y="6"/>
                  </a:lnTo>
                  <a:lnTo>
                    <a:pt x="373" y="8"/>
                  </a:lnTo>
                  <a:lnTo>
                    <a:pt x="375" y="10"/>
                  </a:lnTo>
                  <a:lnTo>
                    <a:pt x="375" y="13"/>
                  </a:lnTo>
                  <a:lnTo>
                    <a:pt x="373" y="23"/>
                  </a:lnTo>
                  <a:lnTo>
                    <a:pt x="366" y="53"/>
                  </a:lnTo>
                  <a:lnTo>
                    <a:pt x="359" y="76"/>
                  </a:lnTo>
                  <a:lnTo>
                    <a:pt x="347" y="126"/>
                  </a:lnTo>
                  <a:lnTo>
                    <a:pt x="339" y="158"/>
                  </a:lnTo>
                  <a:lnTo>
                    <a:pt x="317" y="231"/>
                  </a:lnTo>
                  <a:lnTo>
                    <a:pt x="295" y="291"/>
                  </a:lnTo>
                  <a:lnTo>
                    <a:pt x="291" y="302"/>
                  </a:lnTo>
                  <a:lnTo>
                    <a:pt x="289" y="308"/>
                  </a:lnTo>
                  <a:lnTo>
                    <a:pt x="286" y="314"/>
                  </a:lnTo>
                  <a:lnTo>
                    <a:pt x="284" y="318"/>
                  </a:lnTo>
                  <a:lnTo>
                    <a:pt x="280" y="322"/>
                  </a:lnTo>
                  <a:lnTo>
                    <a:pt x="276" y="324"/>
                  </a:lnTo>
                  <a:lnTo>
                    <a:pt x="270" y="325"/>
                  </a:lnTo>
                  <a:lnTo>
                    <a:pt x="256" y="326"/>
                  </a:lnTo>
                  <a:lnTo>
                    <a:pt x="235" y="326"/>
                  </a:lnTo>
                  <a:lnTo>
                    <a:pt x="217" y="328"/>
                  </a:lnTo>
                  <a:lnTo>
                    <a:pt x="193" y="332"/>
                  </a:lnTo>
                  <a:lnTo>
                    <a:pt x="169" y="335"/>
                  </a:lnTo>
                  <a:lnTo>
                    <a:pt x="153" y="337"/>
                  </a:lnTo>
                  <a:lnTo>
                    <a:pt x="132" y="337"/>
                  </a:lnTo>
                  <a:lnTo>
                    <a:pt x="127" y="335"/>
                  </a:lnTo>
                  <a:lnTo>
                    <a:pt x="12" y="267"/>
                  </a:lnTo>
                  <a:lnTo>
                    <a:pt x="6" y="263"/>
                  </a:lnTo>
                  <a:lnTo>
                    <a:pt x="2" y="259"/>
                  </a:lnTo>
                  <a:lnTo>
                    <a:pt x="0" y="254"/>
                  </a:lnTo>
                  <a:lnTo>
                    <a:pt x="0" y="248"/>
                  </a:lnTo>
                  <a:lnTo>
                    <a:pt x="2" y="242"/>
                  </a:lnTo>
                  <a:lnTo>
                    <a:pt x="35" y="159"/>
                  </a:lnTo>
                  <a:lnTo>
                    <a:pt x="56" y="107"/>
                  </a:lnTo>
                  <a:lnTo>
                    <a:pt x="71" y="68"/>
                  </a:lnTo>
                </a:path>
              </a:pathLst>
            </a:custGeom>
            <a:solidFill>
              <a:srgbClr val="333333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4545" name="未知"/>
            <p:cNvSpPr/>
            <p:nvPr/>
          </p:nvSpPr>
          <p:spPr>
            <a:xfrm>
              <a:off x="275" y="352"/>
              <a:ext cx="401" cy="297"/>
            </a:xfrm>
            <a:custGeom>
              <a:avLst/>
              <a:gdLst>
                <a:gd name="txL" fmla="*/ 0 w 401"/>
                <a:gd name="txT" fmla="*/ 0 h 297"/>
                <a:gd name="txR" fmla="*/ 401 w 401"/>
                <a:gd name="txB" fmla="*/ 297 h 297"/>
              </a:gdLst>
              <a:ahLst/>
              <a:cxnLst>
                <a:cxn ang="0">
                  <a:pos x="400" y="295"/>
                </a:cxn>
                <a:cxn ang="0">
                  <a:pos x="400" y="142"/>
                </a:cxn>
                <a:cxn ang="0">
                  <a:pos x="395" y="20"/>
                </a:cxn>
                <a:cxn ang="0">
                  <a:pos x="191" y="0"/>
                </a:cxn>
                <a:cxn ang="0">
                  <a:pos x="6" y="18"/>
                </a:cxn>
                <a:cxn ang="0">
                  <a:pos x="5" y="61"/>
                </a:cxn>
                <a:cxn ang="0">
                  <a:pos x="0" y="294"/>
                </a:cxn>
                <a:cxn ang="0">
                  <a:pos x="41" y="294"/>
                </a:cxn>
                <a:cxn ang="0">
                  <a:pos x="41" y="83"/>
                </a:cxn>
                <a:cxn ang="0">
                  <a:pos x="121" y="78"/>
                </a:cxn>
                <a:cxn ang="0">
                  <a:pos x="363" y="78"/>
                </a:cxn>
                <a:cxn ang="0">
                  <a:pos x="366" y="296"/>
                </a:cxn>
                <a:cxn ang="0">
                  <a:pos x="400" y="295"/>
                </a:cxn>
              </a:cxnLst>
              <a:rect l="txL" t="txT" r="txR" b="txB"/>
              <a:pathLst>
                <a:path w="401" h="297">
                  <a:moveTo>
                    <a:pt x="400" y="295"/>
                  </a:moveTo>
                  <a:lnTo>
                    <a:pt x="400" y="142"/>
                  </a:lnTo>
                  <a:lnTo>
                    <a:pt x="395" y="20"/>
                  </a:lnTo>
                  <a:lnTo>
                    <a:pt x="191" y="0"/>
                  </a:lnTo>
                  <a:lnTo>
                    <a:pt x="6" y="18"/>
                  </a:lnTo>
                  <a:lnTo>
                    <a:pt x="5" y="61"/>
                  </a:lnTo>
                  <a:lnTo>
                    <a:pt x="0" y="294"/>
                  </a:lnTo>
                  <a:lnTo>
                    <a:pt x="41" y="294"/>
                  </a:lnTo>
                  <a:lnTo>
                    <a:pt x="41" y="83"/>
                  </a:lnTo>
                  <a:lnTo>
                    <a:pt x="121" y="78"/>
                  </a:lnTo>
                  <a:lnTo>
                    <a:pt x="363" y="78"/>
                  </a:lnTo>
                  <a:lnTo>
                    <a:pt x="366" y="296"/>
                  </a:lnTo>
                  <a:lnTo>
                    <a:pt x="400" y="295"/>
                  </a:lnTo>
                </a:path>
              </a:pathLst>
            </a:custGeom>
            <a:solidFill>
              <a:srgbClr val="333333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4546" name="未知"/>
            <p:cNvSpPr/>
            <p:nvPr/>
          </p:nvSpPr>
          <p:spPr>
            <a:xfrm>
              <a:off x="304" y="350"/>
              <a:ext cx="158" cy="76"/>
            </a:xfrm>
            <a:custGeom>
              <a:avLst/>
              <a:gdLst>
                <a:gd name="txL" fmla="*/ 0 w 158"/>
                <a:gd name="txT" fmla="*/ 0 h 76"/>
                <a:gd name="txR" fmla="*/ 158 w 158"/>
                <a:gd name="txB" fmla="*/ 76 h 76"/>
              </a:gdLst>
              <a:ahLst/>
              <a:cxnLst>
                <a:cxn ang="0">
                  <a:pos x="30" y="14"/>
                </a:cxn>
                <a:cxn ang="0">
                  <a:pos x="50" y="12"/>
                </a:cxn>
                <a:cxn ang="0">
                  <a:pos x="70" y="0"/>
                </a:cxn>
                <a:cxn ang="0">
                  <a:pos x="89" y="17"/>
                </a:cxn>
                <a:cxn ang="0">
                  <a:pos x="153" y="52"/>
                </a:cxn>
                <a:cxn ang="0">
                  <a:pos x="157" y="64"/>
                </a:cxn>
                <a:cxn ang="0">
                  <a:pos x="121" y="75"/>
                </a:cxn>
                <a:cxn ang="0">
                  <a:pos x="0" y="23"/>
                </a:cxn>
                <a:cxn ang="0">
                  <a:pos x="30" y="14"/>
                </a:cxn>
              </a:cxnLst>
              <a:rect l="txL" t="txT" r="txR" b="txB"/>
              <a:pathLst>
                <a:path w="158" h="76">
                  <a:moveTo>
                    <a:pt x="30" y="14"/>
                  </a:moveTo>
                  <a:lnTo>
                    <a:pt x="50" y="12"/>
                  </a:lnTo>
                  <a:lnTo>
                    <a:pt x="70" y="0"/>
                  </a:lnTo>
                  <a:lnTo>
                    <a:pt x="89" y="17"/>
                  </a:lnTo>
                  <a:lnTo>
                    <a:pt x="153" y="52"/>
                  </a:lnTo>
                  <a:lnTo>
                    <a:pt x="157" y="64"/>
                  </a:lnTo>
                  <a:lnTo>
                    <a:pt x="121" y="75"/>
                  </a:lnTo>
                  <a:lnTo>
                    <a:pt x="0" y="23"/>
                  </a:lnTo>
                  <a:lnTo>
                    <a:pt x="30" y="14"/>
                  </a:lnTo>
                </a:path>
              </a:pathLst>
            </a:custGeom>
            <a:solidFill>
              <a:srgbClr val="333333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4547" name="未知"/>
            <p:cNvSpPr/>
            <p:nvPr/>
          </p:nvSpPr>
          <p:spPr>
            <a:xfrm>
              <a:off x="438" y="108"/>
              <a:ext cx="211" cy="235"/>
            </a:xfrm>
            <a:custGeom>
              <a:avLst/>
              <a:gdLst>
                <a:gd name="txL" fmla="*/ 0 w 211"/>
                <a:gd name="txT" fmla="*/ 0 h 235"/>
                <a:gd name="txR" fmla="*/ 211 w 211"/>
                <a:gd name="txB" fmla="*/ 235 h 235"/>
              </a:gdLst>
              <a:ahLst/>
              <a:cxnLst>
                <a:cxn ang="0">
                  <a:pos x="47" y="69"/>
                </a:cxn>
                <a:cxn ang="0">
                  <a:pos x="63" y="36"/>
                </a:cxn>
                <a:cxn ang="0">
                  <a:pos x="76" y="6"/>
                </a:cxn>
                <a:cxn ang="0">
                  <a:pos x="79" y="5"/>
                </a:cxn>
                <a:cxn ang="0">
                  <a:pos x="81" y="4"/>
                </a:cxn>
                <a:cxn ang="0">
                  <a:pos x="85" y="4"/>
                </a:cxn>
                <a:cxn ang="0">
                  <a:pos x="145" y="0"/>
                </a:cxn>
                <a:cxn ang="0">
                  <a:pos x="203" y="0"/>
                </a:cxn>
                <a:cxn ang="0">
                  <a:pos x="207" y="1"/>
                </a:cxn>
                <a:cxn ang="0">
                  <a:pos x="209" y="1"/>
                </a:cxn>
                <a:cxn ang="0">
                  <a:pos x="210" y="4"/>
                </a:cxn>
                <a:cxn ang="0">
                  <a:pos x="206" y="25"/>
                </a:cxn>
                <a:cxn ang="0">
                  <a:pos x="196" y="44"/>
                </a:cxn>
                <a:cxn ang="0">
                  <a:pos x="180" y="77"/>
                </a:cxn>
                <a:cxn ang="0">
                  <a:pos x="151" y="135"/>
                </a:cxn>
                <a:cxn ang="0">
                  <a:pos x="125" y="185"/>
                </a:cxn>
                <a:cxn ang="0">
                  <a:pos x="118" y="204"/>
                </a:cxn>
                <a:cxn ang="0">
                  <a:pos x="114" y="217"/>
                </a:cxn>
                <a:cxn ang="0">
                  <a:pos x="110" y="224"/>
                </a:cxn>
                <a:cxn ang="0">
                  <a:pos x="106" y="230"/>
                </a:cxn>
                <a:cxn ang="0">
                  <a:pos x="103" y="232"/>
                </a:cxn>
                <a:cxn ang="0">
                  <a:pos x="101" y="233"/>
                </a:cxn>
                <a:cxn ang="0">
                  <a:pos x="97" y="234"/>
                </a:cxn>
                <a:cxn ang="0">
                  <a:pos x="94" y="233"/>
                </a:cxn>
                <a:cxn ang="0">
                  <a:pos x="88" y="230"/>
                </a:cxn>
                <a:cxn ang="0">
                  <a:pos x="82" y="226"/>
                </a:cxn>
                <a:cxn ang="0">
                  <a:pos x="76" y="221"/>
                </a:cxn>
                <a:cxn ang="0">
                  <a:pos x="68" y="217"/>
                </a:cxn>
                <a:cxn ang="0">
                  <a:pos x="62" y="213"/>
                </a:cxn>
                <a:cxn ang="0">
                  <a:pos x="2" y="192"/>
                </a:cxn>
                <a:cxn ang="0">
                  <a:pos x="1" y="191"/>
                </a:cxn>
                <a:cxn ang="0">
                  <a:pos x="0" y="189"/>
                </a:cxn>
                <a:cxn ang="0">
                  <a:pos x="0" y="186"/>
                </a:cxn>
                <a:cxn ang="0">
                  <a:pos x="1" y="183"/>
                </a:cxn>
                <a:cxn ang="0">
                  <a:pos x="47" y="69"/>
                </a:cxn>
              </a:cxnLst>
              <a:rect l="txL" t="txT" r="txR" b="txB"/>
              <a:pathLst>
                <a:path w="211" h="235">
                  <a:moveTo>
                    <a:pt x="47" y="69"/>
                  </a:moveTo>
                  <a:lnTo>
                    <a:pt x="63" y="36"/>
                  </a:lnTo>
                  <a:lnTo>
                    <a:pt x="76" y="6"/>
                  </a:lnTo>
                  <a:lnTo>
                    <a:pt x="79" y="5"/>
                  </a:lnTo>
                  <a:lnTo>
                    <a:pt x="81" y="4"/>
                  </a:lnTo>
                  <a:lnTo>
                    <a:pt x="85" y="4"/>
                  </a:lnTo>
                  <a:lnTo>
                    <a:pt x="145" y="0"/>
                  </a:lnTo>
                  <a:lnTo>
                    <a:pt x="203" y="0"/>
                  </a:lnTo>
                  <a:lnTo>
                    <a:pt x="207" y="1"/>
                  </a:lnTo>
                  <a:lnTo>
                    <a:pt x="209" y="1"/>
                  </a:lnTo>
                  <a:lnTo>
                    <a:pt x="210" y="4"/>
                  </a:lnTo>
                  <a:lnTo>
                    <a:pt x="206" y="25"/>
                  </a:lnTo>
                  <a:lnTo>
                    <a:pt x="196" y="44"/>
                  </a:lnTo>
                  <a:lnTo>
                    <a:pt x="180" y="77"/>
                  </a:lnTo>
                  <a:lnTo>
                    <a:pt x="151" y="135"/>
                  </a:lnTo>
                  <a:lnTo>
                    <a:pt x="125" y="185"/>
                  </a:lnTo>
                  <a:lnTo>
                    <a:pt x="118" y="204"/>
                  </a:lnTo>
                  <a:lnTo>
                    <a:pt x="114" y="217"/>
                  </a:lnTo>
                  <a:lnTo>
                    <a:pt x="110" y="224"/>
                  </a:lnTo>
                  <a:lnTo>
                    <a:pt x="106" y="230"/>
                  </a:lnTo>
                  <a:lnTo>
                    <a:pt x="103" y="232"/>
                  </a:lnTo>
                  <a:lnTo>
                    <a:pt x="101" y="233"/>
                  </a:lnTo>
                  <a:lnTo>
                    <a:pt x="97" y="234"/>
                  </a:lnTo>
                  <a:lnTo>
                    <a:pt x="94" y="233"/>
                  </a:lnTo>
                  <a:lnTo>
                    <a:pt x="88" y="230"/>
                  </a:lnTo>
                  <a:lnTo>
                    <a:pt x="82" y="226"/>
                  </a:lnTo>
                  <a:lnTo>
                    <a:pt x="76" y="221"/>
                  </a:lnTo>
                  <a:lnTo>
                    <a:pt x="68" y="217"/>
                  </a:lnTo>
                  <a:lnTo>
                    <a:pt x="62" y="213"/>
                  </a:lnTo>
                  <a:lnTo>
                    <a:pt x="2" y="192"/>
                  </a:lnTo>
                  <a:lnTo>
                    <a:pt x="1" y="191"/>
                  </a:lnTo>
                  <a:lnTo>
                    <a:pt x="0" y="189"/>
                  </a:lnTo>
                  <a:lnTo>
                    <a:pt x="0" y="186"/>
                  </a:lnTo>
                  <a:lnTo>
                    <a:pt x="1" y="183"/>
                  </a:lnTo>
                  <a:lnTo>
                    <a:pt x="47" y="69"/>
                  </a:lnTo>
                </a:path>
              </a:pathLst>
            </a:custGeom>
            <a:solidFill>
              <a:srgbClr val="333333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4548" name="未知"/>
            <p:cNvSpPr/>
            <p:nvPr/>
          </p:nvSpPr>
          <p:spPr>
            <a:xfrm>
              <a:off x="0" y="289"/>
              <a:ext cx="249" cy="351"/>
            </a:xfrm>
            <a:custGeom>
              <a:avLst/>
              <a:gdLst>
                <a:gd name="txL" fmla="*/ 0 w 249"/>
                <a:gd name="txT" fmla="*/ 0 h 351"/>
                <a:gd name="txR" fmla="*/ 249 w 249"/>
                <a:gd name="txB" fmla="*/ 351 h 351"/>
              </a:gdLst>
              <a:ahLst/>
              <a:cxnLst>
                <a:cxn ang="0">
                  <a:pos x="248" y="165"/>
                </a:cxn>
                <a:cxn ang="0">
                  <a:pos x="178" y="129"/>
                </a:cxn>
                <a:cxn ang="0">
                  <a:pos x="100" y="6"/>
                </a:cxn>
                <a:cxn ang="0">
                  <a:pos x="97" y="5"/>
                </a:cxn>
                <a:cxn ang="0">
                  <a:pos x="91" y="2"/>
                </a:cxn>
                <a:cxn ang="0">
                  <a:pos x="85" y="1"/>
                </a:cxn>
                <a:cxn ang="0">
                  <a:pos x="76" y="0"/>
                </a:cxn>
                <a:cxn ang="0">
                  <a:pos x="69" y="1"/>
                </a:cxn>
                <a:cxn ang="0">
                  <a:pos x="61" y="3"/>
                </a:cxn>
                <a:cxn ang="0">
                  <a:pos x="53" y="6"/>
                </a:cxn>
                <a:cxn ang="0">
                  <a:pos x="42" y="12"/>
                </a:cxn>
                <a:cxn ang="0">
                  <a:pos x="34" y="16"/>
                </a:cxn>
                <a:cxn ang="0">
                  <a:pos x="26" y="21"/>
                </a:cxn>
                <a:cxn ang="0">
                  <a:pos x="20" y="27"/>
                </a:cxn>
                <a:cxn ang="0">
                  <a:pos x="15" y="32"/>
                </a:cxn>
                <a:cxn ang="0">
                  <a:pos x="8" y="41"/>
                </a:cxn>
                <a:cxn ang="0">
                  <a:pos x="4" y="47"/>
                </a:cxn>
                <a:cxn ang="0">
                  <a:pos x="1" y="56"/>
                </a:cxn>
                <a:cxn ang="0">
                  <a:pos x="0" y="66"/>
                </a:cxn>
                <a:cxn ang="0">
                  <a:pos x="0" y="81"/>
                </a:cxn>
                <a:cxn ang="0">
                  <a:pos x="2" y="99"/>
                </a:cxn>
                <a:cxn ang="0">
                  <a:pos x="6" y="115"/>
                </a:cxn>
                <a:cxn ang="0">
                  <a:pos x="13" y="134"/>
                </a:cxn>
                <a:cxn ang="0">
                  <a:pos x="20" y="151"/>
                </a:cxn>
                <a:cxn ang="0">
                  <a:pos x="25" y="162"/>
                </a:cxn>
                <a:cxn ang="0">
                  <a:pos x="34" y="173"/>
                </a:cxn>
                <a:cxn ang="0">
                  <a:pos x="41" y="181"/>
                </a:cxn>
                <a:cxn ang="0">
                  <a:pos x="48" y="191"/>
                </a:cxn>
                <a:cxn ang="0">
                  <a:pos x="57" y="200"/>
                </a:cxn>
                <a:cxn ang="0">
                  <a:pos x="64" y="206"/>
                </a:cxn>
                <a:cxn ang="0">
                  <a:pos x="97" y="202"/>
                </a:cxn>
                <a:cxn ang="0">
                  <a:pos x="122" y="195"/>
                </a:cxn>
                <a:cxn ang="0">
                  <a:pos x="137" y="199"/>
                </a:cxn>
                <a:cxn ang="0">
                  <a:pos x="174" y="200"/>
                </a:cxn>
                <a:cxn ang="0">
                  <a:pos x="219" y="195"/>
                </a:cxn>
                <a:cxn ang="0">
                  <a:pos x="225" y="207"/>
                </a:cxn>
                <a:cxn ang="0">
                  <a:pos x="225" y="300"/>
                </a:cxn>
                <a:cxn ang="0">
                  <a:pos x="224" y="308"/>
                </a:cxn>
                <a:cxn ang="0">
                  <a:pos x="222" y="314"/>
                </a:cxn>
                <a:cxn ang="0">
                  <a:pos x="220" y="319"/>
                </a:cxn>
                <a:cxn ang="0">
                  <a:pos x="216" y="324"/>
                </a:cxn>
                <a:cxn ang="0">
                  <a:pos x="211" y="328"/>
                </a:cxn>
                <a:cxn ang="0">
                  <a:pos x="205" y="330"/>
                </a:cxn>
                <a:cxn ang="0">
                  <a:pos x="200" y="332"/>
                </a:cxn>
                <a:cxn ang="0">
                  <a:pos x="194" y="333"/>
                </a:cxn>
                <a:cxn ang="0">
                  <a:pos x="26" y="333"/>
                </a:cxn>
                <a:cxn ang="0">
                  <a:pos x="26" y="350"/>
                </a:cxn>
                <a:cxn ang="0">
                  <a:pos x="199" y="349"/>
                </a:cxn>
                <a:cxn ang="0">
                  <a:pos x="208" y="348"/>
                </a:cxn>
                <a:cxn ang="0">
                  <a:pos x="213" y="348"/>
                </a:cxn>
                <a:cxn ang="0">
                  <a:pos x="220" y="346"/>
                </a:cxn>
                <a:cxn ang="0">
                  <a:pos x="225" y="345"/>
                </a:cxn>
                <a:cxn ang="0">
                  <a:pos x="231" y="341"/>
                </a:cxn>
                <a:cxn ang="0">
                  <a:pos x="237" y="334"/>
                </a:cxn>
                <a:cxn ang="0">
                  <a:pos x="240" y="328"/>
                </a:cxn>
                <a:cxn ang="0">
                  <a:pos x="244" y="322"/>
                </a:cxn>
                <a:cxn ang="0">
                  <a:pos x="246" y="315"/>
                </a:cxn>
                <a:cxn ang="0">
                  <a:pos x="248" y="307"/>
                </a:cxn>
                <a:cxn ang="0">
                  <a:pos x="248" y="297"/>
                </a:cxn>
                <a:cxn ang="0">
                  <a:pos x="248" y="165"/>
                </a:cxn>
              </a:cxnLst>
              <a:rect l="txL" t="txT" r="txR" b="txB"/>
              <a:pathLst>
                <a:path w="249" h="351">
                  <a:moveTo>
                    <a:pt x="248" y="165"/>
                  </a:moveTo>
                  <a:lnTo>
                    <a:pt x="178" y="129"/>
                  </a:lnTo>
                  <a:lnTo>
                    <a:pt x="100" y="6"/>
                  </a:lnTo>
                  <a:lnTo>
                    <a:pt x="97" y="5"/>
                  </a:lnTo>
                  <a:lnTo>
                    <a:pt x="91" y="2"/>
                  </a:lnTo>
                  <a:lnTo>
                    <a:pt x="85" y="1"/>
                  </a:lnTo>
                  <a:lnTo>
                    <a:pt x="76" y="0"/>
                  </a:lnTo>
                  <a:lnTo>
                    <a:pt x="69" y="1"/>
                  </a:lnTo>
                  <a:lnTo>
                    <a:pt x="61" y="3"/>
                  </a:lnTo>
                  <a:lnTo>
                    <a:pt x="53" y="6"/>
                  </a:lnTo>
                  <a:lnTo>
                    <a:pt x="42" y="12"/>
                  </a:lnTo>
                  <a:lnTo>
                    <a:pt x="34" y="16"/>
                  </a:lnTo>
                  <a:lnTo>
                    <a:pt x="26" y="21"/>
                  </a:lnTo>
                  <a:lnTo>
                    <a:pt x="20" y="27"/>
                  </a:lnTo>
                  <a:lnTo>
                    <a:pt x="15" y="32"/>
                  </a:lnTo>
                  <a:lnTo>
                    <a:pt x="8" y="41"/>
                  </a:lnTo>
                  <a:lnTo>
                    <a:pt x="4" y="47"/>
                  </a:lnTo>
                  <a:lnTo>
                    <a:pt x="1" y="56"/>
                  </a:lnTo>
                  <a:lnTo>
                    <a:pt x="0" y="66"/>
                  </a:lnTo>
                  <a:lnTo>
                    <a:pt x="0" y="81"/>
                  </a:lnTo>
                  <a:lnTo>
                    <a:pt x="2" y="99"/>
                  </a:lnTo>
                  <a:lnTo>
                    <a:pt x="6" y="115"/>
                  </a:lnTo>
                  <a:lnTo>
                    <a:pt x="13" y="134"/>
                  </a:lnTo>
                  <a:lnTo>
                    <a:pt x="20" y="151"/>
                  </a:lnTo>
                  <a:lnTo>
                    <a:pt x="25" y="162"/>
                  </a:lnTo>
                  <a:lnTo>
                    <a:pt x="34" y="173"/>
                  </a:lnTo>
                  <a:lnTo>
                    <a:pt x="41" y="181"/>
                  </a:lnTo>
                  <a:lnTo>
                    <a:pt x="48" y="191"/>
                  </a:lnTo>
                  <a:lnTo>
                    <a:pt x="57" y="200"/>
                  </a:lnTo>
                  <a:lnTo>
                    <a:pt x="64" y="206"/>
                  </a:lnTo>
                  <a:lnTo>
                    <a:pt x="97" y="202"/>
                  </a:lnTo>
                  <a:lnTo>
                    <a:pt x="122" y="195"/>
                  </a:lnTo>
                  <a:lnTo>
                    <a:pt x="137" y="199"/>
                  </a:lnTo>
                  <a:lnTo>
                    <a:pt x="174" y="200"/>
                  </a:lnTo>
                  <a:lnTo>
                    <a:pt x="219" y="195"/>
                  </a:lnTo>
                  <a:lnTo>
                    <a:pt x="225" y="207"/>
                  </a:lnTo>
                  <a:lnTo>
                    <a:pt x="225" y="300"/>
                  </a:lnTo>
                  <a:lnTo>
                    <a:pt x="224" y="308"/>
                  </a:lnTo>
                  <a:lnTo>
                    <a:pt x="222" y="314"/>
                  </a:lnTo>
                  <a:lnTo>
                    <a:pt x="220" y="319"/>
                  </a:lnTo>
                  <a:lnTo>
                    <a:pt x="216" y="324"/>
                  </a:lnTo>
                  <a:lnTo>
                    <a:pt x="211" y="328"/>
                  </a:lnTo>
                  <a:lnTo>
                    <a:pt x="205" y="330"/>
                  </a:lnTo>
                  <a:lnTo>
                    <a:pt x="200" y="332"/>
                  </a:lnTo>
                  <a:lnTo>
                    <a:pt x="194" y="333"/>
                  </a:lnTo>
                  <a:lnTo>
                    <a:pt x="26" y="333"/>
                  </a:lnTo>
                  <a:lnTo>
                    <a:pt x="26" y="350"/>
                  </a:lnTo>
                  <a:lnTo>
                    <a:pt x="199" y="349"/>
                  </a:lnTo>
                  <a:lnTo>
                    <a:pt x="208" y="348"/>
                  </a:lnTo>
                  <a:lnTo>
                    <a:pt x="213" y="348"/>
                  </a:lnTo>
                  <a:lnTo>
                    <a:pt x="220" y="346"/>
                  </a:lnTo>
                  <a:lnTo>
                    <a:pt x="225" y="345"/>
                  </a:lnTo>
                  <a:lnTo>
                    <a:pt x="231" y="341"/>
                  </a:lnTo>
                  <a:lnTo>
                    <a:pt x="237" y="334"/>
                  </a:lnTo>
                  <a:lnTo>
                    <a:pt x="240" y="328"/>
                  </a:lnTo>
                  <a:lnTo>
                    <a:pt x="244" y="322"/>
                  </a:lnTo>
                  <a:lnTo>
                    <a:pt x="246" y="315"/>
                  </a:lnTo>
                  <a:lnTo>
                    <a:pt x="248" y="307"/>
                  </a:lnTo>
                  <a:lnTo>
                    <a:pt x="248" y="297"/>
                  </a:lnTo>
                  <a:lnTo>
                    <a:pt x="248" y="165"/>
                  </a:lnTo>
                </a:path>
              </a:pathLst>
            </a:custGeom>
            <a:solidFill>
              <a:srgbClr val="333333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4549" name="未知"/>
            <p:cNvSpPr/>
            <p:nvPr/>
          </p:nvSpPr>
          <p:spPr>
            <a:xfrm>
              <a:off x="50" y="0"/>
              <a:ext cx="380" cy="636"/>
            </a:xfrm>
            <a:custGeom>
              <a:avLst/>
              <a:gdLst>
                <a:gd name="txL" fmla="*/ 0 w 380"/>
                <a:gd name="txT" fmla="*/ 0 h 636"/>
                <a:gd name="txR" fmla="*/ 380 w 380"/>
                <a:gd name="txB" fmla="*/ 636 h 636"/>
              </a:gdLst>
              <a:ahLst/>
              <a:cxnLst>
                <a:cxn ang="0">
                  <a:pos x="153" y="43"/>
                </a:cxn>
                <a:cxn ang="0">
                  <a:pos x="158" y="42"/>
                </a:cxn>
                <a:cxn ang="0">
                  <a:pos x="178" y="48"/>
                </a:cxn>
                <a:cxn ang="0">
                  <a:pos x="174" y="2"/>
                </a:cxn>
                <a:cxn ang="0">
                  <a:pos x="203" y="35"/>
                </a:cxn>
                <a:cxn ang="0">
                  <a:pos x="211" y="9"/>
                </a:cxn>
                <a:cxn ang="0">
                  <a:pos x="236" y="0"/>
                </a:cxn>
                <a:cxn ang="0">
                  <a:pos x="233" y="24"/>
                </a:cxn>
                <a:cxn ang="0">
                  <a:pos x="248" y="15"/>
                </a:cxn>
                <a:cxn ang="0">
                  <a:pos x="246" y="28"/>
                </a:cxn>
                <a:cxn ang="0">
                  <a:pos x="255" y="51"/>
                </a:cxn>
                <a:cxn ang="0">
                  <a:pos x="288" y="18"/>
                </a:cxn>
                <a:cxn ang="0">
                  <a:pos x="266" y="50"/>
                </a:cxn>
                <a:cxn ang="0">
                  <a:pos x="304" y="28"/>
                </a:cxn>
                <a:cxn ang="0">
                  <a:pos x="287" y="53"/>
                </a:cxn>
                <a:cxn ang="0">
                  <a:pos x="291" y="66"/>
                </a:cxn>
                <a:cxn ang="0">
                  <a:pos x="289" y="94"/>
                </a:cxn>
                <a:cxn ang="0">
                  <a:pos x="318" y="130"/>
                </a:cxn>
                <a:cxn ang="0">
                  <a:pos x="344" y="174"/>
                </a:cxn>
                <a:cxn ang="0">
                  <a:pos x="337" y="182"/>
                </a:cxn>
                <a:cxn ang="0">
                  <a:pos x="276" y="216"/>
                </a:cxn>
                <a:cxn ang="0">
                  <a:pos x="258" y="257"/>
                </a:cxn>
                <a:cxn ang="0">
                  <a:pos x="197" y="249"/>
                </a:cxn>
                <a:cxn ang="0">
                  <a:pos x="180" y="322"/>
                </a:cxn>
                <a:cxn ang="0">
                  <a:pos x="230" y="363"/>
                </a:cxn>
                <a:cxn ang="0">
                  <a:pos x="287" y="372"/>
                </a:cxn>
                <a:cxn ang="0">
                  <a:pos x="325" y="371"/>
                </a:cxn>
                <a:cxn ang="0">
                  <a:pos x="350" y="364"/>
                </a:cxn>
                <a:cxn ang="0">
                  <a:pos x="357" y="381"/>
                </a:cxn>
                <a:cxn ang="0">
                  <a:pos x="379" y="394"/>
                </a:cxn>
                <a:cxn ang="0">
                  <a:pos x="370" y="406"/>
                </a:cxn>
                <a:cxn ang="0">
                  <a:pos x="375" y="421"/>
                </a:cxn>
                <a:cxn ang="0">
                  <a:pos x="363" y="439"/>
                </a:cxn>
                <a:cxn ang="0">
                  <a:pos x="358" y="448"/>
                </a:cxn>
                <a:cxn ang="0">
                  <a:pos x="312" y="433"/>
                </a:cxn>
                <a:cxn ang="0">
                  <a:pos x="231" y="414"/>
                </a:cxn>
                <a:cxn ang="0">
                  <a:pos x="178" y="407"/>
                </a:cxn>
                <a:cxn ang="0">
                  <a:pos x="164" y="392"/>
                </a:cxn>
                <a:cxn ang="0">
                  <a:pos x="170" y="402"/>
                </a:cxn>
                <a:cxn ang="0">
                  <a:pos x="205" y="412"/>
                </a:cxn>
                <a:cxn ang="0">
                  <a:pos x="234" y="431"/>
                </a:cxn>
                <a:cxn ang="0">
                  <a:pos x="227" y="451"/>
                </a:cxn>
                <a:cxn ang="0">
                  <a:pos x="175" y="493"/>
                </a:cxn>
                <a:cxn ang="0">
                  <a:pos x="115" y="528"/>
                </a:cxn>
                <a:cxn ang="0">
                  <a:pos x="104" y="582"/>
                </a:cxn>
                <a:cxn ang="0">
                  <a:pos x="138" y="626"/>
                </a:cxn>
                <a:cxn ang="0">
                  <a:pos x="83" y="632"/>
                </a:cxn>
                <a:cxn ang="0">
                  <a:pos x="47" y="629"/>
                </a:cxn>
                <a:cxn ang="0">
                  <a:pos x="48" y="549"/>
                </a:cxn>
                <a:cxn ang="0">
                  <a:pos x="27" y="528"/>
                </a:cxn>
                <a:cxn ang="0">
                  <a:pos x="40" y="508"/>
                </a:cxn>
                <a:cxn ang="0">
                  <a:pos x="103" y="483"/>
                </a:cxn>
                <a:cxn ang="0">
                  <a:pos x="124" y="447"/>
                </a:cxn>
                <a:cxn ang="0">
                  <a:pos x="26" y="440"/>
                </a:cxn>
                <a:cxn ang="0">
                  <a:pos x="6" y="431"/>
                </a:cxn>
                <a:cxn ang="0">
                  <a:pos x="0" y="399"/>
                </a:cxn>
                <a:cxn ang="0">
                  <a:pos x="6" y="368"/>
                </a:cxn>
                <a:cxn ang="0">
                  <a:pos x="51" y="265"/>
                </a:cxn>
                <a:cxn ang="0">
                  <a:pos x="104" y="196"/>
                </a:cxn>
                <a:cxn ang="0">
                  <a:pos x="130" y="136"/>
                </a:cxn>
              </a:cxnLst>
              <a:rect l="txL" t="txT" r="txR" b="txB"/>
              <a:pathLst>
                <a:path w="380" h="636">
                  <a:moveTo>
                    <a:pt x="130" y="136"/>
                  </a:moveTo>
                  <a:lnTo>
                    <a:pt x="140" y="107"/>
                  </a:lnTo>
                  <a:lnTo>
                    <a:pt x="148" y="73"/>
                  </a:lnTo>
                  <a:lnTo>
                    <a:pt x="153" y="43"/>
                  </a:lnTo>
                  <a:lnTo>
                    <a:pt x="144" y="27"/>
                  </a:lnTo>
                  <a:lnTo>
                    <a:pt x="135" y="19"/>
                  </a:lnTo>
                  <a:lnTo>
                    <a:pt x="148" y="28"/>
                  </a:lnTo>
                  <a:lnTo>
                    <a:pt x="158" y="42"/>
                  </a:lnTo>
                  <a:lnTo>
                    <a:pt x="150" y="10"/>
                  </a:lnTo>
                  <a:lnTo>
                    <a:pt x="157" y="25"/>
                  </a:lnTo>
                  <a:lnTo>
                    <a:pt x="171" y="46"/>
                  </a:lnTo>
                  <a:lnTo>
                    <a:pt x="178" y="48"/>
                  </a:lnTo>
                  <a:lnTo>
                    <a:pt x="174" y="31"/>
                  </a:lnTo>
                  <a:lnTo>
                    <a:pt x="177" y="33"/>
                  </a:lnTo>
                  <a:lnTo>
                    <a:pt x="178" y="18"/>
                  </a:lnTo>
                  <a:lnTo>
                    <a:pt x="174" y="2"/>
                  </a:lnTo>
                  <a:lnTo>
                    <a:pt x="197" y="44"/>
                  </a:lnTo>
                  <a:lnTo>
                    <a:pt x="198" y="37"/>
                  </a:lnTo>
                  <a:lnTo>
                    <a:pt x="201" y="42"/>
                  </a:lnTo>
                  <a:lnTo>
                    <a:pt x="203" y="35"/>
                  </a:lnTo>
                  <a:lnTo>
                    <a:pt x="198" y="25"/>
                  </a:lnTo>
                  <a:lnTo>
                    <a:pt x="199" y="6"/>
                  </a:lnTo>
                  <a:lnTo>
                    <a:pt x="207" y="44"/>
                  </a:lnTo>
                  <a:lnTo>
                    <a:pt x="211" y="9"/>
                  </a:lnTo>
                  <a:lnTo>
                    <a:pt x="211" y="36"/>
                  </a:lnTo>
                  <a:lnTo>
                    <a:pt x="215" y="43"/>
                  </a:lnTo>
                  <a:lnTo>
                    <a:pt x="222" y="13"/>
                  </a:lnTo>
                  <a:lnTo>
                    <a:pt x="236" y="0"/>
                  </a:lnTo>
                  <a:lnTo>
                    <a:pt x="226" y="13"/>
                  </a:lnTo>
                  <a:lnTo>
                    <a:pt x="221" y="36"/>
                  </a:lnTo>
                  <a:lnTo>
                    <a:pt x="223" y="41"/>
                  </a:lnTo>
                  <a:lnTo>
                    <a:pt x="233" y="24"/>
                  </a:lnTo>
                  <a:lnTo>
                    <a:pt x="226" y="39"/>
                  </a:lnTo>
                  <a:lnTo>
                    <a:pt x="226" y="45"/>
                  </a:lnTo>
                  <a:lnTo>
                    <a:pt x="247" y="9"/>
                  </a:lnTo>
                  <a:lnTo>
                    <a:pt x="248" y="15"/>
                  </a:lnTo>
                  <a:lnTo>
                    <a:pt x="238" y="35"/>
                  </a:lnTo>
                  <a:lnTo>
                    <a:pt x="238" y="48"/>
                  </a:lnTo>
                  <a:lnTo>
                    <a:pt x="241" y="50"/>
                  </a:lnTo>
                  <a:lnTo>
                    <a:pt x="246" y="28"/>
                  </a:lnTo>
                  <a:lnTo>
                    <a:pt x="256" y="12"/>
                  </a:lnTo>
                  <a:lnTo>
                    <a:pt x="248" y="29"/>
                  </a:lnTo>
                  <a:lnTo>
                    <a:pt x="250" y="53"/>
                  </a:lnTo>
                  <a:lnTo>
                    <a:pt x="255" y="51"/>
                  </a:lnTo>
                  <a:lnTo>
                    <a:pt x="265" y="20"/>
                  </a:lnTo>
                  <a:lnTo>
                    <a:pt x="258" y="53"/>
                  </a:lnTo>
                  <a:lnTo>
                    <a:pt x="274" y="27"/>
                  </a:lnTo>
                  <a:lnTo>
                    <a:pt x="288" y="18"/>
                  </a:lnTo>
                  <a:lnTo>
                    <a:pt x="277" y="31"/>
                  </a:lnTo>
                  <a:lnTo>
                    <a:pt x="269" y="45"/>
                  </a:lnTo>
                  <a:lnTo>
                    <a:pt x="281" y="40"/>
                  </a:lnTo>
                  <a:lnTo>
                    <a:pt x="266" y="50"/>
                  </a:lnTo>
                  <a:lnTo>
                    <a:pt x="263" y="61"/>
                  </a:lnTo>
                  <a:lnTo>
                    <a:pt x="268" y="63"/>
                  </a:lnTo>
                  <a:lnTo>
                    <a:pt x="284" y="41"/>
                  </a:lnTo>
                  <a:lnTo>
                    <a:pt x="304" y="28"/>
                  </a:lnTo>
                  <a:lnTo>
                    <a:pt x="278" y="57"/>
                  </a:lnTo>
                  <a:lnTo>
                    <a:pt x="290" y="48"/>
                  </a:lnTo>
                  <a:lnTo>
                    <a:pt x="355" y="39"/>
                  </a:lnTo>
                  <a:lnTo>
                    <a:pt x="287" y="53"/>
                  </a:lnTo>
                  <a:lnTo>
                    <a:pt x="280" y="63"/>
                  </a:lnTo>
                  <a:lnTo>
                    <a:pt x="287" y="61"/>
                  </a:lnTo>
                  <a:lnTo>
                    <a:pt x="307" y="52"/>
                  </a:lnTo>
                  <a:lnTo>
                    <a:pt x="291" y="66"/>
                  </a:lnTo>
                  <a:lnTo>
                    <a:pt x="278" y="72"/>
                  </a:lnTo>
                  <a:lnTo>
                    <a:pt x="278" y="81"/>
                  </a:lnTo>
                  <a:lnTo>
                    <a:pt x="281" y="87"/>
                  </a:lnTo>
                  <a:lnTo>
                    <a:pt x="289" y="94"/>
                  </a:lnTo>
                  <a:lnTo>
                    <a:pt x="297" y="105"/>
                  </a:lnTo>
                  <a:lnTo>
                    <a:pt x="304" y="113"/>
                  </a:lnTo>
                  <a:lnTo>
                    <a:pt x="311" y="122"/>
                  </a:lnTo>
                  <a:lnTo>
                    <a:pt x="318" y="130"/>
                  </a:lnTo>
                  <a:lnTo>
                    <a:pt x="322" y="137"/>
                  </a:lnTo>
                  <a:lnTo>
                    <a:pt x="330" y="149"/>
                  </a:lnTo>
                  <a:lnTo>
                    <a:pt x="338" y="162"/>
                  </a:lnTo>
                  <a:lnTo>
                    <a:pt x="344" y="174"/>
                  </a:lnTo>
                  <a:lnTo>
                    <a:pt x="344" y="176"/>
                  </a:lnTo>
                  <a:lnTo>
                    <a:pt x="342" y="178"/>
                  </a:lnTo>
                  <a:lnTo>
                    <a:pt x="340" y="181"/>
                  </a:lnTo>
                  <a:lnTo>
                    <a:pt x="337" y="182"/>
                  </a:lnTo>
                  <a:lnTo>
                    <a:pt x="333" y="182"/>
                  </a:lnTo>
                  <a:lnTo>
                    <a:pt x="285" y="178"/>
                  </a:lnTo>
                  <a:lnTo>
                    <a:pt x="282" y="187"/>
                  </a:lnTo>
                  <a:lnTo>
                    <a:pt x="276" y="216"/>
                  </a:lnTo>
                  <a:lnTo>
                    <a:pt x="271" y="237"/>
                  </a:lnTo>
                  <a:lnTo>
                    <a:pt x="265" y="255"/>
                  </a:lnTo>
                  <a:lnTo>
                    <a:pt x="262" y="255"/>
                  </a:lnTo>
                  <a:lnTo>
                    <a:pt x="258" y="257"/>
                  </a:lnTo>
                  <a:lnTo>
                    <a:pt x="253" y="257"/>
                  </a:lnTo>
                  <a:lnTo>
                    <a:pt x="238" y="257"/>
                  </a:lnTo>
                  <a:lnTo>
                    <a:pt x="201" y="244"/>
                  </a:lnTo>
                  <a:lnTo>
                    <a:pt x="197" y="249"/>
                  </a:lnTo>
                  <a:lnTo>
                    <a:pt x="192" y="270"/>
                  </a:lnTo>
                  <a:lnTo>
                    <a:pt x="187" y="286"/>
                  </a:lnTo>
                  <a:lnTo>
                    <a:pt x="182" y="308"/>
                  </a:lnTo>
                  <a:lnTo>
                    <a:pt x="180" y="322"/>
                  </a:lnTo>
                  <a:lnTo>
                    <a:pt x="188" y="332"/>
                  </a:lnTo>
                  <a:lnTo>
                    <a:pt x="198" y="343"/>
                  </a:lnTo>
                  <a:lnTo>
                    <a:pt x="211" y="359"/>
                  </a:lnTo>
                  <a:lnTo>
                    <a:pt x="230" y="363"/>
                  </a:lnTo>
                  <a:lnTo>
                    <a:pt x="244" y="365"/>
                  </a:lnTo>
                  <a:lnTo>
                    <a:pt x="264" y="369"/>
                  </a:lnTo>
                  <a:lnTo>
                    <a:pt x="276" y="371"/>
                  </a:lnTo>
                  <a:lnTo>
                    <a:pt x="287" y="372"/>
                  </a:lnTo>
                  <a:lnTo>
                    <a:pt x="295" y="373"/>
                  </a:lnTo>
                  <a:lnTo>
                    <a:pt x="302" y="373"/>
                  </a:lnTo>
                  <a:lnTo>
                    <a:pt x="311" y="372"/>
                  </a:lnTo>
                  <a:lnTo>
                    <a:pt x="325" y="371"/>
                  </a:lnTo>
                  <a:lnTo>
                    <a:pt x="339" y="364"/>
                  </a:lnTo>
                  <a:lnTo>
                    <a:pt x="343" y="362"/>
                  </a:lnTo>
                  <a:lnTo>
                    <a:pt x="347" y="362"/>
                  </a:lnTo>
                  <a:lnTo>
                    <a:pt x="350" y="364"/>
                  </a:lnTo>
                  <a:lnTo>
                    <a:pt x="354" y="368"/>
                  </a:lnTo>
                  <a:lnTo>
                    <a:pt x="355" y="371"/>
                  </a:lnTo>
                  <a:lnTo>
                    <a:pt x="356" y="376"/>
                  </a:lnTo>
                  <a:lnTo>
                    <a:pt x="357" y="381"/>
                  </a:lnTo>
                  <a:lnTo>
                    <a:pt x="362" y="383"/>
                  </a:lnTo>
                  <a:lnTo>
                    <a:pt x="368" y="386"/>
                  </a:lnTo>
                  <a:lnTo>
                    <a:pt x="373" y="389"/>
                  </a:lnTo>
                  <a:lnTo>
                    <a:pt x="379" y="394"/>
                  </a:lnTo>
                  <a:lnTo>
                    <a:pt x="378" y="397"/>
                  </a:lnTo>
                  <a:lnTo>
                    <a:pt x="377" y="401"/>
                  </a:lnTo>
                  <a:lnTo>
                    <a:pt x="373" y="404"/>
                  </a:lnTo>
                  <a:lnTo>
                    <a:pt x="370" y="406"/>
                  </a:lnTo>
                  <a:lnTo>
                    <a:pt x="372" y="409"/>
                  </a:lnTo>
                  <a:lnTo>
                    <a:pt x="373" y="413"/>
                  </a:lnTo>
                  <a:lnTo>
                    <a:pt x="375" y="418"/>
                  </a:lnTo>
                  <a:lnTo>
                    <a:pt x="375" y="421"/>
                  </a:lnTo>
                  <a:lnTo>
                    <a:pt x="373" y="426"/>
                  </a:lnTo>
                  <a:lnTo>
                    <a:pt x="370" y="428"/>
                  </a:lnTo>
                  <a:lnTo>
                    <a:pt x="362" y="433"/>
                  </a:lnTo>
                  <a:lnTo>
                    <a:pt x="363" y="439"/>
                  </a:lnTo>
                  <a:lnTo>
                    <a:pt x="363" y="442"/>
                  </a:lnTo>
                  <a:lnTo>
                    <a:pt x="362" y="445"/>
                  </a:lnTo>
                  <a:lnTo>
                    <a:pt x="361" y="447"/>
                  </a:lnTo>
                  <a:lnTo>
                    <a:pt x="358" y="448"/>
                  </a:lnTo>
                  <a:lnTo>
                    <a:pt x="355" y="447"/>
                  </a:lnTo>
                  <a:lnTo>
                    <a:pt x="348" y="446"/>
                  </a:lnTo>
                  <a:lnTo>
                    <a:pt x="332" y="440"/>
                  </a:lnTo>
                  <a:lnTo>
                    <a:pt x="312" y="433"/>
                  </a:lnTo>
                  <a:lnTo>
                    <a:pt x="284" y="426"/>
                  </a:lnTo>
                  <a:lnTo>
                    <a:pt x="279" y="426"/>
                  </a:lnTo>
                  <a:lnTo>
                    <a:pt x="263" y="422"/>
                  </a:lnTo>
                  <a:lnTo>
                    <a:pt x="231" y="414"/>
                  </a:lnTo>
                  <a:lnTo>
                    <a:pt x="204" y="411"/>
                  </a:lnTo>
                  <a:lnTo>
                    <a:pt x="198" y="412"/>
                  </a:lnTo>
                  <a:lnTo>
                    <a:pt x="184" y="413"/>
                  </a:lnTo>
                  <a:lnTo>
                    <a:pt x="178" y="407"/>
                  </a:lnTo>
                  <a:lnTo>
                    <a:pt x="172" y="404"/>
                  </a:lnTo>
                  <a:lnTo>
                    <a:pt x="170" y="401"/>
                  </a:lnTo>
                  <a:lnTo>
                    <a:pt x="167" y="397"/>
                  </a:lnTo>
                  <a:lnTo>
                    <a:pt x="164" y="392"/>
                  </a:lnTo>
                  <a:lnTo>
                    <a:pt x="149" y="373"/>
                  </a:lnTo>
                  <a:lnTo>
                    <a:pt x="163" y="390"/>
                  </a:lnTo>
                  <a:lnTo>
                    <a:pt x="168" y="396"/>
                  </a:lnTo>
                  <a:lnTo>
                    <a:pt x="170" y="402"/>
                  </a:lnTo>
                  <a:lnTo>
                    <a:pt x="183" y="412"/>
                  </a:lnTo>
                  <a:lnTo>
                    <a:pt x="190" y="413"/>
                  </a:lnTo>
                  <a:lnTo>
                    <a:pt x="199" y="412"/>
                  </a:lnTo>
                  <a:lnTo>
                    <a:pt x="205" y="412"/>
                  </a:lnTo>
                  <a:lnTo>
                    <a:pt x="216" y="416"/>
                  </a:lnTo>
                  <a:lnTo>
                    <a:pt x="223" y="420"/>
                  </a:lnTo>
                  <a:lnTo>
                    <a:pt x="229" y="425"/>
                  </a:lnTo>
                  <a:lnTo>
                    <a:pt x="234" y="431"/>
                  </a:lnTo>
                  <a:lnTo>
                    <a:pt x="237" y="435"/>
                  </a:lnTo>
                  <a:lnTo>
                    <a:pt x="236" y="439"/>
                  </a:lnTo>
                  <a:lnTo>
                    <a:pt x="233" y="445"/>
                  </a:lnTo>
                  <a:lnTo>
                    <a:pt x="227" y="451"/>
                  </a:lnTo>
                  <a:lnTo>
                    <a:pt x="218" y="460"/>
                  </a:lnTo>
                  <a:lnTo>
                    <a:pt x="204" y="472"/>
                  </a:lnTo>
                  <a:lnTo>
                    <a:pt x="194" y="482"/>
                  </a:lnTo>
                  <a:lnTo>
                    <a:pt x="175" y="493"/>
                  </a:lnTo>
                  <a:lnTo>
                    <a:pt x="145" y="508"/>
                  </a:lnTo>
                  <a:lnTo>
                    <a:pt x="126" y="517"/>
                  </a:lnTo>
                  <a:lnTo>
                    <a:pt x="120" y="523"/>
                  </a:lnTo>
                  <a:lnTo>
                    <a:pt x="115" y="528"/>
                  </a:lnTo>
                  <a:lnTo>
                    <a:pt x="104" y="535"/>
                  </a:lnTo>
                  <a:lnTo>
                    <a:pt x="101" y="545"/>
                  </a:lnTo>
                  <a:lnTo>
                    <a:pt x="101" y="565"/>
                  </a:lnTo>
                  <a:lnTo>
                    <a:pt x="104" y="582"/>
                  </a:lnTo>
                  <a:lnTo>
                    <a:pt x="107" y="593"/>
                  </a:lnTo>
                  <a:lnTo>
                    <a:pt x="125" y="614"/>
                  </a:lnTo>
                  <a:lnTo>
                    <a:pt x="136" y="622"/>
                  </a:lnTo>
                  <a:lnTo>
                    <a:pt x="138" y="626"/>
                  </a:lnTo>
                  <a:lnTo>
                    <a:pt x="137" y="629"/>
                  </a:lnTo>
                  <a:lnTo>
                    <a:pt x="116" y="635"/>
                  </a:lnTo>
                  <a:lnTo>
                    <a:pt x="94" y="632"/>
                  </a:lnTo>
                  <a:lnTo>
                    <a:pt x="83" y="632"/>
                  </a:lnTo>
                  <a:lnTo>
                    <a:pt x="71" y="633"/>
                  </a:lnTo>
                  <a:lnTo>
                    <a:pt x="60" y="633"/>
                  </a:lnTo>
                  <a:lnTo>
                    <a:pt x="49" y="631"/>
                  </a:lnTo>
                  <a:lnTo>
                    <a:pt x="47" y="629"/>
                  </a:lnTo>
                  <a:lnTo>
                    <a:pt x="46" y="626"/>
                  </a:lnTo>
                  <a:lnTo>
                    <a:pt x="46" y="593"/>
                  </a:lnTo>
                  <a:lnTo>
                    <a:pt x="52" y="560"/>
                  </a:lnTo>
                  <a:lnTo>
                    <a:pt x="48" y="549"/>
                  </a:lnTo>
                  <a:lnTo>
                    <a:pt x="40" y="539"/>
                  </a:lnTo>
                  <a:lnTo>
                    <a:pt x="37" y="536"/>
                  </a:lnTo>
                  <a:lnTo>
                    <a:pt x="31" y="530"/>
                  </a:lnTo>
                  <a:lnTo>
                    <a:pt x="27" y="528"/>
                  </a:lnTo>
                  <a:lnTo>
                    <a:pt x="26" y="524"/>
                  </a:lnTo>
                  <a:lnTo>
                    <a:pt x="27" y="521"/>
                  </a:lnTo>
                  <a:lnTo>
                    <a:pt x="32" y="515"/>
                  </a:lnTo>
                  <a:lnTo>
                    <a:pt x="40" y="508"/>
                  </a:lnTo>
                  <a:lnTo>
                    <a:pt x="47" y="504"/>
                  </a:lnTo>
                  <a:lnTo>
                    <a:pt x="57" y="504"/>
                  </a:lnTo>
                  <a:lnTo>
                    <a:pt x="65" y="505"/>
                  </a:lnTo>
                  <a:lnTo>
                    <a:pt x="103" y="483"/>
                  </a:lnTo>
                  <a:lnTo>
                    <a:pt x="132" y="466"/>
                  </a:lnTo>
                  <a:lnTo>
                    <a:pt x="157" y="453"/>
                  </a:lnTo>
                  <a:lnTo>
                    <a:pt x="149" y="453"/>
                  </a:lnTo>
                  <a:lnTo>
                    <a:pt x="124" y="447"/>
                  </a:lnTo>
                  <a:lnTo>
                    <a:pt x="98" y="446"/>
                  </a:lnTo>
                  <a:lnTo>
                    <a:pt x="63" y="441"/>
                  </a:lnTo>
                  <a:lnTo>
                    <a:pt x="52" y="442"/>
                  </a:lnTo>
                  <a:lnTo>
                    <a:pt x="26" y="440"/>
                  </a:lnTo>
                  <a:lnTo>
                    <a:pt x="20" y="439"/>
                  </a:lnTo>
                  <a:lnTo>
                    <a:pt x="14" y="436"/>
                  </a:lnTo>
                  <a:lnTo>
                    <a:pt x="9" y="434"/>
                  </a:lnTo>
                  <a:lnTo>
                    <a:pt x="6" y="431"/>
                  </a:lnTo>
                  <a:lnTo>
                    <a:pt x="3" y="424"/>
                  </a:lnTo>
                  <a:lnTo>
                    <a:pt x="2" y="417"/>
                  </a:lnTo>
                  <a:lnTo>
                    <a:pt x="0" y="409"/>
                  </a:lnTo>
                  <a:lnTo>
                    <a:pt x="0" y="399"/>
                  </a:lnTo>
                  <a:lnTo>
                    <a:pt x="1" y="391"/>
                  </a:lnTo>
                  <a:lnTo>
                    <a:pt x="2" y="382"/>
                  </a:lnTo>
                  <a:lnTo>
                    <a:pt x="3" y="374"/>
                  </a:lnTo>
                  <a:lnTo>
                    <a:pt x="6" y="368"/>
                  </a:lnTo>
                  <a:lnTo>
                    <a:pt x="15" y="344"/>
                  </a:lnTo>
                  <a:lnTo>
                    <a:pt x="25" y="315"/>
                  </a:lnTo>
                  <a:lnTo>
                    <a:pt x="32" y="296"/>
                  </a:lnTo>
                  <a:lnTo>
                    <a:pt x="51" y="265"/>
                  </a:lnTo>
                  <a:lnTo>
                    <a:pt x="69" y="240"/>
                  </a:lnTo>
                  <a:lnTo>
                    <a:pt x="86" y="221"/>
                  </a:lnTo>
                  <a:lnTo>
                    <a:pt x="96" y="208"/>
                  </a:lnTo>
                  <a:lnTo>
                    <a:pt x="104" y="196"/>
                  </a:lnTo>
                  <a:lnTo>
                    <a:pt x="112" y="187"/>
                  </a:lnTo>
                  <a:lnTo>
                    <a:pt x="115" y="172"/>
                  </a:lnTo>
                  <a:lnTo>
                    <a:pt x="123" y="153"/>
                  </a:lnTo>
                  <a:lnTo>
                    <a:pt x="130" y="136"/>
                  </a:lnTo>
                </a:path>
              </a:pathLst>
            </a:custGeom>
            <a:solidFill>
              <a:srgbClr val="333333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4550" name="未知"/>
            <p:cNvSpPr/>
            <p:nvPr/>
          </p:nvSpPr>
          <p:spPr>
            <a:xfrm>
              <a:off x="304" y="101"/>
              <a:ext cx="17" cy="36"/>
            </a:xfrm>
            <a:custGeom>
              <a:avLst/>
              <a:gdLst>
                <a:gd name="txL" fmla="*/ 0 w 17"/>
                <a:gd name="txT" fmla="*/ 0 h 36"/>
                <a:gd name="txR" fmla="*/ 17 w 17"/>
                <a:gd name="txB" fmla="*/ 36 h 36"/>
              </a:gdLst>
              <a:ahLst/>
              <a:cxnLst>
                <a:cxn ang="0">
                  <a:pos x="14" y="0"/>
                </a:cxn>
                <a:cxn ang="0">
                  <a:pos x="10" y="2"/>
                </a:cxn>
                <a:cxn ang="0">
                  <a:pos x="8" y="6"/>
                </a:cxn>
                <a:cxn ang="0">
                  <a:pos x="5" y="10"/>
                </a:cxn>
                <a:cxn ang="0">
                  <a:pos x="2" y="14"/>
                </a:cxn>
                <a:cxn ang="0">
                  <a:pos x="1" y="19"/>
                </a:cxn>
                <a:cxn ang="0">
                  <a:pos x="0" y="24"/>
                </a:cxn>
                <a:cxn ang="0">
                  <a:pos x="0" y="28"/>
                </a:cxn>
                <a:cxn ang="0">
                  <a:pos x="2" y="33"/>
                </a:cxn>
                <a:cxn ang="0">
                  <a:pos x="2" y="35"/>
                </a:cxn>
                <a:cxn ang="0">
                  <a:pos x="5" y="33"/>
                </a:cxn>
                <a:cxn ang="0">
                  <a:pos x="7" y="31"/>
                </a:cxn>
                <a:cxn ang="0">
                  <a:pos x="10" y="28"/>
                </a:cxn>
                <a:cxn ang="0">
                  <a:pos x="11" y="24"/>
                </a:cxn>
                <a:cxn ang="0">
                  <a:pos x="14" y="20"/>
                </a:cxn>
                <a:cxn ang="0">
                  <a:pos x="14" y="17"/>
                </a:cxn>
                <a:cxn ang="0">
                  <a:pos x="15" y="12"/>
                </a:cxn>
                <a:cxn ang="0">
                  <a:pos x="16" y="8"/>
                </a:cxn>
                <a:cxn ang="0">
                  <a:pos x="15" y="3"/>
                </a:cxn>
                <a:cxn ang="0">
                  <a:pos x="14" y="0"/>
                </a:cxn>
              </a:cxnLst>
              <a:rect l="txL" t="txT" r="txR" b="txB"/>
              <a:pathLst>
                <a:path w="17" h="36">
                  <a:moveTo>
                    <a:pt x="14" y="0"/>
                  </a:moveTo>
                  <a:lnTo>
                    <a:pt x="10" y="2"/>
                  </a:lnTo>
                  <a:lnTo>
                    <a:pt x="8" y="6"/>
                  </a:lnTo>
                  <a:lnTo>
                    <a:pt x="5" y="10"/>
                  </a:lnTo>
                  <a:lnTo>
                    <a:pt x="2" y="14"/>
                  </a:lnTo>
                  <a:lnTo>
                    <a:pt x="1" y="19"/>
                  </a:lnTo>
                  <a:lnTo>
                    <a:pt x="0" y="24"/>
                  </a:lnTo>
                  <a:lnTo>
                    <a:pt x="0" y="28"/>
                  </a:lnTo>
                  <a:lnTo>
                    <a:pt x="2" y="33"/>
                  </a:lnTo>
                  <a:lnTo>
                    <a:pt x="2" y="35"/>
                  </a:lnTo>
                  <a:lnTo>
                    <a:pt x="5" y="33"/>
                  </a:lnTo>
                  <a:lnTo>
                    <a:pt x="7" y="31"/>
                  </a:lnTo>
                  <a:lnTo>
                    <a:pt x="10" y="28"/>
                  </a:lnTo>
                  <a:lnTo>
                    <a:pt x="11" y="24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5" y="12"/>
                  </a:lnTo>
                  <a:lnTo>
                    <a:pt x="16" y="8"/>
                  </a:lnTo>
                  <a:lnTo>
                    <a:pt x="15" y="3"/>
                  </a:lnTo>
                  <a:lnTo>
                    <a:pt x="14" y="0"/>
                  </a:lnTo>
                </a:path>
              </a:pathLst>
            </a:custGeom>
            <a:solidFill>
              <a:srgbClr val="333333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4517" name="Text Box 25"/>
          <p:cNvSpPr txBox="1"/>
          <p:nvPr/>
        </p:nvSpPr>
        <p:spPr>
          <a:xfrm>
            <a:off x="5218748" y="3860800"/>
            <a:ext cx="792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0" hangingPunct="0">
              <a:buFont typeface="Arial" panose="020B0604020202090204" pitchFamily="34" charset="0"/>
              <a:buNone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假冒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4518" name="Picture 3" descr="P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0863" y="2365375"/>
            <a:ext cx="1106487" cy="866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19" name="Line 4"/>
          <p:cNvSpPr/>
          <p:nvPr/>
        </p:nvSpPr>
        <p:spPr>
          <a:xfrm flipV="1">
            <a:off x="1701800" y="2787650"/>
            <a:ext cx="5976938" cy="71438"/>
          </a:xfrm>
          <a:prstGeom prst="line">
            <a:avLst/>
          </a:prstGeom>
          <a:ln w="254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  <a:effectLst>
            <a:prstShdw prst="shdw17" dist="17961" dir="13499999">
              <a:srgbClr val="000099"/>
            </a:prstShdw>
          </a:effectLst>
        </p:spPr>
      </p:sp>
      <p:pic>
        <p:nvPicPr>
          <p:cNvPr id="410642" name="Picture 5"/>
          <p:cNvPicPr preferRelativeResize="0"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00163" y="2894013"/>
            <a:ext cx="5111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3882" dir="2700000" algn="ctr" rotWithShape="0">
              <a:schemeClr val="tx1"/>
            </a:outerShdw>
          </a:effectLst>
        </p:spPr>
      </p:pic>
      <p:sp>
        <p:nvSpPr>
          <p:cNvPr id="64521" name="Line 6"/>
          <p:cNvSpPr/>
          <p:nvPr/>
        </p:nvSpPr>
        <p:spPr>
          <a:xfrm>
            <a:off x="7572375" y="2820988"/>
            <a:ext cx="503238" cy="0"/>
          </a:xfrm>
          <a:prstGeom prst="line">
            <a:avLst/>
          </a:prstGeom>
          <a:ln w="254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  <a:effectLst>
            <a:prstShdw prst="shdw17" dist="17961" dir="13499999">
              <a:srgbClr val="000099"/>
            </a:prstShdw>
          </a:effectLst>
        </p:spPr>
      </p:sp>
      <p:sp>
        <p:nvSpPr>
          <p:cNvPr id="64522" name="Text Box 8"/>
          <p:cNvSpPr txBox="1"/>
          <p:nvPr/>
        </p:nvSpPr>
        <p:spPr>
          <a:xfrm>
            <a:off x="936625" y="3314700"/>
            <a:ext cx="6953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0" hangingPunct="0">
              <a:buFont typeface="Arial" panose="020B0604020202090204" pitchFamily="34" charset="0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用户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4523" name="Picture 20" descr="mon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4625" y="2735263"/>
            <a:ext cx="733425" cy="4524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4524" name="Text Box 21"/>
          <p:cNvSpPr txBox="1"/>
          <p:nvPr/>
        </p:nvSpPr>
        <p:spPr>
          <a:xfrm>
            <a:off x="7607300" y="3252788"/>
            <a:ext cx="104298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buFont typeface="Arial" panose="020B0604020202090204" pitchFamily="34" charset="0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数据库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4525" name="Picture 27" descr="ENT6000_00A4_005_idx"/>
          <p:cNvPicPr>
            <a:picLocks noChangeAspect="1"/>
          </p:cNvPicPr>
          <p:nvPr/>
        </p:nvPicPr>
        <p:blipFill>
          <a:blip r:embed="rId4"/>
          <a:srcRect l="26190" t="6436" r="26190" b="30197"/>
          <a:stretch>
            <a:fillRect/>
          </a:stretch>
        </p:blipFill>
        <p:spPr>
          <a:xfrm>
            <a:off x="7427913" y="2041525"/>
            <a:ext cx="608012" cy="1076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4526" name="Picture 28" descr="DataBa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4175" y="2316163"/>
            <a:ext cx="1081088" cy="977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0649" name="Cloud"/>
          <p:cNvSpPr>
            <a:spLocks noChangeAspect="1" noEditPoints="1" noChangeArrowheads="1"/>
          </p:cNvSpPr>
          <p:nvPr/>
        </p:nvSpPr>
        <p:spPr bwMode="auto">
          <a:xfrm>
            <a:off x="3575050" y="1946275"/>
            <a:ext cx="1944688" cy="1439863"/>
          </a:xfrm>
          <a:custGeom>
            <a:avLst/>
            <a:gdLst>
              <a:gd name="T0" fmla="*/ 6106 w 21600"/>
              <a:gd name="T1" fmla="*/ 719931 h 21600"/>
              <a:gd name="T2" fmla="*/ 984250 w 21600"/>
              <a:gd name="T3" fmla="*/ 1438329 h 21600"/>
              <a:gd name="T4" fmla="*/ 1966860 w 21600"/>
              <a:gd name="T5" fmla="*/ 719931 h 21600"/>
              <a:gd name="T6" fmla="*/ 984250 w 21600"/>
              <a:gd name="T7" fmla="*/ 82325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</a:ln>
          <a:effectLst>
            <a:outerShdw dist="107763" dir="2700000" algn="ctr" rotWithShape="0">
              <a:srgbClr val="808080"/>
            </a:outerShdw>
          </a:effectLst>
        </p:spPr>
        <p:txBody>
          <a:bodyPr tIns="15480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公共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Internet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64528" name="Line 32"/>
          <p:cNvSpPr/>
          <p:nvPr/>
        </p:nvSpPr>
        <p:spPr>
          <a:xfrm>
            <a:off x="4279900" y="2760663"/>
            <a:ext cx="36513" cy="10795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lg"/>
          </a:ln>
          <a:effectLst>
            <a:prstShdw prst="shdw17" dist="17961" dir="13499999">
              <a:srgbClr val="990000"/>
            </a:prstShdw>
          </a:effectLst>
        </p:spPr>
      </p:sp>
      <p:sp>
        <p:nvSpPr>
          <p:cNvPr id="64529" name="Rectangle 33"/>
          <p:cNvSpPr/>
          <p:nvPr/>
        </p:nvSpPr>
        <p:spPr>
          <a:xfrm>
            <a:off x="333375" y="1812925"/>
            <a:ext cx="8642350" cy="1944688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/>
          <a:p>
            <a:pPr>
              <a:spcBef>
                <a:spcPct val="20000"/>
              </a:spcBef>
              <a:buFont typeface="Arial" panose="020B0604020202090204" pitchFamily="34" charset="0"/>
              <a:buNone/>
            </a:pPr>
            <a:endParaRPr lang="zh-CN" altLang="zh-CN" sz="2000" b="0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4534" name="Rectangle 32"/>
          <p:cNvSpPr/>
          <p:nvPr/>
        </p:nvSpPr>
        <p:spPr>
          <a:xfrm>
            <a:off x="3687763" y="2624138"/>
            <a:ext cx="576262" cy="1444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4535" name="Line 33"/>
          <p:cNvSpPr/>
          <p:nvPr/>
        </p:nvSpPr>
        <p:spPr>
          <a:xfrm>
            <a:off x="3644900" y="2549525"/>
            <a:ext cx="6477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36" name="Line 31"/>
          <p:cNvSpPr/>
          <p:nvPr/>
        </p:nvSpPr>
        <p:spPr>
          <a:xfrm>
            <a:off x="5154613" y="2789238"/>
            <a:ext cx="0" cy="1008062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triangle" w="med" len="lg"/>
            <a:tailEnd type="none" w="med" len="med"/>
          </a:ln>
          <a:effectLst>
            <a:prstShdw prst="shdw17" dist="17961" dir="13499999">
              <a:srgbClr val="990000"/>
            </a:prstShdw>
          </a:effectLst>
        </p:spPr>
      </p:sp>
      <p:sp>
        <p:nvSpPr>
          <p:cNvPr id="64537" name="Line 32"/>
          <p:cNvSpPr/>
          <p:nvPr/>
        </p:nvSpPr>
        <p:spPr>
          <a:xfrm>
            <a:off x="4337050" y="3822700"/>
            <a:ext cx="8636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lg"/>
          </a:ln>
          <a:effectLst>
            <a:prstShdw prst="shdw17" dist="17961" dir="13499999">
              <a:srgbClr val="990000"/>
            </a:prstShdw>
          </a:effectLst>
        </p:spPr>
      </p:sp>
      <p:sp>
        <p:nvSpPr>
          <p:cNvPr id="64538" name="Rectangle 36"/>
          <p:cNvSpPr/>
          <p:nvPr/>
        </p:nvSpPr>
        <p:spPr>
          <a:xfrm>
            <a:off x="6492875" y="2593975"/>
            <a:ext cx="576263" cy="1444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4539" name="Line 37"/>
          <p:cNvSpPr/>
          <p:nvPr/>
        </p:nvSpPr>
        <p:spPr>
          <a:xfrm>
            <a:off x="6526213" y="2519363"/>
            <a:ext cx="5762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4540" name="Text Box 38"/>
          <p:cNvSpPr txBox="1"/>
          <p:nvPr/>
        </p:nvSpPr>
        <p:spPr>
          <a:xfrm>
            <a:off x="6052503" y="4130675"/>
            <a:ext cx="2809240" cy="460375"/>
          </a:xfrm>
          <a:prstGeom prst="rect">
            <a:avLst/>
          </a:prstGeom>
          <a:noFill/>
          <a:ln w="28575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复制：多次转账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千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4541" name="Rectangle 39"/>
          <p:cNvSpPr/>
          <p:nvPr/>
        </p:nvSpPr>
        <p:spPr>
          <a:xfrm>
            <a:off x="4941888" y="2605088"/>
            <a:ext cx="576262" cy="1444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4542" name="Line 40"/>
          <p:cNvSpPr/>
          <p:nvPr/>
        </p:nvSpPr>
        <p:spPr>
          <a:xfrm>
            <a:off x="4975225" y="2530475"/>
            <a:ext cx="5762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5538" name="Rectangle 2"/>
          <p:cNvSpPr/>
          <p:nvPr/>
        </p:nvSpPr>
        <p:spPr>
          <a:xfrm>
            <a:off x="1764030" y="260350"/>
            <a:ext cx="7015480" cy="9144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algn="ctr"/>
            <a:r>
              <a:rPr lang="zh-CN" altLang="en-US" sz="4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安全管理 </a:t>
            </a:r>
            <a:r>
              <a:rPr lang="en-US" altLang="zh-CN" sz="4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</a:t>
            </a:r>
            <a:r>
              <a:rPr lang="zh-CN" altLang="en-US" sz="4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假冒问题的解决</a:t>
            </a:r>
            <a:endParaRPr lang="zh-CN" altLang="en-US" sz="4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539" name="Text Box 3"/>
          <p:cNvSpPr txBox="1"/>
          <p:nvPr/>
        </p:nvSpPr>
        <p:spPr>
          <a:xfrm>
            <a:off x="107950" y="4460875"/>
            <a:ext cx="8921750" cy="1918335"/>
          </a:xfrm>
          <a:prstGeom prst="rect">
            <a:avLst/>
          </a:prstGeom>
          <a:noFill/>
          <a:ln w="1905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1">
            <a:spAutoFit/>
          </a:bodyPr>
          <a:p>
            <a:pPr>
              <a:lnSpc>
                <a:spcPct val="135000"/>
              </a:lnSpc>
              <a:spcBef>
                <a:spcPts val="40"/>
              </a:spcBef>
              <a:spcAft>
                <a:spcPts val="0"/>
              </a:spcAft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200" b="0" dirty="0">
                <a:latin typeface="微软雅黑" panose="020B0503020204020204" charset="-122"/>
                <a:ea typeface="微软雅黑" panose="020B0503020204020204" charset="-122"/>
              </a:rPr>
              <a:t>使用</a:t>
            </a:r>
            <a:r>
              <a:rPr lang="zh-CN" altLang="en-US" sz="22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验证码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解决</a:t>
            </a: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r>
              <a:rPr lang="zh-CN" altLang="en-US" sz="2200" b="0" dirty="0">
                <a:latin typeface="微软雅黑" panose="020B0503020204020204" charset="-122"/>
                <a:ea typeface="微软雅黑" panose="020B0503020204020204" charset="-122"/>
              </a:rPr>
              <a:t>对每个操作页面，服务端都实时附带一个验证码。用户侧提交请求时，附带上该页面的验证码。服务端在自己维护的有效验证码表中查找，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如果存在</a:t>
            </a: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</a:rPr>
              <a:t>，则认定该请求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合法有效</a:t>
            </a: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</a:rPr>
              <a:t>，处理该请求，然后在表中删除该验证码。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如果不存在</a:t>
            </a: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</a:rPr>
              <a:t>，就将其视作是重复请求，</a:t>
            </a:r>
            <a:r>
              <a:rPr lang="zh-CN" altLang="en-US" sz="2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舍弃</a:t>
            </a:r>
            <a:r>
              <a:rPr lang="zh-CN" altLang="en-US" sz="2200" dirty="0">
                <a:latin typeface="微软雅黑" panose="020B0503020204020204" charset="-122"/>
                <a:ea typeface="微软雅黑" panose="020B0503020204020204" charset="-122"/>
              </a:rPr>
              <a:t>。</a:t>
            </a:r>
            <a:endParaRPr lang="en-US" altLang="x-none" sz="22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65540" name="Group 9"/>
          <p:cNvGrpSpPr/>
          <p:nvPr/>
        </p:nvGrpSpPr>
        <p:grpSpPr>
          <a:xfrm>
            <a:off x="4273550" y="3830638"/>
            <a:ext cx="865188" cy="730250"/>
            <a:chOff x="0" y="0"/>
            <a:chExt cx="777" cy="649"/>
          </a:xfrm>
        </p:grpSpPr>
        <p:grpSp>
          <p:nvGrpSpPr>
            <p:cNvPr id="65567" name="Group 10"/>
            <p:cNvGrpSpPr/>
            <p:nvPr/>
          </p:nvGrpSpPr>
          <p:grpSpPr>
            <a:xfrm>
              <a:off x="673" y="381"/>
              <a:ext cx="59" cy="147"/>
              <a:chOff x="0" y="0"/>
              <a:chExt cx="59" cy="147"/>
            </a:xfrm>
          </p:grpSpPr>
          <p:sp>
            <p:nvSpPr>
              <p:cNvPr id="65575" name="未知"/>
              <p:cNvSpPr/>
              <p:nvPr/>
            </p:nvSpPr>
            <p:spPr>
              <a:xfrm>
                <a:off x="2" y="5"/>
                <a:ext cx="57" cy="142"/>
              </a:xfrm>
              <a:custGeom>
                <a:avLst/>
                <a:gdLst>
                  <a:gd name="txL" fmla="*/ 0 w 57"/>
                  <a:gd name="txT" fmla="*/ 0 h 142"/>
                  <a:gd name="txR" fmla="*/ 57 w 57"/>
                  <a:gd name="txB" fmla="*/ 142 h 142"/>
                </a:gdLst>
                <a:ahLst/>
                <a:cxnLst>
                  <a:cxn ang="0">
                    <a:pos x="0" y="0"/>
                  </a:cxn>
                  <a:cxn ang="0">
                    <a:pos x="2" y="9"/>
                  </a:cxn>
                  <a:cxn ang="0">
                    <a:pos x="5" y="17"/>
                  </a:cxn>
                  <a:cxn ang="0">
                    <a:pos x="10" y="23"/>
                  </a:cxn>
                  <a:cxn ang="0">
                    <a:pos x="17" y="27"/>
                  </a:cxn>
                  <a:cxn ang="0">
                    <a:pos x="26" y="30"/>
                  </a:cxn>
                  <a:cxn ang="0">
                    <a:pos x="33" y="35"/>
                  </a:cxn>
                  <a:cxn ang="0">
                    <a:pos x="39" y="43"/>
                  </a:cxn>
                  <a:cxn ang="0">
                    <a:pos x="45" y="54"/>
                  </a:cxn>
                  <a:cxn ang="0">
                    <a:pos x="47" y="63"/>
                  </a:cxn>
                  <a:cxn ang="0">
                    <a:pos x="46" y="71"/>
                  </a:cxn>
                  <a:cxn ang="0">
                    <a:pos x="39" y="77"/>
                  </a:cxn>
                  <a:cxn ang="0">
                    <a:pos x="34" y="83"/>
                  </a:cxn>
                  <a:cxn ang="0">
                    <a:pos x="30" y="90"/>
                  </a:cxn>
                  <a:cxn ang="0">
                    <a:pos x="26" y="98"/>
                  </a:cxn>
                  <a:cxn ang="0">
                    <a:pos x="26" y="107"/>
                  </a:cxn>
                  <a:cxn ang="0">
                    <a:pos x="28" y="116"/>
                  </a:cxn>
                  <a:cxn ang="0">
                    <a:pos x="32" y="122"/>
                  </a:cxn>
                  <a:cxn ang="0">
                    <a:pos x="40" y="130"/>
                  </a:cxn>
                  <a:cxn ang="0">
                    <a:pos x="47" y="135"/>
                  </a:cxn>
                  <a:cxn ang="0">
                    <a:pos x="56" y="141"/>
                  </a:cxn>
                </a:cxnLst>
                <a:rect l="txL" t="txT" r="txR" b="txB"/>
                <a:pathLst>
                  <a:path w="57" h="142">
                    <a:moveTo>
                      <a:pt x="0" y="0"/>
                    </a:moveTo>
                    <a:lnTo>
                      <a:pt x="2" y="9"/>
                    </a:lnTo>
                    <a:lnTo>
                      <a:pt x="5" y="17"/>
                    </a:lnTo>
                    <a:lnTo>
                      <a:pt x="10" y="23"/>
                    </a:lnTo>
                    <a:lnTo>
                      <a:pt x="17" y="27"/>
                    </a:lnTo>
                    <a:lnTo>
                      <a:pt x="26" y="30"/>
                    </a:lnTo>
                    <a:lnTo>
                      <a:pt x="33" y="35"/>
                    </a:lnTo>
                    <a:lnTo>
                      <a:pt x="39" y="43"/>
                    </a:lnTo>
                    <a:lnTo>
                      <a:pt x="45" y="54"/>
                    </a:lnTo>
                    <a:lnTo>
                      <a:pt x="47" y="63"/>
                    </a:lnTo>
                    <a:lnTo>
                      <a:pt x="46" y="71"/>
                    </a:lnTo>
                    <a:lnTo>
                      <a:pt x="39" y="77"/>
                    </a:lnTo>
                    <a:lnTo>
                      <a:pt x="34" y="83"/>
                    </a:lnTo>
                    <a:lnTo>
                      <a:pt x="30" y="90"/>
                    </a:lnTo>
                    <a:lnTo>
                      <a:pt x="26" y="98"/>
                    </a:lnTo>
                    <a:lnTo>
                      <a:pt x="26" y="107"/>
                    </a:lnTo>
                    <a:lnTo>
                      <a:pt x="28" y="116"/>
                    </a:lnTo>
                    <a:lnTo>
                      <a:pt x="32" y="122"/>
                    </a:lnTo>
                    <a:lnTo>
                      <a:pt x="40" y="130"/>
                    </a:lnTo>
                    <a:lnTo>
                      <a:pt x="47" y="135"/>
                    </a:lnTo>
                    <a:lnTo>
                      <a:pt x="56" y="141"/>
                    </a:lnTo>
                  </a:path>
                </a:pathLst>
              </a:custGeom>
              <a:solidFill>
                <a:srgbClr val="333333"/>
              </a:solidFill>
              <a:ln w="12700" cap="rnd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</p:spPr>
            <p:txBody>
              <a:bodyPr/>
              <a:p>
                <a:endParaRPr lang="zh-CN" altLang="en-US" dirty="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65576" name="Oval 12"/>
              <p:cNvSpPr/>
              <p:nvPr/>
            </p:nvSpPr>
            <p:spPr>
              <a:xfrm flipH="1" flipV="1">
                <a:off x="0" y="0"/>
                <a:ext cx="1" cy="3"/>
              </a:xfrm>
              <a:prstGeom prst="ellipse">
                <a:avLst/>
              </a:prstGeom>
              <a:solidFill>
                <a:srgbClr val="333333"/>
              </a:solidFill>
              <a:ln w="12700" cap="flat" cmpd="sng">
                <a:solidFill>
                  <a:schemeClr val="tx1"/>
                </a:solidFill>
                <a:prstDash val="solid"/>
                <a:headEnd type="none" w="med" len="med"/>
                <a:tailEnd type="none" w="med" len="med"/>
              </a:ln>
            </p:spPr>
            <p:txBody>
              <a:bodyPr rot="10800000"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sp>
          <p:nvSpPr>
            <p:cNvPr id="65568" name="未知"/>
            <p:cNvSpPr/>
            <p:nvPr/>
          </p:nvSpPr>
          <p:spPr>
            <a:xfrm>
              <a:off x="401" y="84"/>
              <a:ext cx="376" cy="338"/>
            </a:xfrm>
            <a:custGeom>
              <a:avLst/>
              <a:gdLst>
                <a:gd name="txL" fmla="*/ 0 w 376"/>
                <a:gd name="txT" fmla="*/ 0 h 338"/>
                <a:gd name="txR" fmla="*/ 376 w 376"/>
                <a:gd name="txB" fmla="*/ 338 h 338"/>
              </a:gdLst>
              <a:ahLst/>
              <a:cxnLst>
                <a:cxn ang="0">
                  <a:pos x="71" y="68"/>
                </a:cxn>
                <a:cxn ang="0">
                  <a:pos x="79" y="45"/>
                </a:cxn>
                <a:cxn ang="0">
                  <a:pos x="86" y="31"/>
                </a:cxn>
                <a:cxn ang="0">
                  <a:pos x="87" y="26"/>
                </a:cxn>
                <a:cxn ang="0">
                  <a:pos x="91" y="23"/>
                </a:cxn>
                <a:cxn ang="0">
                  <a:pos x="93" y="20"/>
                </a:cxn>
                <a:cxn ang="0">
                  <a:pos x="97" y="20"/>
                </a:cxn>
                <a:cxn ang="0">
                  <a:pos x="144" y="11"/>
                </a:cxn>
                <a:cxn ang="0">
                  <a:pos x="195" y="3"/>
                </a:cxn>
                <a:cxn ang="0">
                  <a:pos x="241" y="0"/>
                </a:cxn>
                <a:cxn ang="0">
                  <a:pos x="267" y="0"/>
                </a:cxn>
                <a:cxn ang="0">
                  <a:pos x="322" y="3"/>
                </a:cxn>
                <a:cxn ang="0">
                  <a:pos x="362" y="5"/>
                </a:cxn>
                <a:cxn ang="0">
                  <a:pos x="367" y="5"/>
                </a:cxn>
                <a:cxn ang="0">
                  <a:pos x="371" y="6"/>
                </a:cxn>
                <a:cxn ang="0">
                  <a:pos x="373" y="8"/>
                </a:cxn>
                <a:cxn ang="0">
                  <a:pos x="375" y="10"/>
                </a:cxn>
                <a:cxn ang="0">
                  <a:pos x="375" y="13"/>
                </a:cxn>
                <a:cxn ang="0">
                  <a:pos x="373" y="23"/>
                </a:cxn>
                <a:cxn ang="0">
                  <a:pos x="366" y="53"/>
                </a:cxn>
                <a:cxn ang="0">
                  <a:pos x="359" y="76"/>
                </a:cxn>
                <a:cxn ang="0">
                  <a:pos x="347" y="126"/>
                </a:cxn>
                <a:cxn ang="0">
                  <a:pos x="339" y="158"/>
                </a:cxn>
                <a:cxn ang="0">
                  <a:pos x="317" y="231"/>
                </a:cxn>
                <a:cxn ang="0">
                  <a:pos x="295" y="291"/>
                </a:cxn>
                <a:cxn ang="0">
                  <a:pos x="291" y="302"/>
                </a:cxn>
                <a:cxn ang="0">
                  <a:pos x="289" y="308"/>
                </a:cxn>
                <a:cxn ang="0">
                  <a:pos x="286" y="314"/>
                </a:cxn>
                <a:cxn ang="0">
                  <a:pos x="284" y="318"/>
                </a:cxn>
                <a:cxn ang="0">
                  <a:pos x="280" y="322"/>
                </a:cxn>
                <a:cxn ang="0">
                  <a:pos x="276" y="324"/>
                </a:cxn>
                <a:cxn ang="0">
                  <a:pos x="270" y="325"/>
                </a:cxn>
                <a:cxn ang="0">
                  <a:pos x="256" y="326"/>
                </a:cxn>
                <a:cxn ang="0">
                  <a:pos x="235" y="326"/>
                </a:cxn>
                <a:cxn ang="0">
                  <a:pos x="217" y="328"/>
                </a:cxn>
                <a:cxn ang="0">
                  <a:pos x="193" y="332"/>
                </a:cxn>
                <a:cxn ang="0">
                  <a:pos x="169" y="335"/>
                </a:cxn>
                <a:cxn ang="0">
                  <a:pos x="153" y="337"/>
                </a:cxn>
                <a:cxn ang="0">
                  <a:pos x="132" y="337"/>
                </a:cxn>
                <a:cxn ang="0">
                  <a:pos x="127" y="335"/>
                </a:cxn>
                <a:cxn ang="0">
                  <a:pos x="12" y="267"/>
                </a:cxn>
                <a:cxn ang="0">
                  <a:pos x="6" y="263"/>
                </a:cxn>
                <a:cxn ang="0">
                  <a:pos x="2" y="259"/>
                </a:cxn>
                <a:cxn ang="0">
                  <a:pos x="0" y="254"/>
                </a:cxn>
                <a:cxn ang="0">
                  <a:pos x="0" y="248"/>
                </a:cxn>
                <a:cxn ang="0">
                  <a:pos x="2" y="242"/>
                </a:cxn>
                <a:cxn ang="0">
                  <a:pos x="35" y="159"/>
                </a:cxn>
                <a:cxn ang="0">
                  <a:pos x="56" y="107"/>
                </a:cxn>
                <a:cxn ang="0">
                  <a:pos x="71" y="68"/>
                </a:cxn>
              </a:cxnLst>
              <a:rect l="txL" t="txT" r="txR" b="txB"/>
              <a:pathLst>
                <a:path w="376" h="338">
                  <a:moveTo>
                    <a:pt x="71" y="68"/>
                  </a:moveTo>
                  <a:lnTo>
                    <a:pt x="79" y="45"/>
                  </a:lnTo>
                  <a:lnTo>
                    <a:pt x="86" y="31"/>
                  </a:lnTo>
                  <a:lnTo>
                    <a:pt x="87" y="26"/>
                  </a:lnTo>
                  <a:lnTo>
                    <a:pt x="91" y="23"/>
                  </a:lnTo>
                  <a:lnTo>
                    <a:pt x="93" y="20"/>
                  </a:lnTo>
                  <a:lnTo>
                    <a:pt x="97" y="20"/>
                  </a:lnTo>
                  <a:lnTo>
                    <a:pt x="144" y="11"/>
                  </a:lnTo>
                  <a:lnTo>
                    <a:pt x="195" y="3"/>
                  </a:lnTo>
                  <a:lnTo>
                    <a:pt x="241" y="0"/>
                  </a:lnTo>
                  <a:lnTo>
                    <a:pt x="267" y="0"/>
                  </a:lnTo>
                  <a:lnTo>
                    <a:pt x="322" y="3"/>
                  </a:lnTo>
                  <a:lnTo>
                    <a:pt x="362" y="5"/>
                  </a:lnTo>
                  <a:lnTo>
                    <a:pt x="367" y="5"/>
                  </a:lnTo>
                  <a:lnTo>
                    <a:pt x="371" y="6"/>
                  </a:lnTo>
                  <a:lnTo>
                    <a:pt x="373" y="8"/>
                  </a:lnTo>
                  <a:lnTo>
                    <a:pt x="375" y="10"/>
                  </a:lnTo>
                  <a:lnTo>
                    <a:pt x="375" y="13"/>
                  </a:lnTo>
                  <a:lnTo>
                    <a:pt x="373" y="23"/>
                  </a:lnTo>
                  <a:lnTo>
                    <a:pt x="366" y="53"/>
                  </a:lnTo>
                  <a:lnTo>
                    <a:pt x="359" y="76"/>
                  </a:lnTo>
                  <a:lnTo>
                    <a:pt x="347" y="126"/>
                  </a:lnTo>
                  <a:lnTo>
                    <a:pt x="339" y="158"/>
                  </a:lnTo>
                  <a:lnTo>
                    <a:pt x="317" y="231"/>
                  </a:lnTo>
                  <a:lnTo>
                    <a:pt x="295" y="291"/>
                  </a:lnTo>
                  <a:lnTo>
                    <a:pt x="291" y="302"/>
                  </a:lnTo>
                  <a:lnTo>
                    <a:pt x="289" y="308"/>
                  </a:lnTo>
                  <a:lnTo>
                    <a:pt x="286" y="314"/>
                  </a:lnTo>
                  <a:lnTo>
                    <a:pt x="284" y="318"/>
                  </a:lnTo>
                  <a:lnTo>
                    <a:pt x="280" y="322"/>
                  </a:lnTo>
                  <a:lnTo>
                    <a:pt x="276" y="324"/>
                  </a:lnTo>
                  <a:lnTo>
                    <a:pt x="270" y="325"/>
                  </a:lnTo>
                  <a:lnTo>
                    <a:pt x="256" y="326"/>
                  </a:lnTo>
                  <a:lnTo>
                    <a:pt x="235" y="326"/>
                  </a:lnTo>
                  <a:lnTo>
                    <a:pt x="217" y="328"/>
                  </a:lnTo>
                  <a:lnTo>
                    <a:pt x="193" y="332"/>
                  </a:lnTo>
                  <a:lnTo>
                    <a:pt x="169" y="335"/>
                  </a:lnTo>
                  <a:lnTo>
                    <a:pt x="153" y="337"/>
                  </a:lnTo>
                  <a:lnTo>
                    <a:pt x="132" y="337"/>
                  </a:lnTo>
                  <a:lnTo>
                    <a:pt x="127" y="335"/>
                  </a:lnTo>
                  <a:lnTo>
                    <a:pt x="12" y="267"/>
                  </a:lnTo>
                  <a:lnTo>
                    <a:pt x="6" y="263"/>
                  </a:lnTo>
                  <a:lnTo>
                    <a:pt x="2" y="259"/>
                  </a:lnTo>
                  <a:lnTo>
                    <a:pt x="0" y="254"/>
                  </a:lnTo>
                  <a:lnTo>
                    <a:pt x="0" y="248"/>
                  </a:lnTo>
                  <a:lnTo>
                    <a:pt x="2" y="242"/>
                  </a:lnTo>
                  <a:lnTo>
                    <a:pt x="35" y="159"/>
                  </a:lnTo>
                  <a:lnTo>
                    <a:pt x="56" y="107"/>
                  </a:lnTo>
                  <a:lnTo>
                    <a:pt x="71" y="68"/>
                  </a:lnTo>
                </a:path>
              </a:pathLst>
            </a:custGeom>
            <a:solidFill>
              <a:srgbClr val="333333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5569" name="未知"/>
            <p:cNvSpPr/>
            <p:nvPr/>
          </p:nvSpPr>
          <p:spPr>
            <a:xfrm>
              <a:off x="275" y="352"/>
              <a:ext cx="401" cy="297"/>
            </a:xfrm>
            <a:custGeom>
              <a:avLst/>
              <a:gdLst>
                <a:gd name="txL" fmla="*/ 0 w 401"/>
                <a:gd name="txT" fmla="*/ 0 h 297"/>
                <a:gd name="txR" fmla="*/ 401 w 401"/>
                <a:gd name="txB" fmla="*/ 297 h 297"/>
              </a:gdLst>
              <a:ahLst/>
              <a:cxnLst>
                <a:cxn ang="0">
                  <a:pos x="400" y="295"/>
                </a:cxn>
                <a:cxn ang="0">
                  <a:pos x="400" y="142"/>
                </a:cxn>
                <a:cxn ang="0">
                  <a:pos x="395" y="20"/>
                </a:cxn>
                <a:cxn ang="0">
                  <a:pos x="191" y="0"/>
                </a:cxn>
                <a:cxn ang="0">
                  <a:pos x="6" y="18"/>
                </a:cxn>
                <a:cxn ang="0">
                  <a:pos x="5" y="61"/>
                </a:cxn>
                <a:cxn ang="0">
                  <a:pos x="0" y="294"/>
                </a:cxn>
                <a:cxn ang="0">
                  <a:pos x="41" y="294"/>
                </a:cxn>
                <a:cxn ang="0">
                  <a:pos x="41" y="83"/>
                </a:cxn>
                <a:cxn ang="0">
                  <a:pos x="121" y="78"/>
                </a:cxn>
                <a:cxn ang="0">
                  <a:pos x="363" y="78"/>
                </a:cxn>
                <a:cxn ang="0">
                  <a:pos x="366" y="296"/>
                </a:cxn>
                <a:cxn ang="0">
                  <a:pos x="400" y="295"/>
                </a:cxn>
              </a:cxnLst>
              <a:rect l="txL" t="txT" r="txR" b="txB"/>
              <a:pathLst>
                <a:path w="401" h="297">
                  <a:moveTo>
                    <a:pt x="400" y="295"/>
                  </a:moveTo>
                  <a:lnTo>
                    <a:pt x="400" y="142"/>
                  </a:lnTo>
                  <a:lnTo>
                    <a:pt x="395" y="20"/>
                  </a:lnTo>
                  <a:lnTo>
                    <a:pt x="191" y="0"/>
                  </a:lnTo>
                  <a:lnTo>
                    <a:pt x="6" y="18"/>
                  </a:lnTo>
                  <a:lnTo>
                    <a:pt x="5" y="61"/>
                  </a:lnTo>
                  <a:lnTo>
                    <a:pt x="0" y="294"/>
                  </a:lnTo>
                  <a:lnTo>
                    <a:pt x="41" y="294"/>
                  </a:lnTo>
                  <a:lnTo>
                    <a:pt x="41" y="83"/>
                  </a:lnTo>
                  <a:lnTo>
                    <a:pt x="121" y="78"/>
                  </a:lnTo>
                  <a:lnTo>
                    <a:pt x="363" y="78"/>
                  </a:lnTo>
                  <a:lnTo>
                    <a:pt x="366" y="296"/>
                  </a:lnTo>
                  <a:lnTo>
                    <a:pt x="400" y="295"/>
                  </a:lnTo>
                </a:path>
              </a:pathLst>
            </a:custGeom>
            <a:solidFill>
              <a:srgbClr val="333333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5570" name="未知"/>
            <p:cNvSpPr/>
            <p:nvPr/>
          </p:nvSpPr>
          <p:spPr>
            <a:xfrm>
              <a:off x="304" y="350"/>
              <a:ext cx="158" cy="76"/>
            </a:xfrm>
            <a:custGeom>
              <a:avLst/>
              <a:gdLst>
                <a:gd name="txL" fmla="*/ 0 w 158"/>
                <a:gd name="txT" fmla="*/ 0 h 76"/>
                <a:gd name="txR" fmla="*/ 158 w 158"/>
                <a:gd name="txB" fmla="*/ 76 h 76"/>
              </a:gdLst>
              <a:ahLst/>
              <a:cxnLst>
                <a:cxn ang="0">
                  <a:pos x="30" y="14"/>
                </a:cxn>
                <a:cxn ang="0">
                  <a:pos x="50" y="12"/>
                </a:cxn>
                <a:cxn ang="0">
                  <a:pos x="70" y="0"/>
                </a:cxn>
                <a:cxn ang="0">
                  <a:pos x="89" y="17"/>
                </a:cxn>
                <a:cxn ang="0">
                  <a:pos x="153" y="52"/>
                </a:cxn>
                <a:cxn ang="0">
                  <a:pos x="157" y="64"/>
                </a:cxn>
                <a:cxn ang="0">
                  <a:pos x="121" y="75"/>
                </a:cxn>
                <a:cxn ang="0">
                  <a:pos x="0" y="23"/>
                </a:cxn>
                <a:cxn ang="0">
                  <a:pos x="30" y="14"/>
                </a:cxn>
              </a:cxnLst>
              <a:rect l="txL" t="txT" r="txR" b="txB"/>
              <a:pathLst>
                <a:path w="158" h="76">
                  <a:moveTo>
                    <a:pt x="30" y="14"/>
                  </a:moveTo>
                  <a:lnTo>
                    <a:pt x="50" y="12"/>
                  </a:lnTo>
                  <a:lnTo>
                    <a:pt x="70" y="0"/>
                  </a:lnTo>
                  <a:lnTo>
                    <a:pt x="89" y="17"/>
                  </a:lnTo>
                  <a:lnTo>
                    <a:pt x="153" y="52"/>
                  </a:lnTo>
                  <a:lnTo>
                    <a:pt x="157" y="64"/>
                  </a:lnTo>
                  <a:lnTo>
                    <a:pt x="121" y="75"/>
                  </a:lnTo>
                  <a:lnTo>
                    <a:pt x="0" y="23"/>
                  </a:lnTo>
                  <a:lnTo>
                    <a:pt x="30" y="14"/>
                  </a:lnTo>
                </a:path>
              </a:pathLst>
            </a:custGeom>
            <a:solidFill>
              <a:srgbClr val="333333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5571" name="未知"/>
            <p:cNvSpPr/>
            <p:nvPr/>
          </p:nvSpPr>
          <p:spPr>
            <a:xfrm>
              <a:off x="438" y="108"/>
              <a:ext cx="211" cy="235"/>
            </a:xfrm>
            <a:custGeom>
              <a:avLst/>
              <a:gdLst>
                <a:gd name="txL" fmla="*/ 0 w 211"/>
                <a:gd name="txT" fmla="*/ 0 h 235"/>
                <a:gd name="txR" fmla="*/ 211 w 211"/>
                <a:gd name="txB" fmla="*/ 235 h 235"/>
              </a:gdLst>
              <a:ahLst/>
              <a:cxnLst>
                <a:cxn ang="0">
                  <a:pos x="47" y="69"/>
                </a:cxn>
                <a:cxn ang="0">
                  <a:pos x="63" y="36"/>
                </a:cxn>
                <a:cxn ang="0">
                  <a:pos x="76" y="6"/>
                </a:cxn>
                <a:cxn ang="0">
                  <a:pos x="79" y="5"/>
                </a:cxn>
                <a:cxn ang="0">
                  <a:pos x="81" y="4"/>
                </a:cxn>
                <a:cxn ang="0">
                  <a:pos x="85" y="4"/>
                </a:cxn>
                <a:cxn ang="0">
                  <a:pos x="145" y="0"/>
                </a:cxn>
                <a:cxn ang="0">
                  <a:pos x="203" y="0"/>
                </a:cxn>
                <a:cxn ang="0">
                  <a:pos x="207" y="1"/>
                </a:cxn>
                <a:cxn ang="0">
                  <a:pos x="209" y="1"/>
                </a:cxn>
                <a:cxn ang="0">
                  <a:pos x="210" y="4"/>
                </a:cxn>
                <a:cxn ang="0">
                  <a:pos x="206" y="25"/>
                </a:cxn>
                <a:cxn ang="0">
                  <a:pos x="196" y="44"/>
                </a:cxn>
                <a:cxn ang="0">
                  <a:pos x="180" y="77"/>
                </a:cxn>
                <a:cxn ang="0">
                  <a:pos x="151" y="135"/>
                </a:cxn>
                <a:cxn ang="0">
                  <a:pos x="125" y="185"/>
                </a:cxn>
                <a:cxn ang="0">
                  <a:pos x="118" y="204"/>
                </a:cxn>
                <a:cxn ang="0">
                  <a:pos x="114" y="217"/>
                </a:cxn>
                <a:cxn ang="0">
                  <a:pos x="110" y="224"/>
                </a:cxn>
                <a:cxn ang="0">
                  <a:pos x="106" y="230"/>
                </a:cxn>
                <a:cxn ang="0">
                  <a:pos x="103" y="232"/>
                </a:cxn>
                <a:cxn ang="0">
                  <a:pos x="101" y="233"/>
                </a:cxn>
                <a:cxn ang="0">
                  <a:pos x="97" y="234"/>
                </a:cxn>
                <a:cxn ang="0">
                  <a:pos x="94" y="233"/>
                </a:cxn>
                <a:cxn ang="0">
                  <a:pos x="88" y="230"/>
                </a:cxn>
                <a:cxn ang="0">
                  <a:pos x="82" y="226"/>
                </a:cxn>
                <a:cxn ang="0">
                  <a:pos x="76" y="221"/>
                </a:cxn>
                <a:cxn ang="0">
                  <a:pos x="68" y="217"/>
                </a:cxn>
                <a:cxn ang="0">
                  <a:pos x="62" y="213"/>
                </a:cxn>
                <a:cxn ang="0">
                  <a:pos x="2" y="192"/>
                </a:cxn>
                <a:cxn ang="0">
                  <a:pos x="1" y="191"/>
                </a:cxn>
                <a:cxn ang="0">
                  <a:pos x="0" y="189"/>
                </a:cxn>
                <a:cxn ang="0">
                  <a:pos x="0" y="186"/>
                </a:cxn>
                <a:cxn ang="0">
                  <a:pos x="1" y="183"/>
                </a:cxn>
                <a:cxn ang="0">
                  <a:pos x="47" y="69"/>
                </a:cxn>
              </a:cxnLst>
              <a:rect l="txL" t="txT" r="txR" b="txB"/>
              <a:pathLst>
                <a:path w="211" h="235">
                  <a:moveTo>
                    <a:pt x="47" y="69"/>
                  </a:moveTo>
                  <a:lnTo>
                    <a:pt x="63" y="36"/>
                  </a:lnTo>
                  <a:lnTo>
                    <a:pt x="76" y="6"/>
                  </a:lnTo>
                  <a:lnTo>
                    <a:pt x="79" y="5"/>
                  </a:lnTo>
                  <a:lnTo>
                    <a:pt x="81" y="4"/>
                  </a:lnTo>
                  <a:lnTo>
                    <a:pt x="85" y="4"/>
                  </a:lnTo>
                  <a:lnTo>
                    <a:pt x="145" y="0"/>
                  </a:lnTo>
                  <a:lnTo>
                    <a:pt x="203" y="0"/>
                  </a:lnTo>
                  <a:lnTo>
                    <a:pt x="207" y="1"/>
                  </a:lnTo>
                  <a:lnTo>
                    <a:pt x="209" y="1"/>
                  </a:lnTo>
                  <a:lnTo>
                    <a:pt x="210" y="4"/>
                  </a:lnTo>
                  <a:lnTo>
                    <a:pt x="206" y="25"/>
                  </a:lnTo>
                  <a:lnTo>
                    <a:pt x="196" y="44"/>
                  </a:lnTo>
                  <a:lnTo>
                    <a:pt x="180" y="77"/>
                  </a:lnTo>
                  <a:lnTo>
                    <a:pt x="151" y="135"/>
                  </a:lnTo>
                  <a:lnTo>
                    <a:pt x="125" y="185"/>
                  </a:lnTo>
                  <a:lnTo>
                    <a:pt x="118" y="204"/>
                  </a:lnTo>
                  <a:lnTo>
                    <a:pt x="114" y="217"/>
                  </a:lnTo>
                  <a:lnTo>
                    <a:pt x="110" y="224"/>
                  </a:lnTo>
                  <a:lnTo>
                    <a:pt x="106" y="230"/>
                  </a:lnTo>
                  <a:lnTo>
                    <a:pt x="103" y="232"/>
                  </a:lnTo>
                  <a:lnTo>
                    <a:pt x="101" y="233"/>
                  </a:lnTo>
                  <a:lnTo>
                    <a:pt x="97" y="234"/>
                  </a:lnTo>
                  <a:lnTo>
                    <a:pt x="94" y="233"/>
                  </a:lnTo>
                  <a:lnTo>
                    <a:pt x="88" y="230"/>
                  </a:lnTo>
                  <a:lnTo>
                    <a:pt x="82" y="226"/>
                  </a:lnTo>
                  <a:lnTo>
                    <a:pt x="76" y="221"/>
                  </a:lnTo>
                  <a:lnTo>
                    <a:pt x="68" y="217"/>
                  </a:lnTo>
                  <a:lnTo>
                    <a:pt x="62" y="213"/>
                  </a:lnTo>
                  <a:lnTo>
                    <a:pt x="2" y="192"/>
                  </a:lnTo>
                  <a:lnTo>
                    <a:pt x="1" y="191"/>
                  </a:lnTo>
                  <a:lnTo>
                    <a:pt x="0" y="189"/>
                  </a:lnTo>
                  <a:lnTo>
                    <a:pt x="0" y="186"/>
                  </a:lnTo>
                  <a:lnTo>
                    <a:pt x="1" y="183"/>
                  </a:lnTo>
                  <a:lnTo>
                    <a:pt x="47" y="69"/>
                  </a:lnTo>
                </a:path>
              </a:pathLst>
            </a:custGeom>
            <a:solidFill>
              <a:srgbClr val="333333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5572" name="未知"/>
            <p:cNvSpPr/>
            <p:nvPr/>
          </p:nvSpPr>
          <p:spPr>
            <a:xfrm>
              <a:off x="0" y="289"/>
              <a:ext cx="249" cy="351"/>
            </a:xfrm>
            <a:custGeom>
              <a:avLst/>
              <a:gdLst>
                <a:gd name="txL" fmla="*/ 0 w 249"/>
                <a:gd name="txT" fmla="*/ 0 h 351"/>
                <a:gd name="txR" fmla="*/ 249 w 249"/>
                <a:gd name="txB" fmla="*/ 351 h 351"/>
              </a:gdLst>
              <a:ahLst/>
              <a:cxnLst>
                <a:cxn ang="0">
                  <a:pos x="248" y="165"/>
                </a:cxn>
                <a:cxn ang="0">
                  <a:pos x="178" y="129"/>
                </a:cxn>
                <a:cxn ang="0">
                  <a:pos x="100" y="6"/>
                </a:cxn>
                <a:cxn ang="0">
                  <a:pos x="97" y="5"/>
                </a:cxn>
                <a:cxn ang="0">
                  <a:pos x="91" y="2"/>
                </a:cxn>
                <a:cxn ang="0">
                  <a:pos x="85" y="1"/>
                </a:cxn>
                <a:cxn ang="0">
                  <a:pos x="76" y="0"/>
                </a:cxn>
                <a:cxn ang="0">
                  <a:pos x="69" y="1"/>
                </a:cxn>
                <a:cxn ang="0">
                  <a:pos x="61" y="3"/>
                </a:cxn>
                <a:cxn ang="0">
                  <a:pos x="53" y="6"/>
                </a:cxn>
                <a:cxn ang="0">
                  <a:pos x="42" y="12"/>
                </a:cxn>
                <a:cxn ang="0">
                  <a:pos x="34" y="16"/>
                </a:cxn>
                <a:cxn ang="0">
                  <a:pos x="26" y="21"/>
                </a:cxn>
                <a:cxn ang="0">
                  <a:pos x="20" y="27"/>
                </a:cxn>
                <a:cxn ang="0">
                  <a:pos x="15" y="32"/>
                </a:cxn>
                <a:cxn ang="0">
                  <a:pos x="8" y="41"/>
                </a:cxn>
                <a:cxn ang="0">
                  <a:pos x="4" y="47"/>
                </a:cxn>
                <a:cxn ang="0">
                  <a:pos x="1" y="56"/>
                </a:cxn>
                <a:cxn ang="0">
                  <a:pos x="0" y="66"/>
                </a:cxn>
                <a:cxn ang="0">
                  <a:pos x="0" y="81"/>
                </a:cxn>
                <a:cxn ang="0">
                  <a:pos x="2" y="99"/>
                </a:cxn>
                <a:cxn ang="0">
                  <a:pos x="6" y="115"/>
                </a:cxn>
                <a:cxn ang="0">
                  <a:pos x="13" y="134"/>
                </a:cxn>
                <a:cxn ang="0">
                  <a:pos x="20" y="151"/>
                </a:cxn>
                <a:cxn ang="0">
                  <a:pos x="25" y="162"/>
                </a:cxn>
                <a:cxn ang="0">
                  <a:pos x="34" y="173"/>
                </a:cxn>
                <a:cxn ang="0">
                  <a:pos x="41" y="181"/>
                </a:cxn>
                <a:cxn ang="0">
                  <a:pos x="48" y="191"/>
                </a:cxn>
                <a:cxn ang="0">
                  <a:pos x="57" y="200"/>
                </a:cxn>
                <a:cxn ang="0">
                  <a:pos x="64" y="206"/>
                </a:cxn>
                <a:cxn ang="0">
                  <a:pos x="97" y="202"/>
                </a:cxn>
                <a:cxn ang="0">
                  <a:pos x="122" y="195"/>
                </a:cxn>
                <a:cxn ang="0">
                  <a:pos x="137" y="199"/>
                </a:cxn>
                <a:cxn ang="0">
                  <a:pos x="174" y="200"/>
                </a:cxn>
                <a:cxn ang="0">
                  <a:pos x="219" y="195"/>
                </a:cxn>
                <a:cxn ang="0">
                  <a:pos x="225" y="207"/>
                </a:cxn>
                <a:cxn ang="0">
                  <a:pos x="225" y="300"/>
                </a:cxn>
                <a:cxn ang="0">
                  <a:pos x="224" y="308"/>
                </a:cxn>
                <a:cxn ang="0">
                  <a:pos x="222" y="314"/>
                </a:cxn>
                <a:cxn ang="0">
                  <a:pos x="220" y="319"/>
                </a:cxn>
                <a:cxn ang="0">
                  <a:pos x="216" y="324"/>
                </a:cxn>
                <a:cxn ang="0">
                  <a:pos x="211" y="328"/>
                </a:cxn>
                <a:cxn ang="0">
                  <a:pos x="205" y="330"/>
                </a:cxn>
                <a:cxn ang="0">
                  <a:pos x="200" y="332"/>
                </a:cxn>
                <a:cxn ang="0">
                  <a:pos x="194" y="333"/>
                </a:cxn>
                <a:cxn ang="0">
                  <a:pos x="26" y="333"/>
                </a:cxn>
                <a:cxn ang="0">
                  <a:pos x="26" y="350"/>
                </a:cxn>
                <a:cxn ang="0">
                  <a:pos x="199" y="349"/>
                </a:cxn>
                <a:cxn ang="0">
                  <a:pos x="208" y="348"/>
                </a:cxn>
                <a:cxn ang="0">
                  <a:pos x="213" y="348"/>
                </a:cxn>
                <a:cxn ang="0">
                  <a:pos x="220" y="346"/>
                </a:cxn>
                <a:cxn ang="0">
                  <a:pos x="225" y="345"/>
                </a:cxn>
                <a:cxn ang="0">
                  <a:pos x="231" y="341"/>
                </a:cxn>
                <a:cxn ang="0">
                  <a:pos x="237" y="334"/>
                </a:cxn>
                <a:cxn ang="0">
                  <a:pos x="240" y="328"/>
                </a:cxn>
                <a:cxn ang="0">
                  <a:pos x="244" y="322"/>
                </a:cxn>
                <a:cxn ang="0">
                  <a:pos x="246" y="315"/>
                </a:cxn>
                <a:cxn ang="0">
                  <a:pos x="248" y="307"/>
                </a:cxn>
                <a:cxn ang="0">
                  <a:pos x="248" y="297"/>
                </a:cxn>
                <a:cxn ang="0">
                  <a:pos x="248" y="165"/>
                </a:cxn>
              </a:cxnLst>
              <a:rect l="txL" t="txT" r="txR" b="txB"/>
              <a:pathLst>
                <a:path w="249" h="351">
                  <a:moveTo>
                    <a:pt x="248" y="165"/>
                  </a:moveTo>
                  <a:lnTo>
                    <a:pt x="178" y="129"/>
                  </a:lnTo>
                  <a:lnTo>
                    <a:pt x="100" y="6"/>
                  </a:lnTo>
                  <a:lnTo>
                    <a:pt x="97" y="5"/>
                  </a:lnTo>
                  <a:lnTo>
                    <a:pt x="91" y="2"/>
                  </a:lnTo>
                  <a:lnTo>
                    <a:pt x="85" y="1"/>
                  </a:lnTo>
                  <a:lnTo>
                    <a:pt x="76" y="0"/>
                  </a:lnTo>
                  <a:lnTo>
                    <a:pt x="69" y="1"/>
                  </a:lnTo>
                  <a:lnTo>
                    <a:pt x="61" y="3"/>
                  </a:lnTo>
                  <a:lnTo>
                    <a:pt x="53" y="6"/>
                  </a:lnTo>
                  <a:lnTo>
                    <a:pt x="42" y="12"/>
                  </a:lnTo>
                  <a:lnTo>
                    <a:pt x="34" y="16"/>
                  </a:lnTo>
                  <a:lnTo>
                    <a:pt x="26" y="21"/>
                  </a:lnTo>
                  <a:lnTo>
                    <a:pt x="20" y="27"/>
                  </a:lnTo>
                  <a:lnTo>
                    <a:pt x="15" y="32"/>
                  </a:lnTo>
                  <a:lnTo>
                    <a:pt x="8" y="41"/>
                  </a:lnTo>
                  <a:lnTo>
                    <a:pt x="4" y="47"/>
                  </a:lnTo>
                  <a:lnTo>
                    <a:pt x="1" y="56"/>
                  </a:lnTo>
                  <a:lnTo>
                    <a:pt x="0" y="66"/>
                  </a:lnTo>
                  <a:lnTo>
                    <a:pt x="0" y="81"/>
                  </a:lnTo>
                  <a:lnTo>
                    <a:pt x="2" y="99"/>
                  </a:lnTo>
                  <a:lnTo>
                    <a:pt x="6" y="115"/>
                  </a:lnTo>
                  <a:lnTo>
                    <a:pt x="13" y="134"/>
                  </a:lnTo>
                  <a:lnTo>
                    <a:pt x="20" y="151"/>
                  </a:lnTo>
                  <a:lnTo>
                    <a:pt x="25" y="162"/>
                  </a:lnTo>
                  <a:lnTo>
                    <a:pt x="34" y="173"/>
                  </a:lnTo>
                  <a:lnTo>
                    <a:pt x="41" y="181"/>
                  </a:lnTo>
                  <a:lnTo>
                    <a:pt x="48" y="191"/>
                  </a:lnTo>
                  <a:lnTo>
                    <a:pt x="57" y="200"/>
                  </a:lnTo>
                  <a:lnTo>
                    <a:pt x="64" y="206"/>
                  </a:lnTo>
                  <a:lnTo>
                    <a:pt x="97" y="202"/>
                  </a:lnTo>
                  <a:lnTo>
                    <a:pt x="122" y="195"/>
                  </a:lnTo>
                  <a:lnTo>
                    <a:pt x="137" y="199"/>
                  </a:lnTo>
                  <a:lnTo>
                    <a:pt x="174" y="200"/>
                  </a:lnTo>
                  <a:lnTo>
                    <a:pt x="219" y="195"/>
                  </a:lnTo>
                  <a:lnTo>
                    <a:pt x="225" y="207"/>
                  </a:lnTo>
                  <a:lnTo>
                    <a:pt x="225" y="300"/>
                  </a:lnTo>
                  <a:lnTo>
                    <a:pt x="224" y="308"/>
                  </a:lnTo>
                  <a:lnTo>
                    <a:pt x="222" y="314"/>
                  </a:lnTo>
                  <a:lnTo>
                    <a:pt x="220" y="319"/>
                  </a:lnTo>
                  <a:lnTo>
                    <a:pt x="216" y="324"/>
                  </a:lnTo>
                  <a:lnTo>
                    <a:pt x="211" y="328"/>
                  </a:lnTo>
                  <a:lnTo>
                    <a:pt x="205" y="330"/>
                  </a:lnTo>
                  <a:lnTo>
                    <a:pt x="200" y="332"/>
                  </a:lnTo>
                  <a:lnTo>
                    <a:pt x="194" y="333"/>
                  </a:lnTo>
                  <a:lnTo>
                    <a:pt x="26" y="333"/>
                  </a:lnTo>
                  <a:lnTo>
                    <a:pt x="26" y="350"/>
                  </a:lnTo>
                  <a:lnTo>
                    <a:pt x="199" y="349"/>
                  </a:lnTo>
                  <a:lnTo>
                    <a:pt x="208" y="348"/>
                  </a:lnTo>
                  <a:lnTo>
                    <a:pt x="213" y="348"/>
                  </a:lnTo>
                  <a:lnTo>
                    <a:pt x="220" y="346"/>
                  </a:lnTo>
                  <a:lnTo>
                    <a:pt x="225" y="345"/>
                  </a:lnTo>
                  <a:lnTo>
                    <a:pt x="231" y="341"/>
                  </a:lnTo>
                  <a:lnTo>
                    <a:pt x="237" y="334"/>
                  </a:lnTo>
                  <a:lnTo>
                    <a:pt x="240" y="328"/>
                  </a:lnTo>
                  <a:lnTo>
                    <a:pt x="244" y="322"/>
                  </a:lnTo>
                  <a:lnTo>
                    <a:pt x="246" y="315"/>
                  </a:lnTo>
                  <a:lnTo>
                    <a:pt x="248" y="307"/>
                  </a:lnTo>
                  <a:lnTo>
                    <a:pt x="248" y="297"/>
                  </a:lnTo>
                  <a:lnTo>
                    <a:pt x="248" y="165"/>
                  </a:lnTo>
                </a:path>
              </a:pathLst>
            </a:custGeom>
            <a:solidFill>
              <a:srgbClr val="333333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5573" name="未知"/>
            <p:cNvSpPr/>
            <p:nvPr/>
          </p:nvSpPr>
          <p:spPr>
            <a:xfrm>
              <a:off x="50" y="0"/>
              <a:ext cx="380" cy="636"/>
            </a:xfrm>
            <a:custGeom>
              <a:avLst/>
              <a:gdLst>
                <a:gd name="txL" fmla="*/ 0 w 380"/>
                <a:gd name="txT" fmla="*/ 0 h 636"/>
                <a:gd name="txR" fmla="*/ 380 w 380"/>
                <a:gd name="txB" fmla="*/ 636 h 636"/>
              </a:gdLst>
              <a:ahLst/>
              <a:cxnLst>
                <a:cxn ang="0">
                  <a:pos x="153" y="43"/>
                </a:cxn>
                <a:cxn ang="0">
                  <a:pos x="158" y="42"/>
                </a:cxn>
                <a:cxn ang="0">
                  <a:pos x="178" y="48"/>
                </a:cxn>
                <a:cxn ang="0">
                  <a:pos x="174" y="2"/>
                </a:cxn>
                <a:cxn ang="0">
                  <a:pos x="203" y="35"/>
                </a:cxn>
                <a:cxn ang="0">
                  <a:pos x="211" y="9"/>
                </a:cxn>
                <a:cxn ang="0">
                  <a:pos x="236" y="0"/>
                </a:cxn>
                <a:cxn ang="0">
                  <a:pos x="233" y="24"/>
                </a:cxn>
                <a:cxn ang="0">
                  <a:pos x="248" y="15"/>
                </a:cxn>
                <a:cxn ang="0">
                  <a:pos x="246" y="28"/>
                </a:cxn>
                <a:cxn ang="0">
                  <a:pos x="255" y="51"/>
                </a:cxn>
                <a:cxn ang="0">
                  <a:pos x="288" y="18"/>
                </a:cxn>
                <a:cxn ang="0">
                  <a:pos x="266" y="50"/>
                </a:cxn>
                <a:cxn ang="0">
                  <a:pos x="304" y="28"/>
                </a:cxn>
                <a:cxn ang="0">
                  <a:pos x="287" y="53"/>
                </a:cxn>
                <a:cxn ang="0">
                  <a:pos x="291" y="66"/>
                </a:cxn>
                <a:cxn ang="0">
                  <a:pos x="289" y="94"/>
                </a:cxn>
                <a:cxn ang="0">
                  <a:pos x="318" y="130"/>
                </a:cxn>
                <a:cxn ang="0">
                  <a:pos x="344" y="174"/>
                </a:cxn>
                <a:cxn ang="0">
                  <a:pos x="337" y="182"/>
                </a:cxn>
                <a:cxn ang="0">
                  <a:pos x="276" y="216"/>
                </a:cxn>
                <a:cxn ang="0">
                  <a:pos x="258" y="257"/>
                </a:cxn>
                <a:cxn ang="0">
                  <a:pos x="197" y="249"/>
                </a:cxn>
                <a:cxn ang="0">
                  <a:pos x="180" y="322"/>
                </a:cxn>
                <a:cxn ang="0">
                  <a:pos x="230" y="363"/>
                </a:cxn>
                <a:cxn ang="0">
                  <a:pos x="287" y="372"/>
                </a:cxn>
                <a:cxn ang="0">
                  <a:pos x="325" y="371"/>
                </a:cxn>
                <a:cxn ang="0">
                  <a:pos x="350" y="364"/>
                </a:cxn>
                <a:cxn ang="0">
                  <a:pos x="357" y="381"/>
                </a:cxn>
                <a:cxn ang="0">
                  <a:pos x="379" y="394"/>
                </a:cxn>
                <a:cxn ang="0">
                  <a:pos x="370" y="406"/>
                </a:cxn>
                <a:cxn ang="0">
                  <a:pos x="375" y="421"/>
                </a:cxn>
                <a:cxn ang="0">
                  <a:pos x="363" y="439"/>
                </a:cxn>
                <a:cxn ang="0">
                  <a:pos x="358" y="448"/>
                </a:cxn>
                <a:cxn ang="0">
                  <a:pos x="312" y="433"/>
                </a:cxn>
                <a:cxn ang="0">
                  <a:pos x="231" y="414"/>
                </a:cxn>
                <a:cxn ang="0">
                  <a:pos x="178" y="407"/>
                </a:cxn>
                <a:cxn ang="0">
                  <a:pos x="164" y="392"/>
                </a:cxn>
                <a:cxn ang="0">
                  <a:pos x="170" y="402"/>
                </a:cxn>
                <a:cxn ang="0">
                  <a:pos x="205" y="412"/>
                </a:cxn>
                <a:cxn ang="0">
                  <a:pos x="234" y="431"/>
                </a:cxn>
                <a:cxn ang="0">
                  <a:pos x="227" y="451"/>
                </a:cxn>
                <a:cxn ang="0">
                  <a:pos x="175" y="493"/>
                </a:cxn>
                <a:cxn ang="0">
                  <a:pos x="115" y="528"/>
                </a:cxn>
                <a:cxn ang="0">
                  <a:pos x="104" y="582"/>
                </a:cxn>
                <a:cxn ang="0">
                  <a:pos x="138" y="626"/>
                </a:cxn>
                <a:cxn ang="0">
                  <a:pos x="83" y="632"/>
                </a:cxn>
                <a:cxn ang="0">
                  <a:pos x="47" y="629"/>
                </a:cxn>
                <a:cxn ang="0">
                  <a:pos x="48" y="549"/>
                </a:cxn>
                <a:cxn ang="0">
                  <a:pos x="27" y="528"/>
                </a:cxn>
                <a:cxn ang="0">
                  <a:pos x="40" y="508"/>
                </a:cxn>
                <a:cxn ang="0">
                  <a:pos x="103" y="483"/>
                </a:cxn>
                <a:cxn ang="0">
                  <a:pos x="124" y="447"/>
                </a:cxn>
                <a:cxn ang="0">
                  <a:pos x="26" y="440"/>
                </a:cxn>
                <a:cxn ang="0">
                  <a:pos x="6" y="431"/>
                </a:cxn>
                <a:cxn ang="0">
                  <a:pos x="0" y="399"/>
                </a:cxn>
                <a:cxn ang="0">
                  <a:pos x="6" y="368"/>
                </a:cxn>
                <a:cxn ang="0">
                  <a:pos x="51" y="265"/>
                </a:cxn>
                <a:cxn ang="0">
                  <a:pos x="104" y="196"/>
                </a:cxn>
                <a:cxn ang="0">
                  <a:pos x="130" y="136"/>
                </a:cxn>
              </a:cxnLst>
              <a:rect l="txL" t="txT" r="txR" b="txB"/>
              <a:pathLst>
                <a:path w="380" h="636">
                  <a:moveTo>
                    <a:pt x="130" y="136"/>
                  </a:moveTo>
                  <a:lnTo>
                    <a:pt x="140" y="107"/>
                  </a:lnTo>
                  <a:lnTo>
                    <a:pt x="148" y="73"/>
                  </a:lnTo>
                  <a:lnTo>
                    <a:pt x="153" y="43"/>
                  </a:lnTo>
                  <a:lnTo>
                    <a:pt x="144" y="27"/>
                  </a:lnTo>
                  <a:lnTo>
                    <a:pt x="135" y="19"/>
                  </a:lnTo>
                  <a:lnTo>
                    <a:pt x="148" y="28"/>
                  </a:lnTo>
                  <a:lnTo>
                    <a:pt x="158" y="42"/>
                  </a:lnTo>
                  <a:lnTo>
                    <a:pt x="150" y="10"/>
                  </a:lnTo>
                  <a:lnTo>
                    <a:pt x="157" y="25"/>
                  </a:lnTo>
                  <a:lnTo>
                    <a:pt x="171" y="46"/>
                  </a:lnTo>
                  <a:lnTo>
                    <a:pt x="178" y="48"/>
                  </a:lnTo>
                  <a:lnTo>
                    <a:pt x="174" y="31"/>
                  </a:lnTo>
                  <a:lnTo>
                    <a:pt x="177" y="33"/>
                  </a:lnTo>
                  <a:lnTo>
                    <a:pt x="178" y="18"/>
                  </a:lnTo>
                  <a:lnTo>
                    <a:pt x="174" y="2"/>
                  </a:lnTo>
                  <a:lnTo>
                    <a:pt x="197" y="44"/>
                  </a:lnTo>
                  <a:lnTo>
                    <a:pt x="198" y="37"/>
                  </a:lnTo>
                  <a:lnTo>
                    <a:pt x="201" y="42"/>
                  </a:lnTo>
                  <a:lnTo>
                    <a:pt x="203" y="35"/>
                  </a:lnTo>
                  <a:lnTo>
                    <a:pt x="198" y="25"/>
                  </a:lnTo>
                  <a:lnTo>
                    <a:pt x="199" y="6"/>
                  </a:lnTo>
                  <a:lnTo>
                    <a:pt x="207" y="44"/>
                  </a:lnTo>
                  <a:lnTo>
                    <a:pt x="211" y="9"/>
                  </a:lnTo>
                  <a:lnTo>
                    <a:pt x="211" y="36"/>
                  </a:lnTo>
                  <a:lnTo>
                    <a:pt x="215" y="43"/>
                  </a:lnTo>
                  <a:lnTo>
                    <a:pt x="222" y="13"/>
                  </a:lnTo>
                  <a:lnTo>
                    <a:pt x="236" y="0"/>
                  </a:lnTo>
                  <a:lnTo>
                    <a:pt x="226" y="13"/>
                  </a:lnTo>
                  <a:lnTo>
                    <a:pt x="221" y="36"/>
                  </a:lnTo>
                  <a:lnTo>
                    <a:pt x="223" y="41"/>
                  </a:lnTo>
                  <a:lnTo>
                    <a:pt x="233" y="24"/>
                  </a:lnTo>
                  <a:lnTo>
                    <a:pt x="226" y="39"/>
                  </a:lnTo>
                  <a:lnTo>
                    <a:pt x="226" y="45"/>
                  </a:lnTo>
                  <a:lnTo>
                    <a:pt x="247" y="9"/>
                  </a:lnTo>
                  <a:lnTo>
                    <a:pt x="248" y="15"/>
                  </a:lnTo>
                  <a:lnTo>
                    <a:pt x="238" y="35"/>
                  </a:lnTo>
                  <a:lnTo>
                    <a:pt x="238" y="48"/>
                  </a:lnTo>
                  <a:lnTo>
                    <a:pt x="241" y="50"/>
                  </a:lnTo>
                  <a:lnTo>
                    <a:pt x="246" y="28"/>
                  </a:lnTo>
                  <a:lnTo>
                    <a:pt x="256" y="12"/>
                  </a:lnTo>
                  <a:lnTo>
                    <a:pt x="248" y="29"/>
                  </a:lnTo>
                  <a:lnTo>
                    <a:pt x="250" y="53"/>
                  </a:lnTo>
                  <a:lnTo>
                    <a:pt x="255" y="51"/>
                  </a:lnTo>
                  <a:lnTo>
                    <a:pt x="265" y="20"/>
                  </a:lnTo>
                  <a:lnTo>
                    <a:pt x="258" y="53"/>
                  </a:lnTo>
                  <a:lnTo>
                    <a:pt x="274" y="27"/>
                  </a:lnTo>
                  <a:lnTo>
                    <a:pt x="288" y="18"/>
                  </a:lnTo>
                  <a:lnTo>
                    <a:pt x="277" y="31"/>
                  </a:lnTo>
                  <a:lnTo>
                    <a:pt x="269" y="45"/>
                  </a:lnTo>
                  <a:lnTo>
                    <a:pt x="281" y="40"/>
                  </a:lnTo>
                  <a:lnTo>
                    <a:pt x="266" y="50"/>
                  </a:lnTo>
                  <a:lnTo>
                    <a:pt x="263" y="61"/>
                  </a:lnTo>
                  <a:lnTo>
                    <a:pt x="268" y="63"/>
                  </a:lnTo>
                  <a:lnTo>
                    <a:pt x="284" y="41"/>
                  </a:lnTo>
                  <a:lnTo>
                    <a:pt x="304" y="28"/>
                  </a:lnTo>
                  <a:lnTo>
                    <a:pt x="278" y="57"/>
                  </a:lnTo>
                  <a:lnTo>
                    <a:pt x="290" y="48"/>
                  </a:lnTo>
                  <a:lnTo>
                    <a:pt x="355" y="39"/>
                  </a:lnTo>
                  <a:lnTo>
                    <a:pt x="287" y="53"/>
                  </a:lnTo>
                  <a:lnTo>
                    <a:pt x="280" y="63"/>
                  </a:lnTo>
                  <a:lnTo>
                    <a:pt x="287" y="61"/>
                  </a:lnTo>
                  <a:lnTo>
                    <a:pt x="307" y="52"/>
                  </a:lnTo>
                  <a:lnTo>
                    <a:pt x="291" y="66"/>
                  </a:lnTo>
                  <a:lnTo>
                    <a:pt x="278" y="72"/>
                  </a:lnTo>
                  <a:lnTo>
                    <a:pt x="278" y="81"/>
                  </a:lnTo>
                  <a:lnTo>
                    <a:pt x="281" y="87"/>
                  </a:lnTo>
                  <a:lnTo>
                    <a:pt x="289" y="94"/>
                  </a:lnTo>
                  <a:lnTo>
                    <a:pt x="297" y="105"/>
                  </a:lnTo>
                  <a:lnTo>
                    <a:pt x="304" y="113"/>
                  </a:lnTo>
                  <a:lnTo>
                    <a:pt x="311" y="122"/>
                  </a:lnTo>
                  <a:lnTo>
                    <a:pt x="318" y="130"/>
                  </a:lnTo>
                  <a:lnTo>
                    <a:pt x="322" y="137"/>
                  </a:lnTo>
                  <a:lnTo>
                    <a:pt x="330" y="149"/>
                  </a:lnTo>
                  <a:lnTo>
                    <a:pt x="338" y="162"/>
                  </a:lnTo>
                  <a:lnTo>
                    <a:pt x="344" y="174"/>
                  </a:lnTo>
                  <a:lnTo>
                    <a:pt x="344" y="176"/>
                  </a:lnTo>
                  <a:lnTo>
                    <a:pt x="342" y="178"/>
                  </a:lnTo>
                  <a:lnTo>
                    <a:pt x="340" y="181"/>
                  </a:lnTo>
                  <a:lnTo>
                    <a:pt x="337" y="182"/>
                  </a:lnTo>
                  <a:lnTo>
                    <a:pt x="333" y="182"/>
                  </a:lnTo>
                  <a:lnTo>
                    <a:pt x="285" y="178"/>
                  </a:lnTo>
                  <a:lnTo>
                    <a:pt x="282" y="187"/>
                  </a:lnTo>
                  <a:lnTo>
                    <a:pt x="276" y="216"/>
                  </a:lnTo>
                  <a:lnTo>
                    <a:pt x="271" y="237"/>
                  </a:lnTo>
                  <a:lnTo>
                    <a:pt x="265" y="255"/>
                  </a:lnTo>
                  <a:lnTo>
                    <a:pt x="262" y="255"/>
                  </a:lnTo>
                  <a:lnTo>
                    <a:pt x="258" y="257"/>
                  </a:lnTo>
                  <a:lnTo>
                    <a:pt x="253" y="257"/>
                  </a:lnTo>
                  <a:lnTo>
                    <a:pt x="238" y="257"/>
                  </a:lnTo>
                  <a:lnTo>
                    <a:pt x="201" y="244"/>
                  </a:lnTo>
                  <a:lnTo>
                    <a:pt x="197" y="249"/>
                  </a:lnTo>
                  <a:lnTo>
                    <a:pt x="192" y="270"/>
                  </a:lnTo>
                  <a:lnTo>
                    <a:pt x="187" y="286"/>
                  </a:lnTo>
                  <a:lnTo>
                    <a:pt x="182" y="308"/>
                  </a:lnTo>
                  <a:lnTo>
                    <a:pt x="180" y="322"/>
                  </a:lnTo>
                  <a:lnTo>
                    <a:pt x="188" y="332"/>
                  </a:lnTo>
                  <a:lnTo>
                    <a:pt x="198" y="343"/>
                  </a:lnTo>
                  <a:lnTo>
                    <a:pt x="211" y="359"/>
                  </a:lnTo>
                  <a:lnTo>
                    <a:pt x="230" y="363"/>
                  </a:lnTo>
                  <a:lnTo>
                    <a:pt x="244" y="365"/>
                  </a:lnTo>
                  <a:lnTo>
                    <a:pt x="264" y="369"/>
                  </a:lnTo>
                  <a:lnTo>
                    <a:pt x="276" y="371"/>
                  </a:lnTo>
                  <a:lnTo>
                    <a:pt x="287" y="372"/>
                  </a:lnTo>
                  <a:lnTo>
                    <a:pt x="295" y="373"/>
                  </a:lnTo>
                  <a:lnTo>
                    <a:pt x="302" y="373"/>
                  </a:lnTo>
                  <a:lnTo>
                    <a:pt x="311" y="372"/>
                  </a:lnTo>
                  <a:lnTo>
                    <a:pt x="325" y="371"/>
                  </a:lnTo>
                  <a:lnTo>
                    <a:pt x="339" y="364"/>
                  </a:lnTo>
                  <a:lnTo>
                    <a:pt x="343" y="362"/>
                  </a:lnTo>
                  <a:lnTo>
                    <a:pt x="347" y="362"/>
                  </a:lnTo>
                  <a:lnTo>
                    <a:pt x="350" y="364"/>
                  </a:lnTo>
                  <a:lnTo>
                    <a:pt x="354" y="368"/>
                  </a:lnTo>
                  <a:lnTo>
                    <a:pt x="355" y="371"/>
                  </a:lnTo>
                  <a:lnTo>
                    <a:pt x="356" y="376"/>
                  </a:lnTo>
                  <a:lnTo>
                    <a:pt x="357" y="381"/>
                  </a:lnTo>
                  <a:lnTo>
                    <a:pt x="362" y="383"/>
                  </a:lnTo>
                  <a:lnTo>
                    <a:pt x="368" y="386"/>
                  </a:lnTo>
                  <a:lnTo>
                    <a:pt x="373" y="389"/>
                  </a:lnTo>
                  <a:lnTo>
                    <a:pt x="379" y="394"/>
                  </a:lnTo>
                  <a:lnTo>
                    <a:pt x="378" y="397"/>
                  </a:lnTo>
                  <a:lnTo>
                    <a:pt x="377" y="401"/>
                  </a:lnTo>
                  <a:lnTo>
                    <a:pt x="373" y="404"/>
                  </a:lnTo>
                  <a:lnTo>
                    <a:pt x="370" y="406"/>
                  </a:lnTo>
                  <a:lnTo>
                    <a:pt x="372" y="409"/>
                  </a:lnTo>
                  <a:lnTo>
                    <a:pt x="373" y="413"/>
                  </a:lnTo>
                  <a:lnTo>
                    <a:pt x="375" y="418"/>
                  </a:lnTo>
                  <a:lnTo>
                    <a:pt x="375" y="421"/>
                  </a:lnTo>
                  <a:lnTo>
                    <a:pt x="373" y="426"/>
                  </a:lnTo>
                  <a:lnTo>
                    <a:pt x="370" y="428"/>
                  </a:lnTo>
                  <a:lnTo>
                    <a:pt x="362" y="433"/>
                  </a:lnTo>
                  <a:lnTo>
                    <a:pt x="363" y="439"/>
                  </a:lnTo>
                  <a:lnTo>
                    <a:pt x="363" y="442"/>
                  </a:lnTo>
                  <a:lnTo>
                    <a:pt x="362" y="445"/>
                  </a:lnTo>
                  <a:lnTo>
                    <a:pt x="361" y="447"/>
                  </a:lnTo>
                  <a:lnTo>
                    <a:pt x="358" y="448"/>
                  </a:lnTo>
                  <a:lnTo>
                    <a:pt x="355" y="447"/>
                  </a:lnTo>
                  <a:lnTo>
                    <a:pt x="348" y="446"/>
                  </a:lnTo>
                  <a:lnTo>
                    <a:pt x="332" y="440"/>
                  </a:lnTo>
                  <a:lnTo>
                    <a:pt x="312" y="433"/>
                  </a:lnTo>
                  <a:lnTo>
                    <a:pt x="284" y="426"/>
                  </a:lnTo>
                  <a:lnTo>
                    <a:pt x="279" y="426"/>
                  </a:lnTo>
                  <a:lnTo>
                    <a:pt x="263" y="422"/>
                  </a:lnTo>
                  <a:lnTo>
                    <a:pt x="231" y="414"/>
                  </a:lnTo>
                  <a:lnTo>
                    <a:pt x="204" y="411"/>
                  </a:lnTo>
                  <a:lnTo>
                    <a:pt x="198" y="412"/>
                  </a:lnTo>
                  <a:lnTo>
                    <a:pt x="184" y="413"/>
                  </a:lnTo>
                  <a:lnTo>
                    <a:pt x="178" y="407"/>
                  </a:lnTo>
                  <a:lnTo>
                    <a:pt x="172" y="404"/>
                  </a:lnTo>
                  <a:lnTo>
                    <a:pt x="170" y="401"/>
                  </a:lnTo>
                  <a:lnTo>
                    <a:pt x="167" y="397"/>
                  </a:lnTo>
                  <a:lnTo>
                    <a:pt x="164" y="392"/>
                  </a:lnTo>
                  <a:lnTo>
                    <a:pt x="149" y="373"/>
                  </a:lnTo>
                  <a:lnTo>
                    <a:pt x="163" y="390"/>
                  </a:lnTo>
                  <a:lnTo>
                    <a:pt x="168" y="396"/>
                  </a:lnTo>
                  <a:lnTo>
                    <a:pt x="170" y="402"/>
                  </a:lnTo>
                  <a:lnTo>
                    <a:pt x="183" y="412"/>
                  </a:lnTo>
                  <a:lnTo>
                    <a:pt x="190" y="413"/>
                  </a:lnTo>
                  <a:lnTo>
                    <a:pt x="199" y="412"/>
                  </a:lnTo>
                  <a:lnTo>
                    <a:pt x="205" y="412"/>
                  </a:lnTo>
                  <a:lnTo>
                    <a:pt x="216" y="416"/>
                  </a:lnTo>
                  <a:lnTo>
                    <a:pt x="223" y="420"/>
                  </a:lnTo>
                  <a:lnTo>
                    <a:pt x="229" y="425"/>
                  </a:lnTo>
                  <a:lnTo>
                    <a:pt x="234" y="431"/>
                  </a:lnTo>
                  <a:lnTo>
                    <a:pt x="237" y="435"/>
                  </a:lnTo>
                  <a:lnTo>
                    <a:pt x="236" y="439"/>
                  </a:lnTo>
                  <a:lnTo>
                    <a:pt x="233" y="445"/>
                  </a:lnTo>
                  <a:lnTo>
                    <a:pt x="227" y="451"/>
                  </a:lnTo>
                  <a:lnTo>
                    <a:pt x="218" y="460"/>
                  </a:lnTo>
                  <a:lnTo>
                    <a:pt x="204" y="472"/>
                  </a:lnTo>
                  <a:lnTo>
                    <a:pt x="194" y="482"/>
                  </a:lnTo>
                  <a:lnTo>
                    <a:pt x="175" y="493"/>
                  </a:lnTo>
                  <a:lnTo>
                    <a:pt x="145" y="508"/>
                  </a:lnTo>
                  <a:lnTo>
                    <a:pt x="126" y="517"/>
                  </a:lnTo>
                  <a:lnTo>
                    <a:pt x="120" y="523"/>
                  </a:lnTo>
                  <a:lnTo>
                    <a:pt x="115" y="528"/>
                  </a:lnTo>
                  <a:lnTo>
                    <a:pt x="104" y="535"/>
                  </a:lnTo>
                  <a:lnTo>
                    <a:pt x="101" y="545"/>
                  </a:lnTo>
                  <a:lnTo>
                    <a:pt x="101" y="565"/>
                  </a:lnTo>
                  <a:lnTo>
                    <a:pt x="104" y="582"/>
                  </a:lnTo>
                  <a:lnTo>
                    <a:pt x="107" y="593"/>
                  </a:lnTo>
                  <a:lnTo>
                    <a:pt x="125" y="614"/>
                  </a:lnTo>
                  <a:lnTo>
                    <a:pt x="136" y="622"/>
                  </a:lnTo>
                  <a:lnTo>
                    <a:pt x="138" y="626"/>
                  </a:lnTo>
                  <a:lnTo>
                    <a:pt x="137" y="629"/>
                  </a:lnTo>
                  <a:lnTo>
                    <a:pt x="116" y="635"/>
                  </a:lnTo>
                  <a:lnTo>
                    <a:pt x="94" y="632"/>
                  </a:lnTo>
                  <a:lnTo>
                    <a:pt x="83" y="632"/>
                  </a:lnTo>
                  <a:lnTo>
                    <a:pt x="71" y="633"/>
                  </a:lnTo>
                  <a:lnTo>
                    <a:pt x="60" y="633"/>
                  </a:lnTo>
                  <a:lnTo>
                    <a:pt x="49" y="631"/>
                  </a:lnTo>
                  <a:lnTo>
                    <a:pt x="47" y="629"/>
                  </a:lnTo>
                  <a:lnTo>
                    <a:pt x="46" y="626"/>
                  </a:lnTo>
                  <a:lnTo>
                    <a:pt x="46" y="593"/>
                  </a:lnTo>
                  <a:lnTo>
                    <a:pt x="52" y="560"/>
                  </a:lnTo>
                  <a:lnTo>
                    <a:pt x="48" y="549"/>
                  </a:lnTo>
                  <a:lnTo>
                    <a:pt x="40" y="539"/>
                  </a:lnTo>
                  <a:lnTo>
                    <a:pt x="37" y="536"/>
                  </a:lnTo>
                  <a:lnTo>
                    <a:pt x="31" y="530"/>
                  </a:lnTo>
                  <a:lnTo>
                    <a:pt x="27" y="528"/>
                  </a:lnTo>
                  <a:lnTo>
                    <a:pt x="26" y="524"/>
                  </a:lnTo>
                  <a:lnTo>
                    <a:pt x="27" y="521"/>
                  </a:lnTo>
                  <a:lnTo>
                    <a:pt x="32" y="515"/>
                  </a:lnTo>
                  <a:lnTo>
                    <a:pt x="40" y="508"/>
                  </a:lnTo>
                  <a:lnTo>
                    <a:pt x="47" y="504"/>
                  </a:lnTo>
                  <a:lnTo>
                    <a:pt x="57" y="504"/>
                  </a:lnTo>
                  <a:lnTo>
                    <a:pt x="65" y="505"/>
                  </a:lnTo>
                  <a:lnTo>
                    <a:pt x="103" y="483"/>
                  </a:lnTo>
                  <a:lnTo>
                    <a:pt x="132" y="466"/>
                  </a:lnTo>
                  <a:lnTo>
                    <a:pt x="157" y="453"/>
                  </a:lnTo>
                  <a:lnTo>
                    <a:pt x="149" y="453"/>
                  </a:lnTo>
                  <a:lnTo>
                    <a:pt x="124" y="447"/>
                  </a:lnTo>
                  <a:lnTo>
                    <a:pt x="98" y="446"/>
                  </a:lnTo>
                  <a:lnTo>
                    <a:pt x="63" y="441"/>
                  </a:lnTo>
                  <a:lnTo>
                    <a:pt x="52" y="442"/>
                  </a:lnTo>
                  <a:lnTo>
                    <a:pt x="26" y="440"/>
                  </a:lnTo>
                  <a:lnTo>
                    <a:pt x="20" y="439"/>
                  </a:lnTo>
                  <a:lnTo>
                    <a:pt x="14" y="436"/>
                  </a:lnTo>
                  <a:lnTo>
                    <a:pt x="9" y="434"/>
                  </a:lnTo>
                  <a:lnTo>
                    <a:pt x="6" y="431"/>
                  </a:lnTo>
                  <a:lnTo>
                    <a:pt x="3" y="424"/>
                  </a:lnTo>
                  <a:lnTo>
                    <a:pt x="2" y="417"/>
                  </a:lnTo>
                  <a:lnTo>
                    <a:pt x="0" y="409"/>
                  </a:lnTo>
                  <a:lnTo>
                    <a:pt x="0" y="399"/>
                  </a:lnTo>
                  <a:lnTo>
                    <a:pt x="1" y="391"/>
                  </a:lnTo>
                  <a:lnTo>
                    <a:pt x="2" y="382"/>
                  </a:lnTo>
                  <a:lnTo>
                    <a:pt x="3" y="374"/>
                  </a:lnTo>
                  <a:lnTo>
                    <a:pt x="6" y="368"/>
                  </a:lnTo>
                  <a:lnTo>
                    <a:pt x="15" y="344"/>
                  </a:lnTo>
                  <a:lnTo>
                    <a:pt x="25" y="315"/>
                  </a:lnTo>
                  <a:lnTo>
                    <a:pt x="32" y="296"/>
                  </a:lnTo>
                  <a:lnTo>
                    <a:pt x="51" y="265"/>
                  </a:lnTo>
                  <a:lnTo>
                    <a:pt x="69" y="240"/>
                  </a:lnTo>
                  <a:lnTo>
                    <a:pt x="86" y="221"/>
                  </a:lnTo>
                  <a:lnTo>
                    <a:pt x="96" y="208"/>
                  </a:lnTo>
                  <a:lnTo>
                    <a:pt x="104" y="196"/>
                  </a:lnTo>
                  <a:lnTo>
                    <a:pt x="112" y="187"/>
                  </a:lnTo>
                  <a:lnTo>
                    <a:pt x="115" y="172"/>
                  </a:lnTo>
                  <a:lnTo>
                    <a:pt x="123" y="153"/>
                  </a:lnTo>
                  <a:lnTo>
                    <a:pt x="130" y="136"/>
                  </a:lnTo>
                </a:path>
              </a:pathLst>
            </a:custGeom>
            <a:solidFill>
              <a:srgbClr val="333333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  <p:sp>
          <p:nvSpPr>
            <p:cNvPr id="65574" name="未知"/>
            <p:cNvSpPr/>
            <p:nvPr/>
          </p:nvSpPr>
          <p:spPr>
            <a:xfrm>
              <a:off x="304" y="101"/>
              <a:ext cx="17" cy="36"/>
            </a:xfrm>
            <a:custGeom>
              <a:avLst/>
              <a:gdLst>
                <a:gd name="txL" fmla="*/ 0 w 17"/>
                <a:gd name="txT" fmla="*/ 0 h 36"/>
                <a:gd name="txR" fmla="*/ 17 w 17"/>
                <a:gd name="txB" fmla="*/ 36 h 36"/>
              </a:gdLst>
              <a:ahLst/>
              <a:cxnLst>
                <a:cxn ang="0">
                  <a:pos x="14" y="0"/>
                </a:cxn>
                <a:cxn ang="0">
                  <a:pos x="10" y="2"/>
                </a:cxn>
                <a:cxn ang="0">
                  <a:pos x="8" y="6"/>
                </a:cxn>
                <a:cxn ang="0">
                  <a:pos x="5" y="10"/>
                </a:cxn>
                <a:cxn ang="0">
                  <a:pos x="2" y="14"/>
                </a:cxn>
                <a:cxn ang="0">
                  <a:pos x="1" y="19"/>
                </a:cxn>
                <a:cxn ang="0">
                  <a:pos x="0" y="24"/>
                </a:cxn>
                <a:cxn ang="0">
                  <a:pos x="0" y="28"/>
                </a:cxn>
                <a:cxn ang="0">
                  <a:pos x="2" y="33"/>
                </a:cxn>
                <a:cxn ang="0">
                  <a:pos x="2" y="35"/>
                </a:cxn>
                <a:cxn ang="0">
                  <a:pos x="5" y="33"/>
                </a:cxn>
                <a:cxn ang="0">
                  <a:pos x="7" y="31"/>
                </a:cxn>
                <a:cxn ang="0">
                  <a:pos x="10" y="28"/>
                </a:cxn>
                <a:cxn ang="0">
                  <a:pos x="11" y="24"/>
                </a:cxn>
                <a:cxn ang="0">
                  <a:pos x="14" y="20"/>
                </a:cxn>
                <a:cxn ang="0">
                  <a:pos x="14" y="17"/>
                </a:cxn>
                <a:cxn ang="0">
                  <a:pos x="15" y="12"/>
                </a:cxn>
                <a:cxn ang="0">
                  <a:pos x="16" y="8"/>
                </a:cxn>
                <a:cxn ang="0">
                  <a:pos x="15" y="3"/>
                </a:cxn>
                <a:cxn ang="0">
                  <a:pos x="14" y="0"/>
                </a:cxn>
              </a:cxnLst>
              <a:rect l="txL" t="txT" r="txR" b="txB"/>
              <a:pathLst>
                <a:path w="17" h="36">
                  <a:moveTo>
                    <a:pt x="14" y="0"/>
                  </a:moveTo>
                  <a:lnTo>
                    <a:pt x="10" y="2"/>
                  </a:lnTo>
                  <a:lnTo>
                    <a:pt x="8" y="6"/>
                  </a:lnTo>
                  <a:lnTo>
                    <a:pt x="5" y="10"/>
                  </a:lnTo>
                  <a:lnTo>
                    <a:pt x="2" y="14"/>
                  </a:lnTo>
                  <a:lnTo>
                    <a:pt x="1" y="19"/>
                  </a:lnTo>
                  <a:lnTo>
                    <a:pt x="0" y="24"/>
                  </a:lnTo>
                  <a:lnTo>
                    <a:pt x="0" y="28"/>
                  </a:lnTo>
                  <a:lnTo>
                    <a:pt x="2" y="33"/>
                  </a:lnTo>
                  <a:lnTo>
                    <a:pt x="2" y="35"/>
                  </a:lnTo>
                  <a:lnTo>
                    <a:pt x="5" y="33"/>
                  </a:lnTo>
                  <a:lnTo>
                    <a:pt x="7" y="31"/>
                  </a:lnTo>
                  <a:lnTo>
                    <a:pt x="10" y="28"/>
                  </a:lnTo>
                  <a:lnTo>
                    <a:pt x="11" y="24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5" y="12"/>
                  </a:lnTo>
                  <a:lnTo>
                    <a:pt x="16" y="8"/>
                  </a:lnTo>
                  <a:lnTo>
                    <a:pt x="15" y="3"/>
                  </a:lnTo>
                  <a:lnTo>
                    <a:pt x="14" y="0"/>
                  </a:lnTo>
                </a:path>
              </a:pathLst>
            </a:custGeom>
            <a:solidFill>
              <a:srgbClr val="333333"/>
            </a:solidFill>
            <a:ln w="12700" cap="rnd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/>
            <a:p>
              <a:endParaRPr lang="zh-CN" altLang="en-US" dirty="0">
                <a:latin typeface="Times New Roman" panose="02020603050405020304" pitchFamily="18" charset="0"/>
              </a:endParaRPr>
            </a:p>
          </p:txBody>
        </p:sp>
      </p:grpSp>
      <p:sp>
        <p:nvSpPr>
          <p:cNvPr id="65541" name="Text Box 25"/>
          <p:cNvSpPr txBox="1"/>
          <p:nvPr/>
        </p:nvSpPr>
        <p:spPr>
          <a:xfrm>
            <a:off x="5177473" y="3859848"/>
            <a:ext cx="792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0" hangingPunct="0">
              <a:buFont typeface="Arial" panose="020B0604020202090204" pitchFamily="34" charset="0"/>
              <a:buNone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假冒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5542" name="Picture 3" descr="P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313" y="2335213"/>
            <a:ext cx="1106487" cy="866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543" name="Line 4"/>
          <p:cNvSpPr/>
          <p:nvPr/>
        </p:nvSpPr>
        <p:spPr>
          <a:xfrm flipV="1">
            <a:off x="1619250" y="2757488"/>
            <a:ext cx="5976938" cy="71437"/>
          </a:xfrm>
          <a:prstGeom prst="line">
            <a:avLst/>
          </a:prstGeom>
          <a:ln w="254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  <a:effectLst>
            <a:prstShdw prst="shdw17" dist="17961" dir="13499999">
              <a:srgbClr val="000099"/>
            </a:prstShdw>
          </a:effectLst>
        </p:spPr>
      </p:sp>
      <p:pic>
        <p:nvPicPr>
          <p:cNvPr id="411666" name="Picture 5"/>
          <p:cNvPicPr preferRelativeResize="0"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7613" y="2863850"/>
            <a:ext cx="5111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3882" dir="2700000" algn="ctr" rotWithShape="0">
              <a:schemeClr val="tx1"/>
            </a:outerShdw>
          </a:effectLst>
        </p:spPr>
      </p:pic>
      <p:sp>
        <p:nvSpPr>
          <p:cNvPr id="65545" name="Line 6"/>
          <p:cNvSpPr/>
          <p:nvPr/>
        </p:nvSpPr>
        <p:spPr>
          <a:xfrm>
            <a:off x="7489825" y="2790825"/>
            <a:ext cx="503238" cy="0"/>
          </a:xfrm>
          <a:prstGeom prst="line">
            <a:avLst/>
          </a:prstGeom>
          <a:ln w="254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  <a:effectLst>
            <a:prstShdw prst="shdw17" dist="17961" dir="13499999">
              <a:srgbClr val="000099"/>
            </a:prstShdw>
          </a:effectLst>
        </p:spPr>
      </p:sp>
      <p:sp>
        <p:nvSpPr>
          <p:cNvPr id="65546" name="Text Box 8"/>
          <p:cNvSpPr txBox="1"/>
          <p:nvPr/>
        </p:nvSpPr>
        <p:spPr>
          <a:xfrm>
            <a:off x="854075" y="3284538"/>
            <a:ext cx="6953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0" hangingPunct="0">
              <a:buFont typeface="Arial" panose="020B0604020202090204" pitchFamily="34" charset="0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用户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5547" name="Picture 20" descr="mon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075" y="2705100"/>
            <a:ext cx="733425" cy="452438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5548" name="Text Box 21"/>
          <p:cNvSpPr txBox="1"/>
          <p:nvPr/>
        </p:nvSpPr>
        <p:spPr>
          <a:xfrm>
            <a:off x="7524750" y="3222625"/>
            <a:ext cx="104298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buFont typeface="Arial" panose="020B0604020202090204" pitchFamily="34" charset="0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数据库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5549" name="Picture 27" descr="ENT6000_00A4_005_idx"/>
          <p:cNvPicPr>
            <a:picLocks noChangeAspect="1"/>
          </p:cNvPicPr>
          <p:nvPr/>
        </p:nvPicPr>
        <p:blipFill>
          <a:blip r:embed="rId4"/>
          <a:srcRect l="26190" t="6436" r="26190" b="30197"/>
          <a:stretch>
            <a:fillRect/>
          </a:stretch>
        </p:blipFill>
        <p:spPr>
          <a:xfrm>
            <a:off x="7345363" y="2011363"/>
            <a:ext cx="608012" cy="1076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5550" name="Picture 28" descr="DataBa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1625" y="2286000"/>
            <a:ext cx="1081088" cy="977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1673" name="Cloud"/>
          <p:cNvSpPr>
            <a:spLocks noChangeAspect="1" noEditPoints="1" noChangeArrowheads="1"/>
          </p:cNvSpPr>
          <p:nvPr/>
        </p:nvSpPr>
        <p:spPr bwMode="auto">
          <a:xfrm>
            <a:off x="3492500" y="1916113"/>
            <a:ext cx="1944688" cy="1439863"/>
          </a:xfrm>
          <a:custGeom>
            <a:avLst/>
            <a:gdLst>
              <a:gd name="T0" fmla="*/ 6106 w 21600"/>
              <a:gd name="T1" fmla="*/ 719931 h 21600"/>
              <a:gd name="T2" fmla="*/ 984250 w 21600"/>
              <a:gd name="T3" fmla="*/ 1438329 h 21600"/>
              <a:gd name="T4" fmla="*/ 1966860 w 21600"/>
              <a:gd name="T5" fmla="*/ 719931 h 21600"/>
              <a:gd name="T6" fmla="*/ 984250 w 21600"/>
              <a:gd name="T7" fmla="*/ 82325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</a:ln>
          <a:effectLst>
            <a:outerShdw dist="107763" dir="2700000" algn="ctr" rotWithShape="0">
              <a:srgbClr val="808080"/>
            </a:outerShdw>
          </a:effectLst>
        </p:spPr>
        <p:txBody>
          <a:bodyPr tIns="15480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公共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Internet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65552" name="Line 32"/>
          <p:cNvSpPr/>
          <p:nvPr/>
        </p:nvSpPr>
        <p:spPr>
          <a:xfrm>
            <a:off x="4197350" y="2730500"/>
            <a:ext cx="36513" cy="107950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lg"/>
          </a:ln>
          <a:effectLst>
            <a:prstShdw prst="shdw17" dist="17961" dir="13499999">
              <a:srgbClr val="990000"/>
            </a:prstShdw>
          </a:effectLst>
        </p:spPr>
      </p:sp>
      <p:sp>
        <p:nvSpPr>
          <p:cNvPr id="65553" name="Rectangle 33"/>
          <p:cNvSpPr/>
          <p:nvPr/>
        </p:nvSpPr>
        <p:spPr>
          <a:xfrm>
            <a:off x="250825" y="1782763"/>
            <a:ext cx="8642350" cy="1944687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/>
          <a:p>
            <a:pPr>
              <a:spcBef>
                <a:spcPct val="20000"/>
              </a:spcBef>
              <a:buFont typeface="Arial" panose="020B0604020202090204" pitchFamily="34" charset="0"/>
              <a:buNone/>
            </a:pPr>
            <a:endParaRPr lang="zh-CN" altLang="zh-CN" sz="2000" b="0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5558" name="Rectangle 32"/>
          <p:cNvSpPr/>
          <p:nvPr/>
        </p:nvSpPr>
        <p:spPr>
          <a:xfrm>
            <a:off x="3605213" y="2593975"/>
            <a:ext cx="576262" cy="1444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5559" name="Line 33"/>
          <p:cNvSpPr/>
          <p:nvPr/>
        </p:nvSpPr>
        <p:spPr>
          <a:xfrm>
            <a:off x="3562350" y="2519363"/>
            <a:ext cx="647700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5560" name="Line 31"/>
          <p:cNvSpPr/>
          <p:nvPr/>
        </p:nvSpPr>
        <p:spPr>
          <a:xfrm>
            <a:off x="5072063" y="2759075"/>
            <a:ext cx="0" cy="1008063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triangle" w="med" len="lg"/>
            <a:tailEnd type="none" w="med" len="med"/>
          </a:ln>
          <a:effectLst>
            <a:prstShdw prst="shdw17" dist="17961" dir="13499999">
              <a:srgbClr val="990000"/>
            </a:prstShdw>
          </a:effectLst>
        </p:spPr>
      </p:sp>
      <p:sp>
        <p:nvSpPr>
          <p:cNvPr id="65561" name="Line 32"/>
          <p:cNvSpPr/>
          <p:nvPr/>
        </p:nvSpPr>
        <p:spPr>
          <a:xfrm>
            <a:off x="4254500" y="3792538"/>
            <a:ext cx="863600" cy="0"/>
          </a:xfrm>
          <a:prstGeom prst="line">
            <a:avLst/>
          </a:prstGeom>
          <a:ln w="28575" cap="flat" cmpd="sng">
            <a:solidFill>
              <a:srgbClr val="FF0000"/>
            </a:solidFill>
            <a:prstDash val="solid"/>
            <a:headEnd type="none" w="med" len="med"/>
            <a:tailEnd type="triangle" w="med" len="lg"/>
          </a:ln>
          <a:effectLst>
            <a:prstShdw prst="shdw17" dist="17961" dir="13499999">
              <a:srgbClr val="990000"/>
            </a:prstShdw>
          </a:effectLst>
        </p:spPr>
      </p:sp>
      <p:sp>
        <p:nvSpPr>
          <p:cNvPr id="65562" name="Rectangle 36"/>
          <p:cNvSpPr/>
          <p:nvPr/>
        </p:nvSpPr>
        <p:spPr>
          <a:xfrm>
            <a:off x="6410325" y="2563813"/>
            <a:ext cx="576263" cy="1444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5563" name="Line 37"/>
          <p:cNvSpPr/>
          <p:nvPr/>
        </p:nvSpPr>
        <p:spPr>
          <a:xfrm>
            <a:off x="6443663" y="2489200"/>
            <a:ext cx="5762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5564" name="Text Box 38"/>
          <p:cNvSpPr txBox="1"/>
          <p:nvPr/>
        </p:nvSpPr>
        <p:spPr>
          <a:xfrm>
            <a:off x="6225858" y="3809683"/>
            <a:ext cx="1894840" cy="460375"/>
          </a:xfrm>
          <a:prstGeom prst="rect">
            <a:avLst/>
          </a:prstGeom>
          <a:noFill/>
          <a:ln w="28575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多次转账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千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5565" name="Rectangle 39"/>
          <p:cNvSpPr/>
          <p:nvPr/>
        </p:nvSpPr>
        <p:spPr>
          <a:xfrm>
            <a:off x="4859338" y="2574925"/>
            <a:ext cx="576262" cy="1444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5566" name="Line 40"/>
          <p:cNvSpPr/>
          <p:nvPr/>
        </p:nvSpPr>
        <p:spPr>
          <a:xfrm>
            <a:off x="4892675" y="2500313"/>
            <a:ext cx="576263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</p:spTree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6562" name="Picture 3" descr="P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313" y="2263775"/>
            <a:ext cx="1106487" cy="866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563" name="Line 4"/>
          <p:cNvSpPr/>
          <p:nvPr/>
        </p:nvSpPr>
        <p:spPr>
          <a:xfrm flipV="1">
            <a:off x="1619250" y="2686050"/>
            <a:ext cx="5976938" cy="71438"/>
          </a:xfrm>
          <a:prstGeom prst="line">
            <a:avLst/>
          </a:prstGeom>
          <a:ln w="254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  <a:effectLst>
            <a:prstShdw prst="shdw17" dist="17961" dir="13499999">
              <a:srgbClr val="000099"/>
            </a:prstShdw>
          </a:effectLst>
        </p:spPr>
      </p:sp>
      <p:pic>
        <p:nvPicPr>
          <p:cNvPr id="412676" name="Picture 5"/>
          <p:cNvPicPr preferRelativeResize="0"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7613" y="2792413"/>
            <a:ext cx="5111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3882" dir="2700000" algn="ctr" rotWithShape="0">
              <a:schemeClr val="tx1"/>
            </a:outerShdw>
          </a:effectLst>
        </p:spPr>
      </p:pic>
      <p:sp>
        <p:nvSpPr>
          <p:cNvPr id="66565" name="Line 6"/>
          <p:cNvSpPr/>
          <p:nvPr/>
        </p:nvSpPr>
        <p:spPr>
          <a:xfrm>
            <a:off x="7489825" y="2719388"/>
            <a:ext cx="503238" cy="0"/>
          </a:xfrm>
          <a:prstGeom prst="line">
            <a:avLst/>
          </a:prstGeom>
          <a:ln w="254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  <a:effectLst>
            <a:prstShdw prst="shdw17" dist="17961" dir="13499999">
              <a:srgbClr val="000099"/>
            </a:prstShdw>
          </a:effectLst>
        </p:spPr>
      </p:sp>
      <p:sp>
        <p:nvSpPr>
          <p:cNvPr id="66566" name="Text Box 8"/>
          <p:cNvSpPr txBox="1"/>
          <p:nvPr/>
        </p:nvSpPr>
        <p:spPr>
          <a:xfrm>
            <a:off x="854075" y="3213100"/>
            <a:ext cx="6953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0" hangingPunct="0">
              <a:buFont typeface="Arial" panose="020B0604020202090204" pitchFamily="34" charset="0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用户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6567" name="Picture 20" descr="mon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075" y="2633663"/>
            <a:ext cx="733425" cy="4524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6568" name="Text Box 21"/>
          <p:cNvSpPr txBox="1"/>
          <p:nvPr/>
        </p:nvSpPr>
        <p:spPr>
          <a:xfrm>
            <a:off x="7524750" y="3151188"/>
            <a:ext cx="104298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buFont typeface="Arial" panose="020B0604020202090204" pitchFamily="34" charset="0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数据库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66569" name="Text Box 22"/>
          <p:cNvSpPr txBox="1"/>
          <p:nvPr/>
        </p:nvSpPr>
        <p:spPr>
          <a:xfrm>
            <a:off x="969010" y="3716338"/>
            <a:ext cx="7924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0" hangingPunct="0">
              <a:buFont typeface="Arial" panose="020B0604020202090204" pitchFamily="34" charset="0"/>
              <a:buNone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抵赖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66570" name="Picture 27" descr="ENT6000_00A4_005_idx"/>
          <p:cNvPicPr>
            <a:picLocks noChangeAspect="1"/>
          </p:cNvPicPr>
          <p:nvPr/>
        </p:nvPicPr>
        <p:blipFill>
          <a:blip r:embed="rId4"/>
          <a:srcRect l="26190" t="6436" r="26190" b="30197"/>
          <a:stretch>
            <a:fillRect/>
          </a:stretch>
        </p:blipFill>
        <p:spPr>
          <a:xfrm>
            <a:off x="7345363" y="1939925"/>
            <a:ext cx="608012" cy="1076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6571" name="Picture 28" descr="DataBa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1625" y="2214563"/>
            <a:ext cx="1081088" cy="977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2684" name="Cloud"/>
          <p:cNvSpPr>
            <a:spLocks noChangeAspect="1" noEditPoints="1" noChangeArrowheads="1"/>
          </p:cNvSpPr>
          <p:nvPr/>
        </p:nvSpPr>
        <p:spPr bwMode="auto">
          <a:xfrm>
            <a:off x="3419475" y="1927225"/>
            <a:ext cx="1944688" cy="1439863"/>
          </a:xfrm>
          <a:custGeom>
            <a:avLst/>
            <a:gdLst>
              <a:gd name="T0" fmla="*/ 6106 w 21600"/>
              <a:gd name="T1" fmla="*/ 719931 h 21600"/>
              <a:gd name="T2" fmla="*/ 984250 w 21600"/>
              <a:gd name="T3" fmla="*/ 1438329 h 21600"/>
              <a:gd name="T4" fmla="*/ 1966860 w 21600"/>
              <a:gd name="T5" fmla="*/ 719931 h 21600"/>
              <a:gd name="T6" fmla="*/ 984250 w 21600"/>
              <a:gd name="T7" fmla="*/ 82325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</a:ln>
          <a:effectLst>
            <a:outerShdw dist="107763" dir="2700000" algn="ctr" rotWithShape="0">
              <a:srgbClr val="808080"/>
            </a:outerShdw>
          </a:effectLst>
        </p:spPr>
        <p:txBody>
          <a:bodyPr tIns="15480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公共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Internet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66573" name="Line 32"/>
          <p:cNvSpPr/>
          <p:nvPr/>
        </p:nvSpPr>
        <p:spPr>
          <a:xfrm>
            <a:off x="900113" y="2781300"/>
            <a:ext cx="36512" cy="1117600"/>
          </a:xfrm>
          <a:prstGeom prst="line">
            <a:avLst/>
          </a:prstGeom>
          <a:ln w="9525" cap="flat" cmpd="sng">
            <a:solidFill>
              <a:srgbClr val="FF0000"/>
            </a:solidFill>
            <a:prstDash val="solid"/>
            <a:headEnd type="none" w="med" len="med"/>
            <a:tailEnd type="triangle" w="med" len="lg"/>
          </a:ln>
          <a:effectLst>
            <a:prstShdw prst="shdw17" dist="17961" dir="13499999">
              <a:srgbClr val="990000"/>
            </a:prstShdw>
          </a:effectLst>
        </p:spPr>
      </p:sp>
      <p:sp>
        <p:nvSpPr>
          <p:cNvPr id="66574" name="Rectangle 33"/>
          <p:cNvSpPr/>
          <p:nvPr/>
        </p:nvSpPr>
        <p:spPr>
          <a:xfrm>
            <a:off x="250825" y="1711325"/>
            <a:ext cx="8642350" cy="1944688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/>
          <a:p>
            <a:pPr>
              <a:spcBef>
                <a:spcPct val="20000"/>
              </a:spcBef>
              <a:buFont typeface="Arial" panose="020B0604020202090204" pitchFamily="34" charset="0"/>
              <a:buNone/>
            </a:pPr>
            <a:endParaRPr lang="zh-CN" altLang="zh-CN" sz="2000" b="0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6575" name="Text Box 38"/>
          <p:cNvSpPr txBox="1"/>
          <p:nvPr/>
        </p:nvSpPr>
        <p:spPr>
          <a:xfrm>
            <a:off x="1547813" y="1852613"/>
            <a:ext cx="20097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1">
            <a:spAutoFit/>
          </a:bodyPr>
          <a:p>
            <a:pPr>
              <a:spcBef>
                <a:spcPct val="20000"/>
              </a:spcBef>
              <a:buFont typeface="Arial" panose="020B0604020202090204" pitchFamily="34" charset="0"/>
              <a:buNone/>
            </a:pPr>
            <a:r>
              <a:rPr lang="zh-CN" altLang="en-US" b="0" dirty="0">
                <a:latin typeface="华文中宋" panose="02010600040101010101" pitchFamily="2" charset="-122"/>
                <a:ea typeface="华文中宋" panose="02010600040101010101" pitchFamily="2" charset="-122"/>
              </a:rPr>
              <a:t>加密的数据包</a:t>
            </a:r>
            <a:endParaRPr lang="zh-CN" altLang="en-US" b="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6580" name="Rectangle 20"/>
          <p:cNvSpPr/>
          <p:nvPr/>
        </p:nvSpPr>
        <p:spPr>
          <a:xfrm>
            <a:off x="2411413" y="2503488"/>
            <a:ext cx="914400" cy="1444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6581" name="Line 21"/>
          <p:cNvSpPr/>
          <p:nvPr/>
        </p:nvSpPr>
        <p:spPr>
          <a:xfrm>
            <a:off x="2482850" y="2428875"/>
            <a:ext cx="8651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6582" name="Rectangle 2"/>
          <p:cNvSpPr/>
          <p:nvPr/>
        </p:nvSpPr>
        <p:spPr>
          <a:xfrm>
            <a:off x="1764030" y="260350"/>
            <a:ext cx="7128510" cy="9144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algn="ctr"/>
            <a:r>
              <a:rPr lang="zh-CN" altLang="en-US" sz="4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安全管理 </a:t>
            </a:r>
            <a:r>
              <a:rPr lang="en-US" altLang="zh-CN" sz="4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— </a:t>
            </a:r>
            <a:r>
              <a:rPr lang="zh-CN" altLang="en-US" sz="4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抵赖问题的解决</a:t>
            </a:r>
            <a:endParaRPr lang="zh-CN" altLang="en-US" sz="4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583" name="Text Box 3"/>
          <p:cNvSpPr txBox="1"/>
          <p:nvPr/>
        </p:nvSpPr>
        <p:spPr>
          <a:xfrm>
            <a:off x="114300" y="4652963"/>
            <a:ext cx="8921750" cy="2216150"/>
          </a:xfrm>
          <a:prstGeom prst="rect">
            <a:avLst/>
          </a:prstGeom>
          <a:noFill/>
          <a:ln w="1905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1">
            <a:spAutoFit/>
          </a:bodyPr>
          <a:p>
            <a:pPr>
              <a:lnSpc>
                <a:spcPct val="125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私钥加密的数据，仅只有使用公钥才能对其解密。因此，对于某个用户，凡是能够用其公钥能解密的数据，肯定是由该用户发送过来的，于是解决了用户对自己所做操作进行抵赖的问题。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数据库要存储用户发来的加密数据，一旦出现纠纷，即拿加密数据到公证处公证；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6584" name="Text Box 24"/>
          <p:cNvSpPr txBox="1"/>
          <p:nvPr/>
        </p:nvSpPr>
        <p:spPr>
          <a:xfrm>
            <a:off x="2095500" y="3779838"/>
            <a:ext cx="5040313" cy="460375"/>
          </a:xfrm>
          <a:prstGeom prst="rect">
            <a:avLst/>
          </a:prstGeom>
          <a:noFill/>
          <a:ln w="28575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我没有转账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千，银行偷走了我的钱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7586" name="Picture 3" descr="PC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8313" y="2263775"/>
            <a:ext cx="1106487" cy="86677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7587" name="Line 4"/>
          <p:cNvSpPr/>
          <p:nvPr/>
        </p:nvSpPr>
        <p:spPr>
          <a:xfrm flipV="1">
            <a:off x="1619250" y="2686050"/>
            <a:ext cx="5976938" cy="71438"/>
          </a:xfrm>
          <a:prstGeom prst="line">
            <a:avLst/>
          </a:prstGeom>
          <a:ln w="254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  <a:effectLst>
            <a:prstShdw prst="shdw17" dist="17961" dir="13499999">
              <a:srgbClr val="000099"/>
            </a:prstShdw>
          </a:effectLst>
        </p:spPr>
      </p:sp>
      <p:pic>
        <p:nvPicPr>
          <p:cNvPr id="413700" name="Picture 5"/>
          <p:cNvPicPr preferRelativeResize="0"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7613" y="2792413"/>
            <a:ext cx="511175" cy="409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53882" dir="2700000" algn="ctr" rotWithShape="0">
              <a:schemeClr val="tx1"/>
            </a:outerShdw>
          </a:effectLst>
        </p:spPr>
      </p:pic>
      <p:sp>
        <p:nvSpPr>
          <p:cNvPr id="67589" name="Line 6"/>
          <p:cNvSpPr/>
          <p:nvPr/>
        </p:nvSpPr>
        <p:spPr>
          <a:xfrm>
            <a:off x="7489825" y="2719388"/>
            <a:ext cx="503238" cy="0"/>
          </a:xfrm>
          <a:prstGeom prst="line">
            <a:avLst/>
          </a:prstGeom>
          <a:ln w="254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  <a:effectLst>
            <a:prstShdw prst="shdw17" dist="17961" dir="13499999">
              <a:srgbClr val="000099"/>
            </a:prstShdw>
          </a:effectLst>
        </p:spPr>
      </p:sp>
      <p:sp>
        <p:nvSpPr>
          <p:cNvPr id="67590" name="Text Box 8"/>
          <p:cNvSpPr txBox="1"/>
          <p:nvPr/>
        </p:nvSpPr>
        <p:spPr>
          <a:xfrm>
            <a:off x="854075" y="3213100"/>
            <a:ext cx="695325" cy="3968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algn="ctr" eaLnBrk="0" hangingPunct="0">
              <a:buFont typeface="Arial" panose="020B0604020202090204" pitchFamily="34" charset="0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用户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7591" name="Picture 20" descr="money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075" y="2633663"/>
            <a:ext cx="733425" cy="452437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67592" name="Text Box 21"/>
          <p:cNvSpPr txBox="1"/>
          <p:nvPr/>
        </p:nvSpPr>
        <p:spPr>
          <a:xfrm>
            <a:off x="7524750" y="3151188"/>
            <a:ext cx="1042988" cy="39687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0" hangingPunct="0">
              <a:buFont typeface="Arial" panose="020B0604020202090204" pitchFamily="34" charset="0"/>
              <a:buNone/>
            </a:pPr>
            <a:r>
              <a:rPr lang="zh-CN" altLang="en-US" sz="2000" dirty="0">
                <a:solidFill>
                  <a:srgbClr val="000000"/>
                </a:solidFill>
                <a:latin typeface="Times New Roman" panose="02020603050405020304" pitchFamily="18" charset="0"/>
              </a:rPr>
              <a:t>数据库</a:t>
            </a:r>
            <a:endParaRPr lang="zh-CN" altLang="en-US" sz="200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pic>
        <p:nvPicPr>
          <p:cNvPr id="67593" name="Picture 27" descr="ENT6000_00A4_005_idx"/>
          <p:cNvPicPr>
            <a:picLocks noChangeAspect="1"/>
          </p:cNvPicPr>
          <p:nvPr/>
        </p:nvPicPr>
        <p:blipFill>
          <a:blip r:embed="rId4"/>
          <a:srcRect l="26190" t="6436" r="26190" b="30197"/>
          <a:stretch>
            <a:fillRect/>
          </a:stretch>
        </p:blipFill>
        <p:spPr>
          <a:xfrm>
            <a:off x="7345363" y="1939925"/>
            <a:ext cx="608012" cy="1076325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67594" name="Picture 28" descr="DataBas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21625" y="2214563"/>
            <a:ext cx="1081088" cy="9779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413707" name="Cloud"/>
          <p:cNvSpPr>
            <a:spLocks noChangeAspect="1" noEditPoints="1" noChangeArrowheads="1"/>
          </p:cNvSpPr>
          <p:nvPr/>
        </p:nvSpPr>
        <p:spPr bwMode="auto">
          <a:xfrm>
            <a:off x="3419475" y="1927225"/>
            <a:ext cx="1944688" cy="1439863"/>
          </a:xfrm>
          <a:custGeom>
            <a:avLst/>
            <a:gdLst>
              <a:gd name="T0" fmla="*/ 6106 w 21600"/>
              <a:gd name="T1" fmla="*/ 719931 h 21600"/>
              <a:gd name="T2" fmla="*/ 984250 w 21600"/>
              <a:gd name="T3" fmla="*/ 1438329 h 21600"/>
              <a:gd name="T4" fmla="*/ 1966860 w 21600"/>
              <a:gd name="T5" fmla="*/ 719931 h 21600"/>
              <a:gd name="T6" fmla="*/ 984250 w 21600"/>
              <a:gd name="T7" fmla="*/ 82325 h 21600"/>
              <a:gd name="T8" fmla="*/ 0 60000 65536"/>
              <a:gd name="T9" fmla="*/ 0 60000 65536"/>
              <a:gd name="T10" fmla="*/ 0 60000 65536"/>
              <a:gd name="T11" fmla="*/ 0 60000 65536"/>
              <a:gd name="T12" fmla="*/ 2977 w 21600"/>
              <a:gd name="T13" fmla="*/ 3262 h 21600"/>
              <a:gd name="T14" fmla="*/ 17087 w 21600"/>
              <a:gd name="T15" fmla="*/ 17337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 extrusionOk="0">
                <a:moveTo>
                  <a:pt x="1949" y="7180"/>
                </a:moveTo>
                <a:cubicBezTo>
                  <a:pt x="841" y="7336"/>
                  <a:pt x="0" y="8613"/>
                  <a:pt x="0" y="10137"/>
                </a:cubicBezTo>
                <a:cubicBezTo>
                  <a:pt x="-1" y="11192"/>
                  <a:pt x="409" y="12169"/>
                  <a:pt x="1074" y="12702"/>
                </a:cubicBezTo>
                <a:lnTo>
                  <a:pt x="1063" y="12668"/>
                </a:lnTo>
                <a:cubicBezTo>
                  <a:pt x="685" y="13217"/>
                  <a:pt x="475" y="13940"/>
                  <a:pt x="475" y="14690"/>
                </a:cubicBezTo>
                <a:cubicBezTo>
                  <a:pt x="475" y="16325"/>
                  <a:pt x="1451" y="17650"/>
                  <a:pt x="2655" y="17650"/>
                </a:cubicBezTo>
                <a:cubicBezTo>
                  <a:pt x="2739" y="17650"/>
                  <a:pt x="2824" y="17643"/>
                  <a:pt x="2909" y="17629"/>
                </a:cubicBezTo>
                <a:lnTo>
                  <a:pt x="2897" y="17649"/>
                </a:lnTo>
                <a:cubicBezTo>
                  <a:pt x="3585" y="19288"/>
                  <a:pt x="4863" y="20300"/>
                  <a:pt x="6247" y="20300"/>
                </a:cubicBezTo>
                <a:cubicBezTo>
                  <a:pt x="6947" y="20299"/>
                  <a:pt x="7635" y="20039"/>
                  <a:pt x="8235" y="19546"/>
                </a:cubicBezTo>
                <a:lnTo>
                  <a:pt x="8229" y="19550"/>
                </a:lnTo>
                <a:cubicBezTo>
                  <a:pt x="8855" y="20829"/>
                  <a:pt x="9908" y="21597"/>
                  <a:pt x="11036" y="21597"/>
                </a:cubicBezTo>
                <a:cubicBezTo>
                  <a:pt x="12523" y="21596"/>
                  <a:pt x="13836" y="20267"/>
                  <a:pt x="14267" y="18324"/>
                </a:cubicBezTo>
                <a:lnTo>
                  <a:pt x="14270" y="18350"/>
                </a:lnTo>
                <a:cubicBezTo>
                  <a:pt x="14730" y="18740"/>
                  <a:pt x="15260" y="18947"/>
                  <a:pt x="15802" y="18947"/>
                </a:cubicBezTo>
                <a:cubicBezTo>
                  <a:pt x="17390" y="18946"/>
                  <a:pt x="18682" y="17205"/>
                  <a:pt x="18694" y="15045"/>
                </a:cubicBezTo>
                <a:lnTo>
                  <a:pt x="18689" y="15035"/>
                </a:lnTo>
                <a:cubicBezTo>
                  <a:pt x="20357" y="14710"/>
                  <a:pt x="21597" y="12765"/>
                  <a:pt x="21597" y="10472"/>
                </a:cubicBezTo>
                <a:cubicBezTo>
                  <a:pt x="21597" y="9456"/>
                  <a:pt x="21350" y="8469"/>
                  <a:pt x="20896" y="7663"/>
                </a:cubicBezTo>
                <a:lnTo>
                  <a:pt x="20889" y="7661"/>
                </a:lnTo>
                <a:cubicBezTo>
                  <a:pt x="21031" y="7208"/>
                  <a:pt x="21105" y="6721"/>
                  <a:pt x="21105" y="6228"/>
                </a:cubicBezTo>
                <a:cubicBezTo>
                  <a:pt x="21105" y="4588"/>
                  <a:pt x="20299" y="3150"/>
                  <a:pt x="19139" y="2719"/>
                </a:cubicBezTo>
                <a:lnTo>
                  <a:pt x="19148" y="2712"/>
                </a:lnTo>
                <a:cubicBezTo>
                  <a:pt x="18940" y="1142"/>
                  <a:pt x="17933" y="0"/>
                  <a:pt x="16758" y="0"/>
                </a:cubicBezTo>
                <a:cubicBezTo>
                  <a:pt x="16044" y="-1"/>
                  <a:pt x="15367" y="426"/>
                  <a:pt x="14905" y="1165"/>
                </a:cubicBezTo>
                <a:lnTo>
                  <a:pt x="14909" y="1170"/>
                </a:lnTo>
                <a:cubicBezTo>
                  <a:pt x="14497" y="432"/>
                  <a:pt x="13855" y="0"/>
                  <a:pt x="13174" y="0"/>
                </a:cubicBezTo>
                <a:cubicBezTo>
                  <a:pt x="12347" y="-1"/>
                  <a:pt x="11590" y="637"/>
                  <a:pt x="11221" y="1645"/>
                </a:cubicBezTo>
                <a:lnTo>
                  <a:pt x="11229" y="1694"/>
                </a:lnTo>
                <a:cubicBezTo>
                  <a:pt x="10730" y="1024"/>
                  <a:pt x="10058" y="650"/>
                  <a:pt x="9358" y="650"/>
                </a:cubicBezTo>
                <a:cubicBezTo>
                  <a:pt x="8372" y="649"/>
                  <a:pt x="7466" y="1391"/>
                  <a:pt x="7003" y="2578"/>
                </a:cubicBezTo>
                <a:lnTo>
                  <a:pt x="6995" y="2602"/>
                </a:lnTo>
                <a:cubicBezTo>
                  <a:pt x="6477" y="2189"/>
                  <a:pt x="5888" y="1972"/>
                  <a:pt x="5288" y="1972"/>
                </a:cubicBezTo>
                <a:cubicBezTo>
                  <a:pt x="3423" y="1972"/>
                  <a:pt x="1912" y="4029"/>
                  <a:pt x="1912" y="6567"/>
                </a:cubicBezTo>
                <a:cubicBezTo>
                  <a:pt x="1911" y="6774"/>
                  <a:pt x="1922" y="6981"/>
                  <a:pt x="1942" y="7186"/>
                </a:cubicBezTo>
                <a:lnTo>
                  <a:pt x="1949" y="7180"/>
                </a:lnTo>
                <a:close/>
              </a:path>
              <a:path w="21600" h="21600" fill="none" extrusionOk="0">
                <a:moveTo>
                  <a:pt x="1074" y="12702"/>
                </a:moveTo>
                <a:cubicBezTo>
                  <a:pt x="1407" y="12969"/>
                  <a:pt x="1786" y="13110"/>
                  <a:pt x="2172" y="13110"/>
                </a:cubicBezTo>
                <a:cubicBezTo>
                  <a:pt x="2228" y="13109"/>
                  <a:pt x="2285" y="13107"/>
                  <a:pt x="2341" y="13101"/>
                </a:cubicBezTo>
              </a:path>
              <a:path w="21600" h="21600" fill="none" extrusionOk="0">
                <a:moveTo>
                  <a:pt x="2909" y="17629"/>
                </a:moveTo>
                <a:cubicBezTo>
                  <a:pt x="3099" y="17599"/>
                  <a:pt x="3285" y="17535"/>
                  <a:pt x="3463" y="17439"/>
                </a:cubicBezTo>
              </a:path>
              <a:path w="21600" h="21600" fill="none" extrusionOk="0">
                <a:moveTo>
                  <a:pt x="7895" y="18680"/>
                </a:moveTo>
                <a:cubicBezTo>
                  <a:pt x="7983" y="18985"/>
                  <a:pt x="8095" y="19277"/>
                  <a:pt x="8229" y="19550"/>
                </a:cubicBezTo>
              </a:path>
              <a:path w="21600" h="21600" fill="none" extrusionOk="0">
                <a:moveTo>
                  <a:pt x="14267" y="18324"/>
                </a:moveTo>
                <a:cubicBezTo>
                  <a:pt x="14336" y="18013"/>
                  <a:pt x="14380" y="17693"/>
                  <a:pt x="14400" y="17370"/>
                </a:cubicBezTo>
              </a:path>
              <a:path w="21600" h="21600" fill="none" extrusionOk="0">
                <a:moveTo>
                  <a:pt x="18694" y="15045"/>
                </a:moveTo>
                <a:cubicBezTo>
                  <a:pt x="18694" y="15034"/>
                  <a:pt x="18695" y="15024"/>
                  <a:pt x="18695" y="15013"/>
                </a:cubicBezTo>
                <a:cubicBezTo>
                  <a:pt x="18695" y="13508"/>
                  <a:pt x="18063" y="12136"/>
                  <a:pt x="17069" y="11477"/>
                </a:cubicBezTo>
              </a:path>
              <a:path w="21600" h="21600" fill="none" extrusionOk="0">
                <a:moveTo>
                  <a:pt x="20165" y="8999"/>
                </a:moveTo>
                <a:cubicBezTo>
                  <a:pt x="20479" y="8635"/>
                  <a:pt x="20726" y="8177"/>
                  <a:pt x="20889" y="7661"/>
                </a:cubicBezTo>
              </a:path>
              <a:path w="21600" h="21600" fill="none" extrusionOk="0">
                <a:moveTo>
                  <a:pt x="19186" y="3344"/>
                </a:moveTo>
                <a:cubicBezTo>
                  <a:pt x="19186" y="3328"/>
                  <a:pt x="19187" y="3313"/>
                  <a:pt x="19187" y="3297"/>
                </a:cubicBezTo>
                <a:cubicBezTo>
                  <a:pt x="19187" y="3101"/>
                  <a:pt x="19174" y="2905"/>
                  <a:pt x="19148" y="2712"/>
                </a:cubicBezTo>
              </a:path>
              <a:path w="21600" h="21600" fill="none" extrusionOk="0">
                <a:moveTo>
                  <a:pt x="14905" y="1165"/>
                </a:moveTo>
                <a:cubicBezTo>
                  <a:pt x="14754" y="1408"/>
                  <a:pt x="14629" y="1679"/>
                  <a:pt x="14535" y="1971"/>
                </a:cubicBezTo>
              </a:path>
              <a:path w="21600" h="21600" fill="none" extrusionOk="0">
                <a:moveTo>
                  <a:pt x="11221" y="1645"/>
                </a:moveTo>
                <a:cubicBezTo>
                  <a:pt x="11140" y="1866"/>
                  <a:pt x="11080" y="2099"/>
                  <a:pt x="11041" y="2340"/>
                </a:cubicBezTo>
              </a:path>
              <a:path w="21600" h="21600" fill="none" extrusionOk="0">
                <a:moveTo>
                  <a:pt x="7645" y="3276"/>
                </a:moveTo>
                <a:cubicBezTo>
                  <a:pt x="7449" y="3016"/>
                  <a:pt x="7231" y="2790"/>
                  <a:pt x="6995" y="2602"/>
                </a:cubicBezTo>
              </a:path>
              <a:path w="21600" h="21600" fill="none" extrusionOk="0">
                <a:moveTo>
                  <a:pt x="1942" y="7186"/>
                </a:moveTo>
                <a:cubicBezTo>
                  <a:pt x="1966" y="7426"/>
                  <a:pt x="2004" y="7663"/>
                  <a:pt x="2056" y="7895"/>
                </a:cubicBezTo>
              </a:path>
            </a:pathLst>
          </a:custGeom>
          <a:solidFill>
            <a:schemeClr val="bg1"/>
          </a:solidFill>
          <a:ln w="9525">
            <a:solidFill>
              <a:srgbClr val="000000"/>
            </a:solidFill>
            <a:miter lim="800000"/>
          </a:ln>
          <a:effectLst>
            <a:outerShdw dist="107763" dir="2700000" algn="ctr" rotWithShape="0">
              <a:srgbClr val="808080"/>
            </a:outerShdw>
          </a:effectLst>
        </p:spPr>
        <p:txBody>
          <a:bodyPr tIns="154800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panose="020B0604020202090204" pitchFamily="34" charset="0"/>
              <a:buNone/>
              <a:defRPr/>
            </a:pPr>
            <a:r>
              <a:rPr kumimoji="0" lang="zh-CN" altLang="en-US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公共</a:t>
            </a:r>
            <a:r>
              <a:rPr kumimoji="0" lang="en-US" altLang="zh-CN" sz="2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Internet</a:t>
            </a:r>
            <a:endParaRPr kumimoji="0" lang="en-US" altLang="zh-CN" sz="2400" b="1" i="0" u="none" strike="noStrike" kern="120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Times New Roman" panose="02020603050405020304" pitchFamily="18" charset="0"/>
              <a:ea typeface="楷体_GB2312" pitchFamily="49" charset="-122"/>
              <a:cs typeface="+mn-cs"/>
            </a:endParaRPr>
          </a:p>
        </p:txBody>
      </p:sp>
      <p:sp>
        <p:nvSpPr>
          <p:cNvPr id="67596" name="Rectangle 33"/>
          <p:cNvSpPr/>
          <p:nvPr/>
        </p:nvSpPr>
        <p:spPr>
          <a:xfrm>
            <a:off x="250825" y="1711325"/>
            <a:ext cx="8642350" cy="1944688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lIns="90000" tIns="46800" rIns="90000" bIns="46800" anchor="ctr"/>
          <a:p>
            <a:pPr>
              <a:spcBef>
                <a:spcPct val="20000"/>
              </a:spcBef>
              <a:buFont typeface="Arial" panose="020B0604020202090204" pitchFamily="34" charset="0"/>
              <a:buNone/>
            </a:pPr>
            <a:endParaRPr lang="zh-CN" altLang="zh-CN" sz="2000" b="0" dirty="0">
              <a:solidFill>
                <a:schemeClr val="accent2"/>
              </a:solidFill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7597" name="Text Box 38"/>
          <p:cNvSpPr txBox="1"/>
          <p:nvPr/>
        </p:nvSpPr>
        <p:spPr>
          <a:xfrm>
            <a:off x="2017713" y="1901825"/>
            <a:ext cx="1704975" cy="457200"/>
          </a:xfrm>
          <a:prstGeom prst="rect">
            <a:avLst/>
          </a:prstGeom>
          <a:noFill/>
          <a:ln w="9525">
            <a:noFill/>
          </a:ln>
        </p:spPr>
        <p:txBody>
          <a:bodyPr wrap="none" lIns="90000" tIns="46800" rIns="90000" bIns="46800" anchor="t" anchorCtr="1">
            <a:spAutoFit/>
          </a:bodyPr>
          <a:p>
            <a:pPr>
              <a:spcBef>
                <a:spcPct val="20000"/>
              </a:spcBef>
              <a:buFont typeface="Arial" panose="020B0604020202090204" pitchFamily="34" charset="0"/>
              <a:buNone/>
            </a:pPr>
            <a:r>
              <a:rPr lang="zh-CN" altLang="en-US" b="0" dirty="0">
                <a:latin typeface="华文中宋" panose="02010600040101010101" pitchFamily="2" charset="-122"/>
                <a:ea typeface="华文中宋" panose="02010600040101010101" pitchFamily="2" charset="-122"/>
              </a:rPr>
              <a:t>加密数据包</a:t>
            </a:r>
            <a:endParaRPr lang="zh-CN" altLang="en-US" b="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  <p:sp>
        <p:nvSpPr>
          <p:cNvPr id="67598" name="Rectangle 14"/>
          <p:cNvSpPr/>
          <p:nvPr/>
        </p:nvSpPr>
        <p:spPr>
          <a:xfrm>
            <a:off x="6838950" y="1628775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公钥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599" name="Rectangle 15"/>
          <p:cNvSpPr/>
          <p:nvPr/>
        </p:nvSpPr>
        <p:spPr>
          <a:xfrm>
            <a:off x="1187450" y="1484313"/>
            <a:ext cx="7969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0000FF"/>
                </a:solidFill>
                <a:latin typeface="Times New Roman" panose="02020603050405020304" pitchFamily="18" charset="0"/>
              </a:rPr>
              <a:t>私钥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67600" name="Rectangle 16"/>
          <p:cNvSpPr/>
          <p:nvPr/>
        </p:nvSpPr>
        <p:spPr>
          <a:xfrm>
            <a:off x="7164388" y="1989138"/>
            <a:ext cx="144462" cy="647700"/>
          </a:xfrm>
          <a:prstGeom prst="rect">
            <a:avLst/>
          </a:prstGeom>
          <a:solidFill>
            <a:srgbClr val="9933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601" name="Rectangle 17"/>
          <p:cNvSpPr/>
          <p:nvPr/>
        </p:nvSpPr>
        <p:spPr>
          <a:xfrm>
            <a:off x="1550988" y="1944688"/>
            <a:ext cx="144462" cy="719137"/>
          </a:xfrm>
          <a:prstGeom prst="rect">
            <a:avLst/>
          </a:prstGeom>
          <a:solidFill>
            <a:srgbClr val="993366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602" name="Rectangle 18"/>
          <p:cNvSpPr/>
          <p:nvPr/>
        </p:nvSpPr>
        <p:spPr>
          <a:xfrm>
            <a:off x="2411413" y="2503488"/>
            <a:ext cx="914400" cy="144462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67603" name="Line 19"/>
          <p:cNvSpPr/>
          <p:nvPr/>
        </p:nvSpPr>
        <p:spPr>
          <a:xfrm>
            <a:off x="2482850" y="2428875"/>
            <a:ext cx="865188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67604" name="Rectangle 2"/>
          <p:cNvSpPr/>
          <p:nvPr/>
        </p:nvSpPr>
        <p:spPr>
          <a:xfrm>
            <a:off x="1362075" y="213995"/>
            <a:ext cx="7381240" cy="100203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algn="ctr"/>
            <a:r>
              <a:rPr lang="zh-CN" altLang="en-US" sz="4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</a:rPr>
              <a:t>传输安全问题的解决的实际方式</a:t>
            </a:r>
            <a:endParaRPr lang="zh-CN" altLang="en-US" sz="4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7605" name="Text Box 3"/>
          <p:cNvSpPr txBox="1"/>
          <p:nvPr/>
        </p:nvSpPr>
        <p:spPr>
          <a:xfrm>
            <a:off x="114300" y="4652963"/>
            <a:ext cx="8921750" cy="1631315"/>
          </a:xfrm>
          <a:prstGeom prst="rect">
            <a:avLst/>
          </a:prstGeom>
          <a:noFill/>
          <a:ln w="1905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lIns="90000" tIns="46800" rIns="90000" bIns="46800" anchor="t" anchorCtr="1">
            <a:spAutoFit/>
          </a:bodyPr>
          <a:p>
            <a:pPr>
              <a:lnSpc>
                <a:spcPct val="125000"/>
              </a:lnSpc>
              <a:spcBef>
                <a:spcPct val="40000"/>
              </a:spcBef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私钥太长，不好记。于是，采用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盾，把私钥存在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盾（</a:t>
            </a:r>
            <a:r>
              <a:rPr lang="en-US" altLang="zh-CN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盘）上，实现了简单性。这就要求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用户必须保管好</a:t>
            </a:r>
            <a:r>
              <a:rPr lang="en-US" altLang="zh-CN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盾，不能借给别人，也不要插到外面别人的机器上使用，以防泄露私钥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，给不法分子以可乘之机。银行事先把你的</a:t>
            </a:r>
            <a:r>
              <a:rPr lang="zh-CN" altLang="en-US" sz="2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公钥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认证中心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进行了登记，以防后面的</a:t>
            </a:r>
            <a:r>
              <a:rPr lang="zh-CN" altLang="en-US" sz="20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法律纠纷</a:t>
            </a:r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7606" name="Rectangle 22"/>
          <p:cNvSpPr/>
          <p:nvPr/>
        </p:nvSpPr>
        <p:spPr>
          <a:xfrm>
            <a:off x="1004570" y="3609658"/>
            <a:ext cx="724535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盾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7604" name="Rectangle 2"/>
          <p:cNvSpPr/>
          <p:nvPr/>
        </p:nvSpPr>
        <p:spPr>
          <a:xfrm>
            <a:off x="1164590" y="191770"/>
            <a:ext cx="7766050" cy="899795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sz="36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总结</a:t>
            </a:r>
            <a:endParaRPr lang="zh-CN" sz="36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67605" name="Text Box 3"/>
          <p:cNvSpPr txBox="1"/>
          <p:nvPr/>
        </p:nvSpPr>
        <p:spPr>
          <a:xfrm>
            <a:off x="52705" y="1776730"/>
            <a:ext cx="9039225" cy="3305175"/>
          </a:xfrm>
          <a:prstGeom prst="rect">
            <a:avLst/>
          </a:prstGeom>
          <a:noFill/>
          <a:ln w="19050" cap="flat" cmpd="sng">
            <a:noFill/>
            <a:prstDash val="solid"/>
            <a:miter/>
            <a:headEnd type="none" w="med" len="med"/>
            <a:tailEnd type="none" w="med" len="med"/>
          </a:ln>
        </p:spPr>
        <p:txBody>
          <a:bodyPr wrap="square" lIns="90000" tIns="46800" rIns="90000" bIns="46800" anchor="t" anchorCtr="1">
            <a:spAutoFit/>
          </a:bodyPr>
          <a:p>
            <a:pPr marL="342900" indent="-342900">
              <a:lnSpc>
                <a:spcPct val="150000"/>
              </a:lnSpc>
              <a:spcBef>
                <a:spcPct val="40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防御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SQL注入攻击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HTML注入攻击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516890" indent="-516890">
              <a:lnSpc>
                <a:spcPct val="150000"/>
              </a:lnSpc>
              <a:spcBef>
                <a:spcPct val="40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用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HTTPS协议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做好用户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对网站的认证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。网站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对用户认证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的三个层级：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账号，手机验证码</a:t>
            </a:r>
            <a:r>
              <a:rPr lang="zh-CN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以及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U盾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ct val="40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对称加密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可解决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偷看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篡改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问题。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抵赖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问题要靠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非对称加密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342900" indent="-342900">
              <a:lnSpc>
                <a:spcPct val="150000"/>
              </a:lnSpc>
              <a:spcBef>
                <a:spcPct val="40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对于数据更新操作，要用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验证码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来防御同一操作的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重复请求</a:t>
            </a:r>
            <a:r>
              <a:rPr 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数据处理的机理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3535" y="1546225"/>
            <a:ext cx="1407160" cy="5210810"/>
            <a:chOff x="449" y="3158"/>
            <a:chExt cx="2216" cy="8206"/>
          </a:xfrm>
        </p:grpSpPr>
        <p:sp>
          <p:nvSpPr>
            <p:cNvPr id="147459" name="Text Box 3"/>
            <p:cNvSpPr txBox="1">
              <a:spLocks noChangeArrowheads="1"/>
            </p:cNvSpPr>
            <p:nvPr/>
          </p:nvSpPr>
          <p:spPr bwMode="auto">
            <a:xfrm>
              <a:off x="500" y="3158"/>
              <a:ext cx="2165" cy="96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rgbClr val="F4040F"/>
              </a:outerShdw>
            </a:effectLst>
          </p:spPr>
          <p:txBody>
            <a:bodyPr tIns="118800" bIns="118800">
              <a:spAutoFit/>
            </a:bodyPr>
            <a:lstStyle/>
            <a:p>
              <a:pPr marR="0" algn="ctr" defTabSz="914400" eaLnBrk="0" hangingPunct="0"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solidFill>
                    <a:srgbClr val="FFFFFF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rPr>
                <a:t>CPU</a:t>
              </a:r>
              <a:endParaRPr kumimoji="0" lang="en-US" altLang="zh-CN" kern="1200" cap="none" spc="0" normalizeH="0" baseline="0" noProof="0">
                <a:solidFill>
                  <a:srgbClr val="FFFFFF"/>
                </a:solidFill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7460" name="Text Box 4"/>
            <p:cNvSpPr txBox="1">
              <a:spLocks noChangeArrowheads="1"/>
            </p:cNvSpPr>
            <p:nvPr/>
          </p:nvSpPr>
          <p:spPr bwMode="auto">
            <a:xfrm>
              <a:off x="449" y="4907"/>
              <a:ext cx="2063" cy="96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rgbClr val="F4040F"/>
              </a:outerShdw>
            </a:effectLst>
          </p:spPr>
          <p:txBody>
            <a:bodyPr wrap="none" tIns="118800" bIns="118800">
              <a:spAutoFit/>
            </a:bodyPr>
            <a:lstStyle/>
            <a:p>
              <a:pPr marR="0" defTabSz="914400" eaLnBrk="0" hangingPunct="0"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latin typeface="Times New Roman" panose="02020603050405020304" pitchFamily="18" charset="0"/>
                  <a:ea typeface="宋体" pitchFamily="2" charset="-122"/>
                  <a:cs typeface="+mn-cs"/>
                </a:rPr>
                <a:t>Memory</a:t>
              </a:r>
              <a:endParaRPr kumimoji="0" lang="en-US" altLang="zh-CN" kern="1200" cap="none" spc="0" normalizeH="0" baseline="0" noProof="0">
                <a:latin typeface="Times New Roman" panose="0202060305040502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0965" name="Oval 5"/>
            <p:cNvSpPr/>
            <p:nvPr/>
          </p:nvSpPr>
          <p:spPr>
            <a:xfrm>
              <a:off x="449" y="9321"/>
              <a:ext cx="2125" cy="2043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endParaRPr lang="zh-CN" altLang="zh-CN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0967" name="Line 7"/>
            <p:cNvSpPr/>
            <p:nvPr/>
          </p:nvSpPr>
          <p:spPr>
            <a:xfrm>
              <a:off x="1358" y="6079"/>
              <a:ext cx="22" cy="33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40968" name="Line 8"/>
            <p:cNvSpPr/>
            <p:nvPr/>
          </p:nvSpPr>
          <p:spPr>
            <a:xfrm flipH="1">
              <a:off x="1755" y="5999"/>
              <a:ext cx="0" cy="33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lg"/>
              <a:tailEnd type="none" w="med" len="lg"/>
            </a:ln>
          </p:spPr>
        </p:sp>
        <p:sp>
          <p:nvSpPr>
            <p:cNvPr id="40970" name="Rectangle 10"/>
            <p:cNvSpPr/>
            <p:nvPr/>
          </p:nvSpPr>
          <p:spPr>
            <a:xfrm>
              <a:off x="930" y="9983"/>
              <a:ext cx="1305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en-US" altLang="zh-CN" dirty="0">
                  <a:latin typeface="Arial" panose="020B0604020202090204" pitchFamily="34" charset="0"/>
                </a:rPr>
                <a:t>Disk</a:t>
              </a:r>
              <a:endParaRPr lang="en-US" altLang="zh-CN" dirty="0">
                <a:latin typeface="Arial" panose="020B0604020202090204" pitchFamily="34" charset="0"/>
              </a:endParaRPr>
            </a:p>
          </p:txBody>
        </p:sp>
      </p:grpSp>
      <p:sp>
        <p:nvSpPr>
          <p:cNvPr id="40971" name="Text Box 24"/>
          <p:cNvSpPr txBox="1"/>
          <p:nvPr/>
        </p:nvSpPr>
        <p:spPr>
          <a:xfrm>
            <a:off x="1913255" y="1546225"/>
            <a:ext cx="7231380" cy="4890770"/>
          </a:xfrm>
          <a:prstGeom prst="rect">
            <a:avLst/>
          </a:prstGeom>
          <a:noFill/>
          <a:ln w="28575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ct val="6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数据存储在存储器中，处理时，要将数据从存储器中运输到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里，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由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来计算，然后把结果再运输到存储器中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ct val="60000"/>
              </a:spcBef>
              <a:buClr>
                <a:srgbClr val="FF0000"/>
              </a:buClr>
              <a:buFont typeface="Wingdings" panose="05000000000000000000" pitchFamily="2" charset="2"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提升性能，无非就是要：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ct val="6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运输：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无效运输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减少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重复运输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加快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运输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ct val="6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计算：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减少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无效计算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减少</a:t>
            </a:r>
            <a:r>
              <a:rPr lang="zh-CN" altLang="en-US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重复计算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加快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计算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ct val="6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并行处理；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ct val="6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改进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算法；</a:t>
            </a:r>
            <a:endParaRPr lang="zh-CN" altLang="en-US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下箭头 2"/>
          <p:cNvSpPr/>
          <p:nvPr/>
        </p:nvSpPr>
        <p:spPr>
          <a:xfrm>
            <a:off x="502920" y="2254250"/>
            <a:ext cx="468000" cy="432000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" name="下箭头 3"/>
          <p:cNvSpPr/>
          <p:nvPr/>
        </p:nvSpPr>
        <p:spPr>
          <a:xfrm flipV="1">
            <a:off x="1066800" y="2173605"/>
            <a:ext cx="468000" cy="468000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机器特性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343535" y="1546225"/>
            <a:ext cx="1407160" cy="5210810"/>
            <a:chOff x="449" y="3158"/>
            <a:chExt cx="2216" cy="8206"/>
          </a:xfrm>
        </p:grpSpPr>
        <p:sp>
          <p:nvSpPr>
            <p:cNvPr id="147459" name="Text Box 3"/>
            <p:cNvSpPr txBox="1">
              <a:spLocks noChangeArrowheads="1"/>
            </p:cNvSpPr>
            <p:nvPr/>
          </p:nvSpPr>
          <p:spPr bwMode="auto">
            <a:xfrm>
              <a:off x="500" y="3158"/>
              <a:ext cx="2165" cy="965"/>
            </a:xfrm>
            <a:prstGeom prst="rect">
              <a:avLst/>
            </a:prstGeom>
            <a:solidFill>
              <a:srgbClr val="0000FF"/>
            </a:solidFill>
            <a:ln w="9525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rgbClr val="F4040F"/>
              </a:outerShdw>
            </a:effectLst>
          </p:spPr>
          <p:txBody>
            <a:bodyPr tIns="118800" bIns="118800">
              <a:spAutoFit/>
            </a:bodyPr>
            <a:lstStyle/>
            <a:p>
              <a:pPr marR="0" algn="ctr" defTabSz="914400" eaLnBrk="0" hangingPunct="0"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solidFill>
                    <a:srgbClr val="FFFFFF"/>
                  </a:solidFill>
                  <a:latin typeface="Arial" panose="020B0604020202090204" pitchFamily="34" charset="0"/>
                  <a:ea typeface="宋体" pitchFamily="2" charset="-122"/>
                  <a:cs typeface="+mn-cs"/>
                </a:rPr>
                <a:t>CPU</a:t>
              </a:r>
              <a:endParaRPr kumimoji="0" lang="en-US" altLang="zh-CN" kern="1200" cap="none" spc="0" normalizeH="0" baseline="0" noProof="0">
                <a:solidFill>
                  <a:srgbClr val="FFFFFF"/>
                </a:solidFill>
                <a:latin typeface="Arial" panose="020B0604020202090204" pitchFamily="34" charset="0"/>
                <a:ea typeface="宋体" pitchFamily="2" charset="-122"/>
                <a:cs typeface="+mn-cs"/>
              </a:endParaRPr>
            </a:p>
          </p:txBody>
        </p:sp>
        <p:sp>
          <p:nvSpPr>
            <p:cNvPr id="147460" name="Text Box 4"/>
            <p:cNvSpPr txBox="1">
              <a:spLocks noChangeArrowheads="1"/>
            </p:cNvSpPr>
            <p:nvPr/>
          </p:nvSpPr>
          <p:spPr bwMode="auto">
            <a:xfrm>
              <a:off x="449" y="4907"/>
              <a:ext cx="2063" cy="965"/>
            </a:xfrm>
            <a:prstGeom prst="rect">
              <a:avLst/>
            </a:prstGeom>
            <a:solidFill>
              <a:srgbClr val="FF0000"/>
            </a:solidFill>
            <a:ln w="9525">
              <a:solidFill>
                <a:schemeClr val="tx1"/>
              </a:solidFill>
              <a:miter lim="800000"/>
            </a:ln>
            <a:effectLst>
              <a:outerShdw dist="107763" dir="2700000" algn="ctr" rotWithShape="0">
                <a:srgbClr val="F4040F"/>
              </a:outerShdw>
            </a:effectLst>
          </p:spPr>
          <p:txBody>
            <a:bodyPr wrap="none" tIns="118800" bIns="118800">
              <a:spAutoFit/>
            </a:bodyPr>
            <a:lstStyle/>
            <a:p>
              <a:pPr marR="0" defTabSz="914400" eaLnBrk="0" hangingPunct="0">
                <a:buClrTx/>
                <a:buSzTx/>
                <a:buFontTx/>
                <a:buNone/>
                <a:defRPr/>
              </a:pPr>
              <a:r>
                <a:rPr kumimoji="0" lang="en-US" altLang="zh-CN" kern="1200" cap="none" spc="0" normalizeH="0" baseline="0" noProof="0">
                  <a:latin typeface="Times New Roman" panose="02020603050405020304" pitchFamily="18" charset="0"/>
                  <a:ea typeface="宋体" pitchFamily="2" charset="-122"/>
                  <a:cs typeface="+mn-cs"/>
                </a:rPr>
                <a:t>Memory</a:t>
              </a:r>
              <a:endParaRPr kumimoji="0" lang="en-US" altLang="zh-CN" kern="1200" cap="none" spc="0" normalizeH="0" baseline="0" noProof="0">
                <a:latin typeface="Times New Roman" panose="02020603050405020304" pitchFamily="18" charset="0"/>
                <a:ea typeface="宋体" pitchFamily="2" charset="-122"/>
                <a:cs typeface="+mn-cs"/>
              </a:endParaRPr>
            </a:p>
          </p:txBody>
        </p:sp>
        <p:sp>
          <p:nvSpPr>
            <p:cNvPr id="40965" name="Oval 5"/>
            <p:cNvSpPr/>
            <p:nvPr/>
          </p:nvSpPr>
          <p:spPr>
            <a:xfrm>
              <a:off x="449" y="9321"/>
              <a:ext cx="2125" cy="2043"/>
            </a:xfrm>
            <a:prstGeom prst="ellipse">
              <a:avLst/>
            </a:prstGeom>
            <a:solidFill>
              <a:schemeClr val="accent1"/>
            </a:solidFill>
            <a:ln w="9525" cap="flat" cmpd="sng">
              <a:solidFill>
                <a:schemeClr val="tx1"/>
              </a:solidFill>
              <a:prstDash val="solid"/>
              <a:headEnd type="none" w="med" len="med"/>
              <a:tailEnd type="none" w="med" len="med"/>
            </a:ln>
          </p:spPr>
          <p:txBody>
            <a:bodyPr wrap="none" anchor="ctr"/>
            <a:p>
              <a:pPr algn="ctr" eaLnBrk="0" hangingPunct="0"/>
              <a:endParaRPr lang="zh-CN" altLang="zh-CN" b="0" dirty="0">
                <a:latin typeface="Times New Roman" panose="02020603050405020304" pitchFamily="18" charset="0"/>
              </a:endParaRPr>
            </a:p>
          </p:txBody>
        </p:sp>
        <p:sp>
          <p:nvSpPr>
            <p:cNvPr id="40967" name="Line 7"/>
            <p:cNvSpPr/>
            <p:nvPr/>
          </p:nvSpPr>
          <p:spPr>
            <a:xfrm>
              <a:off x="1358" y="6079"/>
              <a:ext cx="22" cy="33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none" w="med" len="med"/>
              <a:tailEnd type="triangle" w="med" len="lg"/>
            </a:ln>
          </p:spPr>
        </p:sp>
        <p:sp>
          <p:nvSpPr>
            <p:cNvPr id="40968" name="Line 8"/>
            <p:cNvSpPr/>
            <p:nvPr/>
          </p:nvSpPr>
          <p:spPr>
            <a:xfrm flipH="1">
              <a:off x="1755" y="5999"/>
              <a:ext cx="0" cy="3345"/>
            </a:xfrm>
            <a:prstGeom prst="line">
              <a:avLst/>
            </a:prstGeom>
            <a:ln w="9525" cap="flat" cmpd="sng">
              <a:solidFill>
                <a:schemeClr val="tx1"/>
              </a:solidFill>
              <a:prstDash val="solid"/>
              <a:headEnd type="triangle" w="med" len="lg"/>
              <a:tailEnd type="none" w="med" len="lg"/>
            </a:ln>
          </p:spPr>
        </p:sp>
        <p:sp>
          <p:nvSpPr>
            <p:cNvPr id="40970" name="Rectangle 10"/>
            <p:cNvSpPr/>
            <p:nvPr/>
          </p:nvSpPr>
          <p:spPr>
            <a:xfrm>
              <a:off x="930" y="9983"/>
              <a:ext cx="1305" cy="720"/>
            </a:xfrm>
            <a:prstGeom prst="rect">
              <a:avLst/>
            </a:prstGeom>
            <a:noFill/>
            <a:ln w="9525">
              <a:noFill/>
            </a:ln>
          </p:spPr>
          <p:txBody>
            <a:bodyPr wrap="none">
              <a:spAutoFit/>
            </a:bodyPr>
            <a:p>
              <a:pPr eaLnBrk="0" hangingPunct="0"/>
              <a:r>
                <a:rPr lang="en-US" altLang="zh-CN" dirty="0">
                  <a:latin typeface="Arial" panose="020B0604020202090204" pitchFamily="34" charset="0"/>
                </a:rPr>
                <a:t>Disk</a:t>
              </a:r>
              <a:endParaRPr lang="en-US" altLang="zh-CN" dirty="0">
                <a:latin typeface="Arial" panose="020B0604020202090204" pitchFamily="34" charset="0"/>
              </a:endParaRPr>
            </a:p>
          </p:txBody>
        </p:sp>
      </p:grpSp>
      <p:sp>
        <p:nvSpPr>
          <p:cNvPr id="40971" name="Text Box 24"/>
          <p:cNvSpPr txBox="1"/>
          <p:nvPr/>
        </p:nvSpPr>
        <p:spPr>
          <a:xfrm>
            <a:off x="2139315" y="1888808"/>
            <a:ext cx="6840538" cy="4448175"/>
          </a:xfrm>
          <a:prstGeom prst="rect">
            <a:avLst/>
          </a:prstGeom>
          <a:noFill/>
          <a:ln w="28575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ct val="6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CPU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和磁盘很不匹配：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速度很快，磁盘速度很慢，相差天文数字（</a:t>
            </a:r>
            <a:r>
              <a:rPr lang="en-US" altLang="zh-CN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r>
              <a:rPr lang="en-US" altLang="zh-CN" b="0" baseline="30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）个数量级；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ct val="6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磁盘有不可替代的特质：存储容量大；其上的数据不受系统故障影响；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ct val="6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内存速度比磁盘快很多，起到缓冲作用，但其容量比磁盘小很多，其中的数据在出现死机或停电之类的故障时，数据丢失；</a:t>
            </a:r>
            <a:endParaRPr lang="zh-CN" altLang="en-US" b="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ct val="60000"/>
              </a:spcBef>
              <a:buClr>
                <a:srgbClr val="FF0000"/>
              </a:buClr>
              <a:buFont typeface="Wingdings" panose="05000000000000000000" pitchFamily="2" charset="2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数据量通常比内存容量大很多；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下箭头 2"/>
          <p:cNvSpPr/>
          <p:nvPr/>
        </p:nvSpPr>
        <p:spPr>
          <a:xfrm>
            <a:off x="502920" y="2254250"/>
            <a:ext cx="468000" cy="432000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4" name="下箭头 3"/>
          <p:cNvSpPr/>
          <p:nvPr/>
        </p:nvSpPr>
        <p:spPr>
          <a:xfrm flipV="1">
            <a:off x="1066800" y="2173605"/>
            <a:ext cx="468000" cy="468000"/>
          </a:xfrm>
          <a:prstGeom prst="downArrow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Rectangle 2"/>
          <p:cNvSpPr/>
          <p:nvPr/>
        </p:nvSpPr>
        <p:spPr>
          <a:xfrm>
            <a:off x="1905000" y="152400"/>
            <a:ext cx="6858000" cy="9144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p>
            <a:pPr algn="ctr"/>
            <a:r>
              <a:rPr lang="en-US" altLang="zh-CN" sz="4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DBMS</a:t>
            </a:r>
            <a:r>
              <a:rPr lang="zh-CN" altLang="en-US" sz="4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的数据处理模型</a:t>
            </a:r>
            <a:endParaRPr lang="zh-CN" altLang="en-US" sz="4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7171" name="AutoShape 4"/>
          <p:cNvSpPr/>
          <p:nvPr/>
        </p:nvSpPr>
        <p:spPr>
          <a:xfrm>
            <a:off x="179705" y="4661218"/>
            <a:ext cx="1498600" cy="922337"/>
          </a:xfrm>
          <a:prstGeom prst="can">
            <a:avLst>
              <a:gd name="adj" fmla="val 25000"/>
            </a:avLst>
          </a:prstGeom>
          <a:solidFill>
            <a:srgbClr val="CC99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algn="ctr" eaLnBrk="0" hangingPunct="0"/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Stable</a:t>
            </a:r>
            <a:endParaRPr lang="en-US" altLang="zh-CN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 algn="ctr" eaLnBrk="0" hangingPunct="0"/>
            <a:r>
              <a:rPr lang="en-US" altLang="zh-CN" dirty="0">
                <a:latin typeface="Arial" panose="020B0604020202090204" pitchFamily="34" charset="0"/>
                <a:cs typeface="Arial" panose="020B0604020202090204" pitchFamily="34" charset="0"/>
              </a:rPr>
              <a:t>Database</a:t>
            </a:r>
            <a:endParaRPr lang="en-US" altLang="zh-CN" b="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7172" name="Text Box 7"/>
          <p:cNvSpPr txBox="1"/>
          <p:nvPr/>
        </p:nvSpPr>
        <p:spPr>
          <a:xfrm>
            <a:off x="4805363" y="4872038"/>
            <a:ext cx="1674812" cy="711200"/>
          </a:xfrm>
          <a:prstGeom prst="rect">
            <a:avLst/>
          </a:prstGeom>
          <a:solidFill>
            <a:srgbClr val="CCFFCC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algn="ctr" eaLnBrk="0" hangingPunct="0"/>
            <a:r>
              <a:rPr lang="en-US" altLang="zh-CN" sz="2000" dirty="0">
                <a:latin typeface="Times New Roman" panose="02020603050405020304" pitchFamily="18" charset="0"/>
              </a:rPr>
              <a:t>Database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algn="ctr" eaLnBrk="0" hangingPunct="0"/>
            <a:r>
              <a:rPr lang="en-US" altLang="zh-CN" sz="2000" dirty="0">
                <a:latin typeface="Times New Roman" panose="02020603050405020304" pitchFamily="18" charset="0"/>
              </a:rPr>
              <a:t>Buffer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7173" name="Line 9"/>
          <p:cNvSpPr/>
          <p:nvPr/>
        </p:nvSpPr>
        <p:spPr>
          <a:xfrm>
            <a:off x="1722120" y="5139690"/>
            <a:ext cx="3065780" cy="2032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7174" name="Line 10"/>
          <p:cNvSpPr/>
          <p:nvPr/>
        </p:nvSpPr>
        <p:spPr>
          <a:xfrm flipH="1" flipV="1">
            <a:off x="1649730" y="5295900"/>
            <a:ext cx="3138170" cy="15875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7175" name="Text Box 15"/>
          <p:cNvSpPr txBox="1"/>
          <p:nvPr/>
        </p:nvSpPr>
        <p:spPr>
          <a:xfrm>
            <a:off x="4929188" y="3238500"/>
            <a:ext cx="1673225" cy="701675"/>
          </a:xfrm>
          <a:prstGeom prst="rect">
            <a:avLst/>
          </a:prstGeom>
          <a:solidFill>
            <a:srgbClr val="FFCC99"/>
          </a:solidFill>
          <a:ln w="9525">
            <a:noFill/>
          </a:ln>
        </p:spPr>
        <p:txBody>
          <a:bodyPr>
            <a:spAutoFit/>
          </a:bodyPr>
          <a:p>
            <a:pPr algn="ctr" eaLnBrk="0" hangingPunct="0"/>
            <a:r>
              <a:rPr lang="en-US" altLang="zh-CN" sz="2000" dirty="0">
                <a:latin typeface="Times New Roman" panose="02020603050405020304" pitchFamily="18" charset="0"/>
              </a:rPr>
              <a:t>Private</a:t>
            </a:r>
            <a:endParaRPr lang="en-US" altLang="zh-CN" sz="2000" dirty="0">
              <a:latin typeface="Times New Roman" panose="02020603050405020304" pitchFamily="18" charset="0"/>
            </a:endParaRPr>
          </a:p>
          <a:p>
            <a:pPr algn="ctr" eaLnBrk="0" hangingPunct="0"/>
            <a:r>
              <a:rPr lang="en-US" altLang="zh-CN" sz="2000" dirty="0">
                <a:latin typeface="Times New Roman" panose="02020603050405020304" pitchFamily="18" charset="0"/>
              </a:rPr>
              <a:t>Buffer</a:t>
            </a:r>
            <a:endParaRPr lang="en-US" altLang="zh-CN" sz="2000" dirty="0">
              <a:latin typeface="Times New Roman" panose="02020603050405020304" pitchFamily="18" charset="0"/>
            </a:endParaRPr>
          </a:p>
        </p:txBody>
      </p:sp>
      <p:sp>
        <p:nvSpPr>
          <p:cNvPr id="7176" name="Line 16"/>
          <p:cNvSpPr/>
          <p:nvPr/>
        </p:nvSpPr>
        <p:spPr>
          <a:xfrm flipV="1">
            <a:off x="5524500" y="3940175"/>
            <a:ext cx="0" cy="914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7177" name="Line 17"/>
          <p:cNvSpPr/>
          <p:nvPr/>
        </p:nvSpPr>
        <p:spPr>
          <a:xfrm flipH="1">
            <a:off x="5829300" y="3940175"/>
            <a:ext cx="0" cy="914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7178" name="Text Box 18"/>
          <p:cNvSpPr txBox="1"/>
          <p:nvPr/>
        </p:nvSpPr>
        <p:spPr>
          <a:xfrm>
            <a:off x="6767513" y="5011738"/>
            <a:ext cx="1706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全局内存缓存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79" name="Text Box 19"/>
          <p:cNvSpPr txBox="1"/>
          <p:nvPr/>
        </p:nvSpPr>
        <p:spPr>
          <a:xfrm>
            <a:off x="6756083" y="3389313"/>
            <a:ext cx="2214880" cy="39878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sz="2000" dirty="0">
                <a:latin typeface="微软雅黑" panose="020B0503020204020204" charset="-122"/>
                <a:ea typeface="微软雅黑" panose="020B0503020204020204" charset="-122"/>
              </a:rPr>
              <a:t>事务私有内存缓存</a:t>
            </a:r>
            <a:endParaRPr lang="zh-CN" altLang="en-US" sz="2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80" name="Rectangle 20"/>
          <p:cNvSpPr/>
          <p:nvPr/>
        </p:nvSpPr>
        <p:spPr>
          <a:xfrm>
            <a:off x="4699000" y="2797175"/>
            <a:ext cx="2057400" cy="3048000"/>
          </a:xfrm>
          <a:prstGeom prst="rect">
            <a:avLst/>
          </a:prstGeom>
          <a:noFill/>
          <a:ln w="19050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7181" name="Text Box 21"/>
          <p:cNvSpPr txBox="1"/>
          <p:nvPr/>
        </p:nvSpPr>
        <p:spPr>
          <a:xfrm>
            <a:off x="5140325" y="5810250"/>
            <a:ext cx="126682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memory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182" name="Text Box 22"/>
          <p:cNvSpPr txBox="1"/>
          <p:nvPr/>
        </p:nvSpPr>
        <p:spPr>
          <a:xfrm>
            <a:off x="179705" y="5718175"/>
            <a:ext cx="777875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Disk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183" name="Text Box 23"/>
          <p:cNvSpPr txBox="1"/>
          <p:nvPr/>
        </p:nvSpPr>
        <p:spPr>
          <a:xfrm>
            <a:off x="5829300" y="4168775"/>
            <a:ext cx="94456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Write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184" name="Text Box 24"/>
          <p:cNvSpPr txBox="1"/>
          <p:nvPr/>
        </p:nvSpPr>
        <p:spPr>
          <a:xfrm>
            <a:off x="4686300" y="4156075"/>
            <a:ext cx="862013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Read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185" name="Text Box 25"/>
          <p:cNvSpPr txBox="1"/>
          <p:nvPr/>
        </p:nvSpPr>
        <p:spPr>
          <a:xfrm>
            <a:off x="3708400" y="4702175"/>
            <a:ext cx="914400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Input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186" name="Text Box 26"/>
          <p:cNvSpPr txBox="1"/>
          <p:nvPr/>
        </p:nvSpPr>
        <p:spPr>
          <a:xfrm>
            <a:off x="3632200" y="5260975"/>
            <a:ext cx="1049338" cy="4572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en-US" altLang="zh-CN" dirty="0">
                <a:latin typeface="Times New Roman" panose="02020603050405020304" pitchFamily="18" charset="0"/>
              </a:rPr>
              <a:t>output</a:t>
            </a:r>
            <a:endParaRPr lang="en-US" altLang="zh-CN" dirty="0">
              <a:latin typeface="Times New Roman" panose="02020603050405020304" pitchFamily="18" charset="0"/>
            </a:endParaRPr>
          </a:p>
        </p:txBody>
      </p:sp>
      <p:sp>
        <p:nvSpPr>
          <p:cNvPr id="7187" name="Oval 27"/>
          <p:cNvSpPr/>
          <p:nvPr/>
        </p:nvSpPr>
        <p:spPr>
          <a:xfrm>
            <a:off x="5003800" y="1958975"/>
            <a:ext cx="1371600" cy="762000"/>
          </a:xfrm>
          <a:prstGeom prst="ellipse">
            <a:avLst/>
          </a:prstGeom>
          <a:solidFill>
            <a:srgbClr val="00FFFF"/>
          </a:solidFill>
          <a:ln w="9525" cap="flat" cmpd="sng">
            <a:solidFill>
              <a:schemeClr val="tx1"/>
            </a:solidFill>
            <a:prstDash val="solid"/>
            <a:headEnd type="none" w="med" len="med"/>
            <a:tailEnd type="none" w="med" len="med"/>
          </a:ln>
        </p:spPr>
        <p:txBody>
          <a:bodyPr wrap="none" anchor="ctr"/>
          <a:p>
            <a:pPr algn="ctr"/>
            <a:r>
              <a:rPr lang="en-US" altLang="zh-CN" dirty="0">
                <a:latin typeface="Arial Black" panose="020B0A04020102020204" charset="0"/>
              </a:rPr>
              <a:t>CPU</a:t>
            </a:r>
            <a:endParaRPr lang="en-US" altLang="zh-CN" dirty="0">
              <a:latin typeface="Arial Black" panose="020B0A04020102020204" charset="0"/>
            </a:endParaRPr>
          </a:p>
        </p:txBody>
      </p:sp>
      <p:sp>
        <p:nvSpPr>
          <p:cNvPr id="7188" name="Text Box 29"/>
          <p:cNvSpPr txBox="1"/>
          <p:nvPr/>
        </p:nvSpPr>
        <p:spPr>
          <a:xfrm>
            <a:off x="179388" y="6165850"/>
            <a:ext cx="5059680" cy="460375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数据量巨大，散布在磁盘盘面空间中</a:t>
            </a:r>
            <a:endParaRPr lang="zh-CN" altLang="en-US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89" name="Text Box 30"/>
          <p:cNvSpPr txBox="1"/>
          <p:nvPr/>
        </p:nvSpPr>
        <p:spPr>
          <a:xfrm>
            <a:off x="6624638" y="5408613"/>
            <a:ext cx="2490787" cy="82994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内存量远远小于数据库数据量</a:t>
            </a:r>
            <a:endParaRPr lang="zh-CN" altLang="en-US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7190" name="Line 31"/>
          <p:cNvSpPr/>
          <p:nvPr/>
        </p:nvSpPr>
        <p:spPr>
          <a:xfrm flipV="1">
            <a:off x="5537200" y="2720975"/>
            <a:ext cx="0" cy="533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7191" name="Line 32"/>
          <p:cNvSpPr/>
          <p:nvPr/>
        </p:nvSpPr>
        <p:spPr>
          <a:xfrm flipH="1">
            <a:off x="5842000" y="2720975"/>
            <a:ext cx="0" cy="533400"/>
          </a:xfrm>
          <a:prstGeom prst="line">
            <a:avLst/>
          </a:prstGeom>
          <a:ln w="28575" cap="flat" cmpd="sng">
            <a:solidFill>
              <a:schemeClr val="tx1"/>
            </a:solidFill>
            <a:prstDash val="solid"/>
            <a:headEnd type="none" w="med" len="med"/>
            <a:tailEnd type="triangle" w="med" len="lg"/>
          </a:ln>
        </p:spPr>
      </p:sp>
      <p:sp>
        <p:nvSpPr>
          <p:cNvPr id="7193" name="Text Box 34"/>
          <p:cNvSpPr txBox="1"/>
          <p:nvPr/>
        </p:nvSpPr>
        <p:spPr>
          <a:xfrm>
            <a:off x="323850" y="1484313"/>
            <a:ext cx="4105275" cy="101473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>
              <a:lnSpc>
                <a:spcPct val="125000"/>
              </a:lnSpc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所有处理要由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CPU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完成，但数据全部存储在磁盘上</a:t>
            </a:r>
            <a:endParaRPr lang="zh-CN" altLang="en-US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数据库性能度量指标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987" name="Rectangle 3"/>
          <p:cNvSpPr>
            <a:spLocks noGrp="1"/>
          </p:cNvSpPr>
          <p:nvPr>
            <p:ph type="body"/>
          </p:nvPr>
        </p:nvSpPr>
        <p:spPr>
          <a:xfrm>
            <a:off x="265430" y="1765935"/>
            <a:ext cx="8573770" cy="4366260"/>
          </a:xfrm>
        </p:spPr>
        <p:txBody>
          <a:bodyPr vert="horz" wrap="square" lIns="91440" tIns="45720" rIns="91440" bIns="45720" anchor="t"/>
          <a:p>
            <a:pPr marL="624205" indent="-624205" eaLnBrk="1" hangingPunct="1">
              <a:lnSpc>
                <a:spcPct val="120000"/>
              </a:lnSpc>
              <a:spcBef>
                <a:spcPct val="60000"/>
              </a:spcBef>
              <a:buNone/>
            </a:pP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	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事务吞吐量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Transaction throughput):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单位时间中能够处理的交易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事务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)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数量</a:t>
            </a:r>
            <a:r>
              <a:rPr lang="en-US" altLang="zh-CN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endParaRPr lang="en-US" altLang="zh-CN" sz="28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24205" indent="-624205" eaLnBrk="1" hangingPunct="1">
              <a:lnSpc>
                <a:spcPct val="120000"/>
              </a:lnSpc>
              <a:spcBef>
                <a:spcPct val="60000"/>
              </a:spcBef>
              <a:buNone/>
            </a:pP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-	</a:t>
            </a:r>
            <a:r>
              <a:rPr lang="zh-CN" altLang="en-US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响应时间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</a:t>
            </a:r>
            <a:r>
              <a:rPr lang="en-US" altLang="zh-CN" sz="2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Response time):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</a:t>
            </a: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完成单个交易所用的时间</a:t>
            </a:r>
            <a:r>
              <a:rPr lang="en-US" altLang="zh-CN" sz="28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en-US" altLang="zh-CN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endParaRPr lang="en-US" altLang="zh-CN" sz="3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24205" indent="-624205" eaLnBrk="1" hangingPunct="1">
              <a:lnSpc>
                <a:spcPct val="120000"/>
              </a:lnSpc>
              <a:spcBef>
                <a:spcPct val="60000"/>
              </a:spcBef>
              <a:buNone/>
            </a:pPr>
            <a:r>
              <a:rPr lang="zh-CN" altLang="en-US" sz="3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总指标：</a:t>
            </a:r>
            <a:r>
              <a:rPr lang="zh-CN" altLang="en-US" sz="3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事务吞吐量 </a:t>
            </a:r>
            <a:r>
              <a:rPr lang="en-US" altLang="zh-CN" sz="3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 </a:t>
            </a:r>
            <a:r>
              <a:rPr lang="zh-CN" altLang="en-US" sz="36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响应时间</a:t>
            </a:r>
            <a:endParaRPr lang="en-US" altLang="zh-CN" sz="3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624205" indent="-624205" eaLnBrk="1" hangingPunct="1"/>
            <a:endParaRPr lang="en-US" altLang="zh-CN" sz="36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大数据</a:t>
            </a:r>
            <a:endParaRPr lang="en-US" altLang="zh-CN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1987" name="Rectangle 3"/>
          <p:cNvSpPr>
            <a:spLocks noGrp="1"/>
          </p:cNvSpPr>
          <p:nvPr>
            <p:ph type="body"/>
          </p:nvPr>
        </p:nvSpPr>
        <p:spPr>
          <a:xfrm>
            <a:off x="265430" y="1765935"/>
            <a:ext cx="8573770" cy="4366260"/>
          </a:xfrm>
        </p:spPr>
        <p:txBody>
          <a:bodyPr vert="horz" wrap="square" lIns="91440" tIns="45720" rIns="91440" bIns="45720" anchor="t"/>
          <a:p>
            <a:pPr eaLnBrk="1" hangingPunct="1">
              <a:lnSpc>
                <a:spcPct val="120000"/>
              </a:lnSpc>
              <a:spcBef>
                <a:spcPct val="60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数据管理的主要矛盾</a:t>
            </a:r>
            <a:r>
              <a:rPr 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，随着时间推移，发生了转变，</a:t>
            </a:r>
            <a:r>
              <a:rPr 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原来是</a:t>
            </a:r>
            <a:r>
              <a:rPr lang="zh-CN" sz="2800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正确性</a:t>
            </a:r>
            <a:r>
              <a:rPr 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，现在是</a:t>
            </a:r>
            <a:r>
              <a:rPr lang="zh-CN" sz="2800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性能</a:t>
            </a:r>
            <a:r>
              <a:rPr 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zh-CN" sz="2800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可扩展</a:t>
            </a:r>
            <a:r>
              <a:rPr lang="zh-CN" sz="28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性</a:t>
            </a:r>
            <a:r>
              <a:rPr 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eaLnBrk="1" hangingPunct="1">
              <a:lnSpc>
                <a:spcPct val="120000"/>
              </a:lnSpc>
              <a:spcBef>
                <a:spcPct val="60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sz="2800" b="1" dirty="0">
                <a:solidFill>
                  <a:schemeClr val="accent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领域数据</a:t>
            </a:r>
            <a:r>
              <a:rPr 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具有</a:t>
            </a:r>
            <a:r>
              <a:rPr 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自身的特征与特性</a:t>
            </a:r>
            <a:r>
              <a:rPr 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；</a:t>
            </a:r>
            <a:endParaRPr lang="zh-CN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20000"/>
              </a:lnSpc>
              <a:spcBef>
                <a:spcPct val="60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途径是：</a:t>
            </a:r>
            <a:r>
              <a:rPr 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合理组织数据</a:t>
            </a:r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，将完整性、一致性等借助于应用程序来保证；</a:t>
            </a:r>
            <a:endParaRPr lang="en-US" altLang="zh-CN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/>
            <a:endParaRPr lang="en-US" altLang="zh-CN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提高数据库性能的策略</a:t>
            </a:r>
            <a:endParaRPr lang="zh-CN" altLang="en-US" sz="4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885509" y="1783659"/>
            <a:ext cx="5947442" cy="2270816"/>
            <a:chOff x="1141" y="34172"/>
            <a:chExt cx="3257" cy="1028"/>
          </a:xfrm>
        </p:grpSpPr>
        <p:sp>
          <p:nvSpPr>
            <p:cNvPr id="44" name="Text Box 44"/>
            <p:cNvSpPr txBox="1">
              <a:spLocks noChangeArrowheads="1"/>
            </p:cNvSpPr>
            <p:nvPr/>
          </p:nvSpPr>
          <p:spPr bwMode="auto">
            <a:xfrm>
              <a:off x="1141" y="34178"/>
              <a:ext cx="1644" cy="34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54000" tIns="179705" rIns="54000" bIns="10800" anchor="t" anchorCtr="0" upright="1">
              <a:noAutofit/>
            </a:bodyPr>
            <a:lstStyle/>
            <a:p>
              <a:pPr algn="ctr"/>
              <a:r>
                <a:rPr lang="en-US" altLang="zh-CN" kern="5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减小磁头移动路程</a:t>
              </a:r>
              <a:endParaRPr lang="en-US" altLang="zh-CN" kern="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  <a:p>
              <a:pPr algn="ctr"/>
              <a:r>
                <a:rPr lang="en-US" altLang="zh-CN" kern="5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 </a:t>
              </a:r>
              <a:endParaRPr lang="en-US" altLang="zh-CN" kern="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  <p:sp>
          <p:nvSpPr>
            <p:cNvPr id="46" name="Text Box 46"/>
            <p:cNvSpPr txBox="1">
              <a:spLocks noChangeArrowheads="1"/>
            </p:cNvSpPr>
            <p:nvPr/>
          </p:nvSpPr>
          <p:spPr bwMode="auto">
            <a:xfrm>
              <a:off x="3151" y="34172"/>
              <a:ext cx="1247" cy="3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0" tIns="179705" rIns="0" bIns="10800" anchor="t" anchorCtr="0" upright="1">
              <a:noAutofit/>
            </a:bodyPr>
            <a:lstStyle/>
            <a:p>
              <a:pPr algn="ctr"/>
              <a:r>
                <a:rPr lang="en-US" altLang="zh-CN" kern="50"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合理分配空间</a:t>
              </a:r>
              <a:endParaRPr lang="en-US" altLang="zh-CN" kern="50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65" name="AutoShape 65"/>
            <p:cNvCxnSpPr>
              <a:cxnSpLocks noChangeShapeType="1"/>
            </p:cNvCxnSpPr>
            <p:nvPr/>
          </p:nvCxnSpPr>
          <p:spPr bwMode="auto">
            <a:xfrm flipH="1" flipV="1">
              <a:off x="2775" y="34244"/>
              <a:ext cx="376" cy="4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</p:cxnSp>
        <p:sp>
          <p:nvSpPr>
            <p:cNvPr id="47" name="Text Box 47"/>
            <p:cNvSpPr txBox="1">
              <a:spLocks noChangeArrowheads="1"/>
            </p:cNvSpPr>
            <p:nvPr/>
          </p:nvSpPr>
          <p:spPr bwMode="auto">
            <a:xfrm>
              <a:off x="1141" y="34520"/>
              <a:ext cx="1644" cy="3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54000" tIns="179705" rIns="54000" bIns="10800" anchor="t" anchorCtr="0" upright="1">
              <a:noAutofit/>
            </a:bodyPr>
            <a:lstStyle/>
            <a:p>
              <a:pPr algn="ctr"/>
              <a:r>
                <a:rPr lang="en-US" altLang="zh-CN" kern="5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减少运输次数</a:t>
              </a:r>
              <a:endParaRPr lang="en-US" altLang="zh-CN" kern="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  <a:p>
              <a:pPr algn="ctr"/>
              <a:r>
                <a:rPr lang="en-US" altLang="zh-CN" kern="50"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 </a:t>
              </a:r>
              <a:endParaRPr lang="en-US" altLang="zh-CN" kern="5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  <p:sp>
          <p:nvSpPr>
            <p:cNvPr id="49" name="Text Box 49"/>
            <p:cNvSpPr txBox="1">
              <a:spLocks noChangeArrowheads="1"/>
            </p:cNvSpPr>
            <p:nvPr/>
          </p:nvSpPr>
          <p:spPr bwMode="auto">
            <a:xfrm>
              <a:off x="3151" y="34511"/>
              <a:ext cx="1247" cy="3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54000" tIns="179705" rIns="54000" bIns="10800" anchor="t" anchorCtr="0" upright="1">
              <a:noAutofit/>
            </a:bodyPr>
            <a:lstStyle/>
            <a:p>
              <a:pPr algn="ctr"/>
              <a:r>
                <a:rPr lang="en-US" altLang="zh-CN" kern="50"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缓存</a:t>
              </a:r>
              <a:endParaRPr lang="en-US" altLang="zh-CN" kern="50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5" name="Text Box 45"/>
            <p:cNvSpPr txBox="1">
              <a:spLocks noChangeArrowheads="1"/>
            </p:cNvSpPr>
            <p:nvPr/>
          </p:nvSpPr>
          <p:spPr bwMode="auto">
            <a:xfrm>
              <a:off x="1141" y="34860"/>
              <a:ext cx="1644" cy="34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54000" tIns="179705" rIns="54000" bIns="10800" anchor="t" anchorCtr="0" upright="1">
              <a:noAutofit/>
            </a:bodyPr>
            <a:lstStyle/>
            <a:p>
              <a:pPr algn="ctr"/>
              <a:r>
                <a:rPr lang="en-US" altLang="zh-CN" kern="50"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减少无效运输</a:t>
              </a:r>
              <a:endParaRPr lang="en-US" altLang="zh-CN" kern="50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8" name="Text Box 48"/>
            <p:cNvSpPr txBox="1">
              <a:spLocks noChangeArrowheads="1"/>
            </p:cNvSpPr>
            <p:nvPr/>
          </p:nvSpPr>
          <p:spPr bwMode="auto">
            <a:xfrm>
              <a:off x="3151" y="34843"/>
              <a:ext cx="1247" cy="34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</a:ln>
          </p:spPr>
          <p:txBody>
            <a:bodyPr rot="0" vert="horz" wrap="square" lIns="54000" tIns="179705" rIns="54000" bIns="10800" anchor="t" anchorCtr="0" upright="1">
              <a:noAutofit/>
            </a:bodyPr>
            <a:lstStyle/>
            <a:p>
              <a:pPr algn="ctr"/>
              <a:r>
                <a:rPr lang="en-US" altLang="zh-CN" kern="50"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索引</a:t>
              </a:r>
              <a:endParaRPr lang="en-US" altLang="zh-CN" kern="50"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66" name="AutoShape 66"/>
            <p:cNvCxnSpPr>
              <a:cxnSpLocks noChangeShapeType="1"/>
            </p:cNvCxnSpPr>
            <p:nvPr/>
          </p:nvCxnSpPr>
          <p:spPr bwMode="auto">
            <a:xfrm flipH="1" flipV="1">
              <a:off x="2763" y="34689"/>
              <a:ext cx="397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67" name="AutoShape 67"/>
            <p:cNvCxnSpPr>
              <a:cxnSpLocks noChangeShapeType="1"/>
            </p:cNvCxnSpPr>
            <p:nvPr/>
          </p:nvCxnSpPr>
          <p:spPr bwMode="auto">
            <a:xfrm flipH="1">
              <a:off x="2769" y="34997"/>
              <a:ext cx="38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20" name="直接连接符 20"/>
            <p:cNvCxnSpPr/>
            <p:nvPr/>
          </p:nvCxnSpPr>
          <p:spPr>
            <a:xfrm>
              <a:off x="3053" y="34347"/>
              <a:ext cx="1" cy="34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18" name="直接连接符 118"/>
            <p:cNvCxnSpPr/>
            <p:nvPr/>
          </p:nvCxnSpPr>
          <p:spPr>
            <a:xfrm>
              <a:off x="2997" y="34475"/>
              <a:ext cx="1" cy="51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20" name="AutoShape 65"/>
            <p:cNvCxnSpPr>
              <a:cxnSpLocks noChangeShapeType="1"/>
            </p:cNvCxnSpPr>
            <p:nvPr/>
          </p:nvCxnSpPr>
          <p:spPr bwMode="auto">
            <a:xfrm flipH="1" flipV="1">
              <a:off x="2777" y="34356"/>
              <a:ext cx="283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</p:cxnSp>
        <p:cxnSp>
          <p:nvCxnSpPr>
            <p:cNvPr id="121" name="AutoShape 65"/>
            <p:cNvCxnSpPr>
              <a:cxnSpLocks noChangeShapeType="1"/>
            </p:cNvCxnSpPr>
            <p:nvPr/>
          </p:nvCxnSpPr>
          <p:spPr bwMode="auto">
            <a:xfrm flipH="1" flipV="1">
              <a:off x="2779" y="34474"/>
              <a:ext cx="227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tailEnd type="triangle" w="med" len="med"/>
            </a:ln>
          </p:spPr>
        </p:cxnSp>
      </p:grpSp>
      <p:sp>
        <p:nvSpPr>
          <p:cNvPr id="100" name="文本框 99"/>
          <p:cNvSpPr txBox="1"/>
          <p:nvPr/>
        </p:nvSpPr>
        <p:spPr>
          <a:xfrm>
            <a:off x="354330" y="4643120"/>
            <a:ext cx="7843520" cy="1134110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>
              <a:lnSpc>
                <a:spcPct val="120000"/>
              </a:lnSpc>
              <a:spcAft>
                <a:spcPts val="1800"/>
              </a:spcAft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挖掘和利用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endParaRPr lang="zh-CN" altLang="en-US" b="0">
              <a:latin typeface="微软雅黑" panose="020B0503020204020204" charset="-122"/>
              <a:ea typeface="微软雅黑" panose="020B0503020204020204" charset="-122"/>
              <a:cs typeface="宋体" pitchFamily="2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Rectangle 3"/>
          <p:cNvSpPr>
            <a:spLocks noGrp="1"/>
          </p:cNvSpPr>
          <p:nvPr/>
        </p:nvSpPr>
        <p:spPr>
          <a:xfrm>
            <a:off x="2499360" y="4565015"/>
            <a:ext cx="3420745" cy="1956435"/>
          </a:xfrm>
          <a:prstGeom prst="rect">
            <a:avLst/>
          </a:prstGeom>
          <a:noFill/>
          <a:ln w="9525">
            <a:noFill/>
          </a:ln>
        </p:spPr>
        <p:txBody>
          <a:bodyPr vert="horz" wrap="square" lIns="91440" tIns="45720" rIns="0" bIns="45720" anchor="t"/>
          <a:lstStyle>
            <a:lvl1pPr marL="342900" indent="-342900" algn="l" rtl="0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3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3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3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3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3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3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just" eaLnBrk="1" hangingPunct="1">
              <a:lnSpc>
                <a:spcPct val="130000"/>
              </a:lnSpc>
              <a:spcBef>
                <a:spcPts val="5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数据特性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just" eaLnBrk="1" hangingPunct="1">
              <a:lnSpc>
                <a:spcPct val="130000"/>
              </a:lnSpc>
              <a:spcBef>
                <a:spcPts val="5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硬件特性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endParaRPr lang="zh-CN" altLang="en-US" sz="3200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lvl="0" algn="just" eaLnBrk="1" hangingPunct="1">
              <a:lnSpc>
                <a:spcPct val="130000"/>
              </a:lnSpc>
              <a:spcBef>
                <a:spcPts val="5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3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sz="3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数据访问特性</a:t>
            </a:r>
            <a:r>
              <a:rPr lang="zh-CN" altLang="en-US" sz="32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3655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其中与数据库设计有关的方法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059" name="Rectangle 3"/>
          <p:cNvSpPr>
            <a:spLocks noGrp="1"/>
          </p:cNvSpPr>
          <p:nvPr>
            <p:ph type="body"/>
          </p:nvPr>
        </p:nvSpPr>
        <p:spPr>
          <a:xfrm>
            <a:off x="323850" y="1844675"/>
            <a:ext cx="8534400" cy="4321175"/>
          </a:xfrm>
        </p:spPr>
        <p:txBody>
          <a:bodyPr vert="horz" wrap="square" lIns="91440" tIns="45720" rIns="0" bIns="45720" anchor="t"/>
          <a:p>
            <a:pPr eaLnBrk="1" hangingPunct="1"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1: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排序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2: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索引 ；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3: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连续的磁盘存储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4: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分类、聚簇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5: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内存缓冲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US" altLang="zh-CN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eaLnBrk="1" hangingPunct="1">
              <a:lnSpc>
                <a:spcPct val="140000"/>
              </a:lnSpc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r>
              <a:rPr lang="en-US" altLang="zh-CN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8: </a:t>
            </a: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日志和数据分盘存储；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5060" name="Text Box 4"/>
          <p:cNvSpPr txBox="1"/>
          <p:nvPr/>
        </p:nvSpPr>
        <p:spPr>
          <a:xfrm>
            <a:off x="4787900" y="1916113"/>
            <a:ext cx="4105275" cy="3376930"/>
          </a:xfrm>
          <a:prstGeom prst="rect">
            <a:avLst/>
          </a:prstGeom>
          <a:noFill/>
          <a:ln w="38100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6“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并发执行”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和方法</a:t>
            </a:r>
            <a:r>
              <a:rPr lang="en-US" altLang="zh-CN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7“</a:t>
            </a: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查询优化”，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完全封装在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DBMS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中，对数据库设计者和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DBA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透明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40000"/>
              </a:lnSpc>
              <a:spcBef>
                <a:spcPct val="50000"/>
              </a:spcBef>
            </a:pPr>
            <a:r>
              <a:rPr lang="zh-CN" altLang="en-US" b="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其它的方法都需要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数据库设计者和</a:t>
            </a:r>
            <a:r>
              <a:rPr lang="en-US" alt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DBA</a:t>
            </a:r>
            <a:r>
              <a:rPr lang="zh-CN" altLang="en-US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进行配置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Rectangle 2"/>
          <p:cNvSpPr>
            <a:spLocks noGrp="1"/>
          </p:cNvSpPr>
          <p:nvPr>
            <p:ph type="title"/>
          </p:nvPr>
        </p:nvSpPr>
        <p:spPr>
          <a:xfrm>
            <a:off x="1283018" y="188913"/>
            <a:ext cx="7772400" cy="914400"/>
          </a:xfrm>
        </p:spPr>
        <p:txBody>
          <a:bodyPr vert="horz" wrap="square" lIns="91440" tIns="45720" rIns="91440" bIns="45720" anchor="ctr"/>
          <a:p>
            <a:pPr eaLnBrk="1" hangingPunct="1"/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创建索引（</a:t>
            </a:r>
            <a:r>
              <a:rPr lang="en-US" altLang="zh-CN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Index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）：通过压缩与排序来</a:t>
            </a:r>
            <a:r>
              <a:rPr lang="zh-CN" altLang="en-US" sz="32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减少无效运输与计算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pSp>
        <p:nvGrpSpPr>
          <p:cNvPr id="60" name="组合 59"/>
          <p:cNvGrpSpPr/>
          <p:nvPr/>
        </p:nvGrpSpPr>
        <p:grpSpPr>
          <a:xfrm>
            <a:off x="882015" y="1465580"/>
            <a:ext cx="3990340" cy="5363210"/>
            <a:chOff x="1389" y="2308"/>
            <a:chExt cx="6284" cy="8446"/>
          </a:xfrm>
        </p:grpSpPr>
        <p:grpSp>
          <p:nvGrpSpPr>
            <p:cNvPr id="3" name="组合 2"/>
            <p:cNvGrpSpPr/>
            <p:nvPr/>
          </p:nvGrpSpPr>
          <p:grpSpPr>
            <a:xfrm rot="0">
              <a:off x="1389" y="2308"/>
              <a:ext cx="6285" cy="7537"/>
              <a:chOff x="1189" y="1888"/>
              <a:chExt cx="6285" cy="7537"/>
            </a:xfrm>
          </p:grpSpPr>
          <p:sp>
            <p:nvSpPr>
              <p:cNvPr id="46083" name="Rectangle 3"/>
              <p:cNvSpPr/>
              <p:nvPr/>
            </p:nvSpPr>
            <p:spPr>
              <a:xfrm>
                <a:off x="1234" y="1903"/>
                <a:ext cx="6240" cy="7522"/>
              </a:xfrm>
              <a:prstGeom prst="rect">
                <a:avLst/>
              </a:prstGeom>
              <a:no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084" name="Rectangle 4"/>
              <p:cNvSpPr/>
              <p:nvPr/>
            </p:nvSpPr>
            <p:spPr>
              <a:xfrm>
                <a:off x="1237" y="1888"/>
                <a:ext cx="6177" cy="230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085" name="Rectangle 5"/>
              <p:cNvSpPr/>
              <p:nvPr/>
            </p:nvSpPr>
            <p:spPr>
              <a:xfrm>
                <a:off x="1257" y="2368"/>
                <a:ext cx="6177" cy="230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086" name="Rectangle 6"/>
              <p:cNvSpPr/>
              <p:nvPr/>
            </p:nvSpPr>
            <p:spPr>
              <a:xfrm>
                <a:off x="1257" y="2870"/>
                <a:ext cx="6177" cy="230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087" name="Rectangle 7"/>
              <p:cNvSpPr/>
              <p:nvPr/>
            </p:nvSpPr>
            <p:spPr>
              <a:xfrm>
                <a:off x="1257" y="3353"/>
                <a:ext cx="6177" cy="230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088" name="Rectangle 8"/>
              <p:cNvSpPr/>
              <p:nvPr/>
            </p:nvSpPr>
            <p:spPr>
              <a:xfrm>
                <a:off x="1254" y="3808"/>
                <a:ext cx="6178" cy="230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089" name="Rectangle 9"/>
              <p:cNvSpPr/>
              <p:nvPr/>
            </p:nvSpPr>
            <p:spPr>
              <a:xfrm>
                <a:off x="1257" y="4288"/>
                <a:ext cx="6177" cy="230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090" name="Rectangle 10"/>
              <p:cNvSpPr/>
              <p:nvPr/>
            </p:nvSpPr>
            <p:spPr>
              <a:xfrm>
                <a:off x="1257" y="4790"/>
                <a:ext cx="6177" cy="230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091" name="Rectangle 11"/>
              <p:cNvSpPr/>
              <p:nvPr/>
            </p:nvSpPr>
            <p:spPr>
              <a:xfrm>
                <a:off x="1212" y="5313"/>
                <a:ext cx="6177" cy="230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092" name="Rectangle 12"/>
              <p:cNvSpPr/>
              <p:nvPr/>
            </p:nvSpPr>
            <p:spPr>
              <a:xfrm>
                <a:off x="1232" y="5793"/>
                <a:ext cx="6177" cy="230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093" name="Rectangle 13"/>
              <p:cNvSpPr/>
              <p:nvPr/>
            </p:nvSpPr>
            <p:spPr>
              <a:xfrm>
                <a:off x="1232" y="6295"/>
                <a:ext cx="6177" cy="230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094" name="Rectangle 14"/>
              <p:cNvSpPr/>
              <p:nvPr/>
            </p:nvSpPr>
            <p:spPr>
              <a:xfrm>
                <a:off x="1232" y="6778"/>
                <a:ext cx="6177" cy="230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095" name="Rectangle 15"/>
              <p:cNvSpPr/>
              <p:nvPr/>
            </p:nvSpPr>
            <p:spPr>
              <a:xfrm>
                <a:off x="1229" y="7233"/>
                <a:ext cx="6178" cy="230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096" name="Rectangle 16"/>
              <p:cNvSpPr/>
              <p:nvPr/>
            </p:nvSpPr>
            <p:spPr>
              <a:xfrm>
                <a:off x="1232" y="7713"/>
                <a:ext cx="6177" cy="230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097" name="Rectangle 17"/>
              <p:cNvSpPr/>
              <p:nvPr/>
            </p:nvSpPr>
            <p:spPr>
              <a:xfrm>
                <a:off x="1232" y="8215"/>
                <a:ext cx="6177" cy="230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098" name="Rectangle 18"/>
              <p:cNvSpPr/>
              <p:nvPr/>
            </p:nvSpPr>
            <p:spPr>
              <a:xfrm>
                <a:off x="1189" y="8700"/>
                <a:ext cx="6178" cy="230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099" name="Rectangle 19"/>
              <p:cNvSpPr/>
              <p:nvPr/>
            </p:nvSpPr>
            <p:spPr>
              <a:xfrm>
                <a:off x="1209" y="9180"/>
                <a:ext cx="6178" cy="230"/>
              </a:xfrm>
              <a:prstGeom prst="rect">
                <a:avLst/>
              </a:prstGeom>
              <a:solidFill>
                <a:srgbClr val="FF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101" name="Rectangle 21"/>
              <p:cNvSpPr/>
              <p:nvPr/>
            </p:nvSpPr>
            <p:spPr>
              <a:xfrm>
                <a:off x="3062" y="1890"/>
                <a:ext cx="452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102" name="Rectangle 22"/>
              <p:cNvSpPr/>
              <p:nvPr/>
            </p:nvSpPr>
            <p:spPr>
              <a:xfrm>
                <a:off x="3082" y="2370"/>
                <a:ext cx="452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103" name="Rectangle 23"/>
              <p:cNvSpPr/>
              <p:nvPr/>
            </p:nvSpPr>
            <p:spPr>
              <a:xfrm>
                <a:off x="3082" y="2873"/>
                <a:ext cx="452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104" name="Rectangle 24"/>
              <p:cNvSpPr/>
              <p:nvPr/>
            </p:nvSpPr>
            <p:spPr>
              <a:xfrm>
                <a:off x="3082" y="3355"/>
                <a:ext cx="452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105" name="Rectangle 25"/>
              <p:cNvSpPr/>
              <p:nvPr/>
            </p:nvSpPr>
            <p:spPr>
              <a:xfrm>
                <a:off x="3079" y="3810"/>
                <a:ext cx="453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106" name="Rectangle 26"/>
              <p:cNvSpPr/>
              <p:nvPr/>
            </p:nvSpPr>
            <p:spPr>
              <a:xfrm>
                <a:off x="3082" y="4290"/>
                <a:ext cx="452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107" name="Rectangle 27"/>
              <p:cNvSpPr/>
              <p:nvPr/>
            </p:nvSpPr>
            <p:spPr>
              <a:xfrm>
                <a:off x="3082" y="4793"/>
                <a:ext cx="452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108" name="Rectangle 28"/>
              <p:cNvSpPr/>
              <p:nvPr/>
            </p:nvSpPr>
            <p:spPr>
              <a:xfrm>
                <a:off x="3037" y="5315"/>
                <a:ext cx="452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109" name="Rectangle 29"/>
              <p:cNvSpPr/>
              <p:nvPr/>
            </p:nvSpPr>
            <p:spPr>
              <a:xfrm>
                <a:off x="3057" y="5795"/>
                <a:ext cx="452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110" name="Rectangle 30"/>
              <p:cNvSpPr/>
              <p:nvPr/>
            </p:nvSpPr>
            <p:spPr>
              <a:xfrm>
                <a:off x="3057" y="6298"/>
                <a:ext cx="452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111" name="Rectangle 31"/>
              <p:cNvSpPr/>
              <p:nvPr/>
            </p:nvSpPr>
            <p:spPr>
              <a:xfrm>
                <a:off x="3057" y="6780"/>
                <a:ext cx="452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112" name="Rectangle 32"/>
              <p:cNvSpPr/>
              <p:nvPr/>
            </p:nvSpPr>
            <p:spPr>
              <a:xfrm>
                <a:off x="3054" y="7235"/>
                <a:ext cx="453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113" name="Rectangle 33"/>
              <p:cNvSpPr/>
              <p:nvPr/>
            </p:nvSpPr>
            <p:spPr>
              <a:xfrm>
                <a:off x="3057" y="7715"/>
                <a:ext cx="452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114" name="Rectangle 34"/>
              <p:cNvSpPr/>
              <p:nvPr/>
            </p:nvSpPr>
            <p:spPr>
              <a:xfrm>
                <a:off x="3057" y="8218"/>
                <a:ext cx="452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115" name="Rectangle 35"/>
              <p:cNvSpPr/>
              <p:nvPr/>
            </p:nvSpPr>
            <p:spPr>
              <a:xfrm>
                <a:off x="3014" y="8703"/>
                <a:ext cx="453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116" name="Rectangle 36"/>
              <p:cNvSpPr/>
              <p:nvPr/>
            </p:nvSpPr>
            <p:spPr>
              <a:xfrm>
                <a:off x="3034" y="9183"/>
                <a:ext cx="453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sp>
          <p:nvSpPr>
            <p:cNvPr id="58" name="文本框 57"/>
            <p:cNvSpPr txBox="1"/>
            <p:nvPr/>
          </p:nvSpPr>
          <p:spPr>
            <a:xfrm>
              <a:off x="2909" y="10030"/>
              <a:ext cx="17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数据表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grpSp>
        <p:nvGrpSpPr>
          <p:cNvPr id="61" name="组合 60"/>
          <p:cNvGrpSpPr/>
          <p:nvPr/>
        </p:nvGrpSpPr>
        <p:grpSpPr>
          <a:xfrm>
            <a:off x="5343525" y="1465580"/>
            <a:ext cx="1097280" cy="5377815"/>
            <a:chOff x="9446" y="2285"/>
            <a:chExt cx="1728" cy="8469"/>
          </a:xfrm>
        </p:grpSpPr>
        <p:sp>
          <p:nvSpPr>
            <p:cNvPr id="5" name="Rectangle 3"/>
            <p:cNvSpPr/>
            <p:nvPr/>
          </p:nvSpPr>
          <p:spPr>
            <a:xfrm>
              <a:off x="10073" y="2300"/>
              <a:ext cx="925" cy="7522"/>
            </a:xfrm>
            <a:prstGeom prst="rect">
              <a:avLst/>
            </a:prstGeom>
            <a:noFill/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endParaRPr lang="zh-CN" altLang="zh-CN" sz="2000" b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6" name="Rectangle 4"/>
            <p:cNvSpPr/>
            <p:nvPr/>
          </p:nvSpPr>
          <p:spPr>
            <a:xfrm>
              <a:off x="10073" y="2285"/>
              <a:ext cx="916" cy="23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endParaRPr lang="zh-CN" altLang="zh-CN" sz="2000" b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7" name="Rectangle 5"/>
            <p:cNvSpPr/>
            <p:nvPr/>
          </p:nvSpPr>
          <p:spPr>
            <a:xfrm>
              <a:off x="10076" y="2765"/>
              <a:ext cx="916" cy="23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endParaRPr lang="zh-CN" altLang="zh-CN" sz="2000" b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8" name="Rectangle 6"/>
            <p:cNvSpPr/>
            <p:nvPr/>
          </p:nvSpPr>
          <p:spPr>
            <a:xfrm>
              <a:off x="10076" y="3267"/>
              <a:ext cx="916" cy="23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endParaRPr lang="zh-CN" altLang="zh-CN" sz="2000" b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9" name="Rectangle 7"/>
            <p:cNvSpPr/>
            <p:nvPr/>
          </p:nvSpPr>
          <p:spPr>
            <a:xfrm>
              <a:off x="10076" y="3750"/>
              <a:ext cx="916" cy="23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endParaRPr lang="zh-CN" altLang="zh-CN" sz="2000" b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0" name="Rectangle 8"/>
            <p:cNvSpPr/>
            <p:nvPr/>
          </p:nvSpPr>
          <p:spPr>
            <a:xfrm>
              <a:off x="10076" y="4205"/>
              <a:ext cx="916" cy="23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endParaRPr lang="zh-CN" altLang="zh-CN" sz="2000" b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1" name="Rectangle 9"/>
            <p:cNvSpPr/>
            <p:nvPr/>
          </p:nvSpPr>
          <p:spPr>
            <a:xfrm>
              <a:off x="10076" y="4685"/>
              <a:ext cx="916" cy="23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endParaRPr lang="zh-CN" altLang="zh-CN" sz="2000" b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2" name="Rectangle 10"/>
            <p:cNvSpPr/>
            <p:nvPr/>
          </p:nvSpPr>
          <p:spPr>
            <a:xfrm>
              <a:off x="10076" y="5187"/>
              <a:ext cx="916" cy="23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endParaRPr lang="zh-CN" altLang="zh-CN" sz="2000" b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3" name="Rectangle 11"/>
            <p:cNvSpPr/>
            <p:nvPr/>
          </p:nvSpPr>
          <p:spPr>
            <a:xfrm>
              <a:off x="10069" y="5710"/>
              <a:ext cx="916" cy="23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endParaRPr lang="zh-CN" altLang="zh-CN" sz="2000" b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4" name="Rectangle 12"/>
            <p:cNvSpPr/>
            <p:nvPr/>
          </p:nvSpPr>
          <p:spPr>
            <a:xfrm>
              <a:off x="10072" y="6190"/>
              <a:ext cx="916" cy="23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endParaRPr lang="zh-CN" altLang="zh-CN" sz="2000" b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5" name="Rectangle 13"/>
            <p:cNvSpPr/>
            <p:nvPr/>
          </p:nvSpPr>
          <p:spPr>
            <a:xfrm>
              <a:off x="10072" y="6692"/>
              <a:ext cx="916" cy="23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endParaRPr lang="zh-CN" altLang="zh-CN" sz="2000" b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6" name="Rectangle 14"/>
            <p:cNvSpPr/>
            <p:nvPr/>
          </p:nvSpPr>
          <p:spPr>
            <a:xfrm>
              <a:off x="10072" y="7175"/>
              <a:ext cx="916" cy="23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endParaRPr lang="zh-CN" altLang="zh-CN" sz="2000" b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7" name="Rectangle 15"/>
            <p:cNvSpPr/>
            <p:nvPr/>
          </p:nvSpPr>
          <p:spPr>
            <a:xfrm>
              <a:off x="10072" y="7630"/>
              <a:ext cx="916" cy="23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endParaRPr lang="zh-CN" altLang="zh-CN" sz="2000" b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8" name="Rectangle 16"/>
            <p:cNvSpPr/>
            <p:nvPr/>
          </p:nvSpPr>
          <p:spPr>
            <a:xfrm>
              <a:off x="10072" y="8110"/>
              <a:ext cx="916" cy="23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endParaRPr lang="zh-CN" altLang="zh-CN" sz="2000" b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19" name="Rectangle 17"/>
            <p:cNvSpPr/>
            <p:nvPr/>
          </p:nvSpPr>
          <p:spPr>
            <a:xfrm>
              <a:off x="10072" y="8612"/>
              <a:ext cx="916" cy="23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endParaRPr lang="zh-CN" altLang="zh-CN" sz="2000" b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0" name="Rectangle 18"/>
            <p:cNvSpPr/>
            <p:nvPr/>
          </p:nvSpPr>
          <p:spPr>
            <a:xfrm>
              <a:off x="10066" y="9097"/>
              <a:ext cx="916" cy="23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endParaRPr lang="zh-CN" altLang="zh-CN" sz="2000" b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sp>
          <p:nvSpPr>
            <p:cNvPr id="21" name="Rectangle 19"/>
            <p:cNvSpPr/>
            <p:nvPr/>
          </p:nvSpPr>
          <p:spPr>
            <a:xfrm>
              <a:off x="10069" y="9577"/>
              <a:ext cx="916" cy="230"/>
            </a:xfrm>
            <a:prstGeom prst="rect">
              <a:avLst/>
            </a:prstGeom>
            <a:solidFill>
              <a:srgbClr val="FF00FF"/>
            </a:solidFill>
            <a:ln w="9525" cap="flat" cmpd="sng">
              <a:solidFill>
                <a:schemeClr val="tx1"/>
              </a:solidFill>
              <a:prstDash val="solid"/>
              <a:miter/>
              <a:headEnd type="none" w="med" len="med"/>
              <a:tailEnd type="none" w="med" len="med"/>
            </a:ln>
          </p:spPr>
          <p:txBody>
            <a:bodyPr wrap="none" anchor="ctr"/>
            <a:p>
              <a:pPr>
                <a:spcBef>
                  <a:spcPct val="20000"/>
                </a:spcBef>
                <a:buFont typeface="Arial" panose="020B0604020202090204" pitchFamily="34" charset="0"/>
                <a:buNone/>
              </a:pPr>
              <a:endParaRPr lang="zh-CN" altLang="zh-CN" sz="2000" b="0" dirty="0">
                <a:solidFill>
                  <a:schemeClr val="accent2"/>
                </a:solidFill>
                <a:latin typeface="楷体_GB2312" pitchFamily="49" charset="-122"/>
                <a:ea typeface="楷体_GB2312" pitchFamily="49" charset="-122"/>
              </a:endParaRPr>
            </a:p>
          </p:txBody>
        </p:sp>
        <p:grpSp>
          <p:nvGrpSpPr>
            <p:cNvPr id="38" name="组合 37"/>
            <p:cNvGrpSpPr/>
            <p:nvPr/>
          </p:nvGrpSpPr>
          <p:grpSpPr>
            <a:xfrm rot="0">
              <a:off x="10051" y="2287"/>
              <a:ext cx="464" cy="7523"/>
              <a:chOff x="9851" y="2107"/>
              <a:chExt cx="464" cy="7523"/>
            </a:xfrm>
          </p:grpSpPr>
          <p:sp>
            <p:nvSpPr>
              <p:cNvPr id="22" name="Rectangle 21"/>
              <p:cNvSpPr/>
              <p:nvPr/>
            </p:nvSpPr>
            <p:spPr>
              <a:xfrm>
                <a:off x="9858" y="2107"/>
                <a:ext cx="454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3" name="Rectangle 22"/>
              <p:cNvSpPr/>
              <p:nvPr/>
            </p:nvSpPr>
            <p:spPr>
              <a:xfrm>
                <a:off x="9861" y="2587"/>
                <a:ext cx="454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4" name="Rectangle 23"/>
              <p:cNvSpPr/>
              <p:nvPr/>
            </p:nvSpPr>
            <p:spPr>
              <a:xfrm>
                <a:off x="9861" y="3090"/>
                <a:ext cx="454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5" name="Rectangle 24"/>
              <p:cNvSpPr/>
              <p:nvPr/>
            </p:nvSpPr>
            <p:spPr>
              <a:xfrm>
                <a:off x="9861" y="3572"/>
                <a:ext cx="454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6" name="Rectangle 25"/>
              <p:cNvSpPr/>
              <p:nvPr/>
            </p:nvSpPr>
            <p:spPr>
              <a:xfrm>
                <a:off x="9860" y="4027"/>
                <a:ext cx="454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7" name="Rectangle 26"/>
              <p:cNvSpPr/>
              <p:nvPr/>
            </p:nvSpPr>
            <p:spPr>
              <a:xfrm>
                <a:off x="9861" y="4507"/>
                <a:ext cx="454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8" name="Rectangle 27"/>
              <p:cNvSpPr/>
              <p:nvPr/>
            </p:nvSpPr>
            <p:spPr>
              <a:xfrm>
                <a:off x="9861" y="5010"/>
                <a:ext cx="454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29" name="Rectangle 28"/>
              <p:cNvSpPr/>
              <p:nvPr/>
            </p:nvSpPr>
            <p:spPr>
              <a:xfrm>
                <a:off x="9854" y="5532"/>
                <a:ext cx="454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30" name="Rectangle 29"/>
              <p:cNvSpPr/>
              <p:nvPr/>
            </p:nvSpPr>
            <p:spPr>
              <a:xfrm>
                <a:off x="9857" y="6012"/>
                <a:ext cx="454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31" name="Rectangle 30"/>
              <p:cNvSpPr/>
              <p:nvPr/>
            </p:nvSpPr>
            <p:spPr>
              <a:xfrm>
                <a:off x="9857" y="6515"/>
                <a:ext cx="454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32" name="Rectangle 31"/>
              <p:cNvSpPr/>
              <p:nvPr/>
            </p:nvSpPr>
            <p:spPr>
              <a:xfrm>
                <a:off x="9857" y="6997"/>
                <a:ext cx="454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33" name="Rectangle 32"/>
              <p:cNvSpPr/>
              <p:nvPr/>
            </p:nvSpPr>
            <p:spPr>
              <a:xfrm>
                <a:off x="9857" y="7452"/>
                <a:ext cx="454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34" name="Rectangle 33"/>
              <p:cNvSpPr/>
              <p:nvPr/>
            </p:nvSpPr>
            <p:spPr>
              <a:xfrm>
                <a:off x="9857" y="7932"/>
                <a:ext cx="454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35" name="Rectangle 34"/>
              <p:cNvSpPr/>
              <p:nvPr/>
            </p:nvSpPr>
            <p:spPr>
              <a:xfrm>
                <a:off x="9857" y="8435"/>
                <a:ext cx="454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36" name="Rectangle 35"/>
              <p:cNvSpPr/>
              <p:nvPr/>
            </p:nvSpPr>
            <p:spPr>
              <a:xfrm>
                <a:off x="9851" y="8920"/>
                <a:ext cx="454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37" name="Rectangle 36"/>
              <p:cNvSpPr/>
              <p:nvPr/>
            </p:nvSpPr>
            <p:spPr>
              <a:xfrm>
                <a:off x="9854" y="9400"/>
                <a:ext cx="454" cy="230"/>
              </a:xfrm>
              <a:prstGeom prst="rect">
                <a:avLst/>
              </a:prstGeom>
              <a:solidFill>
                <a:srgbClr val="0000FF"/>
              </a:solidFill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grpSp>
          <p:nvGrpSpPr>
            <p:cNvPr id="39" name="组合 38"/>
            <p:cNvGrpSpPr/>
            <p:nvPr/>
          </p:nvGrpSpPr>
          <p:grpSpPr>
            <a:xfrm rot="0">
              <a:off x="10545" y="2292"/>
              <a:ext cx="464" cy="7523"/>
              <a:chOff x="9851" y="2107"/>
              <a:chExt cx="464" cy="7523"/>
            </a:xfrm>
            <a:solidFill>
              <a:srgbClr val="FFFF00"/>
            </a:solidFill>
          </p:grpSpPr>
          <p:sp>
            <p:nvSpPr>
              <p:cNvPr id="40" name="Rectangle 21"/>
              <p:cNvSpPr/>
              <p:nvPr/>
            </p:nvSpPr>
            <p:spPr>
              <a:xfrm>
                <a:off x="9858" y="2107"/>
                <a:ext cx="454" cy="230"/>
              </a:xfrm>
              <a:prstGeom prst="rect">
                <a:avLst/>
              </a:prstGeom>
              <a:grp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1" name="Rectangle 22"/>
              <p:cNvSpPr/>
              <p:nvPr/>
            </p:nvSpPr>
            <p:spPr>
              <a:xfrm>
                <a:off x="9861" y="2587"/>
                <a:ext cx="454" cy="230"/>
              </a:xfrm>
              <a:prstGeom prst="rect">
                <a:avLst/>
              </a:prstGeom>
              <a:grp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2" name="Rectangle 23"/>
              <p:cNvSpPr/>
              <p:nvPr/>
            </p:nvSpPr>
            <p:spPr>
              <a:xfrm>
                <a:off x="9861" y="3090"/>
                <a:ext cx="454" cy="230"/>
              </a:xfrm>
              <a:prstGeom prst="rect">
                <a:avLst/>
              </a:prstGeom>
              <a:grp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3" name="Rectangle 24"/>
              <p:cNvSpPr/>
              <p:nvPr/>
            </p:nvSpPr>
            <p:spPr>
              <a:xfrm>
                <a:off x="9861" y="3572"/>
                <a:ext cx="454" cy="230"/>
              </a:xfrm>
              <a:prstGeom prst="rect">
                <a:avLst/>
              </a:prstGeom>
              <a:grp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4" name="Rectangle 25"/>
              <p:cNvSpPr/>
              <p:nvPr/>
            </p:nvSpPr>
            <p:spPr>
              <a:xfrm>
                <a:off x="9860" y="4027"/>
                <a:ext cx="454" cy="230"/>
              </a:xfrm>
              <a:prstGeom prst="rect">
                <a:avLst/>
              </a:prstGeom>
              <a:grp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5" name="Rectangle 26"/>
              <p:cNvSpPr/>
              <p:nvPr/>
            </p:nvSpPr>
            <p:spPr>
              <a:xfrm>
                <a:off x="9861" y="4507"/>
                <a:ext cx="454" cy="230"/>
              </a:xfrm>
              <a:prstGeom prst="rect">
                <a:avLst/>
              </a:prstGeom>
              <a:grp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6" name="Rectangle 27"/>
              <p:cNvSpPr/>
              <p:nvPr/>
            </p:nvSpPr>
            <p:spPr>
              <a:xfrm>
                <a:off x="9861" y="5010"/>
                <a:ext cx="454" cy="230"/>
              </a:xfrm>
              <a:prstGeom prst="rect">
                <a:avLst/>
              </a:prstGeom>
              <a:grp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7" name="Rectangle 28"/>
              <p:cNvSpPr/>
              <p:nvPr/>
            </p:nvSpPr>
            <p:spPr>
              <a:xfrm>
                <a:off x="9854" y="5532"/>
                <a:ext cx="454" cy="230"/>
              </a:xfrm>
              <a:prstGeom prst="rect">
                <a:avLst/>
              </a:prstGeom>
              <a:grp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8" name="Rectangle 29"/>
              <p:cNvSpPr/>
              <p:nvPr/>
            </p:nvSpPr>
            <p:spPr>
              <a:xfrm>
                <a:off x="9857" y="6012"/>
                <a:ext cx="454" cy="230"/>
              </a:xfrm>
              <a:prstGeom prst="rect">
                <a:avLst/>
              </a:prstGeom>
              <a:grp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49" name="Rectangle 30"/>
              <p:cNvSpPr/>
              <p:nvPr/>
            </p:nvSpPr>
            <p:spPr>
              <a:xfrm>
                <a:off x="9857" y="6515"/>
                <a:ext cx="454" cy="230"/>
              </a:xfrm>
              <a:prstGeom prst="rect">
                <a:avLst/>
              </a:prstGeom>
              <a:grp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50" name="Rectangle 31"/>
              <p:cNvSpPr/>
              <p:nvPr/>
            </p:nvSpPr>
            <p:spPr>
              <a:xfrm>
                <a:off x="9857" y="6997"/>
                <a:ext cx="454" cy="230"/>
              </a:xfrm>
              <a:prstGeom prst="rect">
                <a:avLst/>
              </a:prstGeom>
              <a:grp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51" name="Rectangle 32"/>
              <p:cNvSpPr/>
              <p:nvPr/>
            </p:nvSpPr>
            <p:spPr>
              <a:xfrm>
                <a:off x="9857" y="7452"/>
                <a:ext cx="454" cy="230"/>
              </a:xfrm>
              <a:prstGeom prst="rect">
                <a:avLst/>
              </a:prstGeom>
              <a:grp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52" name="Rectangle 33"/>
              <p:cNvSpPr/>
              <p:nvPr/>
            </p:nvSpPr>
            <p:spPr>
              <a:xfrm>
                <a:off x="9857" y="7932"/>
                <a:ext cx="454" cy="230"/>
              </a:xfrm>
              <a:prstGeom prst="rect">
                <a:avLst/>
              </a:prstGeom>
              <a:grp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53" name="Rectangle 34"/>
              <p:cNvSpPr/>
              <p:nvPr/>
            </p:nvSpPr>
            <p:spPr>
              <a:xfrm>
                <a:off x="9857" y="8435"/>
                <a:ext cx="454" cy="230"/>
              </a:xfrm>
              <a:prstGeom prst="rect">
                <a:avLst/>
              </a:prstGeom>
              <a:grp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54" name="Rectangle 35"/>
              <p:cNvSpPr/>
              <p:nvPr/>
            </p:nvSpPr>
            <p:spPr>
              <a:xfrm>
                <a:off x="9851" y="8920"/>
                <a:ext cx="454" cy="230"/>
              </a:xfrm>
              <a:prstGeom prst="rect">
                <a:avLst/>
              </a:prstGeom>
              <a:grp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  <p:sp>
            <p:nvSpPr>
              <p:cNvPr id="55" name="Rectangle 36"/>
              <p:cNvSpPr/>
              <p:nvPr/>
            </p:nvSpPr>
            <p:spPr>
              <a:xfrm>
                <a:off x="9854" y="9400"/>
                <a:ext cx="454" cy="230"/>
              </a:xfrm>
              <a:prstGeom prst="rect">
                <a:avLst/>
              </a:prstGeom>
              <a:grpFill/>
              <a:ln w="9525" cap="flat" cmpd="sng">
                <a:solidFill>
                  <a:schemeClr val="tx1"/>
                </a:solidFill>
                <a:prstDash val="solid"/>
                <a:miter/>
                <a:headEnd type="none" w="med" len="med"/>
                <a:tailEnd type="none" w="med" len="med"/>
              </a:ln>
            </p:spPr>
            <p:txBody>
              <a:bodyPr wrap="none" anchor="ctr"/>
              <a:p>
                <a:pPr>
                  <a:spcBef>
                    <a:spcPct val="20000"/>
                  </a:spcBef>
                  <a:buFont typeface="Arial" panose="020B0604020202090204" pitchFamily="34" charset="0"/>
                  <a:buNone/>
                </a:pPr>
                <a:endParaRPr lang="zh-CN" altLang="zh-CN" sz="2000" b="0" dirty="0">
                  <a:solidFill>
                    <a:schemeClr val="accent2"/>
                  </a:solidFill>
                  <a:latin typeface="楷体_GB2312" pitchFamily="49" charset="-122"/>
                  <a:ea typeface="楷体_GB2312" pitchFamily="49" charset="-122"/>
                </a:endParaRPr>
              </a:p>
            </p:txBody>
          </p:sp>
        </p:grpSp>
        <p:sp>
          <p:nvSpPr>
            <p:cNvPr id="59" name="文本框 58"/>
            <p:cNvSpPr txBox="1"/>
            <p:nvPr/>
          </p:nvSpPr>
          <p:spPr>
            <a:xfrm>
              <a:off x="9446" y="10030"/>
              <a:ext cx="1728" cy="72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p>
              <a:r>
                <a:rPr lang="zh-CN" altLang="en-US">
                  <a:latin typeface="微软雅黑" panose="020B0503020204020204" charset="-122"/>
                  <a:ea typeface="微软雅黑" panose="020B0503020204020204" charset="-122"/>
                </a:rPr>
                <a:t>索引表</a:t>
              </a:r>
              <a:endParaRPr lang="zh-CN" altLang="en-US"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62" name="右箭头 61"/>
          <p:cNvSpPr/>
          <p:nvPr/>
        </p:nvSpPr>
        <p:spPr>
          <a:xfrm>
            <a:off x="6661150" y="1775460"/>
            <a:ext cx="648335" cy="720090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3" name="文本框 62"/>
          <p:cNvSpPr txBox="1"/>
          <p:nvPr/>
        </p:nvSpPr>
        <p:spPr>
          <a:xfrm>
            <a:off x="6985000" y="1895475"/>
            <a:ext cx="1761490" cy="11988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      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排序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  <a:p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组织成</a:t>
            </a:r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B</a:t>
            </a:r>
            <a:r>
              <a:rPr lang="en-US" altLang="zh-CN" baseline="30000"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树</a:t>
            </a:r>
            <a:endParaRPr lang="zh-CN" altLang="en-US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64" name="矩形 63"/>
          <p:cNvSpPr/>
          <p:nvPr/>
        </p:nvSpPr>
        <p:spPr>
          <a:xfrm>
            <a:off x="7524750" y="3717290"/>
            <a:ext cx="360045" cy="28765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5" name="矩形 64"/>
          <p:cNvSpPr/>
          <p:nvPr/>
        </p:nvSpPr>
        <p:spPr>
          <a:xfrm>
            <a:off x="6985000" y="4495165"/>
            <a:ext cx="360045" cy="28765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8050530" y="4509135"/>
            <a:ext cx="360045" cy="28765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67" name="直接连接符 66"/>
          <p:cNvCxnSpPr>
            <a:stCxn id="64" idx="2"/>
          </p:cNvCxnSpPr>
          <p:nvPr/>
        </p:nvCxnSpPr>
        <p:spPr>
          <a:xfrm flipH="1">
            <a:off x="7236460" y="4004945"/>
            <a:ext cx="468630" cy="5041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" name="直接连接符 67"/>
          <p:cNvCxnSpPr>
            <a:endCxn id="66" idx="0"/>
          </p:cNvCxnSpPr>
          <p:nvPr/>
        </p:nvCxnSpPr>
        <p:spPr>
          <a:xfrm>
            <a:off x="7762875" y="4004945"/>
            <a:ext cx="468003" cy="5040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</p:cxnSp>
      <p:sp>
        <p:nvSpPr>
          <p:cNvPr id="69" name="矩形 68"/>
          <p:cNvSpPr/>
          <p:nvPr/>
        </p:nvSpPr>
        <p:spPr>
          <a:xfrm>
            <a:off x="6564630" y="5300980"/>
            <a:ext cx="360045" cy="28765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70" name="矩形 69"/>
          <p:cNvSpPr/>
          <p:nvPr/>
        </p:nvSpPr>
        <p:spPr>
          <a:xfrm>
            <a:off x="7214235" y="5337175"/>
            <a:ext cx="360045" cy="287655"/>
          </a:xfrm>
          <a:prstGeom prst="rect">
            <a:avLst/>
          </a:prstGeom>
          <a:solidFill>
            <a:srgbClr val="FF0000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71" name="直接连接符 70"/>
          <p:cNvCxnSpPr/>
          <p:nvPr/>
        </p:nvCxnSpPr>
        <p:spPr>
          <a:xfrm flipH="1">
            <a:off x="6793865" y="4796790"/>
            <a:ext cx="324002" cy="50419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2" name="直接连接符 71"/>
          <p:cNvCxnSpPr/>
          <p:nvPr/>
        </p:nvCxnSpPr>
        <p:spPr>
          <a:xfrm>
            <a:off x="7117715" y="4810760"/>
            <a:ext cx="288002" cy="5040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7" name="组合 76"/>
          <p:cNvGrpSpPr/>
          <p:nvPr/>
        </p:nvGrpSpPr>
        <p:grpSpPr>
          <a:xfrm>
            <a:off x="7722870" y="4826000"/>
            <a:ext cx="1047750" cy="808990"/>
            <a:chOff x="10598" y="7754"/>
            <a:chExt cx="1650" cy="1274"/>
          </a:xfrm>
        </p:grpSpPr>
        <p:sp>
          <p:nvSpPr>
            <p:cNvPr id="73" name="矩形 72"/>
            <p:cNvSpPr/>
            <p:nvPr/>
          </p:nvSpPr>
          <p:spPr>
            <a:xfrm>
              <a:off x="10598" y="8570"/>
              <a:ext cx="567" cy="453"/>
            </a:xfrm>
            <a:prstGeom prst="rect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sp>
          <p:nvSpPr>
            <p:cNvPr id="74" name="矩形 73"/>
            <p:cNvSpPr/>
            <p:nvPr/>
          </p:nvSpPr>
          <p:spPr>
            <a:xfrm>
              <a:off x="11681" y="8575"/>
              <a:ext cx="567" cy="453"/>
            </a:xfrm>
            <a:prstGeom prst="rect">
              <a:avLst/>
            </a:prstGeom>
            <a:solidFill>
              <a:srgbClr val="FF00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  <p:txBody>
            <a:bodyPr vert="horz" wrap="square" lIns="91440" tIns="45720" rIns="91440" bIns="45720" numCol="1" anchor="t" anchorCtr="0" compatLnSpc="1"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</a:pPr>
              <a:endParaRPr kumimoji="1" lang="zh-CN" altLang="en-US" sz="24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itchFamily="2" charset="-122"/>
              </a:endParaRPr>
            </a:p>
          </p:txBody>
        </p:sp>
        <p:cxnSp>
          <p:nvCxnSpPr>
            <p:cNvPr id="75" name="直接连接符 74"/>
            <p:cNvCxnSpPr/>
            <p:nvPr/>
          </p:nvCxnSpPr>
          <p:spPr>
            <a:xfrm flipH="1">
              <a:off x="10899" y="7754"/>
              <a:ext cx="454" cy="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triangle" w="med" len="lg"/>
            </a:ln>
          </p:spPr>
        </p:cxnSp>
        <p:cxnSp>
          <p:nvCxnSpPr>
            <p:cNvPr id="76" name="直接连接符 75"/>
            <p:cNvCxnSpPr/>
            <p:nvPr/>
          </p:nvCxnSpPr>
          <p:spPr>
            <a:xfrm>
              <a:off x="11409" y="7776"/>
              <a:ext cx="510" cy="794"/>
            </a:xfrm>
            <a:prstGeom prst="line">
              <a:avLst/>
            </a:prstGeom>
            <a:solidFill>
              <a:schemeClr val="accent1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8" name="矩形 77"/>
          <p:cNvSpPr/>
          <p:nvPr/>
        </p:nvSpPr>
        <p:spPr>
          <a:xfrm>
            <a:off x="8012430" y="6139180"/>
            <a:ext cx="360045" cy="287655"/>
          </a:xfrm>
          <a:prstGeom prst="rect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cxnSp>
        <p:nvCxnSpPr>
          <p:cNvPr id="79" name="直接连接符 78"/>
          <p:cNvCxnSpPr>
            <a:endCxn id="78" idx="0"/>
          </p:cNvCxnSpPr>
          <p:nvPr/>
        </p:nvCxnSpPr>
        <p:spPr>
          <a:xfrm>
            <a:off x="7904480" y="5634990"/>
            <a:ext cx="288002" cy="504004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med" len="lg"/>
          </a:ln>
        </p:spPr>
      </p:cxnSp>
      <p:sp>
        <p:nvSpPr>
          <p:cNvPr id="2" name="右箭头 1"/>
          <p:cNvSpPr/>
          <p:nvPr/>
        </p:nvSpPr>
        <p:spPr>
          <a:xfrm>
            <a:off x="5079365" y="1802130"/>
            <a:ext cx="648335" cy="720090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索引原理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</a:rPr>
              <a:t>——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压缩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</a:rPr>
              <a:t>+</a:t>
            </a:r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排序</a:t>
            </a:r>
            <a:endParaRPr lang="zh-CN" altLang="en-US" sz="4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107" name="Rectangle 3"/>
          <p:cNvSpPr>
            <a:spLocks noGrp="1"/>
          </p:cNvSpPr>
          <p:nvPr>
            <p:ph type="body"/>
          </p:nvPr>
        </p:nvSpPr>
        <p:spPr>
          <a:xfrm>
            <a:off x="55880" y="1390650"/>
            <a:ext cx="9041130" cy="5420995"/>
          </a:xfrm>
        </p:spPr>
        <p:txBody>
          <a:bodyPr vert="horz" wrap="square" lIns="91440" tIns="45720" rIns="91440" bIns="45720" anchor="t"/>
          <a:p>
            <a:pPr marL="449580" indent="-449580" defTabSz="0" eaLnBrk="1" hangingPunct="1">
              <a:lnSpc>
                <a:spcPct val="120000"/>
              </a:lnSpc>
              <a:spcBef>
                <a:spcPct val="10000"/>
              </a:spcBef>
              <a:buNone/>
              <a:tabLst>
                <a:tab pos="952500" algn="l"/>
              </a:tabLst>
            </a:pPr>
            <a:r>
              <a:rPr lang="zh-CN" altLang="en-US" sz="24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语法：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49580" indent="-449580" defTabSz="0" eaLnBrk="1" hangingPunct="1">
              <a:lnSpc>
                <a:spcPct val="120000"/>
              </a:lnSpc>
              <a:spcBef>
                <a:spcPct val="10000"/>
              </a:spcBef>
              <a:buNone/>
              <a:tabLst>
                <a:tab pos="952500" algn="l"/>
              </a:tabLst>
            </a:pPr>
            <a:r>
              <a:rPr lang="en-US" altLang="zh-CN" sz="2400" b="1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CREATE INDEX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studentIndex </a:t>
            </a:r>
            <a:r>
              <a:rPr lang="en-US" altLang="zh-CN" sz="2400" b="1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student(d_no, name);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49580" indent="-449580" defTabSz="0" eaLnBrk="1" hangingPunct="1">
              <a:lnSpc>
                <a:spcPct val="120000"/>
              </a:lnSpc>
              <a:spcBef>
                <a:spcPct val="10000"/>
              </a:spcBef>
              <a:buNone/>
              <a:tabLst>
                <a:tab pos="952500" algn="l"/>
              </a:tabLst>
            </a:pP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49580" indent="-449580" defTabSz="0" eaLnBrk="1" hangingPunct="1">
              <a:lnSpc>
                <a:spcPct val="120000"/>
              </a:lnSpc>
              <a:spcBef>
                <a:spcPct val="10000"/>
              </a:spcBef>
              <a:buNone/>
              <a:tabLst>
                <a:tab pos="952500" algn="l"/>
              </a:tabLst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正确地任用索引：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49580" indent="-449580" defTabSz="0" eaLnBrk="1" hangingPunct="1">
              <a:lnSpc>
                <a:spcPct val="120000"/>
              </a:lnSpc>
              <a:spcBef>
                <a:spcPct val="40000"/>
              </a:spcBef>
              <a:buFont typeface="Wingdings" panose="05000000000000000000" pitchFamily="2" charset="2"/>
              <a:buChar char="l"/>
              <a:tabLst>
                <a:tab pos="952500" algn="l"/>
              </a:tabLst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不要对数据量少的表创建索引</a:t>
            </a:r>
            <a:r>
              <a:rPr lang="zh-CN" altLang="en-US" sz="2400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。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因为读磁盘是以页（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16k)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为单位进行，如果表数据量只有几个页，索引就没意义。就像很少几页的文章，再给它搞个目录页也没有意义；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49580" indent="-449580" defTabSz="0" eaLnBrk="1" hangingPunct="1">
              <a:lnSpc>
                <a:spcPct val="120000"/>
              </a:lnSpc>
              <a:spcBef>
                <a:spcPct val="40000"/>
              </a:spcBef>
              <a:buFont typeface="Wingdings" panose="05000000000000000000" pitchFamily="2" charset="2"/>
              <a:buChar char="l"/>
              <a:tabLst>
                <a:tab pos="952500" algn="l"/>
              </a:tabLst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对长字符串的字段，例如备注字段，不要创建索引，因为压缩比会小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；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449580" indent="-449580" defTabSz="0" eaLnBrk="1" hangingPunct="1">
              <a:lnSpc>
                <a:spcPct val="120000"/>
              </a:lnSpc>
              <a:spcBef>
                <a:spcPct val="40000"/>
              </a:spcBef>
              <a:buClr>
                <a:srgbClr val="FF0000"/>
              </a:buClr>
              <a:buFont typeface="Wingdings" panose="05000000000000000000" pitchFamily="2" charset="2"/>
              <a:buChar char="l"/>
              <a:tabLst>
                <a:tab pos="952500" algn="l"/>
              </a:tabLst>
            </a:pP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对经常作为查询条件、联接运算、排序、分组、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UNION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DISTINCT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的字段，对其创建索引；</a:t>
            </a:r>
            <a:endParaRPr lang="en-GB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对创建索引的思考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sz="4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107" name="Rectangle 3"/>
          <p:cNvSpPr>
            <a:spLocks noGrp="1"/>
          </p:cNvSpPr>
          <p:nvPr>
            <p:ph type="body"/>
          </p:nvPr>
        </p:nvSpPr>
        <p:spPr>
          <a:xfrm>
            <a:off x="-20320" y="1767840"/>
            <a:ext cx="9164320" cy="4056380"/>
          </a:xfrm>
        </p:spPr>
        <p:txBody>
          <a:bodyPr vert="horz" wrap="square" lIns="91440" tIns="45720" rIns="91440" bIns="45720" anchor="t"/>
          <a:p>
            <a:pPr defTabSz="0" eaLnBrk="1" hangingPunct="1">
              <a:lnSpc>
                <a:spcPct val="150000"/>
              </a:lnSpc>
              <a:spcBef>
                <a:spcPct val="10000"/>
              </a:spcBef>
              <a:buClr>
                <a:srgbClr val="FF0000"/>
              </a:buClr>
              <a:buFont typeface="Wingdings" panose="05000000000000000000" charset="0"/>
              <a:buChar char="l"/>
              <a:tabLst>
                <a:tab pos="952500" algn="l"/>
              </a:tabLst>
            </a:pPr>
            <a:r>
              <a:rPr lang="en-US" altLang="zh-CN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DBMS</a:t>
            </a: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会对每个表的主键自动创建索引，为什么如此？</a:t>
            </a:r>
            <a:endParaRPr lang="zh-CN" altLang="en-US" sz="24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0" eaLnBrk="1" hangingPunct="1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  <a:tabLst>
                <a:tab pos="952500" algn="l"/>
              </a:tabLst>
            </a:pPr>
            <a:r>
              <a:rPr lang="en-US" altLang="zh-CN" sz="2400" b="1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CREATE INDEX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studentIndex </a:t>
            </a:r>
            <a:r>
              <a:rPr lang="en-US" altLang="zh-CN" sz="2400" b="1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ON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student(d_no, name);</a:t>
            </a:r>
            <a:endParaRPr lang="en-US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defTabSz="0" eaLnBrk="1" hangingPunct="1">
              <a:lnSpc>
                <a:spcPct val="150000"/>
              </a:lnSpc>
              <a:spcBef>
                <a:spcPct val="10000"/>
              </a:spcBef>
              <a:buClr>
                <a:srgbClr val="FF0000"/>
              </a:buClr>
              <a:buFont typeface="Wingdings" panose="05000000000000000000" charset="0"/>
              <a:buNone/>
              <a:tabLst>
                <a:tab pos="952500" algn="l"/>
              </a:tabLst>
            </a:pPr>
            <a:r>
              <a:rPr lang="zh-CN" altLang="en-GB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对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SELECT * FROM student WHERE name ='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张三关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'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有帮助吗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;</a:t>
            </a:r>
            <a:endParaRPr lang="en-GB" altLang="zh-CN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defTabSz="0" eaLnBrk="1" hangingPunct="1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  <a:tabLst>
                <a:tab pos="952500" algn="l"/>
              </a:tabLst>
            </a:pPr>
            <a:r>
              <a:rPr lang="en-US" altLang="zh-CN" sz="2400" b="1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CREATE INDEX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studentIndex </a:t>
            </a:r>
            <a:r>
              <a:rPr lang="en-US" altLang="zh-CN" sz="2400" b="1" dirty="0">
                <a:solidFill>
                  <a:srgbClr val="FF006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ON</a:t>
            </a:r>
            <a:r>
              <a:rPr lang="en-US" altLang="zh-CN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student(sex); </a:t>
            </a:r>
            <a:r>
              <a:rPr lang="zh-CN" altLang="en-US" sz="24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有必要吗？</a:t>
            </a:r>
            <a:endParaRPr lang="zh-CN" altLang="en-US" sz="24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defTabSz="0" eaLnBrk="1" hangingPunct="1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  <a:tabLst>
                <a:tab pos="952500" algn="l"/>
              </a:tabLst>
            </a:pPr>
            <a:r>
              <a:rPr lang="zh-CN" altLang="en-US" sz="28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创建索引，有什么负面作用吗？</a:t>
            </a:r>
            <a:endParaRPr lang="zh-CN" altLang="en-US" sz="28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zh-CN" sz="4000" dirty="0">
                <a:latin typeface="微软雅黑" panose="020B0503020204020204" charset="-122"/>
                <a:ea typeface="微软雅黑" panose="020B0503020204020204" charset="-122"/>
              </a:rPr>
              <a:t>尽量利用主键索引</a:t>
            </a:r>
            <a:endParaRPr lang="zh-CN" sz="4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107" name="Rectangle 3"/>
          <p:cNvSpPr>
            <a:spLocks noGrp="1"/>
          </p:cNvSpPr>
          <p:nvPr>
            <p:ph type="body"/>
          </p:nvPr>
        </p:nvSpPr>
        <p:spPr>
          <a:xfrm>
            <a:off x="107315" y="1684020"/>
            <a:ext cx="9037320" cy="3775075"/>
          </a:xfrm>
        </p:spPr>
        <p:txBody>
          <a:bodyPr vert="horz" wrap="square" lIns="91440" tIns="45720" rIns="91440" bIns="45720" anchor="t"/>
          <a:p>
            <a:pPr defTabSz="0" eaLnBrk="1" hangingPunct="1">
              <a:lnSpc>
                <a:spcPct val="120000"/>
              </a:lnSpc>
              <a:spcBef>
                <a:spcPts val="10"/>
              </a:spcBef>
              <a:spcAft>
                <a:spcPts val="1200"/>
              </a:spcAft>
              <a:buClr>
                <a:srgbClr val="FF0000"/>
              </a:buClr>
              <a:buFont typeface="Wingdings" panose="05000000000000000000" charset="0"/>
              <a:buChar char="l"/>
              <a:tabLst>
                <a:tab pos="952500" algn="l"/>
              </a:tabLst>
            </a:pPr>
            <a:r>
              <a:rPr 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学生表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student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的主键为学号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sno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，其构成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yyyyddssccnn, 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它对查询有什么帮助？</a:t>
            </a:r>
            <a:endParaRPr lang="zh-CN" altLang="en-US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defTabSz="0" eaLnBrk="1" hangingPunct="1">
              <a:lnSpc>
                <a:spcPct val="120000"/>
              </a:lnSpc>
              <a:spcBef>
                <a:spcPts val="1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None/>
              <a:tabLst>
                <a:tab pos="952500" algn="l"/>
              </a:tabLst>
            </a:pPr>
            <a:r>
              <a:rPr lang="zh-CN" altLang="en-US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  查询条件：</a:t>
            </a: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sno LIKE ‘20172601%’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defTabSz="0" eaLnBrk="1" hangingPunct="1">
              <a:lnSpc>
                <a:spcPct val="120000"/>
              </a:lnSpc>
              <a:spcBef>
                <a:spcPts val="1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None/>
              <a:tabLst>
                <a:tab pos="952500" algn="l"/>
              </a:tabLst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sno LIKE ‘2017260102%’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indent="0" defTabSz="0" eaLnBrk="1" hangingPunct="1">
              <a:lnSpc>
                <a:spcPct val="120000"/>
              </a:lnSpc>
              <a:spcBef>
                <a:spcPts val="1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None/>
              <a:tabLst>
                <a:tab pos="952500" algn="l"/>
              </a:tabLst>
            </a:pPr>
            <a:r>
              <a:rPr lang="en-US" altLang="zh-CN" sz="24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       sno LIKE ‘_ _ _ _2601%’</a:t>
            </a:r>
            <a:endParaRPr lang="en-US" altLang="zh-CN" sz="24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defTabSz="0" eaLnBrk="1" hangingPunct="1">
              <a:lnSpc>
                <a:spcPct val="150000"/>
              </a:lnSpc>
              <a:spcBef>
                <a:spcPct val="10000"/>
              </a:spcBef>
              <a:buClr>
                <a:srgbClr val="FF0000"/>
              </a:buClr>
              <a:buFont typeface="Wingdings" panose="05000000000000000000" charset="0"/>
              <a:buNone/>
              <a:tabLst>
                <a:tab pos="952500" algn="l"/>
              </a:tabLst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对这些查询，主键索引能够起到帮助作用吗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?</a:t>
            </a:r>
            <a:endParaRPr lang="en-US" altLang="zh-CN" sz="2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2"/>
          <p:cNvSpPr>
            <a:spLocks noGrp="1"/>
          </p:cNvSpPr>
          <p:nvPr>
            <p:ph type="title"/>
          </p:nvPr>
        </p:nvSpPr>
        <p:spPr/>
        <p:txBody>
          <a:bodyPr vert="horz" wrap="square" lIns="91440" tIns="45720" rIns="91440" bIns="45720" anchor="ctr"/>
          <a:p>
            <a:pPr eaLnBrk="1" hangingPunct="1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</a:rPr>
              <a:t>对索引的思考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sz="400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7107" name="Rectangle 3"/>
          <p:cNvSpPr>
            <a:spLocks noGrp="1"/>
          </p:cNvSpPr>
          <p:nvPr>
            <p:ph type="body"/>
          </p:nvPr>
        </p:nvSpPr>
        <p:spPr>
          <a:xfrm>
            <a:off x="-20955" y="1946275"/>
            <a:ext cx="9165590" cy="4893310"/>
          </a:xfrm>
        </p:spPr>
        <p:txBody>
          <a:bodyPr vert="horz" wrap="square" lIns="91440" tIns="45720" rIns="91440" bIns="45720" anchor="t"/>
          <a:p>
            <a:pPr defTabSz="0" eaLnBrk="1" hangingPunct="1">
              <a:lnSpc>
                <a:spcPct val="150000"/>
              </a:lnSpc>
              <a:spcBef>
                <a:spcPts val="180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Char char="l"/>
              <a:tabLst>
                <a:tab pos="952500" algn="l"/>
              </a:tabLst>
            </a:pP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对选课表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enroll</a:t>
            </a:r>
            <a:r>
              <a:rPr lang="zh-CN" altLang="en-US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，下面的主键设置一样？还是有差异？要建立多个索引吗？</a:t>
            </a:r>
            <a:r>
              <a:rPr lang="en-US" altLang="zh-CN" sz="24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sz="24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defTabSz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None/>
              <a:tabLst>
                <a:tab pos="952500" algn="l"/>
              </a:tabLst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{sno,cno,semester}, </a:t>
            </a: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{sno,semester,cno}, </a:t>
            </a:r>
            <a:endParaRPr lang="en-US" altLang="zh-CN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defTabSz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None/>
              <a:tabLst>
                <a:tab pos="952500" algn="l"/>
              </a:tabLst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{cno,sno,semester}, {cno,semester,sno}, </a:t>
            </a:r>
            <a:endParaRPr lang="en-US" altLang="zh-CN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marL="0" indent="0" defTabSz="0" eaLnBrk="1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  <a:buNone/>
              <a:tabLst>
                <a:tab pos="952500" algn="l"/>
              </a:tabLst>
            </a:pPr>
            <a:r>
              <a:rPr lang="en-US" altLang="zh-CN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{semester,sno,cno},  {semester,cno,sno}</a:t>
            </a:r>
            <a:endParaRPr lang="en-US" altLang="zh-CN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Grp="1"/>
          </p:cNvSpPr>
          <p:nvPr>
            <p:ph type="title"/>
          </p:nvPr>
        </p:nvSpPr>
        <p:spPr>
          <a:xfrm>
            <a:off x="1908175" y="125413"/>
            <a:ext cx="6854825" cy="1143000"/>
          </a:xfrm>
        </p:spPr>
        <p:txBody>
          <a:bodyPr vert="horz" wrap="square" lIns="91440" tIns="45720" rIns="91440" bIns="45720" anchor="ctr"/>
          <a:p>
            <a:pPr eaLnBrk="1" hangingPunct="1"/>
            <a:r>
              <a:rPr lang="zh-CN" altLang="en-US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哈希索引</a:t>
            </a:r>
            <a:r>
              <a:rPr lang="en-US" altLang="zh-CN" sz="40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(Hashing index)</a:t>
            </a:r>
            <a:endParaRPr lang="en-US" altLang="zh-CN" sz="40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139" name="Text Box 11"/>
          <p:cNvSpPr txBox="1"/>
          <p:nvPr/>
        </p:nvSpPr>
        <p:spPr>
          <a:xfrm>
            <a:off x="74930" y="1719580"/>
            <a:ext cx="2411413" cy="3968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0" hangingPunct="0"/>
            <a:r>
              <a:rPr lang="zh-CN" altLang="en-US" sz="2000" b="0" dirty="0">
                <a:latin typeface="Arial" panose="020B0604020202090204" pitchFamily="34" charset="0"/>
                <a:ea typeface="华文中宋" panose="02010600040101010101" pitchFamily="2" charset="-122"/>
              </a:rPr>
              <a:t>字段取值域空间</a:t>
            </a:r>
            <a:endParaRPr lang="zh-CN" altLang="en-US" sz="2000" b="0" dirty="0">
              <a:latin typeface="Arial" panose="020B0604020202090204" pitchFamily="34" charset="0"/>
              <a:ea typeface="华文中宋" panose="02010600040101010101" pitchFamily="2" charset="-122"/>
            </a:endParaRPr>
          </a:p>
        </p:txBody>
      </p:sp>
      <p:sp>
        <p:nvSpPr>
          <p:cNvPr id="48140" name="Text Box 46"/>
          <p:cNvSpPr txBox="1"/>
          <p:nvPr/>
        </p:nvSpPr>
        <p:spPr>
          <a:xfrm>
            <a:off x="2270443" y="2313305"/>
            <a:ext cx="1676400" cy="396875"/>
          </a:xfrm>
          <a:prstGeom prst="rect">
            <a:avLst/>
          </a:prstGeom>
          <a:noFill/>
          <a:ln w="9525">
            <a:noFill/>
          </a:ln>
        </p:spPr>
        <p:txBody>
          <a:bodyPr lIns="0" rIns="0">
            <a:spAutoFit/>
          </a:bodyPr>
          <a:p>
            <a:pPr eaLnBrk="0" hangingPunct="0"/>
            <a:r>
              <a:rPr lang="zh-CN" altLang="en-US" sz="2000" b="0" dirty="0">
                <a:latin typeface="Arial" panose="020B0604020202090204" pitchFamily="34" charset="0"/>
                <a:ea typeface="华文中宋" panose="02010600040101010101" pitchFamily="2" charset="-122"/>
              </a:rPr>
              <a:t>磁盘空间地址</a:t>
            </a:r>
            <a:endParaRPr lang="zh-CN" altLang="en-US" sz="2000" b="0" dirty="0">
              <a:latin typeface="Arial" panose="020B0604020202090204" pitchFamily="34" charset="0"/>
              <a:ea typeface="华文中宋" panose="02010600040101010101" pitchFamily="2" charset="-122"/>
            </a:endParaRPr>
          </a:p>
        </p:txBody>
      </p:sp>
      <p:sp>
        <p:nvSpPr>
          <p:cNvPr id="48141" name="Rectangle 48"/>
          <p:cNvSpPr/>
          <p:nvPr/>
        </p:nvSpPr>
        <p:spPr>
          <a:xfrm>
            <a:off x="336868" y="2168843"/>
            <a:ext cx="812800" cy="28067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 lang="zh-CN" altLang="zh-CN" b="0" dirty="0">
              <a:latin typeface="Times New Roman" panose="02020603050405020304" pitchFamily="18" charset="0"/>
            </a:endParaRPr>
          </a:p>
        </p:txBody>
      </p:sp>
      <p:sp>
        <p:nvSpPr>
          <p:cNvPr id="48142" name="Rectangle 49"/>
          <p:cNvSpPr/>
          <p:nvPr/>
        </p:nvSpPr>
        <p:spPr>
          <a:xfrm>
            <a:off x="2686368" y="2865755"/>
            <a:ext cx="654050" cy="1363663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tx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/>
          <a:p>
            <a:endParaRPr lang="zh-CN" altLang="zh-CN" b="0" dirty="0">
              <a:latin typeface="Times New Roman" panose="02020603050405020304" pitchFamily="18" charset="0"/>
            </a:endParaRPr>
          </a:p>
        </p:txBody>
      </p:sp>
      <p:sp>
        <p:nvSpPr>
          <p:cNvPr id="48143" name="Line 50"/>
          <p:cNvSpPr/>
          <p:nvPr/>
        </p:nvSpPr>
        <p:spPr>
          <a:xfrm flipV="1">
            <a:off x="365443" y="2202180"/>
            <a:ext cx="725487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44" name="Line 51"/>
          <p:cNvSpPr/>
          <p:nvPr/>
        </p:nvSpPr>
        <p:spPr>
          <a:xfrm flipV="1">
            <a:off x="367030" y="2303780"/>
            <a:ext cx="725488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45" name="Line 52"/>
          <p:cNvSpPr/>
          <p:nvPr/>
        </p:nvSpPr>
        <p:spPr>
          <a:xfrm flipV="1">
            <a:off x="352743" y="2418080"/>
            <a:ext cx="725487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46" name="Line 53"/>
          <p:cNvSpPr/>
          <p:nvPr/>
        </p:nvSpPr>
        <p:spPr>
          <a:xfrm flipV="1">
            <a:off x="354330" y="2519680"/>
            <a:ext cx="725488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47" name="Line 54"/>
          <p:cNvSpPr/>
          <p:nvPr/>
        </p:nvSpPr>
        <p:spPr>
          <a:xfrm flipV="1">
            <a:off x="367030" y="2632393"/>
            <a:ext cx="725488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48" name="Line 55"/>
          <p:cNvSpPr/>
          <p:nvPr/>
        </p:nvSpPr>
        <p:spPr>
          <a:xfrm flipV="1">
            <a:off x="368618" y="2733993"/>
            <a:ext cx="725487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49" name="Line 56"/>
          <p:cNvSpPr/>
          <p:nvPr/>
        </p:nvSpPr>
        <p:spPr>
          <a:xfrm flipV="1">
            <a:off x="354330" y="2848293"/>
            <a:ext cx="725488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50" name="Line 57"/>
          <p:cNvSpPr/>
          <p:nvPr/>
        </p:nvSpPr>
        <p:spPr>
          <a:xfrm flipV="1">
            <a:off x="355918" y="2949893"/>
            <a:ext cx="725487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51" name="Line 58"/>
          <p:cNvSpPr/>
          <p:nvPr/>
        </p:nvSpPr>
        <p:spPr>
          <a:xfrm flipV="1">
            <a:off x="367030" y="3061018"/>
            <a:ext cx="725488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52" name="Line 59"/>
          <p:cNvSpPr/>
          <p:nvPr/>
        </p:nvSpPr>
        <p:spPr>
          <a:xfrm flipV="1">
            <a:off x="368618" y="3162618"/>
            <a:ext cx="725487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53" name="Line 60"/>
          <p:cNvSpPr/>
          <p:nvPr/>
        </p:nvSpPr>
        <p:spPr>
          <a:xfrm flipV="1">
            <a:off x="354330" y="3276918"/>
            <a:ext cx="725488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54" name="Line 61"/>
          <p:cNvSpPr/>
          <p:nvPr/>
        </p:nvSpPr>
        <p:spPr>
          <a:xfrm flipV="1">
            <a:off x="355918" y="3378518"/>
            <a:ext cx="725487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55" name="Line 62"/>
          <p:cNvSpPr/>
          <p:nvPr/>
        </p:nvSpPr>
        <p:spPr>
          <a:xfrm flipV="1">
            <a:off x="368618" y="3491230"/>
            <a:ext cx="725487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56" name="Line 63"/>
          <p:cNvSpPr/>
          <p:nvPr/>
        </p:nvSpPr>
        <p:spPr>
          <a:xfrm flipV="1">
            <a:off x="370205" y="3592830"/>
            <a:ext cx="725488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57" name="Line 64"/>
          <p:cNvSpPr/>
          <p:nvPr/>
        </p:nvSpPr>
        <p:spPr>
          <a:xfrm flipV="1">
            <a:off x="355918" y="3707130"/>
            <a:ext cx="725487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58" name="Line 65"/>
          <p:cNvSpPr/>
          <p:nvPr/>
        </p:nvSpPr>
        <p:spPr>
          <a:xfrm flipV="1">
            <a:off x="357505" y="3808730"/>
            <a:ext cx="725488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59" name="Line 66"/>
          <p:cNvSpPr/>
          <p:nvPr/>
        </p:nvSpPr>
        <p:spPr>
          <a:xfrm flipV="1">
            <a:off x="352743" y="3918268"/>
            <a:ext cx="725487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60" name="Line 67"/>
          <p:cNvSpPr/>
          <p:nvPr/>
        </p:nvSpPr>
        <p:spPr>
          <a:xfrm flipV="1">
            <a:off x="354330" y="4019868"/>
            <a:ext cx="725488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61" name="Line 68"/>
          <p:cNvSpPr/>
          <p:nvPr/>
        </p:nvSpPr>
        <p:spPr>
          <a:xfrm flipV="1">
            <a:off x="340043" y="4134168"/>
            <a:ext cx="725487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62" name="Line 69"/>
          <p:cNvSpPr/>
          <p:nvPr/>
        </p:nvSpPr>
        <p:spPr>
          <a:xfrm flipV="1">
            <a:off x="341630" y="4235768"/>
            <a:ext cx="725488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63" name="Line 70"/>
          <p:cNvSpPr/>
          <p:nvPr/>
        </p:nvSpPr>
        <p:spPr>
          <a:xfrm flipV="1">
            <a:off x="354330" y="4348480"/>
            <a:ext cx="725488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64" name="Line 71"/>
          <p:cNvSpPr/>
          <p:nvPr/>
        </p:nvSpPr>
        <p:spPr>
          <a:xfrm flipV="1">
            <a:off x="355918" y="4450080"/>
            <a:ext cx="725487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65" name="Line 72"/>
          <p:cNvSpPr/>
          <p:nvPr/>
        </p:nvSpPr>
        <p:spPr>
          <a:xfrm flipV="1">
            <a:off x="341630" y="4564380"/>
            <a:ext cx="725488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66" name="Line 73"/>
          <p:cNvSpPr/>
          <p:nvPr/>
        </p:nvSpPr>
        <p:spPr>
          <a:xfrm flipV="1">
            <a:off x="343218" y="4665980"/>
            <a:ext cx="725487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67" name="Line 74"/>
          <p:cNvSpPr/>
          <p:nvPr/>
        </p:nvSpPr>
        <p:spPr>
          <a:xfrm flipV="1">
            <a:off x="341630" y="4778693"/>
            <a:ext cx="725488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68" name="Line 75"/>
          <p:cNvSpPr/>
          <p:nvPr/>
        </p:nvSpPr>
        <p:spPr>
          <a:xfrm flipV="1">
            <a:off x="343218" y="4880293"/>
            <a:ext cx="725487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69" name="Line 76"/>
          <p:cNvSpPr/>
          <p:nvPr/>
        </p:nvSpPr>
        <p:spPr>
          <a:xfrm flipV="1">
            <a:off x="328930" y="4994593"/>
            <a:ext cx="725488" cy="0"/>
          </a:xfrm>
          <a:prstGeom prst="line">
            <a:avLst/>
          </a:prstGeom>
          <a:ln w="38100" cap="flat" cmpd="sng">
            <a:solidFill>
              <a:srgbClr val="0000FF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70" name="Line 77"/>
          <p:cNvSpPr/>
          <p:nvPr/>
        </p:nvSpPr>
        <p:spPr>
          <a:xfrm flipV="1">
            <a:off x="2678430" y="2921318"/>
            <a:ext cx="655638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71" name="Line 78"/>
          <p:cNvSpPr/>
          <p:nvPr/>
        </p:nvSpPr>
        <p:spPr>
          <a:xfrm flipV="1">
            <a:off x="2673668" y="3030855"/>
            <a:ext cx="655637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72" name="Line 79"/>
          <p:cNvSpPr/>
          <p:nvPr/>
        </p:nvSpPr>
        <p:spPr>
          <a:xfrm flipV="1">
            <a:off x="2675255" y="3132455"/>
            <a:ext cx="655638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73" name="Line 80"/>
          <p:cNvSpPr/>
          <p:nvPr/>
        </p:nvSpPr>
        <p:spPr>
          <a:xfrm flipV="1">
            <a:off x="2660968" y="3246755"/>
            <a:ext cx="655637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74" name="Line 81"/>
          <p:cNvSpPr/>
          <p:nvPr/>
        </p:nvSpPr>
        <p:spPr>
          <a:xfrm flipV="1">
            <a:off x="2662555" y="3348355"/>
            <a:ext cx="655638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75" name="Line 82"/>
          <p:cNvSpPr/>
          <p:nvPr/>
        </p:nvSpPr>
        <p:spPr>
          <a:xfrm flipV="1">
            <a:off x="2675255" y="3461068"/>
            <a:ext cx="655638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76" name="Line 83"/>
          <p:cNvSpPr/>
          <p:nvPr/>
        </p:nvSpPr>
        <p:spPr>
          <a:xfrm flipV="1">
            <a:off x="2676843" y="3562668"/>
            <a:ext cx="655637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77" name="Line 84"/>
          <p:cNvSpPr/>
          <p:nvPr/>
        </p:nvSpPr>
        <p:spPr>
          <a:xfrm flipV="1">
            <a:off x="2662555" y="3676968"/>
            <a:ext cx="655638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78" name="Line 85"/>
          <p:cNvSpPr/>
          <p:nvPr/>
        </p:nvSpPr>
        <p:spPr>
          <a:xfrm flipV="1">
            <a:off x="2664143" y="3778568"/>
            <a:ext cx="655637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79" name="Line 86"/>
          <p:cNvSpPr/>
          <p:nvPr/>
        </p:nvSpPr>
        <p:spPr>
          <a:xfrm flipV="1">
            <a:off x="2662555" y="3891280"/>
            <a:ext cx="655638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80" name="Line 87"/>
          <p:cNvSpPr/>
          <p:nvPr/>
        </p:nvSpPr>
        <p:spPr>
          <a:xfrm flipV="1">
            <a:off x="2664143" y="3992880"/>
            <a:ext cx="655637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81" name="Line 88"/>
          <p:cNvSpPr/>
          <p:nvPr/>
        </p:nvSpPr>
        <p:spPr>
          <a:xfrm flipV="1">
            <a:off x="2649855" y="4107180"/>
            <a:ext cx="655638" cy="0"/>
          </a:xfrm>
          <a:prstGeom prst="line">
            <a:avLst/>
          </a:prstGeom>
          <a:ln w="38100" cap="flat" cmpd="sng">
            <a:solidFill>
              <a:srgbClr val="FF0000"/>
            </a:solidFill>
            <a:prstDash val="solid"/>
            <a:headEnd type="none" w="med" len="med"/>
            <a:tailEnd type="none" w="med" len="med"/>
          </a:ln>
        </p:spPr>
      </p:sp>
      <p:sp>
        <p:nvSpPr>
          <p:cNvPr id="48182" name="Line 89"/>
          <p:cNvSpPr/>
          <p:nvPr/>
        </p:nvSpPr>
        <p:spPr>
          <a:xfrm>
            <a:off x="1162368" y="2184718"/>
            <a:ext cx="1481137" cy="681037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8183" name="Line 90"/>
          <p:cNvSpPr/>
          <p:nvPr/>
        </p:nvSpPr>
        <p:spPr>
          <a:xfrm flipV="1">
            <a:off x="1149668" y="4231005"/>
            <a:ext cx="1524000" cy="86360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8184" name="Line 91"/>
          <p:cNvSpPr/>
          <p:nvPr/>
        </p:nvSpPr>
        <p:spPr>
          <a:xfrm>
            <a:off x="1190943" y="3537268"/>
            <a:ext cx="1439862" cy="0"/>
          </a:xfrm>
          <a:prstGeom prst="line">
            <a:avLst/>
          </a:prstGeom>
          <a:ln w="9525" cap="flat" cmpd="sng">
            <a:solidFill>
              <a:schemeClr val="tx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48185" name="Text Box 47"/>
          <p:cNvSpPr txBox="1"/>
          <p:nvPr/>
        </p:nvSpPr>
        <p:spPr>
          <a:xfrm>
            <a:off x="1478280" y="3105468"/>
            <a:ext cx="912813" cy="822325"/>
          </a:xfrm>
          <a:prstGeom prst="rect">
            <a:avLst/>
          </a:prstGeom>
          <a:solidFill>
            <a:schemeClr val="bg1"/>
          </a:solidFill>
          <a:ln w="9525">
            <a:noFill/>
          </a:ln>
        </p:spPr>
        <p:txBody>
          <a:bodyPr>
            <a:spAutoFit/>
          </a:bodyPr>
          <a:p>
            <a:pPr eaLnBrk="0" hangingPunct="0"/>
            <a:r>
              <a:rPr lang="zh-CN" altLang="en-US" dirty="0">
                <a:solidFill>
                  <a:srgbClr val="FF0000"/>
                </a:solidFill>
                <a:latin typeface="Arial" panose="020B0604020202090204" pitchFamily="34" charset="0"/>
              </a:rPr>
              <a:t>哈希映射</a:t>
            </a:r>
            <a:endParaRPr lang="zh-CN" altLang="en-US" dirty="0">
              <a:solidFill>
                <a:srgbClr val="FF0000"/>
              </a:solidFill>
              <a:latin typeface="Arial" panose="020B0604020202090204" pitchFamily="34" charset="0"/>
            </a:endParaRPr>
          </a:p>
        </p:txBody>
      </p:sp>
      <p:sp>
        <p:nvSpPr>
          <p:cNvPr id="48186" name="Text Box 92"/>
          <p:cNvSpPr txBox="1"/>
          <p:nvPr/>
        </p:nvSpPr>
        <p:spPr>
          <a:xfrm>
            <a:off x="4137660" y="1911985"/>
            <a:ext cx="4804410" cy="3646170"/>
          </a:xfrm>
          <a:prstGeom prst="rect">
            <a:avLst/>
          </a:prstGeom>
          <a:noFill/>
          <a:ln w="28575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ct val="75000"/>
              </a:spcBef>
            </a:pP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当</a:t>
            </a:r>
            <a:r>
              <a:rPr lang="en-US" altLang="zh-CN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KEY</a:t>
            </a: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为连续的整数时，就能很好地利用哈希索引？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ct val="75000"/>
              </a:spcBef>
            </a:pP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为什么？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ct val="75000"/>
              </a:spcBef>
            </a:pP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哈希索引有什么短板？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ct val="75000"/>
              </a:spcBef>
            </a:pP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哪种数据适合哈希索引？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125000"/>
              </a:lnSpc>
              <a:spcBef>
                <a:spcPct val="75000"/>
              </a:spcBef>
            </a:pPr>
            <a:r>
              <a:rPr lang="zh-CN" altLang="en-US" sz="2200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多级哈希索引在哪些地方有应用？</a:t>
            </a:r>
            <a:endParaRPr lang="zh-CN" altLang="en-US" sz="2200" b="1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Rectangle 2"/>
          <p:cNvSpPr>
            <a:spLocks noGrp="1"/>
          </p:cNvSpPr>
          <p:nvPr>
            <p:ph type="title"/>
          </p:nvPr>
        </p:nvSpPr>
        <p:spPr>
          <a:xfrm>
            <a:off x="1511300" y="125730"/>
            <a:ext cx="7251700" cy="1143000"/>
          </a:xfrm>
        </p:spPr>
        <p:txBody>
          <a:bodyPr vert="horz" wrap="square" lIns="91440" tIns="45720" rIns="91440" bIns="45720" anchor="ctr"/>
          <a:p>
            <a:pPr eaLnBrk="1" hangingPunct="1"/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基于应用特性合理组织数据的存储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186" name="Text Box 92"/>
          <p:cNvSpPr txBox="1"/>
          <p:nvPr/>
        </p:nvSpPr>
        <p:spPr>
          <a:xfrm>
            <a:off x="1043940" y="2348865"/>
            <a:ext cx="7338060" cy="2891790"/>
          </a:xfrm>
          <a:prstGeom prst="rect">
            <a:avLst/>
          </a:prstGeom>
          <a:noFill/>
          <a:ln w="28575" cap="flat" cmpd="sng">
            <a:solidFill>
              <a:srgbClr val="969696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square">
            <a:spAutoFit/>
          </a:bodyPr>
          <a:p>
            <a:pPr>
              <a:lnSpc>
                <a:spcPct val="125000"/>
              </a:lnSpc>
              <a:spcBef>
                <a:spcPct val="75000"/>
              </a:spcBef>
            </a:pPr>
            <a:r>
              <a:rPr lang="zh-CN" altLang="en-US" sz="2800" dirty="0">
                <a:latin typeface="微软雅黑" panose="020B0503020204020204" charset="-122"/>
                <a:ea typeface="微软雅黑" panose="020B0503020204020204" charset="-122"/>
              </a:rPr>
              <a:t>应用特性分析：</a:t>
            </a:r>
            <a:endParaRPr lang="zh-CN" altLang="en-US" sz="280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00000"/>
              </a:lnSpc>
              <a:spcBef>
                <a:spcPct val="75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0" dirty="0">
                <a:latin typeface="微软雅黑" panose="020B0503020204020204" charset="-122"/>
                <a:ea typeface="微软雅黑" panose="020B0503020204020204" charset="-122"/>
              </a:rPr>
              <a:t>学生是教务系统最大的用户群体；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00000"/>
              </a:lnSpc>
              <a:spcBef>
                <a:spcPct val="75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0" dirty="0">
                <a:latin typeface="微软雅黑" panose="020B0503020204020204" charset="-122"/>
                <a:ea typeface="微软雅黑" panose="020B0503020204020204" charset="-122"/>
              </a:rPr>
              <a:t>学生最频繁的访问是对选课记录的访问；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342900" indent="-342900">
              <a:lnSpc>
                <a:spcPct val="100000"/>
              </a:lnSpc>
              <a:spcBef>
                <a:spcPct val="75000"/>
              </a:spcBef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0" dirty="0">
                <a:latin typeface="微软雅黑" panose="020B0503020204020204" charset="-122"/>
                <a:ea typeface="微软雅黑" panose="020B0503020204020204" charset="-122"/>
              </a:rPr>
              <a:t>每个学生只能看自己的选课记录；</a:t>
            </a:r>
            <a:endParaRPr lang="zh-CN" altLang="en-US" sz="2800" b="0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矩形 3"/>
          <p:cNvSpPr/>
          <p:nvPr/>
        </p:nvSpPr>
        <p:spPr>
          <a:xfrm>
            <a:off x="755650" y="188595"/>
            <a:ext cx="827214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从统一的视角来看微服务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与云计算</a:t>
            </a:r>
            <a:endParaRPr lang="zh-CN" altLang="en-US" sz="4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4780" y="1124585"/>
            <a:ext cx="9148445" cy="53848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sz="28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无论是一台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计算机</a:t>
            </a:r>
            <a:r>
              <a:rPr lang="zh-CN" altLang="en-US" sz="2800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，还是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集群</a:t>
            </a:r>
            <a:r>
              <a:rPr lang="zh-CN" altLang="en-US" sz="2800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，还是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云平台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，在使用上始终保持不变，都是将其当作一台计算机来使用。</a:t>
            </a:r>
            <a:r>
              <a:rPr lang="zh-CN" altLang="en-US" sz="2800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使用工作不外乎：</a:t>
            </a:r>
            <a:endParaRPr lang="zh-CN" altLang="en-US" sz="2800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安装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应用程序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，启动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应用程序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，关闭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应用程序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endParaRPr lang="zh-CN" altLang="en-US" sz="28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看</a:t>
            </a:r>
            <a:r>
              <a:rPr lang="zh-CN" altLang="en-US" sz="2800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本机</a:t>
            </a:r>
            <a:r>
              <a:rPr lang="zh-CN" altLang="en-US" sz="2800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安装了哪些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应用程序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endParaRPr lang="zh-CN" altLang="en-US" sz="28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看</a:t>
            </a:r>
            <a:r>
              <a:rPr lang="zh-CN" altLang="en-US" sz="2800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当前有哪些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应用程序</a:t>
            </a:r>
            <a:r>
              <a:rPr lang="zh-CN" altLang="en-US" sz="2800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在运行，</a:t>
            </a:r>
            <a:endParaRPr lang="zh-CN" altLang="en-US" sz="28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看</a:t>
            </a:r>
            <a:r>
              <a:rPr lang="zh-CN" altLang="en-US" sz="2800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每个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应用程序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的表现：</a:t>
            </a:r>
            <a:r>
              <a:rPr lang="zh-CN" altLang="en-US" sz="28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响应时间</a:t>
            </a:r>
            <a:r>
              <a:rPr lang="zh-CN" altLang="en-US" sz="2800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和</a:t>
            </a:r>
            <a:r>
              <a:rPr lang="zh-CN" altLang="en-US" sz="28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占用的资源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</a:t>
            </a:r>
            <a:endParaRPr lang="en-US" altLang="zh-CN" sz="28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矩形 3"/>
          <p:cNvSpPr/>
          <p:nvPr/>
        </p:nvSpPr>
        <p:spPr>
          <a:xfrm>
            <a:off x="755650" y="188595"/>
            <a:ext cx="827214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单机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OS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，集群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OS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，云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OS</a:t>
            </a:r>
            <a:endParaRPr lang="en-US" altLang="zh-CN" sz="4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23850" y="2348865"/>
            <a:ext cx="8704580" cy="24149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457200" indent="-4572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资源管理器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：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CPU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memeory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network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r>
              <a:rPr lang="en-US" altLang="zh-CN" sz="28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disk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endParaRPr lang="zh-CN" altLang="en-US" sz="28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应用程序管理器；</a:t>
            </a:r>
            <a:endParaRPr lang="zh-CN" altLang="en-US" sz="28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用户及其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权限管理器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</a:t>
            </a:r>
            <a:endParaRPr lang="en-US" altLang="zh-CN" sz="28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矩形 3"/>
          <p:cNvSpPr/>
          <p:nvPr/>
        </p:nvSpPr>
        <p:spPr>
          <a:xfrm>
            <a:off x="755650" y="188595"/>
            <a:ext cx="827214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主机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OS</a:t>
            </a:r>
            <a:endParaRPr lang="en-US" altLang="zh-CN" sz="4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259840" y="1318260"/>
            <a:ext cx="6316980" cy="5539740"/>
          </a:xfrm>
          <a:prstGeom prst="rect">
            <a:avLst/>
          </a:prstGeom>
        </p:spPr>
      </p:pic>
    </p:spTree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矩形 3"/>
          <p:cNvSpPr/>
          <p:nvPr/>
        </p:nvSpPr>
        <p:spPr>
          <a:xfrm>
            <a:off x="755650" y="188595"/>
            <a:ext cx="827214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主机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OS</a:t>
            </a:r>
            <a:endParaRPr lang="en-US" altLang="zh-CN" sz="4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7450" y="1196975"/>
            <a:ext cx="6732270" cy="5550535"/>
          </a:xfrm>
          <a:prstGeom prst="rect">
            <a:avLst/>
          </a:prstGeom>
        </p:spPr>
      </p:pic>
    </p:spTree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矩形 3"/>
          <p:cNvSpPr/>
          <p:nvPr/>
        </p:nvSpPr>
        <p:spPr>
          <a:xfrm>
            <a:off x="755650" y="188595"/>
            <a:ext cx="827214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OS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对应用程序的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管理</a:t>
            </a:r>
            <a:endParaRPr lang="zh-CN" altLang="en-US" sz="4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88265" y="1221740"/>
            <a:ext cx="8951595" cy="5636260"/>
          </a:xfrm>
          <a:prstGeom prst="rect">
            <a:avLst/>
          </a:prstGeom>
          <a:solidFill>
            <a:schemeClr val="bg1"/>
          </a:solidFill>
        </p:spPr>
        <p:txBody>
          <a:bodyPr wrap="square" rtlCol="0" anchor="t">
            <a:spAutoFit/>
          </a:bodyPr>
          <a:p>
            <a:pPr marL="457200" indent="-4572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已经安装了哪些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应用程序</a:t>
            </a:r>
            <a:r>
              <a:rPr lang="zh-CN" altLang="en-US" sz="2800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，已经安装了哪些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服务程序？</a:t>
            </a:r>
            <a:endParaRPr lang="zh-CN" altLang="en-US" sz="2800" b="1" dirty="0">
              <a:solidFill>
                <a:srgbClr val="0000FF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何时启动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服务程序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？</a:t>
            </a:r>
            <a:endParaRPr lang="zh-CN" altLang="en-US" sz="28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对于客户程序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怎么找到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服务程序，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即如何与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服务程序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建立联接？</a:t>
            </a:r>
            <a:endParaRPr lang="zh-CN" altLang="en-US" sz="28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457200" indent="-457200" algn="l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endParaRPr lang="zh-CN" altLang="en-US" sz="28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Windows 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将安装和启动信息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记录在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注册表</a:t>
            </a:r>
            <a:r>
              <a:rPr lang="zh-CN" altLang="en-US" sz="2800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中，访问注册表的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API函数</a:t>
            </a:r>
            <a:r>
              <a:rPr lang="zh-CN" altLang="en-US" sz="2800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r>
              <a:rPr lang="zh-CN" altLang="en-US" sz="2800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访问注册表的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工具regEdit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</a:t>
            </a:r>
            <a:r>
              <a:rPr lang="zh-CN" altLang="en-US" sz="2800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以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.reg文件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作为输入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参数；</a:t>
            </a:r>
            <a:endParaRPr lang="zh-CN" altLang="en-US" sz="28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矩形 3"/>
          <p:cNvSpPr/>
          <p:nvPr/>
        </p:nvSpPr>
        <p:spPr>
          <a:xfrm>
            <a:off x="843915" y="152400"/>
            <a:ext cx="8261350" cy="9080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noAutofit/>
          </a:bodyPr>
          <a:lstStyle/>
          <a:p>
            <a:pPr algn="ctr"/>
            <a:r>
              <a:rPr lang="zh-CN" sz="3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服务程序</a:t>
            </a:r>
            <a:r>
              <a:rPr lang="en-US" altLang="zh-CN" sz="3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= </a:t>
            </a:r>
            <a:r>
              <a:rPr lang="zh-CN" altLang="en-US" sz="3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请求侦听线程</a:t>
            </a:r>
            <a:r>
              <a:rPr lang="en-US" altLang="zh-CN" sz="3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+</a:t>
            </a:r>
            <a:r>
              <a:rPr lang="zh-CN" altLang="en-US" sz="38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工作线程</a:t>
            </a:r>
            <a:endParaRPr lang="zh-CN" altLang="en-US" sz="38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56895" y="1124585"/>
            <a:ext cx="7943850" cy="574865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sz="3200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请求侦听线程</a:t>
            </a:r>
            <a:r>
              <a:rPr lang="en-US" altLang="zh-CN" sz="3200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(main</a:t>
            </a:r>
            <a:r>
              <a:rPr lang="zh-CN" altLang="en-US" sz="3200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线程）：</a:t>
            </a:r>
            <a:endParaRPr lang="zh-CN" altLang="en-US" sz="3200" b="1" dirty="0">
              <a:solidFill>
                <a:srgbClr val="0001FF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for 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（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i=0; i++; i &lt; n)    {</a:t>
            </a:r>
            <a:endParaRPr lang="zh-CN" alt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   threadId = </a:t>
            </a:r>
            <a:r>
              <a:rPr lang="en-US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createThread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（</a:t>
            </a:r>
            <a:r>
              <a:rPr 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workThreadFun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）；</a:t>
            </a:r>
            <a:endParaRPr lang="zh-CN" altLang="en-US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altLang="zh-CN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  </a:t>
            </a:r>
            <a:r>
              <a:rPr lang="en-US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pushPool</a:t>
            </a:r>
            <a:r>
              <a:rPr lang="en-US" altLang="zh-CN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(threadId);</a:t>
            </a:r>
            <a:endParaRPr lang="zh-CN" altLang="en-US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altLang="zh-CN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}</a:t>
            </a:r>
            <a:endParaRPr lang="en-US" altLang="zh-CN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portId = </a:t>
            </a:r>
            <a:r>
              <a:rPr lang="en-US" b="1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applyPort</a:t>
            </a:r>
            <a:r>
              <a:rPr 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();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listen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 portId);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while（1）  {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request = </a:t>
            </a:r>
            <a:r>
              <a:rPr 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waitForConnectRequest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 );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workThireadId = </a:t>
            </a:r>
            <a:r>
              <a:rPr 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fetchFromPool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);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</a:t>
            </a:r>
            <a:r>
              <a:rPr 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PostMessage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</a:t>
            </a:r>
            <a:r>
              <a:rPr 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workThireadId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request);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}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1800"/>
              </a:spcAft>
            </a:pPr>
            <a:endParaRPr lang="en-US" alt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Symbol" panose="05050102010706020507" charset="0"/>
            </a:endParaRPr>
          </a:p>
        </p:txBody>
      </p:sp>
    </p:spTree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矩形 3"/>
          <p:cNvSpPr/>
          <p:nvPr/>
        </p:nvSpPr>
        <p:spPr>
          <a:xfrm>
            <a:off x="827405" y="260350"/>
            <a:ext cx="800163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服务程序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工作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线程</a:t>
            </a:r>
            <a:endParaRPr lang="zh-CN" altLang="en-US" sz="4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95605" y="1124585"/>
            <a:ext cx="8414385" cy="5851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void workThreadFun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（）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{</a:t>
            </a:r>
            <a:endParaRPr lang="zh-CN" alt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portId = </a:t>
            </a:r>
            <a:r>
              <a:rPr 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applyPort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();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while（1）  {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      msg = </a:t>
            </a:r>
            <a:r>
              <a:rPr 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waitForMesssge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 );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      if (msg.Type == CONNECT)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             </a:t>
            </a:r>
            <a:r>
              <a:rPr 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ConnectResponse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(msg, portId );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      else  if (msg.Type == CLOSE)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            </a:t>
            </a:r>
            <a:r>
              <a:rPr 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CloseConnect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();  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            </a:t>
            </a:r>
            <a:r>
              <a:rPr 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AddToPool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(selfId);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      else  if (msg.Type == REQUEST)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             </a:t>
            </a:r>
            <a:r>
              <a:rPr 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RequestResponse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(msg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</a:t>
            </a: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);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   }</a:t>
            </a:r>
            <a:endParaRPr 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}</a:t>
            </a:r>
            <a:endParaRPr lang="en-US" alt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Symbol" panose="05050102010706020507" charset="0"/>
            </a:endParaRPr>
          </a:p>
        </p:txBody>
      </p:sp>
    </p:spTree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矩形 3"/>
          <p:cNvSpPr/>
          <p:nvPr/>
        </p:nvSpPr>
        <p:spPr>
          <a:xfrm>
            <a:off x="1122045" y="260350"/>
            <a:ext cx="797750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应用程序的安装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发布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注册</a:t>
            </a:r>
            <a:endParaRPr lang="zh-CN" sz="4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7315" y="1340485"/>
            <a:ext cx="8925560" cy="52171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应用程序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分为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客户程序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和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服务程序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与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平台环境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衔接。</a:t>
            </a:r>
            <a:endParaRPr lang="zh-CN" alt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一台机器运行多个应用程序，很多动态链接库，应用程序都要用到，例如操作系统的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API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C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语言库函数，于是这些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动态链接库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可共享；</a:t>
            </a:r>
            <a:endParaRPr lang="zh-CN" alt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运行客户程序时，到哪里去找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所依赖的可执行文件？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例如，要设置环境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变量；</a:t>
            </a:r>
            <a:endParaRPr lang="zh-CN" altLang="en-US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对于服务程序，客户程序要能通过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逻辑名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来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访问服务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，例如</a:t>
            </a:r>
            <a:r>
              <a:rPr lang="en-US" altLang="zh-CN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ODBC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数据源。于是要建立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逻辑名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与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物理名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的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映射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。</a:t>
            </a:r>
            <a:endParaRPr lang="zh-CN" alt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矩形 3"/>
          <p:cNvSpPr/>
          <p:nvPr/>
        </p:nvSpPr>
        <p:spPr>
          <a:xfrm>
            <a:off x="1122045" y="260350"/>
            <a:ext cx="797750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应用程序的安装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发布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注册</a:t>
            </a:r>
            <a:endParaRPr lang="zh-CN" sz="4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9220" y="1802765"/>
            <a:ext cx="8925560" cy="424434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安装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发布</a:t>
            </a:r>
            <a:r>
              <a:rPr lang="en-US" alt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sz="28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注册到底要做哪些事情：</a:t>
            </a:r>
            <a:endParaRPr lang="zh-CN" sz="28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把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应用程序文件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拷贝到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操作系统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</a:t>
            </a:r>
            <a:r>
              <a:rPr lang="zh-CN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文件系统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中；</a:t>
            </a:r>
            <a:endParaRPr lang="zh-CN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把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应用程序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的安装信息</a:t>
            </a:r>
            <a:r>
              <a:rPr lang="zh-CN" b="1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记录到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配置文件</a:t>
            </a:r>
            <a:r>
              <a:rPr lang="en-US" altLang="zh-CN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/ 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注册表</a:t>
            </a:r>
            <a:r>
              <a:rPr lang="en-US" altLang="zh-CN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/ 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配置表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中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例如修改补充环境变量PATH的</a:t>
            </a:r>
            <a:r>
              <a:rPr lang="zh-CN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取值；</a:t>
            </a:r>
            <a:endParaRPr lang="zh-CN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矩形 3"/>
          <p:cNvSpPr/>
          <p:nvPr/>
        </p:nvSpPr>
        <p:spPr>
          <a:xfrm>
            <a:off x="827405" y="260350"/>
            <a:ext cx="827214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服务的发布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vs </a:t>
            </a:r>
            <a:r>
              <a:rPr 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应用程序的</a:t>
            </a:r>
            <a:r>
              <a:rPr 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安装</a:t>
            </a:r>
            <a:endParaRPr lang="zh-CN" sz="4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09220" y="1655445"/>
            <a:ext cx="8925560" cy="4793615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在云环境下运行服务：</a:t>
            </a:r>
            <a:endParaRPr lang="zh-CN" alt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对于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服务方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来说：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发布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（或者叫安装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程序）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Symbol" panose="05050102010706020507" charset="0"/>
              </a:rPr>
              <a:t></a:t>
            </a:r>
            <a:r>
              <a:rPr lang="en-US" altLang="zh-CN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Symbol" panose="05050102010706020507" charset="0"/>
              </a:rPr>
              <a:t> 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Symbol" panose="05050102010706020507" charset="0"/>
              </a:rPr>
              <a:t>运行时：</a:t>
            </a:r>
            <a:r>
              <a:rPr lang="en-US" altLang="zh-CN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Symbol" panose="05050102010706020507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启动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（运行程序）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暂停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关闭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迁移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endParaRPr lang="zh-CN" altLang="en-US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对于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客户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来说，最好基于逻辑名称来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标识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：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名称</a:t>
            </a:r>
            <a:r>
              <a:rPr lang="en-US" altLang="zh-CN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Symbol" panose="05050102010706020507" charset="0"/>
              </a:rPr>
              <a:t>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Symbol" panose="05050102010706020507" charset="0"/>
              </a:rPr>
              <a:t> 域名</a:t>
            </a:r>
            <a:r>
              <a:rPr lang="en-US" altLang="zh-CN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Symbol" panose="05050102010706020507" charset="0"/>
              </a:rPr>
              <a:t> 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Symbol" panose="05050102010706020507" charset="0"/>
              </a:rPr>
              <a:t></a:t>
            </a:r>
            <a:r>
              <a:rPr lang="en-US" altLang="zh-CN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Symbol" panose="05050102010706020507" charset="0"/>
              </a:rPr>
              <a:t> 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Symbol" panose="05050102010706020507" charset="0"/>
              </a:rPr>
              <a:t>IP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Symbol" panose="05050102010706020507" charset="0"/>
              </a:rPr>
              <a:t>和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Symbol" panose="05050102010706020507" charset="0"/>
              </a:rPr>
              <a:t>端口号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Symbol" panose="05050102010706020507" charset="0"/>
              </a:rPr>
              <a:t>；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Symbol" panose="05050102010706020507" charset="0"/>
              </a:rPr>
              <a:t>访问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Symbol" panose="05050102010706020507" charset="0"/>
              </a:rPr>
              <a:t>服务；</a:t>
            </a:r>
            <a:endParaRPr lang="zh-CN" altLang="en-US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Symbol" panose="05050102010706020507" charset="0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服务的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逻辑概念：标识，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实体，功能，所需资源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，服务的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物理概念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endParaRPr lang="zh-CN" altLang="en-US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矩形 3"/>
          <p:cNvSpPr/>
          <p:nvPr/>
        </p:nvSpPr>
        <p:spPr>
          <a:xfrm>
            <a:off x="1122045" y="260350"/>
            <a:ext cx="797750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服务发布</a:t>
            </a:r>
            <a:r>
              <a:rPr lang="en-US" alt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vs </a:t>
            </a:r>
            <a:r>
              <a:rPr lang="zh-CN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应用程序的安装</a:t>
            </a:r>
            <a:endParaRPr lang="zh-CN" altLang="en-US" sz="4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5560" y="1124585"/>
            <a:ext cx="8925560" cy="52927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在云环境下运行服务：</a:t>
            </a:r>
            <a:endParaRPr lang="zh-CN" alt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是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共享设施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，因此有个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管理者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；发布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（或者叫安装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程序）：也叫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注册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Symbol" panose="05050102010706020507" charset="0"/>
              </a:rPr>
              <a:t>接下来就是</a:t>
            </a:r>
            <a:r>
              <a:rPr lang="en-US" altLang="zh-CN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Symbol" panose="05050102010706020507" charset="0"/>
              </a:rPr>
              <a:t> 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启动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（运行程序）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endParaRPr lang="zh-CN" alt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注册服务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的就是其实就是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往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注册服务器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添加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记录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。注册服务本身要用一个程序来完成。这个程序是</a:t>
            </a:r>
            <a:r>
              <a:rPr lang="zh-CN" altLang="en-US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通用程序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，然后加一个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描述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的文件。如何生成这个</a:t>
            </a:r>
            <a:r>
              <a:rPr lang="zh-CN" altLang="en-US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文件；</a:t>
            </a:r>
            <a:endParaRPr lang="zh-CN" altLang="en-US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访问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注册服务器（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broker</a:t>
            </a:r>
            <a:r>
              <a:rPr lang="zh-CN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）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：</a:t>
            </a:r>
            <a:r>
              <a:rPr lang="en-US" altLang="zh-CN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IP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r>
              <a:rPr lang="en-US" altLang="zh-CN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port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r>
              <a:rPr lang="en-US" altLang="zh-CN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user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</a:t>
            </a:r>
            <a:r>
              <a:rPr lang="en-US" altLang="zh-CN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password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endParaRPr lang="zh-CN" altLang="en-US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342900" indent="-3429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谁负责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启动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服务？由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哪一台机器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来</a:t>
            </a:r>
            <a:r>
              <a:rPr lang="zh-CN" altLang="en-US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运行</a:t>
            </a:r>
            <a:r>
              <a:rPr lang="zh-CN" altLang="en-US" b="1" dirty="0">
                <a:solidFill>
                  <a:srgbClr val="0001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服务程序</a:t>
            </a:r>
            <a:r>
              <a:rPr lang="zh-CN" altLang="en-US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？</a:t>
            </a:r>
            <a:endParaRPr lang="zh-CN" altLang="en-US" dirty="0"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1141095" y="0"/>
            <a:ext cx="8002905" cy="1118235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增大吞吐量</a:t>
            </a:r>
            <a:r>
              <a:rPr lang="en-US" altLang="zh-CN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en-US" altLang="zh-CN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vs </a:t>
            </a:r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负载均衡</a:t>
            </a:r>
            <a:endParaRPr lang="zh-CN" altLang="en-US" sz="32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9705" y="1557020"/>
            <a:ext cx="2090420" cy="728345"/>
          </a:xfrm>
          <a:prstGeom prst="rect">
            <a:avLst/>
          </a:prstGeom>
          <a:noFill/>
          <a:ln w="53975" cmpd="dbl">
            <a:solidFill>
              <a:srgbClr val="FF0000"/>
            </a:solidFill>
            <a:prstDash val="solid"/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服务实例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661535" y="5950585"/>
            <a:ext cx="2090420" cy="728345"/>
          </a:xfrm>
          <a:prstGeom prst="rect">
            <a:avLst/>
          </a:prstGeom>
          <a:noFill/>
          <a:ln w="53975" cmpd="dbl">
            <a:solidFill>
              <a:srgbClr val="FF0000"/>
            </a:solidFill>
            <a:prstDash val="solid"/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副本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947535" y="5979160"/>
            <a:ext cx="2090420" cy="728345"/>
          </a:xfrm>
          <a:prstGeom prst="rect">
            <a:avLst/>
          </a:prstGeom>
          <a:solidFill>
            <a:schemeClr val="bg1"/>
          </a:solidFill>
          <a:ln w="53975" cmpd="dbl">
            <a:solidFill>
              <a:srgbClr val="FF0000"/>
            </a:solidFill>
            <a:prstDash val="solid"/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副本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5291455" y="4428490"/>
            <a:ext cx="3131820" cy="1557020"/>
            <a:chOff x="5952" y="7027"/>
            <a:chExt cx="4932" cy="2452"/>
          </a:xfrm>
        </p:grpSpPr>
        <p:sp>
          <p:nvSpPr>
            <p:cNvPr id="2" name="文本框 1"/>
            <p:cNvSpPr txBox="1"/>
            <p:nvPr/>
          </p:nvSpPr>
          <p:spPr>
            <a:xfrm>
              <a:off x="6136" y="7027"/>
              <a:ext cx="4623" cy="1147"/>
            </a:xfrm>
            <a:prstGeom prst="rect">
              <a:avLst/>
            </a:prstGeom>
            <a:noFill/>
            <a:ln w="53975" cmpd="dbl">
              <a:solidFill>
                <a:srgbClr val="0001FF"/>
              </a:solidFill>
              <a:prstDash val="solid"/>
            </a:ln>
          </p:spPr>
          <p:txBody>
            <a:bodyPr wrap="square" tIns="179705" bIns="179705" rtlCol="0">
              <a:spAutoFit/>
            </a:bodyPr>
            <a:p>
              <a:pPr algn="ctr"/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</a:rPr>
                <a:t>负载均衡</a:t>
              </a:r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</a:rPr>
                <a:t>器</a:t>
              </a:r>
              <a:endPara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 flipV="1">
              <a:off x="5952" y="8906"/>
              <a:ext cx="4932" cy="0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直接连接符 6"/>
            <p:cNvCxnSpPr/>
            <p:nvPr/>
          </p:nvCxnSpPr>
          <p:spPr>
            <a:xfrm>
              <a:off x="5952" y="8855"/>
              <a:ext cx="0" cy="567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直接连接符 8"/>
            <p:cNvCxnSpPr/>
            <p:nvPr/>
          </p:nvCxnSpPr>
          <p:spPr>
            <a:xfrm>
              <a:off x="10829" y="8855"/>
              <a:ext cx="0" cy="624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直接连接符 9"/>
            <p:cNvCxnSpPr/>
            <p:nvPr/>
          </p:nvCxnSpPr>
          <p:spPr>
            <a:xfrm>
              <a:off x="8447" y="8174"/>
              <a:ext cx="0" cy="732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" name="文本框 12"/>
          <p:cNvSpPr txBox="1"/>
          <p:nvPr/>
        </p:nvSpPr>
        <p:spPr>
          <a:xfrm>
            <a:off x="5939790" y="2517775"/>
            <a:ext cx="2090420" cy="728345"/>
          </a:xfrm>
          <a:prstGeom prst="rect">
            <a:avLst/>
          </a:prstGeom>
          <a:noFill/>
          <a:ln w="53975" cmpd="dbl">
            <a:solidFill>
              <a:srgbClr val="FF0000"/>
            </a:solidFill>
            <a:prstDash val="solid"/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副本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 flipH="1">
            <a:off x="6985000" y="2093595"/>
            <a:ext cx="0" cy="396000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文本框 14"/>
          <p:cNvSpPr txBox="1"/>
          <p:nvPr/>
        </p:nvSpPr>
        <p:spPr>
          <a:xfrm>
            <a:off x="5570220" y="1337310"/>
            <a:ext cx="2818130" cy="728345"/>
          </a:xfrm>
          <a:prstGeom prst="rect">
            <a:avLst/>
          </a:prstGeom>
          <a:noFill/>
          <a:ln w="53975" cmpd="dbl">
            <a:solidFill>
              <a:srgbClr val="0001FF"/>
            </a:solidFill>
            <a:prstDash val="solid"/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负载均衡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器</a:t>
            </a: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7" name="右箭头 16"/>
          <p:cNvSpPr/>
          <p:nvPr/>
        </p:nvSpPr>
        <p:spPr>
          <a:xfrm>
            <a:off x="3218180" y="1484630"/>
            <a:ext cx="850900" cy="935990"/>
          </a:xfrm>
          <a:prstGeom prst="right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0" y="2576830"/>
            <a:ext cx="5001260" cy="3218180"/>
          </a:xfrm>
          <a:prstGeom prst="rect">
            <a:avLst/>
          </a:prstGeom>
          <a:noFill/>
          <a:ln w="38100" cmpd="dbl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 wrap="square" tIns="179705" bIns="179705" rtlCol="0">
            <a:noAutofit/>
          </a:bodyPr>
          <a:p>
            <a:pPr algn="l">
              <a:lnSpc>
                <a:spcPct val="200000"/>
              </a:lnSpc>
            </a:pPr>
            <a:r>
              <a:rPr lang="zh-CN" altLang="en-US" b="1">
                <a:latin typeface="微软雅黑" panose="020B0503020204020204" charset="-122"/>
                <a:ea typeface="微软雅黑" panose="020B0503020204020204" charset="-122"/>
                <a:sym typeface="+mn-ea"/>
              </a:rPr>
              <a:t>服务响应时间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由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负载均衡器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监测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？</a:t>
            </a: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l">
              <a:lnSpc>
                <a:spcPct val="200000"/>
              </a:lnSpc>
            </a:pP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</a:rPr>
              <a:t>谁</a:t>
            </a: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来决定是否要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增加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减少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</a:rPr>
              <a:t>副本数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由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负载均衡器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向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调度控制中心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申请？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 b="1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给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服务实例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追加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资源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？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200000"/>
              </a:lnSpc>
            </a:pP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0" name="下箭头 19"/>
          <p:cNvSpPr/>
          <p:nvPr/>
        </p:nvSpPr>
        <p:spPr>
          <a:xfrm>
            <a:off x="6228080" y="3411855"/>
            <a:ext cx="1368425" cy="864235"/>
          </a:xfrm>
          <a:prstGeom prst="downArrow">
            <a:avLst/>
          </a:prstGeom>
          <a:solidFill>
            <a:schemeClr val="accent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</p:spTree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1141095" y="0"/>
            <a:ext cx="8002905" cy="1118235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扩展伸缩</a:t>
            </a:r>
            <a:r>
              <a:rPr lang="en-US" altLang="zh-CN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：一分为二</a:t>
            </a:r>
            <a:r>
              <a:rPr lang="en-US" altLang="zh-CN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合二为一</a:t>
            </a:r>
            <a:endParaRPr lang="zh-CN" altLang="en-US" sz="320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27855" y="3294380"/>
            <a:ext cx="2091055" cy="1466850"/>
          </a:xfrm>
          <a:prstGeom prst="rect">
            <a:avLst/>
          </a:prstGeom>
          <a:noFill/>
          <a:ln w="53975" cmpd="dbl">
            <a:solidFill>
              <a:srgbClr val="FF0000"/>
            </a:solidFill>
            <a:prstDash val="solid"/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南校区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DB Server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实例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70420" y="3322955"/>
            <a:ext cx="1819910" cy="1466850"/>
          </a:xfrm>
          <a:prstGeom prst="rect">
            <a:avLst/>
          </a:prstGeom>
          <a:solidFill>
            <a:schemeClr val="bg1"/>
          </a:solidFill>
          <a:ln w="53975" cmpd="dbl">
            <a:solidFill>
              <a:srgbClr val="FF0000"/>
            </a:solidFill>
            <a:prstDash val="solid"/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北校区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DB Server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实例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823460" y="1772285"/>
            <a:ext cx="3601720" cy="1557020"/>
            <a:chOff x="5582" y="7027"/>
            <a:chExt cx="5672" cy="2452"/>
          </a:xfrm>
        </p:grpSpPr>
        <p:sp>
          <p:nvSpPr>
            <p:cNvPr id="2" name="文本框 1"/>
            <p:cNvSpPr txBox="1"/>
            <p:nvPr/>
          </p:nvSpPr>
          <p:spPr>
            <a:xfrm>
              <a:off x="5582" y="7027"/>
              <a:ext cx="5672" cy="1147"/>
            </a:xfrm>
            <a:prstGeom prst="rect">
              <a:avLst/>
            </a:prstGeom>
            <a:noFill/>
            <a:ln w="53975" cmpd="dbl">
              <a:solidFill>
                <a:srgbClr val="0001FF"/>
              </a:solidFill>
              <a:prstDash val="solid"/>
            </a:ln>
          </p:spPr>
          <p:txBody>
            <a:bodyPr wrap="square" tIns="179705" bIns="179705" rtlCol="0">
              <a:spAutoFit/>
            </a:bodyPr>
            <a:p>
              <a:pPr algn="ctr"/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</a:rPr>
                <a:t>扩展与伸缩</a:t>
              </a:r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</a:rPr>
                <a:t>管理器</a:t>
              </a:r>
              <a:endPara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 flipV="1">
              <a:off x="5952" y="8906"/>
              <a:ext cx="4932" cy="0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直接连接符 6"/>
            <p:cNvCxnSpPr/>
            <p:nvPr/>
          </p:nvCxnSpPr>
          <p:spPr>
            <a:xfrm>
              <a:off x="5952" y="8855"/>
              <a:ext cx="0" cy="567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直接连接符 8"/>
            <p:cNvCxnSpPr/>
            <p:nvPr/>
          </p:nvCxnSpPr>
          <p:spPr>
            <a:xfrm>
              <a:off x="10829" y="8855"/>
              <a:ext cx="0" cy="624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直接连接符 9"/>
            <p:cNvCxnSpPr/>
            <p:nvPr/>
          </p:nvCxnSpPr>
          <p:spPr>
            <a:xfrm>
              <a:off x="8447" y="8174"/>
              <a:ext cx="0" cy="732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下箭头 19"/>
          <p:cNvSpPr/>
          <p:nvPr/>
        </p:nvSpPr>
        <p:spPr>
          <a:xfrm rot="16200000">
            <a:off x="2987040" y="3422650"/>
            <a:ext cx="1368425" cy="864235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71120" y="1772285"/>
            <a:ext cx="2965450" cy="4104005"/>
            <a:chOff x="783" y="1687"/>
            <a:chExt cx="4670" cy="6463"/>
          </a:xfrm>
        </p:grpSpPr>
        <p:sp>
          <p:nvSpPr>
            <p:cNvPr id="13" name="文本框 12"/>
            <p:cNvSpPr txBox="1"/>
            <p:nvPr/>
          </p:nvSpPr>
          <p:spPr>
            <a:xfrm>
              <a:off x="1303" y="3812"/>
              <a:ext cx="3575" cy="2310"/>
            </a:xfrm>
            <a:prstGeom prst="rect">
              <a:avLst/>
            </a:prstGeom>
            <a:noFill/>
            <a:ln w="53975" cmpd="dbl">
              <a:solidFill>
                <a:srgbClr val="FF0000"/>
              </a:solidFill>
              <a:prstDash val="solid"/>
            </a:ln>
          </p:spPr>
          <p:txBody>
            <a:bodyPr wrap="square" tIns="179705" bIns="179705" rtlCol="0">
              <a:spAutoFit/>
            </a:bodyPr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湖南大学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DB </a:t>
              </a:r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Server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实例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4" name="直接连接符 13"/>
            <p:cNvCxnSpPr/>
            <p:nvPr/>
          </p:nvCxnSpPr>
          <p:spPr>
            <a:xfrm flipH="1">
              <a:off x="3164" y="2798"/>
              <a:ext cx="0" cy="1204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" name="文本框 14"/>
            <p:cNvSpPr txBox="1"/>
            <p:nvPr/>
          </p:nvSpPr>
          <p:spPr>
            <a:xfrm>
              <a:off x="783" y="1687"/>
              <a:ext cx="4670" cy="1147"/>
            </a:xfrm>
            <a:prstGeom prst="rect">
              <a:avLst/>
            </a:prstGeom>
            <a:noFill/>
            <a:ln w="53975" cmpd="dbl">
              <a:solidFill>
                <a:srgbClr val="0001FF"/>
              </a:solidFill>
              <a:prstDash val="solid"/>
            </a:ln>
          </p:spPr>
          <p:txBody>
            <a:bodyPr wrap="square" tIns="179705" bIns="179705" rtlCol="0">
              <a:spAutoFit/>
            </a:bodyPr>
            <a:p>
              <a:pPr algn="ctr"/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</a:rPr>
                <a:t>扩展与伸缩</a:t>
              </a:r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</a:rPr>
                <a:t>管理器</a:t>
              </a:r>
              <a:endPara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157" y="6421"/>
              <a:ext cx="3720" cy="1729"/>
            </a:xfrm>
            <a:prstGeom prst="rect">
              <a:avLst/>
            </a:prstGeom>
            <a:noFill/>
            <a:ln w="53975" cmpd="dbl">
              <a:solidFill>
                <a:srgbClr val="FF0000"/>
              </a:solidFill>
              <a:prstDash val="solid"/>
            </a:ln>
          </p:spPr>
          <p:txBody>
            <a:bodyPr wrap="square" tIns="179705" bIns="179705" rtlCol="0">
              <a:spAutoFit/>
            </a:bodyPr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湖南大学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数据库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5723890" y="4940935"/>
            <a:ext cx="2508250" cy="1097915"/>
          </a:xfrm>
          <a:prstGeom prst="rect">
            <a:avLst/>
          </a:prstGeom>
          <a:noFill/>
          <a:ln w="53975" cmpd="dbl">
            <a:solidFill>
              <a:srgbClr val="FF0000"/>
            </a:solidFill>
            <a:prstDash val="solid"/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湖南大学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数据库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1141095" y="0"/>
            <a:ext cx="8002905" cy="1118235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扩展伸缩</a:t>
            </a:r>
            <a:r>
              <a:rPr lang="en-US" altLang="zh-CN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 </a:t>
            </a:r>
            <a:r>
              <a:rPr lang="zh-CN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：一分为二</a:t>
            </a:r>
            <a:r>
              <a:rPr lang="en-US" altLang="zh-CN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/</a:t>
            </a:r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合二为一</a:t>
            </a:r>
            <a:endParaRPr lang="zh-CN" sz="320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427220" y="3294380"/>
            <a:ext cx="2091055" cy="1466850"/>
          </a:xfrm>
          <a:prstGeom prst="rect">
            <a:avLst/>
          </a:prstGeom>
          <a:noFill/>
          <a:ln w="53975" cmpd="dbl">
            <a:solidFill>
              <a:srgbClr val="FF0000"/>
            </a:solidFill>
            <a:prstDash val="solid"/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南校区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DB Server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实例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7169785" y="3322955"/>
            <a:ext cx="1819910" cy="1466850"/>
          </a:xfrm>
          <a:prstGeom prst="rect">
            <a:avLst/>
          </a:prstGeom>
          <a:solidFill>
            <a:schemeClr val="bg1"/>
          </a:solidFill>
          <a:ln w="53975" cmpd="dbl">
            <a:solidFill>
              <a:srgbClr val="FF0000"/>
            </a:solidFill>
            <a:prstDash val="solid"/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北校区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DB Server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实例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4822825" y="1772285"/>
            <a:ext cx="3601720" cy="1557020"/>
            <a:chOff x="5582" y="7027"/>
            <a:chExt cx="5672" cy="2452"/>
          </a:xfrm>
        </p:grpSpPr>
        <p:sp>
          <p:nvSpPr>
            <p:cNvPr id="2" name="文本框 1"/>
            <p:cNvSpPr txBox="1"/>
            <p:nvPr/>
          </p:nvSpPr>
          <p:spPr>
            <a:xfrm>
              <a:off x="5582" y="7027"/>
              <a:ext cx="5672" cy="1147"/>
            </a:xfrm>
            <a:prstGeom prst="rect">
              <a:avLst/>
            </a:prstGeom>
            <a:noFill/>
            <a:ln w="53975" cmpd="dbl">
              <a:solidFill>
                <a:srgbClr val="0001FF"/>
              </a:solidFill>
              <a:prstDash val="solid"/>
            </a:ln>
          </p:spPr>
          <p:txBody>
            <a:bodyPr wrap="square" tIns="179705" bIns="179705" rtlCol="0">
              <a:spAutoFit/>
            </a:bodyPr>
            <a:p>
              <a:pPr algn="ctr"/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</a:rPr>
                <a:t>扩展与伸缩</a:t>
              </a:r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</a:rPr>
                <a:t>管理器</a:t>
              </a:r>
              <a:endPara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 flipV="1">
              <a:off x="5952" y="8906"/>
              <a:ext cx="4932" cy="0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直接连接符 6"/>
            <p:cNvCxnSpPr/>
            <p:nvPr/>
          </p:nvCxnSpPr>
          <p:spPr>
            <a:xfrm>
              <a:off x="5952" y="8855"/>
              <a:ext cx="0" cy="567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直接连接符 8"/>
            <p:cNvCxnSpPr/>
            <p:nvPr/>
          </p:nvCxnSpPr>
          <p:spPr>
            <a:xfrm>
              <a:off x="10829" y="8855"/>
              <a:ext cx="0" cy="624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直接连接符 9"/>
            <p:cNvCxnSpPr/>
            <p:nvPr/>
          </p:nvCxnSpPr>
          <p:spPr>
            <a:xfrm>
              <a:off x="8447" y="8174"/>
              <a:ext cx="0" cy="732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" name="下箭头 19"/>
          <p:cNvSpPr/>
          <p:nvPr/>
        </p:nvSpPr>
        <p:spPr>
          <a:xfrm rot="16200000">
            <a:off x="2986405" y="3644900"/>
            <a:ext cx="1368425" cy="864235"/>
          </a:xfrm>
          <a:prstGeom prst="down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  <p:txBody>
          <a:bodyPr vert="horz" wrap="square" lIns="91440" tIns="45720" rIns="91440" bIns="45720" numCol="1" anchor="t" anchorCtr="0" compatLnSpc="1"/>
          <a:p>
            <a:pPr marL="0" marR="0" indent="0" algn="l" defTabSz="914400" rtl="0" eaLnBrk="1" fontAlgn="base" latinLnBrk="0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zh-CN" altLang="en-US" sz="2400" b="1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itchFamily="2" charset="-122"/>
            </a:endParaRPr>
          </a:p>
        </p:txBody>
      </p:sp>
      <p:grpSp>
        <p:nvGrpSpPr>
          <p:cNvPr id="16" name="组合 15"/>
          <p:cNvGrpSpPr/>
          <p:nvPr/>
        </p:nvGrpSpPr>
        <p:grpSpPr>
          <a:xfrm>
            <a:off x="52705" y="1764030"/>
            <a:ext cx="2965450" cy="4058920"/>
            <a:chOff x="755" y="1674"/>
            <a:chExt cx="4670" cy="6392"/>
          </a:xfrm>
        </p:grpSpPr>
        <p:sp>
          <p:nvSpPr>
            <p:cNvPr id="13" name="文本框 12"/>
            <p:cNvSpPr txBox="1"/>
            <p:nvPr/>
          </p:nvSpPr>
          <p:spPr>
            <a:xfrm>
              <a:off x="1303" y="3812"/>
              <a:ext cx="3575" cy="2310"/>
            </a:xfrm>
            <a:prstGeom prst="rect">
              <a:avLst/>
            </a:prstGeom>
            <a:noFill/>
            <a:ln w="53975" cmpd="dbl">
              <a:solidFill>
                <a:srgbClr val="FF0000"/>
              </a:solidFill>
              <a:prstDash val="solid"/>
            </a:ln>
          </p:spPr>
          <p:txBody>
            <a:bodyPr wrap="square" tIns="179705" bIns="179705" rtlCol="0">
              <a:spAutoFit/>
            </a:bodyPr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湖南大学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DB </a:t>
              </a:r>
              <a:r>
                <a:rPr lang="en-US" altLang="zh-CN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Server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实例</a:t>
              </a:r>
              <a:endPara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14" name="直接连接符 13"/>
            <p:cNvCxnSpPr>
              <a:stCxn id="15" idx="2"/>
            </p:cNvCxnSpPr>
            <p:nvPr/>
          </p:nvCxnSpPr>
          <p:spPr>
            <a:xfrm flipH="1">
              <a:off x="3004" y="2821"/>
              <a:ext cx="0" cy="1091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5" name="文本框 14"/>
            <p:cNvSpPr txBox="1"/>
            <p:nvPr/>
          </p:nvSpPr>
          <p:spPr>
            <a:xfrm>
              <a:off x="755" y="1674"/>
              <a:ext cx="4670" cy="1147"/>
            </a:xfrm>
            <a:prstGeom prst="rect">
              <a:avLst/>
            </a:prstGeom>
            <a:noFill/>
            <a:ln w="53975" cmpd="dbl">
              <a:solidFill>
                <a:srgbClr val="0001FF"/>
              </a:solidFill>
              <a:prstDash val="solid"/>
            </a:ln>
          </p:spPr>
          <p:txBody>
            <a:bodyPr wrap="square" tIns="179705" bIns="179705" rtlCol="0">
              <a:spAutoFit/>
            </a:bodyPr>
            <a:p>
              <a:pPr algn="ctr"/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</a:rPr>
                <a:t>扩展与伸缩</a:t>
              </a:r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</a:rPr>
                <a:t>管理器</a:t>
              </a:r>
              <a:endPara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061" y="6337"/>
              <a:ext cx="4006" cy="1729"/>
            </a:xfrm>
            <a:prstGeom prst="rect">
              <a:avLst/>
            </a:prstGeom>
            <a:noFill/>
            <a:ln w="53975" cmpd="dbl">
              <a:solidFill>
                <a:srgbClr val="FF0000"/>
              </a:solidFill>
              <a:prstDash val="solid"/>
            </a:ln>
          </p:spPr>
          <p:txBody>
            <a:bodyPr wrap="square" tIns="179705" bIns="179705" rtlCol="0">
              <a:spAutoFit/>
            </a:bodyPr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湖南大学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  <a:p>
              <a:pPr algn="ctr"/>
              <a:r>
                <a:rPr lang="zh-CN" altLang="en-US" b="1">
                  <a:solidFill>
                    <a:srgbClr val="FF0000"/>
                  </a:solidFill>
                  <a:latin typeface="微软雅黑" panose="020B0503020204020204" charset="-122"/>
                  <a:ea typeface="微软雅黑" panose="020B0503020204020204" charset="-122"/>
                </a:rPr>
                <a:t>数据库</a:t>
              </a:r>
              <a:endPara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11" name="文本框 10"/>
          <p:cNvSpPr txBox="1"/>
          <p:nvPr/>
        </p:nvSpPr>
        <p:spPr>
          <a:xfrm>
            <a:off x="4427855" y="4940935"/>
            <a:ext cx="2089785" cy="1097915"/>
          </a:xfrm>
          <a:prstGeom prst="rect">
            <a:avLst/>
          </a:prstGeom>
          <a:noFill/>
          <a:ln w="53975" cmpd="dbl">
            <a:solidFill>
              <a:srgbClr val="FF0000"/>
            </a:solidFill>
            <a:prstDash val="solid"/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南校区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数据库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127240" y="4914900"/>
            <a:ext cx="1844040" cy="1097915"/>
          </a:xfrm>
          <a:prstGeom prst="rect">
            <a:avLst/>
          </a:prstGeom>
          <a:noFill/>
          <a:ln w="53975" cmpd="dbl">
            <a:solidFill>
              <a:srgbClr val="FF0000"/>
            </a:solidFill>
            <a:prstDash val="solid"/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北校区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数据库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1141095" y="0"/>
            <a:ext cx="8002905" cy="1118235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故障恢复</a:t>
            </a:r>
            <a:endParaRPr lang="zh-CN" sz="320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179705" y="4004945"/>
            <a:ext cx="8589010" cy="2574925"/>
          </a:xfrm>
          <a:prstGeom prst="rect">
            <a:avLst/>
          </a:prstGeom>
          <a:noFill/>
          <a:ln w="38100" cmpd="dbl">
            <a:solidFill>
              <a:schemeClr val="accent1">
                <a:lumMod val="60000"/>
                <a:lumOff val="40000"/>
              </a:schemeClr>
            </a:solidFill>
            <a:prstDash val="solid"/>
          </a:ln>
        </p:spPr>
        <p:txBody>
          <a:bodyPr wrap="square" tIns="179705" bIns="179705" rtlCol="0">
            <a:spAutoFit/>
          </a:bodyPr>
          <a:p>
            <a:pPr algn="l">
              <a:lnSpc>
                <a:spcPct val="200000"/>
              </a:lnSpc>
            </a:pPr>
            <a:r>
              <a:rPr lang="zh-CN" altLang="en-US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rPr>
              <a:t>当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</a:rPr>
              <a:t>副本</a:t>
            </a:r>
            <a:r>
              <a:rPr lang="en-US" altLang="zh-CN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故障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时，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</a:rPr>
              <a:t>副本2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继续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工作；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</a:rPr>
              <a:t>故障期间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受理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的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</a:rPr>
              <a:t>更新业务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，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在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</a:rPr>
              <a:t>副本1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恢复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时，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如何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处理？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l">
              <a:lnSpc>
                <a:spcPct val="200000"/>
              </a:lnSpc>
            </a:pPr>
            <a:r>
              <a:rPr lang="zh-CN" altLang="en-US">
                <a:latin typeface="微软雅黑" panose="020B0503020204020204" charset="-122"/>
                <a:ea typeface="微软雅黑" panose="020B0503020204020204" charset="-122"/>
              </a:rPr>
              <a:t>由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</a:rPr>
              <a:t>负载均衡器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记下这些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更新业务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，在</a:t>
            </a:r>
            <a:r>
              <a:rPr lang="zh-CN" altLang="en-US" b="1">
                <a:solidFill>
                  <a:srgbClr val="0001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副本1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恢复</a:t>
            </a:r>
            <a:r>
              <a:rPr lang="zh-CN" altLang="en-US">
                <a:latin typeface="微软雅黑" panose="020B0503020204020204" charset="-122"/>
                <a:ea typeface="微软雅黑" panose="020B0503020204020204" charset="-122"/>
                <a:sym typeface="+mn-ea"/>
              </a:rPr>
              <a:t>时，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重</a:t>
            </a:r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放</a:t>
            </a:r>
            <a:endParaRPr lang="zh-CN" altLang="en-US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267585" y="2924810"/>
            <a:ext cx="2090420" cy="728345"/>
          </a:xfrm>
          <a:prstGeom prst="rect">
            <a:avLst/>
          </a:prstGeom>
          <a:noFill/>
          <a:ln w="53975" cmpd="dbl">
            <a:solidFill>
              <a:srgbClr val="FF0000"/>
            </a:solidFill>
            <a:prstDash val="solid"/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副本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553585" y="2953385"/>
            <a:ext cx="2090420" cy="728345"/>
          </a:xfrm>
          <a:prstGeom prst="rect">
            <a:avLst/>
          </a:prstGeom>
          <a:solidFill>
            <a:schemeClr val="bg1"/>
          </a:solidFill>
          <a:ln w="53975" cmpd="dbl">
            <a:solidFill>
              <a:srgbClr val="FF0000"/>
            </a:solidFill>
            <a:prstDash val="solid"/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副本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2662555" y="1402715"/>
            <a:ext cx="3601720" cy="1557020"/>
            <a:chOff x="5582" y="7027"/>
            <a:chExt cx="5672" cy="2452"/>
          </a:xfrm>
        </p:grpSpPr>
        <p:sp>
          <p:nvSpPr>
            <p:cNvPr id="2" name="文本框 1"/>
            <p:cNvSpPr txBox="1"/>
            <p:nvPr/>
          </p:nvSpPr>
          <p:spPr>
            <a:xfrm>
              <a:off x="5582" y="7027"/>
              <a:ext cx="5672" cy="1147"/>
            </a:xfrm>
            <a:prstGeom prst="rect">
              <a:avLst/>
            </a:prstGeom>
            <a:noFill/>
            <a:ln w="53975" cmpd="dbl">
              <a:solidFill>
                <a:srgbClr val="0001FF"/>
              </a:solidFill>
              <a:prstDash val="solid"/>
            </a:ln>
          </p:spPr>
          <p:txBody>
            <a:bodyPr wrap="square" tIns="179705" bIns="179705" rtlCol="0">
              <a:spAutoFit/>
            </a:bodyPr>
            <a:p>
              <a:pPr algn="ctr"/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  <a:sym typeface="+mn-ea"/>
                </a:rPr>
                <a:t>负载均衡器</a:t>
              </a:r>
              <a:endPara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 flipV="1">
              <a:off x="5952" y="8906"/>
              <a:ext cx="4932" cy="0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直接连接符 6"/>
            <p:cNvCxnSpPr/>
            <p:nvPr/>
          </p:nvCxnSpPr>
          <p:spPr>
            <a:xfrm>
              <a:off x="5952" y="8855"/>
              <a:ext cx="0" cy="567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直接连接符 8"/>
            <p:cNvCxnSpPr/>
            <p:nvPr/>
          </p:nvCxnSpPr>
          <p:spPr>
            <a:xfrm>
              <a:off x="10829" y="8855"/>
              <a:ext cx="0" cy="624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直接连接符 9"/>
            <p:cNvCxnSpPr/>
            <p:nvPr/>
          </p:nvCxnSpPr>
          <p:spPr>
            <a:xfrm>
              <a:off x="8447" y="8174"/>
              <a:ext cx="0" cy="732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4929" name="Rectangle 2"/>
          <p:cNvSpPr>
            <a:spLocks noGrp="1"/>
          </p:cNvSpPr>
          <p:nvPr>
            <p:ph type="title"/>
          </p:nvPr>
        </p:nvSpPr>
        <p:spPr>
          <a:xfrm>
            <a:off x="1141095" y="0"/>
            <a:ext cx="8002905" cy="1118235"/>
          </a:xfrm>
        </p:spPr>
        <p:txBody>
          <a:bodyPr wrap="square" lIns="91440" tIns="45720" rIns="91440" bIns="45720" anchor="ctr"/>
          <a:p>
            <a:pPr eaLnBrk="1" hangingPunct="1"/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服务的</a:t>
            </a:r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监测</a:t>
            </a:r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：在线与否，</a:t>
            </a:r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响应时间，吞吐</a:t>
            </a:r>
            <a:r>
              <a:rPr lang="zh-CN" altLang="en-US" sz="320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量</a:t>
            </a:r>
            <a:endParaRPr lang="zh-CN" altLang="en-US" sz="320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288290" y="5887085"/>
            <a:ext cx="2090420" cy="728345"/>
          </a:xfrm>
          <a:prstGeom prst="rect">
            <a:avLst/>
          </a:prstGeom>
          <a:noFill/>
          <a:ln w="53975" cmpd="dbl">
            <a:solidFill>
              <a:srgbClr val="FF0000"/>
            </a:solidFill>
            <a:prstDash val="solid"/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服务实例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1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574290" y="5915660"/>
            <a:ext cx="2090420" cy="728345"/>
          </a:xfrm>
          <a:prstGeom prst="rect">
            <a:avLst/>
          </a:prstGeom>
          <a:solidFill>
            <a:schemeClr val="bg1"/>
          </a:solidFill>
          <a:ln w="53975" cmpd="dbl">
            <a:solidFill>
              <a:srgbClr val="FF0000"/>
            </a:solidFill>
            <a:prstDash val="solid"/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服务实例</a:t>
            </a:r>
            <a:r>
              <a:rPr lang="en-US" altLang="zh-CN" b="1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</a:rPr>
              <a:t>2</a:t>
            </a:r>
            <a:endParaRPr lang="en-US" altLang="zh-CN" b="1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pSp>
        <p:nvGrpSpPr>
          <p:cNvPr id="12" name="组合 11"/>
          <p:cNvGrpSpPr/>
          <p:nvPr/>
        </p:nvGrpSpPr>
        <p:grpSpPr>
          <a:xfrm>
            <a:off x="683260" y="4364990"/>
            <a:ext cx="3601720" cy="1557020"/>
            <a:chOff x="5582" y="7027"/>
            <a:chExt cx="5672" cy="2452"/>
          </a:xfrm>
        </p:grpSpPr>
        <p:sp>
          <p:nvSpPr>
            <p:cNvPr id="2" name="文本框 1"/>
            <p:cNvSpPr txBox="1"/>
            <p:nvPr/>
          </p:nvSpPr>
          <p:spPr>
            <a:xfrm>
              <a:off x="5582" y="7027"/>
              <a:ext cx="5672" cy="1147"/>
            </a:xfrm>
            <a:prstGeom prst="rect">
              <a:avLst/>
            </a:prstGeom>
            <a:noFill/>
            <a:ln w="53975" cmpd="dbl">
              <a:solidFill>
                <a:srgbClr val="0001FF"/>
              </a:solidFill>
              <a:prstDash val="solid"/>
            </a:ln>
          </p:spPr>
          <p:txBody>
            <a:bodyPr wrap="square" tIns="179705" bIns="179705" rtlCol="0">
              <a:spAutoFit/>
            </a:bodyPr>
            <a:p>
              <a:pPr algn="ctr"/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</a:rPr>
                <a:t>扩展</a:t>
              </a:r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</a:rPr>
                <a:t>与伸缩</a:t>
              </a:r>
              <a:r>
                <a:rPr lang="en-US" altLang="zh-CN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</a:rPr>
                <a:t>/</a:t>
              </a:r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</a:rPr>
                <a:t>负载</a:t>
              </a:r>
              <a:r>
                <a:rPr lang="zh-CN" altLang="en-US" b="1">
                  <a:solidFill>
                    <a:srgbClr val="0000FF"/>
                  </a:solidFill>
                  <a:latin typeface="微软雅黑" panose="020B0503020204020204" charset="-122"/>
                  <a:ea typeface="微软雅黑" panose="020B0503020204020204" charset="-122"/>
                </a:rPr>
                <a:t>均衡</a:t>
              </a:r>
              <a:endPara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  <p:cxnSp>
          <p:nvCxnSpPr>
            <p:cNvPr id="6" name="直接连接符 5"/>
            <p:cNvCxnSpPr/>
            <p:nvPr/>
          </p:nvCxnSpPr>
          <p:spPr>
            <a:xfrm flipV="1">
              <a:off x="5952" y="8906"/>
              <a:ext cx="4932" cy="0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" name="直接连接符 6"/>
            <p:cNvCxnSpPr/>
            <p:nvPr/>
          </p:nvCxnSpPr>
          <p:spPr>
            <a:xfrm>
              <a:off x="5952" y="8855"/>
              <a:ext cx="0" cy="567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" name="直接连接符 8"/>
            <p:cNvCxnSpPr/>
            <p:nvPr/>
          </p:nvCxnSpPr>
          <p:spPr>
            <a:xfrm>
              <a:off x="10829" y="8855"/>
              <a:ext cx="0" cy="624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" name="直接连接符 9"/>
            <p:cNvCxnSpPr/>
            <p:nvPr/>
          </p:nvCxnSpPr>
          <p:spPr>
            <a:xfrm>
              <a:off x="8447" y="8174"/>
              <a:ext cx="0" cy="732"/>
            </a:xfrm>
            <a:prstGeom prst="line">
              <a:avLst/>
            </a:prstGeom>
            <a:solidFill>
              <a:schemeClr val="accent1"/>
            </a:solidFill>
            <a:ln w="349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" name="文本框 7"/>
          <p:cNvSpPr txBox="1"/>
          <p:nvPr/>
        </p:nvSpPr>
        <p:spPr>
          <a:xfrm>
            <a:off x="395605" y="1268730"/>
            <a:ext cx="5922645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sz="3200" b="1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谁负责监测？怎么实现监测？</a:t>
            </a:r>
            <a:endParaRPr lang="zh-CN" altLang="en-US" sz="3200" b="1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5436235" y="2277110"/>
            <a:ext cx="3601720" cy="728345"/>
          </a:xfrm>
          <a:prstGeom prst="rect">
            <a:avLst/>
          </a:prstGeom>
          <a:noFill/>
          <a:ln w="53975" cmpd="dbl">
            <a:solidFill>
              <a:srgbClr val="0001FF"/>
            </a:solidFill>
            <a:prstDash val="solid"/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监测数据库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服务器</a:t>
            </a: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5723890" y="3500755"/>
            <a:ext cx="2880995" cy="728345"/>
          </a:xfrm>
          <a:prstGeom prst="rect">
            <a:avLst/>
          </a:prstGeom>
          <a:noFill/>
          <a:ln w="53975" cmpd="dbl">
            <a:solidFill>
              <a:srgbClr val="0001FF"/>
            </a:solidFill>
            <a:prstDash val="solid"/>
          </a:ln>
        </p:spPr>
        <p:txBody>
          <a:bodyPr wrap="square" tIns="179705" bIns="179705" rtlCol="0">
            <a:spAutoFit/>
          </a:bodyPr>
          <a:p>
            <a:pPr algn="ctr"/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调度控制</a:t>
            </a:r>
            <a:r>
              <a:rPr lang="zh-CN" altLang="en-US" b="1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</a:rPr>
              <a:t>中心</a:t>
            </a:r>
            <a:endParaRPr lang="zh-CN" altLang="en-US" b="1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cxnSp>
        <p:nvCxnSpPr>
          <p:cNvPr id="21" name="直接连接符 20"/>
          <p:cNvCxnSpPr/>
          <p:nvPr/>
        </p:nvCxnSpPr>
        <p:spPr>
          <a:xfrm>
            <a:off x="2483485" y="2718435"/>
            <a:ext cx="0" cy="1620000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2" name="直接连接符 21"/>
          <p:cNvCxnSpPr/>
          <p:nvPr/>
        </p:nvCxnSpPr>
        <p:spPr>
          <a:xfrm>
            <a:off x="2483485" y="2708910"/>
            <a:ext cx="2880360" cy="0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bevel/>
            <a:headEnd type="none" w="med" len="med"/>
            <a:tailEnd type="triangle" w="lg" len="lg"/>
          </a:ln>
        </p:spPr>
      </p:cxnSp>
      <p:cxnSp>
        <p:nvCxnSpPr>
          <p:cNvPr id="23" name="直接连接符 22"/>
          <p:cNvCxnSpPr/>
          <p:nvPr/>
        </p:nvCxnSpPr>
        <p:spPr>
          <a:xfrm>
            <a:off x="7236460" y="3039745"/>
            <a:ext cx="0" cy="468000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24" name="直接连接符 23"/>
          <p:cNvCxnSpPr/>
          <p:nvPr/>
        </p:nvCxnSpPr>
        <p:spPr>
          <a:xfrm flipH="1" flipV="1">
            <a:off x="4284980" y="4787900"/>
            <a:ext cx="2880000" cy="0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25" name="直接连接符 24"/>
          <p:cNvCxnSpPr/>
          <p:nvPr/>
        </p:nvCxnSpPr>
        <p:spPr>
          <a:xfrm flipH="1">
            <a:off x="7164070" y="4217035"/>
            <a:ext cx="0" cy="580390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" name="直接连接符 2"/>
          <p:cNvCxnSpPr/>
          <p:nvPr/>
        </p:nvCxnSpPr>
        <p:spPr>
          <a:xfrm>
            <a:off x="3636010" y="3860800"/>
            <a:ext cx="2087880" cy="0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 w="lg" len="lg"/>
          </a:ln>
        </p:spPr>
      </p:cxnSp>
      <p:cxnSp>
        <p:nvCxnSpPr>
          <p:cNvPr id="13" name="直接连接符 12"/>
          <p:cNvCxnSpPr/>
          <p:nvPr/>
        </p:nvCxnSpPr>
        <p:spPr>
          <a:xfrm>
            <a:off x="3636010" y="3860800"/>
            <a:ext cx="0" cy="504190"/>
          </a:xfrm>
          <a:prstGeom prst="line">
            <a:avLst/>
          </a:prstGeom>
          <a:solidFill>
            <a:schemeClr val="accent1"/>
          </a:solidFill>
          <a:ln w="349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矩形 3"/>
          <p:cNvSpPr/>
          <p:nvPr/>
        </p:nvSpPr>
        <p:spPr>
          <a:xfrm>
            <a:off x="755650" y="188595"/>
            <a:ext cx="827214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对于访问服务的客户来说</a:t>
            </a:r>
            <a:endParaRPr lang="zh-CN" altLang="en-US" sz="4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79705" y="1268730"/>
            <a:ext cx="8897620" cy="53848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当服务不可用时，或者因负载太大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而拒绝服务请求时，在客户方表现为：函数调用返回错误，或者超时错误，怎么办？</a:t>
            </a:r>
            <a:endParaRPr lang="zh-CN" altLang="en-US" sz="28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sz="28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传统的编程，总是假定服务正常；</a:t>
            </a:r>
            <a:endParaRPr lang="zh-CN" altLang="en-US" sz="28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sz="28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一旦不正常，好的程序就会作异常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处理；</a:t>
            </a:r>
            <a:endParaRPr lang="zh-CN" altLang="en-US" sz="28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sz="28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不好的程序，则是异常退出，或者卡停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下来；</a:t>
            </a:r>
            <a:endParaRPr lang="zh-CN" altLang="en-US" sz="2800" dirty="0">
              <a:solidFill>
                <a:schemeClr val="tx1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再一次说明：基于消息队列的异步处理的先进性；</a:t>
            </a:r>
            <a:endParaRPr lang="zh-CN" altLang="en-US" sz="28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矩形 3"/>
          <p:cNvSpPr/>
          <p:nvPr/>
        </p:nvSpPr>
        <p:spPr>
          <a:xfrm>
            <a:off x="755650" y="188595"/>
            <a:ext cx="827214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再看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整体</a:t>
            </a:r>
            <a:endParaRPr lang="zh-CN" altLang="en-US" sz="4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4780" y="1124585"/>
            <a:ext cx="9148445" cy="576961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平台：</a:t>
            </a:r>
            <a:endParaRPr lang="zh-CN" altLang="en-US" sz="2800" b="1" dirty="0">
              <a:solidFill>
                <a:srgbClr val="0000FF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broker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：</a:t>
            </a:r>
            <a:r>
              <a:rPr lang="zh-CN" altLang="en-US" sz="2800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提供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注册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，服务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发现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endParaRPr lang="zh-CN" altLang="en-US" sz="2800" b="1" dirty="0">
              <a:solidFill>
                <a:srgbClr val="0000FF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监测中心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：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运行状态</a:t>
            </a:r>
            <a:r>
              <a:rPr lang="zh-CN" altLang="en-US" sz="2800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监测</a:t>
            </a:r>
            <a:r>
              <a:rPr lang="zh-CN" altLang="en-US" sz="2800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和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性能</a:t>
            </a:r>
            <a:r>
              <a:rPr lang="zh-CN" altLang="en-US" sz="2800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采集；</a:t>
            </a:r>
            <a:endParaRPr lang="zh-CN" altLang="en-US" sz="28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调度与控制中心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：负责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服务实例</a:t>
            </a:r>
            <a:r>
              <a:rPr lang="zh-CN" altLang="en-US" sz="2800" dirty="0">
                <a:solidFill>
                  <a:schemeClr val="tx1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的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启动，关闭，迁移；</a:t>
            </a:r>
            <a:endParaRPr lang="zh-CN" altLang="en-US" sz="28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网关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：对外的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服务窗口</a:t>
            </a:r>
            <a:r>
              <a:rPr lang="zh-CN" altLang="en-US" sz="2800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endParaRPr lang="zh-CN" altLang="en-US" sz="28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dirty="0"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每台机器上运行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docker daemon  server；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</a:t>
            </a:r>
            <a:endParaRPr lang="en-US" altLang="zh-CN" sz="28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计费中心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endParaRPr lang="en-US" altLang="zh-CN" sz="28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矩形 3"/>
          <p:cNvSpPr/>
          <p:nvPr/>
        </p:nvSpPr>
        <p:spPr>
          <a:xfrm>
            <a:off x="755650" y="188595"/>
            <a:ext cx="8272145" cy="70675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再看一些</a:t>
            </a:r>
            <a:r>
              <a:rPr lang="zh-CN" altLang="en-US" sz="4000" b="1" dirty="0">
                <a:solidFill>
                  <a:srgbClr val="0000FF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事情</a:t>
            </a:r>
            <a:endParaRPr lang="zh-CN" altLang="en-US" sz="4000" b="1" dirty="0">
              <a:solidFill>
                <a:srgbClr val="0000FF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44780" y="1124585"/>
            <a:ext cx="9148445" cy="49307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altLang="zh-CN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openStack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：云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OS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；</a:t>
            </a:r>
            <a:endParaRPr lang="zh-CN" altLang="en-US" sz="2800" b="1" dirty="0">
              <a:solidFill>
                <a:srgbClr val="0000FF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</a:pPr>
            <a:r>
              <a:rPr lang="en-US" altLang="zh-CN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Spring Cloud 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：</a:t>
            </a:r>
            <a:r>
              <a:rPr lang="en-US" altLang="zh-CN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微服务开发</a:t>
            </a:r>
            <a:r>
              <a:rPr lang="zh-CN" altLang="en-US" sz="2800" b="1" dirty="0">
                <a:solidFill>
                  <a:srgbClr val="0000FF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框架；</a:t>
            </a:r>
            <a:endParaRPr lang="zh-CN" altLang="en-US" sz="2800" b="1" dirty="0">
              <a:solidFill>
                <a:srgbClr val="0000FF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Eureka: 服务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注册与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发现；</a:t>
            </a:r>
            <a:endParaRPr lang="zh-CN" altLang="en-US" sz="28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Ribbon: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服务负载均衡；</a:t>
            </a:r>
            <a:endParaRPr lang="zh-CN" altLang="en-US" sz="28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Zuul: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服务网关；</a:t>
            </a:r>
            <a:endParaRPr lang="zh-CN" altLang="en-US" sz="28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  <a:p>
            <a:pPr marL="457200" indent="-457200" algn="l">
              <a:lnSpc>
                <a:spcPct val="150000"/>
              </a:lnSpc>
              <a:spcBef>
                <a:spcPts val="0"/>
              </a:spcBef>
              <a:spcAft>
                <a:spcPts val="1500"/>
              </a:spcAft>
              <a:buClr>
                <a:srgbClr val="FF0000"/>
              </a:buClr>
              <a:buFont typeface="Wingdings" panose="05000000000000000000" charset="0"/>
              <a:buChar char="l"/>
            </a:pPr>
            <a:r>
              <a:rPr lang="en-US" altLang="zh-CN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  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Hystrix:</a:t>
            </a:r>
            <a:r>
              <a:rPr lang="en-US" altLang="zh-CN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 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容错</a:t>
            </a:r>
            <a:r>
              <a:rPr lang="zh-CN" altLang="en-US" sz="2800" b="1" dirty="0">
                <a:solidFill>
                  <a:srgbClr val="FF0000"/>
                </a:solidFill>
                <a:latin typeface="Arial" panose="020B0604020202090204" pitchFamily="34" charset="0"/>
                <a:ea typeface="微软雅黑" panose="020B0503020204020204" charset="-122"/>
                <a:cs typeface="Arial" panose="020B0604020202090204" pitchFamily="34" charset="0"/>
                <a:sym typeface="+mn-ea"/>
              </a:rPr>
              <a:t>处理；</a:t>
            </a:r>
            <a:endParaRPr lang="zh-CN" altLang="en-US" sz="2800" b="1" dirty="0">
              <a:solidFill>
                <a:srgbClr val="FF0000"/>
              </a:solidFill>
              <a:latin typeface="Arial" panose="020B0604020202090204" pitchFamily="34" charset="0"/>
              <a:ea typeface="微软雅黑" panose="020B0503020204020204" charset="-122"/>
              <a:cs typeface="Arial" panose="020B0604020202090204" pitchFamily="34" charset="0"/>
              <a:sym typeface="+mn-ea"/>
            </a:endParaRPr>
          </a:p>
        </p:txBody>
      </p:sp>
    </p:spTree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49" name="Rectangle 31"/>
          <p:cNvSpPr/>
          <p:nvPr/>
        </p:nvSpPr>
        <p:spPr>
          <a:xfrm>
            <a:off x="2987675" y="188913"/>
            <a:ext cx="3449638" cy="83026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 algn="ctr"/>
            <a:r>
              <a:rPr lang="zh-CN" altLang="en-US" sz="48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谢  谢！</a:t>
            </a:r>
            <a:endParaRPr lang="zh-CN" altLang="en-US" sz="48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91139" name="Picture 3" descr="the masters of light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378" y="1700213"/>
            <a:ext cx="6911975" cy="4122737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91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TABLE_ENDDRAG_ORIGIN_RECT" val="476*191"/>
  <p:tag name="TABLE_ENDDRAG_RECT" val="65*99*476*191"/>
</p:tagLst>
</file>

<file path=ppt/tags/tag2.xml><?xml version="1.0" encoding="utf-8"?>
<p:tagLst xmlns:p="http://schemas.openxmlformats.org/presentationml/2006/main">
  <p:tag name="TABLE_ENDDRAG_ORIGIN_RECT" val="657*87"/>
  <p:tag name="TABLE_ENDDRAG_RECT" val="10*156*657*87"/>
</p:tagLst>
</file>

<file path=ppt/tags/tag3.xml><?xml version="1.0" encoding="utf-8"?>
<p:tagLst xmlns:p="http://schemas.openxmlformats.org/presentationml/2006/main">
  <p:tag name="TABLE_ENDDRAG_ORIGIN_RECT" val="657*87"/>
  <p:tag name="TABLE_ENDDRAG_RECT" val="10*156*657*87"/>
</p:tagLst>
</file>

<file path=ppt/tags/tag4.xml><?xml version="1.0" encoding="utf-8"?>
<p:tagLst xmlns:p="http://schemas.openxmlformats.org/presentationml/2006/main">
  <p:tag name="TABLE_ENDDRAG_ORIGIN_RECT" val="553*113"/>
  <p:tag name="TABLE_ENDDRAG_RECT" val="10*156*553*113"/>
</p:tagLst>
</file>

<file path=ppt/tags/tag5.xml><?xml version="1.0" encoding="utf-8"?>
<p:tagLst xmlns:p="http://schemas.openxmlformats.org/presentationml/2006/main">
  <p:tag name="TABLE_ENDDRAG_ORIGIN_RECT" val="681*342"/>
  <p:tag name="TABLE_ENDDRAG_RECT" val="19*111*681*342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TABLE_ENDDRAG_ORIGIN_RECT" val="700*348"/>
  <p:tag name="TABLE_ENDDRAG_RECT" val="5*116*700*348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KSO_WM_BEAUTIFY_FLAG" val=""/>
</p:tagLst>
</file>

<file path=ppt/tags/tag52.xml><?xml version="1.0" encoding="utf-8"?>
<p:tagLst xmlns:p="http://schemas.openxmlformats.org/presentationml/2006/main">
  <p:tag name="KSO_WM_BEAUTIFY_FLAG" val=""/>
</p:tagLst>
</file>

<file path=ppt/tags/tag53.xml><?xml version="1.0" encoding="utf-8"?>
<p:tagLst xmlns:p="http://schemas.openxmlformats.org/presentationml/2006/main">
  <p:tag name="KSO_WM_BEAUTIFY_FLAG" val=""/>
</p:tagLst>
</file>

<file path=ppt/tags/tag54.xml><?xml version="1.0" encoding="utf-8"?>
<p:tagLst xmlns:p="http://schemas.openxmlformats.org/presentationml/2006/main">
  <p:tag name="KSO_WM_BEAUTIFY_FLAG" val=""/>
</p:tagLst>
</file>

<file path=ppt/tags/tag55.xml><?xml version="1.0" encoding="utf-8"?>
<p:tagLst xmlns:p="http://schemas.openxmlformats.org/presentationml/2006/main">
  <p:tag name="KSO_WM_BEAUTIFY_FLAG" val=""/>
</p:tagLst>
</file>

<file path=ppt/tags/tag56.xml><?xml version="1.0" encoding="utf-8"?>
<p:tagLst xmlns:p="http://schemas.openxmlformats.org/presentationml/2006/main">
  <p:tag name="KSO_WM_BEAUTIFY_FLAG" val=""/>
</p:tagLst>
</file>

<file path=ppt/tags/tag57.xml><?xml version="1.0" encoding="utf-8"?>
<p:tagLst xmlns:p="http://schemas.openxmlformats.org/presentationml/2006/main">
  <p:tag name="KSO_WM_BEAUTIFY_FLAG" val=""/>
</p:tagLst>
</file>

<file path=ppt/tags/tag58.xml><?xml version="1.0" encoding="utf-8"?>
<p:tagLst xmlns:p="http://schemas.openxmlformats.org/presentationml/2006/main">
  <p:tag name="KSO_WM_BEAUTIFY_FLAG" val=""/>
</p:tagLst>
</file>

<file path=ppt/tags/tag59.xml><?xml version="1.0" encoding="utf-8"?>
<p:tagLst xmlns:p="http://schemas.openxmlformats.org/presentationml/2006/main">
  <p:tag name="KSO_WM_BEAUTIFY_FLAG" val=""/>
</p:tagLst>
</file>

<file path=ppt/tags/tag60.xml><?xml version="1.0" encoding="utf-8"?>
<p:tagLst xmlns:p="http://schemas.openxmlformats.org/presentationml/2006/main">
  <p:tag name="KSO_WM_BEAUTIFY_FLAG" val=""/>
</p:tagLst>
</file>

<file path=ppt/tags/tag61.xml><?xml version="1.0" encoding="utf-8"?>
<p:tagLst xmlns:p="http://schemas.openxmlformats.org/presentationml/2006/main">
  <p:tag name="KSO_WM_BEAUTIFY_FLAG" val=""/>
</p:tagLst>
</file>

<file path=ppt/tags/tag62.xml><?xml version="1.0" encoding="utf-8"?>
<p:tagLst xmlns:p="http://schemas.openxmlformats.org/presentationml/2006/main">
  <p:tag name="KSO_WM_BEAUTIFY_FLAG" val=""/>
</p:tagLst>
</file>

<file path=ppt/tags/tag63.xml><?xml version="1.0" encoding="utf-8"?>
<p:tagLst xmlns:p="http://schemas.openxmlformats.org/presentationml/2006/main">
  <p:tag name="KSO_WM_BEAUTIFY_FLAG" val="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"/>
</p:tagLst>
</file>

<file path=ppt/tags/tag68.xml><?xml version="1.0" encoding="utf-8"?>
<p:tagLst xmlns:p="http://schemas.openxmlformats.org/presentationml/2006/main">
  <p:tag name="KSO_WM_BEAUTIFY_FLAG" val=""/>
</p:tagLst>
</file>

<file path=ppt/tags/tag69.xml><?xml version="1.0" encoding="utf-8"?>
<p:tagLst xmlns:p="http://schemas.openxmlformats.org/presentationml/2006/main">
  <p:tag name="KSO_WM_BEAUTIFY_FLAG" val=""/>
</p:tagLst>
</file>

<file path=ppt/tags/tag70.xml><?xml version="1.0" encoding="utf-8"?>
<p:tagLst xmlns:p="http://schemas.openxmlformats.org/presentationml/2006/main">
  <p:tag name="KSO_WM_BEAUTIFY_FLAG" val=""/>
</p:tagLst>
</file>

<file path=ppt/tags/tag71.xml><?xml version="1.0" encoding="utf-8"?>
<p:tagLst xmlns:p="http://schemas.openxmlformats.org/presentationml/2006/main">
  <p:tag name="KSO_WM_BEAUTIFY_FLAG" val="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BEAUTIFY_FLAG" val="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BEAUTIFY_FLAG" val="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BEAUTIFY_FLAG" val="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BEAUTIFY_FLAG" val="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BEAUTIFY_FLAG" val="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BEAUTIFY_FLAG" val="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BEAUTIFY_FLAG" val="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BEAUTIFY_FLAG" val="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BEAUTIFY_FLAG" val="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UNIT_TABLE_BEAUTIFY" val="smartTable{4a6241c7-527b-4e87-9670-29eec11ccb69}"/>
  <p:tag name="TABLE_ENDDRAG_ORIGIN_RECT" val="654*256"/>
  <p:tag name="TABLE_ENDDRAG_RECT" val="27*106*654*256"/>
</p:tagLst>
</file>

<file path=ppt/tags/tag162.xml><?xml version="1.0" encoding="utf-8"?>
<p:tagLst xmlns:p="http://schemas.openxmlformats.org/presentationml/2006/main">
  <p:tag name="KSO_WM_UNIT_TABLE_BEAUTIFY" val="smartTable{4a6241c7-527b-4e87-9670-29eec11ccb69}"/>
  <p:tag name="TABLE_ENDDRAG_ORIGIN_RECT" val="656*432"/>
  <p:tag name="TABLE_ENDDRAG_RECT" val="27*105*656*432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UNIT_PLACING_PICTURE_USER_VIEWPORT" val="{&quot;height&quot;:8724,&quot;width&quot;:9948}"/>
</p:tagLst>
</file>

<file path=ppt/tags/tag165.xml><?xml version="1.0" encoding="utf-8"?>
<p:tagLst xmlns:p="http://schemas.openxmlformats.org/presentationml/2006/main">
  <p:tag name="KSO_WPP_MARK_KEY" val="1c9e328a-96a5-47b6-b0fb-8bc4c90f46a1"/>
  <p:tag name="COMMONDATA" val="eyJoZGlkIjoiYzQ3MzAwZjMwZmRlYjYzY2MwNTYwZDAyOTkwNjcwMDcifQ=="/>
</p:tagLst>
</file>

<file path=ppt/theme/theme1.xml><?xml version="1.0" encoding="utf-8"?>
<a:theme xmlns:a="http://schemas.openxmlformats.org/drawingml/2006/main" name="introdbs">
  <a:themeElements>
    <a:clrScheme name="introdbs.pps 1">
      <a:dk1>
        <a:srgbClr val="000099"/>
      </a:dk1>
      <a:lt1>
        <a:srgbClr val="FFFFFF"/>
      </a:lt1>
      <a:dk2>
        <a:srgbClr val="0000FF"/>
      </a:dk2>
      <a:lt2>
        <a:srgbClr val="FFFF00"/>
      </a:lt2>
      <a:accent1>
        <a:srgbClr val="FF6633"/>
      </a:accent1>
      <a:accent2>
        <a:srgbClr val="FF00FF"/>
      </a:accent2>
      <a:accent3>
        <a:srgbClr val="AAAAFF"/>
      </a:accent3>
      <a:accent4>
        <a:srgbClr val="DADADA"/>
      </a:accent4>
      <a:accent5>
        <a:srgbClr val="FFB8AD"/>
      </a:accent5>
      <a:accent6>
        <a:srgbClr val="E700E7"/>
      </a:accent6>
      <a:hlink>
        <a:srgbClr val="FF0000"/>
      </a:hlink>
      <a:folHlink>
        <a:srgbClr val="808080"/>
      </a:folHlink>
    </a:clrScheme>
    <a:fontScheme name="introdbs.pps">
      <a:majorFont>
        <a:latin typeface="黑体"/>
        <a:ea typeface="黑体"/>
        <a:cs typeface=""/>
      </a:majorFont>
      <a:minorFont>
        <a:latin typeface="Comic Sans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ctr" defTabSz="914400" rtl="0" eaLnBrk="0" fontAlgn="base" latinLnBrk="0" hangingPunct="0"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GB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</a:defRPr>
        </a:defPPr>
      </a:lstStyle>
    </a:lnDef>
  </a:objectDefaults>
  <a:extraClrSchemeLst>
    <a:extraClrScheme>
      <a:clrScheme name="introdbs.pps 1">
        <a:dk1>
          <a:srgbClr val="000099"/>
        </a:dk1>
        <a:lt1>
          <a:srgbClr val="FFFFFF"/>
        </a:lt1>
        <a:dk2>
          <a:srgbClr val="0000FF"/>
        </a:dk2>
        <a:lt2>
          <a:srgbClr val="FFFF00"/>
        </a:lt2>
        <a:accent1>
          <a:srgbClr val="FF6633"/>
        </a:accent1>
        <a:accent2>
          <a:srgbClr val="FF00FF"/>
        </a:accent2>
        <a:accent3>
          <a:srgbClr val="AAAAFF"/>
        </a:accent3>
        <a:accent4>
          <a:srgbClr val="DADADA"/>
        </a:accent4>
        <a:accent5>
          <a:srgbClr val="FFB8AD"/>
        </a:accent5>
        <a:accent6>
          <a:srgbClr val="E700E7"/>
        </a:accent6>
        <a:hlink>
          <a:srgbClr val="FF0000"/>
        </a:hlink>
        <a:folHlink>
          <a:srgbClr val="80808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introdbs.pps 2">
        <a:dk1>
          <a:srgbClr val="000066"/>
        </a:dk1>
        <a:lt1>
          <a:srgbClr val="CCECFF"/>
        </a:lt1>
        <a:dk2>
          <a:srgbClr val="000080"/>
        </a:dk2>
        <a:lt2>
          <a:srgbClr val="000000"/>
        </a:lt2>
        <a:accent1>
          <a:srgbClr val="9999FF"/>
        </a:accent1>
        <a:accent2>
          <a:srgbClr val="CC00FF"/>
        </a:accent2>
        <a:accent3>
          <a:srgbClr val="E2F4FF"/>
        </a:accent3>
        <a:accent4>
          <a:srgbClr val="000056"/>
        </a:accent4>
        <a:accent5>
          <a:srgbClr val="CACAFF"/>
        </a:accent5>
        <a:accent6>
          <a:srgbClr val="B900E7"/>
        </a:accent6>
        <a:hlink>
          <a:srgbClr val="00CC99"/>
        </a:hlink>
        <a:folHlink>
          <a:srgbClr val="0099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bs.pps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B2B2B2"/>
        </a:accent1>
        <a:accent2>
          <a:srgbClr val="868686"/>
        </a:accent2>
        <a:accent3>
          <a:srgbClr val="FFFFFF"/>
        </a:accent3>
        <a:accent4>
          <a:srgbClr val="000000"/>
        </a:accent4>
        <a:accent5>
          <a:srgbClr val="D5D5D5"/>
        </a:accent5>
        <a:accent6>
          <a:srgbClr val="797979"/>
        </a:accent6>
        <a:hlink>
          <a:srgbClr val="5F5F5F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trodbs.pps 4">
        <a:dk1>
          <a:srgbClr val="000000"/>
        </a:dk1>
        <a:lt1>
          <a:srgbClr val="FFFFFF"/>
        </a:lt1>
        <a:dk2>
          <a:srgbClr val="660033"/>
        </a:dk2>
        <a:lt2>
          <a:srgbClr val="FFFF66"/>
        </a:lt2>
        <a:accent1>
          <a:srgbClr val="FF0033"/>
        </a:accent1>
        <a:accent2>
          <a:srgbClr val="CC6600"/>
        </a:accent2>
        <a:accent3>
          <a:srgbClr val="B8AAAD"/>
        </a:accent3>
        <a:accent4>
          <a:srgbClr val="DADADA"/>
        </a:accent4>
        <a:accent5>
          <a:srgbClr val="FFAAAD"/>
        </a:accent5>
        <a:accent6>
          <a:srgbClr val="B95C00"/>
        </a:accent6>
        <a:hlink>
          <a:srgbClr val="999933"/>
        </a:hlink>
        <a:folHlink>
          <a:srgbClr val="A50021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默认设计模板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默认设计模板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itchFamily="2" charset="-122"/>
          </a:defRPr>
        </a:defPPr>
      </a:lstStyle>
    </a:lnDef>
  </a:objectDefaults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C:\introdbs.pps.ppt</Template>
  <TotalTime>0</TotalTime>
  <Words>26984</Words>
  <Application>WPS 演示</Application>
  <PresentationFormat>全屏显示(4:3)</PresentationFormat>
  <Paragraphs>2602</Paragraphs>
  <Slides>177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41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177</vt:i4>
      </vt:variant>
    </vt:vector>
  </HeadingPairs>
  <TitlesOfParts>
    <vt:vector size="220" baseType="lpstr">
      <vt:lpstr>Arial</vt:lpstr>
      <vt:lpstr>宋体</vt:lpstr>
      <vt:lpstr>Wingdings</vt:lpstr>
      <vt:lpstr>Comic Sans MS</vt:lpstr>
      <vt:lpstr>Times New Roman</vt:lpstr>
      <vt:lpstr>黑体</vt:lpstr>
      <vt:lpstr>汉仪中黑KW</vt:lpstr>
      <vt:lpstr>Monotype Sorts</vt:lpstr>
      <vt:lpstr>Thonburi</vt:lpstr>
      <vt:lpstr>汉仪书宋二KW</vt:lpstr>
      <vt:lpstr>微软雅黑</vt:lpstr>
      <vt:lpstr>汉仪旗黑</vt:lpstr>
      <vt:lpstr>PMingLiU</vt:lpstr>
      <vt:lpstr>华文新魏</vt:lpstr>
      <vt:lpstr>Wingdings</vt:lpstr>
      <vt:lpstr>Symbol</vt:lpstr>
      <vt:lpstr>宋体</vt:lpstr>
      <vt:lpstr>Arial Unicode MS</vt:lpstr>
      <vt:lpstr>新宋体</vt:lpstr>
      <vt:lpstr>Times New Roman</vt:lpstr>
      <vt:lpstr>Calibri</vt:lpstr>
      <vt:lpstr>Calibri</vt:lpstr>
      <vt:lpstr>楷体_GB2312</vt:lpstr>
      <vt:lpstr>华文中宋</vt:lpstr>
      <vt:lpstr>Arial Black</vt:lpstr>
      <vt:lpstr>Verdana</vt:lpstr>
      <vt:lpstr>仿宋_GB2312</vt:lpstr>
      <vt:lpstr>方正仿宋_GBK</vt:lpstr>
      <vt:lpstr>汉仪楷体简</vt:lpstr>
      <vt:lpstr>宋体-繁</vt:lpstr>
      <vt:lpstr>苹方-简</vt:lpstr>
      <vt:lpstr>Kingsoft Sign</vt:lpstr>
      <vt:lpstr>方正书宋_GBK</vt:lpstr>
      <vt:lpstr>Helvetica Neue</vt:lpstr>
      <vt:lpstr>PMingLiU</vt:lpstr>
      <vt:lpstr>华文中宋</vt:lpstr>
      <vt:lpstr>华文新魏</vt:lpstr>
      <vt:lpstr>微软雅黑</vt:lpstr>
      <vt:lpstr>新宋体</vt:lpstr>
      <vt:lpstr>楷体_GB2312</vt:lpstr>
      <vt:lpstr>黑体</vt:lpstr>
      <vt:lpstr>introdbs</vt:lpstr>
      <vt:lpstr>默认设计模板</vt:lpstr>
      <vt:lpstr>MicroService and Cloud Computing     微服务与云计算 复习   信息科学与工程学院 软件工程系  杨金民 2025/05</vt:lpstr>
      <vt:lpstr>云计算与微服务课程的基本概念</vt:lpstr>
      <vt:lpstr>PowerPoint 演示文稿</vt:lpstr>
      <vt:lpstr>分布式与云计算</vt:lpstr>
      <vt:lpstr>虚拟机的两个层级</vt:lpstr>
      <vt:lpstr>第一种虚拟化总结——解释运行程序</vt:lpstr>
      <vt:lpstr>第一种虚拟化总结——解释运行程序</vt:lpstr>
      <vt:lpstr>第二层级虚拟机要解决的问题</vt:lpstr>
      <vt:lpstr>第二层级虚拟机的功能</vt:lpstr>
      <vt:lpstr>企业业务信息系统不加修改地迁移上云的步骤： 第一步：注册与登录</vt:lpstr>
      <vt:lpstr>第2步：在云上创建虚拟系统</vt:lpstr>
      <vt:lpstr>第3步：给虚拟机设置所需的资源量</vt:lpstr>
      <vt:lpstr>第4步：基于虚拟机的依赖关系设置虚拟机的启动顺序</vt:lpstr>
      <vt:lpstr>第5步：使用Docker之类的软件工具将物理机上的文件系统打包成镜像文件</vt:lpstr>
      <vt:lpstr>第6步：把镜像文件上传给云上对应的虚拟机</vt:lpstr>
      <vt:lpstr>第7步：在云上启动企业信息系统</vt:lpstr>
      <vt:lpstr>云计算的架构</vt:lpstr>
      <vt:lpstr>云服务管理器启动虚拟机的过程</vt:lpstr>
      <vt:lpstr>云服务管理器启动虚拟机的过程</vt:lpstr>
      <vt:lpstr>云服务管理器启动虚拟机的过程</vt:lpstr>
      <vt:lpstr>云服务管理器启动虚拟机的过程</vt:lpstr>
      <vt:lpstr>云服务管理器启动虚拟机的过程</vt:lpstr>
      <vt:lpstr>云服务管理器启动虚拟机的过程</vt:lpstr>
      <vt:lpstr>云服务管理器启动虚拟机的过程</vt:lpstr>
      <vt:lpstr>虚拟机（VM）的数据结构</vt:lpstr>
      <vt:lpstr>启动虚拟机的含义</vt:lpstr>
      <vt:lpstr>暂停虚拟机的含义</vt:lpstr>
      <vt:lpstr>云计算的架构</vt:lpstr>
      <vt:lpstr>云管理器维护的客户/虚拟局域网/虚拟机信息 </vt:lpstr>
      <vt:lpstr>云管理器维护的资源信息</vt:lpstr>
      <vt:lpstr>去中心化计算 ：中心化服务系统</vt:lpstr>
      <vt:lpstr> 去中心化计算</vt:lpstr>
      <vt:lpstr> 去中心化应用——区块链</vt:lpstr>
      <vt:lpstr>分布式一致性共识协议Paxos</vt:lpstr>
      <vt:lpstr>3.  Paxos协调者选举协议</vt:lpstr>
      <vt:lpstr>分布式数据库中副本一致性问题</vt:lpstr>
      <vt:lpstr>Paxos协议的本质：各自为政与一人作主的对立与统一（辩证法）</vt:lpstr>
      <vt:lpstr>问题：如何给收到的事务请求分配一个全局唯一的id</vt:lpstr>
      <vt:lpstr>处理方法</vt:lpstr>
      <vt:lpstr>副本一致性共识算法：3回合的交互</vt:lpstr>
      <vt:lpstr>全局唯一id的获取过程：共识</vt:lpstr>
      <vt:lpstr>全局唯一id的获取过程：即共识过程</vt:lpstr>
      <vt:lpstr>为什么一个副本的idCount 会落伍于全局id?</vt:lpstr>
      <vt:lpstr>共识过程中的两种角色之一：申请者</vt:lpstr>
      <vt:lpstr>共识过程中的两种角色之二：投票者</vt:lpstr>
      <vt:lpstr>无故障情形下，共识的推进</vt:lpstr>
      <vt:lpstr>无故障情形下，共识的推进</vt:lpstr>
      <vt:lpstr>无故障情形下，共识的推进2</vt:lpstr>
      <vt:lpstr>无故障情形下，共识的推进2</vt:lpstr>
      <vt:lpstr>VALIDATING环节的必不可少性</vt:lpstr>
      <vt:lpstr>VALIDATING环节的必不可少</vt:lpstr>
      <vt:lpstr>无故障时的副本状态机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三级虚拟机</vt:lpstr>
      <vt:lpstr>bare metal VM</vt:lpstr>
      <vt:lpstr>x86处理器架构</vt:lpstr>
      <vt:lpstr>多个应用程序共享一台计算机</vt:lpstr>
      <vt:lpstr>多个进程共享一个网络</vt:lpstr>
      <vt:lpstr>软件实现的虚拟化：vCPU，vMemory，vDevice</vt:lpstr>
      <vt:lpstr>软件实现的虚拟化：XEN</vt:lpstr>
      <vt:lpstr>软件实现的虚拟化( Full-Virtualization）</vt:lpstr>
      <vt:lpstr>硬件支持的虚拟化: Intel VT-x</vt:lpstr>
      <vt:lpstr>是增加功能，而不是修改：兼容</vt:lpstr>
      <vt:lpstr>云服务的三个层次 </vt:lpstr>
      <vt:lpstr>分布式系统的可伸缩性 </vt:lpstr>
      <vt:lpstr>微服务 </vt:lpstr>
      <vt:lpstr>微服务 </vt:lpstr>
      <vt:lpstr>微服务——更新快 </vt:lpstr>
      <vt:lpstr>更新快的技术手段 </vt:lpstr>
      <vt:lpstr>替换  vs  切换 </vt:lpstr>
      <vt:lpstr>如何将大系统划分成小系统 </vt:lpstr>
      <vt:lpstr>分布式计算软件基础理论</vt:lpstr>
      <vt:lpstr>集群计算 vs 云计算</vt:lpstr>
      <vt:lpstr>云计算的实质</vt:lpstr>
      <vt:lpstr>超算，集群计算，分布式计算</vt:lpstr>
      <vt:lpstr>超算，集群计算，分布式计算</vt:lpstr>
      <vt:lpstr>PowerPoint 演示文稿</vt:lpstr>
      <vt:lpstr>应用程序的加载执行</vt:lpstr>
      <vt:lpstr>cmd命令行程序中按回车键时执行的代码</vt:lpstr>
      <vt:lpstr>PowerPoint 演示文稿</vt:lpstr>
      <vt:lpstr>中断 vs  信号</vt:lpstr>
      <vt:lpstr>中断 vs 函数调用</vt:lpstr>
      <vt:lpstr>硬中断 vs 信号</vt:lpstr>
      <vt:lpstr>中断 vs  信号：问题思考</vt:lpstr>
      <vt:lpstr>将某种信号叫作异常。  try {...} catch(e) {... }。该信号的处理例程要做的事情</vt:lpstr>
      <vt:lpstr>异常  vs   信号  vs   中断</vt:lpstr>
      <vt:lpstr>如何针对try {...} catch(e) {... } 实现异常处理例程？ </vt:lpstr>
      <vt:lpstr>PowerPoint 演示文稿</vt:lpstr>
      <vt:lpstr>PowerPoint 演示文稿</vt:lpstr>
      <vt:lpstr>PowerPoint 演示文稿</vt:lpstr>
      <vt:lpstr>服务的永恒性 vs 增添性</vt:lpstr>
      <vt:lpstr> 云计算</vt:lpstr>
      <vt:lpstr>云计算的三种方式</vt:lpstr>
      <vt:lpstr>云计算三种方式的抽象化</vt:lpstr>
      <vt:lpstr>PowerPoint 演示文稿</vt:lpstr>
      <vt:lpstr>共享理念带来管理问题</vt:lpstr>
      <vt:lpstr>云计算中应用程序彼此间相互隔离的重要性 </vt:lpstr>
      <vt:lpstr>程序间隔离</vt:lpstr>
      <vt:lpstr>Namespace的六个子类 </vt:lpstr>
      <vt:lpstr>CGroup对Linux内核各子系统的控制 </vt:lpstr>
      <vt:lpstr>CGroup的本质</vt:lpstr>
      <vt:lpstr>在云平台上运行应用程序的差异</vt:lpstr>
      <vt:lpstr>Docker的实现原理</vt:lpstr>
      <vt:lpstr>rootfs:  实现文件系统的隔离</vt:lpstr>
      <vt:lpstr>Linux  对虚拟网络的支持原理</vt:lpstr>
      <vt:lpstr>对基于CGroup和Namespace实现的容器 的理解</vt:lpstr>
      <vt:lpstr>PowerPoint 演示文稿</vt:lpstr>
      <vt:lpstr>软件集成的三种表现形式</vt:lpstr>
      <vt:lpstr>基于腾讯云和微信平台构建应用系统的优点</vt:lpstr>
      <vt:lpstr>从软件角度来看，云计算的三种服务提供方式</vt:lpstr>
      <vt:lpstr>在指令级实现的VM的优缺点</vt:lpstr>
      <vt:lpstr>Docker</vt:lpstr>
      <vt:lpstr>二进制可执行程序特性</vt:lpstr>
      <vt:lpstr>相对寻址，间接寻址，虚拟内存</vt:lpstr>
      <vt:lpstr>分布式计算中的三个核心问题</vt:lpstr>
      <vt:lpstr>一致性：  两阶段提交协议（2PC）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安全管理  — 非对称加密技术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数据处理的机理</vt:lpstr>
      <vt:lpstr>机器特性</vt:lpstr>
      <vt:lpstr>PowerPoint 演示文稿</vt:lpstr>
      <vt:lpstr>数据库性能度量指标</vt:lpstr>
      <vt:lpstr>大数据</vt:lpstr>
      <vt:lpstr> 提高数据库性能的策略</vt:lpstr>
      <vt:lpstr> 其中与数据库设计有关的方法</vt:lpstr>
      <vt:lpstr>创建索引（Index）：通过压缩与排序来减少无效运输与计算</vt:lpstr>
      <vt:lpstr>索引原理——压缩+排序</vt:lpstr>
      <vt:lpstr>对创建索引的思考1</vt:lpstr>
      <vt:lpstr>尽量利用主键索引</vt:lpstr>
      <vt:lpstr>对索引的思考2</vt:lpstr>
      <vt:lpstr>哈希索引(Hashing index)</vt:lpstr>
      <vt:lpstr>基于应用特性合理组织数据的存储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增大吞吐量 vs 负载均衡</vt:lpstr>
      <vt:lpstr>扩展伸缩 ：一分为二/合二为一</vt:lpstr>
      <vt:lpstr>扩展伸缩 ：一分为二/合二为一</vt:lpstr>
      <vt:lpstr>故障恢复</vt:lpstr>
      <vt:lpstr>服务的监测：在线与否，响应时间，吞吐量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1</dc:title>
  <dc:creator>Thomas Connolly &amp; Carolyn Begg</dc:creator>
  <dc:description>Transparencies for Chapter 1 of textbook
Database Systems: A Practical Approach to Design, Implementation, and Management</dc:description>
  <dc:subject>Database Systems</dc:subject>
  <cp:lastModifiedBy>ACAね</cp:lastModifiedBy>
  <cp:revision>629</cp:revision>
  <cp:lastPrinted>2026-01-01T02:11:09Z</cp:lastPrinted>
  <dcterms:created xsi:type="dcterms:W3CDTF">2026-01-01T02:11:09Z</dcterms:created>
  <dcterms:modified xsi:type="dcterms:W3CDTF">2026-01-01T02:11:09Z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2052-12.1.24031.24031</vt:lpwstr>
  </property>
  <property fmtid="{D5CDD505-2E9C-101B-9397-08002B2CF9AE}" pid="3" name="ICV">
    <vt:lpwstr>C404DD5A08C942149A4BFEF06606B520_13</vt:lpwstr>
  </property>
</Properties>
</file>