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rels" ContentType="application/vnd.openxmlformats-package.relationships+xml"/>
  <Override PartName="/customXml/itemProps6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257" r:id="rId3"/>
    <p:sldId id="258" r:id="rId5"/>
    <p:sldId id="259" r:id="rId6"/>
    <p:sldId id="260" r:id="rId7"/>
    <p:sldId id="261" r:id="rId8"/>
    <p:sldId id="262" r:id="rId9"/>
    <p:sldId id="263" r:id="rId10"/>
    <p:sldId id="264" r:id="rId11"/>
    <p:sldId id="265" r:id="rId12"/>
    <p:sldId id="266" r:id="rId13"/>
    <p:sldId id="268" r:id="rId14"/>
    <p:sldId id="269" r:id="rId15"/>
    <p:sldId id="270" r:id="rId16"/>
    <p:sldId id="272" r:id="rId17"/>
    <p:sldId id="273" r:id="rId18"/>
    <p:sldId id="274" r:id="rId19"/>
    <p:sldId id="275" r:id="rId20"/>
    <p:sldId id="278" r:id="rId21"/>
    <p:sldId id="281" r:id="rId22"/>
    <p:sldId id="282" r:id="rId23"/>
    <p:sldId id="280" r:id="rId24"/>
    <p:sldId id="283" r:id="rId25"/>
  </p:sldIdLst>
  <p:sldSz cx="12192000" cy="68580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2" userDrawn="1">
          <p15:clr>
            <a:srgbClr val="A4A3A4"/>
          </p15:clr>
        </p15:guide>
        <p15:guide id="2" pos="3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332"/>
        <p:guide pos="383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customXml" Target="../customXml/item1.xml"/><Relationship Id="rId30" Type="http://schemas.openxmlformats.org/officeDocument/2006/relationships/customXmlProps" Target="../customXml/itemProps64.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81" name=""/>
        <p:cNvGrpSpPr/>
        <p:nvPr/>
      </p:nvGrpSpPr>
      <p:grpSpPr>
        <a:xfrm>
          <a:off x="0" y="0"/>
          <a:ext cx="0" cy="0"/>
          <a:chOff x="0" y="0"/>
          <a:chExt cx="0" cy="0"/>
        </a:xfrm>
      </p:grpSpPr>
      <p:sp>
        <p:nvSpPr>
          <p:cNvPr id="104875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51"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1048752"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53"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0" name=""/>
        <p:cNvGrpSpPr/>
        <p:nvPr/>
      </p:nvGrpSpPr>
      <p:grpSpPr>
        <a:xfrm>
          <a:off x="0" y="0"/>
          <a:ext cx="0" cy="0"/>
          <a:chOff x="0" y="0"/>
          <a:chExt cx="0" cy="0"/>
        </a:xfrm>
      </p:grpSpPr>
      <p:sp>
        <p:nvSpPr>
          <p:cNvPr id="1048744"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45"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8746"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8747"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748"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49"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p:sp>
        <p:nvSpPr>
          <p:cNvPr id="1048591" name="幻灯片图像占位符 1"/>
          <p:cNvSpPr>
            <a:spLocks noGrp="1"/>
          </p:cNvSpPr>
          <p:nvPr>
            <p:ph type="sldImg" idx="2"/>
          </p:nvPr>
        </p:nvSpPr>
        <p:spPr/>
      </p:sp>
      <p:sp>
        <p:nvSpPr>
          <p:cNvPr id="1048592"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参数量从</a:t>
            </a:r>
            <a:r>
              <a:rPr lang="en-US" altLang="zh-CN"/>
              <a:t>350M</a:t>
            </a:r>
            <a:r>
              <a:rPr lang="zh-CN" altLang="en-US"/>
              <a:t>到</a:t>
            </a:r>
            <a:r>
              <a:rPr lang="en-US" altLang="zh-CN"/>
              <a:t>7</a:t>
            </a:r>
            <a:r>
              <a:rPr lang="en-US" altLang="zh-CN"/>
              <a:t>B</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这些发现表明，</a:t>
            </a:r>
            <a:r>
              <a:rPr lang="en-US" altLang="zh-CN"/>
              <a:t>Neuralink</a:t>
            </a:r>
            <a:r>
              <a:rPr lang="zh-CN" altLang="en-US"/>
              <a:t>在各种稀疏度水平下有效地将</a:t>
            </a:r>
            <a:r>
              <a:rPr lang="en-US" altLang="zh-CN"/>
              <a:t>I/O</a:t>
            </a:r>
            <a:r>
              <a:rPr lang="zh-CN" altLang="en-US"/>
              <a:t>瓶颈从</a:t>
            </a:r>
            <a:r>
              <a:rPr lang="en-US" altLang="zh-CN"/>
              <a:t>IOPS</a:t>
            </a:r>
            <a:r>
              <a:rPr lang="zh-CN" altLang="en-US"/>
              <a:t>转移到带宽。</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统计</a:t>
            </a:r>
            <a:r>
              <a:rPr lang="en-US" altLang="zh-CN"/>
              <a:t> </a:t>
            </a:r>
            <a:r>
              <a:rPr lang="zh-CN" altLang="en-US"/>
              <a:t>每生成</a:t>
            </a:r>
            <a:r>
              <a:rPr lang="en-US" altLang="zh-CN"/>
              <a:t> 1 </a:t>
            </a:r>
            <a:r>
              <a:rPr lang="zh-CN" altLang="en-US"/>
              <a:t>个</a:t>
            </a:r>
            <a:r>
              <a:rPr lang="en-US" altLang="zh-CN"/>
              <a:t> token </a:t>
            </a:r>
            <a:r>
              <a:rPr lang="zh-CN" altLang="en-US"/>
              <a:t>时，从</a:t>
            </a:r>
            <a:r>
              <a:rPr lang="en-US" altLang="zh-CN"/>
              <a:t> Flash </a:t>
            </a:r>
            <a:r>
              <a:rPr lang="zh-CN" altLang="en-US"/>
              <a:t>读取的每一次</a:t>
            </a:r>
            <a:r>
              <a:rPr lang="en-US" altLang="zh-CN"/>
              <a:t>“</a:t>
            </a:r>
            <a:r>
              <a:rPr lang="zh-CN" altLang="en-US"/>
              <a:t>连续访问</a:t>
            </a:r>
            <a:r>
              <a:rPr lang="en-US" altLang="zh-CN"/>
              <a:t>”</a:t>
            </a:r>
            <a:r>
              <a:rPr lang="zh-CN" altLang="en-US"/>
              <a:t>长度，横轴是</a:t>
            </a:r>
            <a:r>
              <a:rPr lang="en-US" altLang="zh-CN"/>
              <a:t>“</a:t>
            </a:r>
            <a:r>
              <a:rPr lang="zh-CN" altLang="en-US"/>
              <a:t>长度区间</a:t>
            </a:r>
            <a:r>
              <a:rPr lang="en-US" altLang="zh-CN"/>
              <a:t>”</a:t>
            </a:r>
            <a:r>
              <a:rPr lang="zh-CN" altLang="en-US"/>
              <a:t>纵轴是发生次数，越高说明这种长度的访问越多</a:t>
            </a:r>
            <a:br>
              <a:rPr lang="zh-CN" altLang="en-US"/>
            </a:br>
            <a:r>
              <a:rPr lang="zh-CN" altLang="en-US"/>
              <a:t>短访问区间：绿色最高，其次黄色，蓝色最低</a:t>
            </a:r>
            <a:br>
              <a:rPr lang="zh-CN" altLang="en-US"/>
            </a:br>
            <a:r>
              <a:rPr lang="zh-CN" altLang="en-US"/>
              <a:t>中长访问区间：蓝色柱子明显高于其他</a:t>
            </a:r>
            <a:endParaRPr lang="zh-CN" altLang="en-US"/>
          </a:p>
          <a:p>
            <a:r>
              <a:rPr lang="zh-CN" altLang="en-US"/>
              <a:t>右下图</a:t>
            </a:r>
            <a:r>
              <a:rPr lang="zh-CN" altLang="en-US"/>
              <a:t>是神经放置搜索算法在不同</a:t>
            </a:r>
            <a:r>
              <a:rPr lang="en-US" altLang="zh-CN"/>
              <a:t>LLM</a:t>
            </a:r>
            <a:r>
              <a:rPr lang="zh-CN" altLang="en-US"/>
              <a:t>和数据集上离线执行时间</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未来</a:t>
            </a:r>
            <a:r>
              <a:rPr lang="zh-CN" altLang="en-US"/>
              <a:t>可探索在线自适应的模式学习机制，以及设计更精细的混合粒度缓存算法以平衡</a:t>
            </a:r>
            <a:r>
              <a:rPr lang="en-US" altLang="zh-CN"/>
              <a:t> I/O </a:t>
            </a:r>
            <a:r>
              <a:rPr lang="zh-CN" altLang="en-US"/>
              <a:t>连续性与内存利用率。</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26" name=""/>
        <p:cNvGrpSpPr/>
        <p:nvPr/>
      </p:nvGrpSpPr>
      <p:grpSpPr>
        <a:xfrm>
          <a:off x="0" y="0"/>
          <a:ext cx="0" cy="0"/>
          <a:chOff x="0" y="0"/>
          <a:chExt cx="0" cy="0"/>
        </a:xfrm>
      </p:grpSpPr>
      <p:sp>
        <p:nvSpPr>
          <p:cNvPr id="1048581"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1048582"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048583" name="日期占位符 15"/>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584" name="页脚占位符 16"/>
          <p:cNvSpPr>
            <a:spLocks noGrp="1"/>
          </p:cNvSpPr>
          <p:nvPr>
            <p:ph type="ftr" sz="quarter" idx="11"/>
            <p:custDataLst>
              <p:tags r:id="rId5"/>
            </p:custDataLst>
          </p:nvPr>
        </p:nvSpPr>
        <p:spPr/>
        <p:txBody>
          <a:bodyPr/>
          <a:p>
            <a:endParaRPr lang="zh-CN" altLang="en-US" dirty="0"/>
          </a:p>
        </p:txBody>
      </p:sp>
      <p:sp>
        <p:nvSpPr>
          <p:cNvPr id="1048585" name="灯片编号占位符 17"/>
          <p:cNvSpPr>
            <a:spLocks noGrp="1"/>
          </p:cNvSpPr>
          <p:nvPr>
            <p:ph type="sldNum" sz="quarter" idx="12"/>
            <p:custDataLst>
              <p:tags r:id="rId6"/>
            </p:custDataLst>
          </p:nvPr>
        </p:nvSpPr>
        <p:spPr/>
        <p:txBody>
          <a:bodyPr/>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73" name=""/>
        <p:cNvGrpSpPr/>
        <p:nvPr/>
      </p:nvGrpSpPr>
      <p:grpSpPr>
        <a:xfrm>
          <a:off x="0" y="0"/>
          <a:ext cx="0" cy="0"/>
          <a:chOff x="0" y="0"/>
          <a:chExt cx="0" cy="0"/>
        </a:xfrm>
      </p:grpSpPr>
      <p:sp>
        <p:nvSpPr>
          <p:cNvPr id="1048705"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706"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707"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708" name="页脚占位符 4"/>
          <p:cNvSpPr>
            <a:spLocks noGrp="1"/>
          </p:cNvSpPr>
          <p:nvPr>
            <p:ph type="ftr" sz="quarter" idx="11"/>
            <p:custDataLst>
              <p:tags r:id="rId5"/>
            </p:custDataLst>
          </p:nvPr>
        </p:nvSpPr>
        <p:spPr/>
        <p:txBody>
          <a:bodyPr/>
          <a:p>
            <a:endParaRPr lang="zh-CN" altLang="en-US"/>
          </a:p>
        </p:txBody>
      </p:sp>
      <p:sp>
        <p:nvSpPr>
          <p:cNvPr id="1048709"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76" name=""/>
        <p:cNvGrpSpPr/>
        <p:nvPr/>
      </p:nvGrpSpPr>
      <p:grpSpPr>
        <a:xfrm>
          <a:off x="0" y="0"/>
          <a:ext cx="0" cy="0"/>
          <a:chOff x="0" y="0"/>
          <a:chExt cx="0" cy="0"/>
        </a:xfrm>
      </p:grpSpPr>
      <p:sp>
        <p:nvSpPr>
          <p:cNvPr id="1048719"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1048720"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721"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722" name="页脚占位符 4"/>
          <p:cNvSpPr>
            <a:spLocks noGrp="1"/>
          </p:cNvSpPr>
          <p:nvPr>
            <p:ph type="ftr" sz="quarter" idx="11"/>
            <p:custDataLst>
              <p:tags r:id="rId5"/>
            </p:custDataLst>
          </p:nvPr>
        </p:nvSpPr>
        <p:spPr/>
        <p:txBody>
          <a:bodyPr/>
          <a:p>
            <a:endParaRPr lang="zh-CN" altLang="en-US"/>
          </a:p>
        </p:txBody>
      </p:sp>
      <p:sp>
        <p:nvSpPr>
          <p:cNvPr id="1048723"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77" name=""/>
        <p:cNvGrpSpPr/>
        <p:nvPr/>
      </p:nvGrpSpPr>
      <p:grpSpPr>
        <a:xfrm>
          <a:off x="0" y="0"/>
          <a:ext cx="0" cy="0"/>
          <a:chOff x="0" y="0"/>
          <a:chExt cx="0" cy="0"/>
        </a:xfrm>
      </p:grpSpPr>
      <p:sp>
        <p:nvSpPr>
          <p:cNvPr id="1048724"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725"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726"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27" name="日期占位符 4"/>
          <p:cNvSpPr>
            <a:spLocks noGrp="1"/>
          </p:cNvSpPr>
          <p:nvPr>
            <p:ph type="dt" sz="half" idx="10"/>
            <p:custDataLst>
              <p:tags r:id="rId5"/>
            </p:custDataLst>
          </p:nvPr>
        </p:nvSpPr>
        <p:spPr/>
        <p:txBody>
          <a:bodyPr/>
          <a:p>
            <a:fld id="{760FBDFE-C587-4B4C-A407-44438C67B59E}" type="datetimeFigureOut">
              <a:rPr lang="zh-CN" altLang="en-US" smtClean="0"/>
            </a:fld>
            <a:endParaRPr lang="zh-CN" altLang="en-US"/>
          </a:p>
        </p:txBody>
      </p:sp>
      <p:sp>
        <p:nvSpPr>
          <p:cNvPr id="1048728" name="页脚占位符 5"/>
          <p:cNvSpPr>
            <a:spLocks noGrp="1"/>
          </p:cNvSpPr>
          <p:nvPr>
            <p:ph type="ftr" sz="quarter" idx="11"/>
            <p:custDataLst>
              <p:tags r:id="rId6"/>
            </p:custDataLst>
          </p:nvPr>
        </p:nvSpPr>
        <p:spPr/>
        <p:txBody>
          <a:bodyPr/>
          <a:p>
            <a:endParaRPr lang="zh-CN" altLang="en-US"/>
          </a:p>
        </p:txBody>
      </p:sp>
      <p:sp>
        <p:nvSpPr>
          <p:cNvPr id="1048729" name="灯片编号占位符 6"/>
          <p:cNvSpPr>
            <a:spLocks noGrp="1"/>
          </p:cNvSpPr>
          <p:nvPr>
            <p:ph type="sldNum" sz="quarter" idx="12"/>
            <p:custDataLst>
              <p:tags r:id="rId7"/>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78" name=""/>
        <p:cNvGrpSpPr/>
        <p:nvPr/>
      </p:nvGrpSpPr>
      <p:grpSpPr>
        <a:xfrm>
          <a:off x="0" y="0"/>
          <a:ext cx="0" cy="0"/>
          <a:chOff x="0" y="0"/>
          <a:chExt cx="0" cy="0"/>
        </a:xfrm>
      </p:grpSpPr>
      <p:sp>
        <p:nvSpPr>
          <p:cNvPr id="1048730"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731"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732"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733"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1048734"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735" name="日期占位符 6"/>
          <p:cNvSpPr>
            <a:spLocks noGrp="1"/>
          </p:cNvSpPr>
          <p:nvPr>
            <p:ph type="dt" sz="half" idx="10"/>
            <p:custDataLst>
              <p:tags r:id="rId7"/>
            </p:custDataLst>
          </p:nvPr>
        </p:nvSpPr>
        <p:spPr/>
        <p:txBody>
          <a:bodyPr/>
          <a:p>
            <a:fld id="{760FBDFE-C587-4B4C-A407-44438C67B59E}" type="datetimeFigureOut">
              <a:rPr lang="zh-CN" altLang="en-US" smtClean="0"/>
            </a:fld>
            <a:endParaRPr lang="zh-CN" altLang="en-US"/>
          </a:p>
        </p:txBody>
      </p:sp>
      <p:sp>
        <p:nvSpPr>
          <p:cNvPr id="1048736" name="页脚占位符 7"/>
          <p:cNvSpPr>
            <a:spLocks noGrp="1"/>
          </p:cNvSpPr>
          <p:nvPr>
            <p:ph type="ftr" sz="quarter" idx="11"/>
            <p:custDataLst>
              <p:tags r:id="rId8"/>
            </p:custDataLst>
          </p:nvPr>
        </p:nvSpPr>
        <p:spPr/>
        <p:txBody>
          <a:bodyPr/>
          <a:p>
            <a:endParaRPr lang="zh-CN" altLang="en-US"/>
          </a:p>
        </p:txBody>
      </p:sp>
      <p:sp>
        <p:nvSpPr>
          <p:cNvPr id="1048737" name="灯片编号占位符 8"/>
          <p:cNvSpPr>
            <a:spLocks noGrp="1"/>
          </p:cNvSpPr>
          <p:nvPr>
            <p:ph type="sldNum" sz="quarter" idx="12"/>
            <p:custDataLst>
              <p:tags r:id="rId9"/>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71" name=""/>
        <p:cNvGrpSpPr/>
        <p:nvPr/>
      </p:nvGrpSpPr>
      <p:grpSpPr>
        <a:xfrm>
          <a:off x="0" y="0"/>
          <a:ext cx="0" cy="0"/>
          <a:chOff x="0" y="0"/>
          <a:chExt cx="0" cy="0"/>
        </a:xfrm>
      </p:grpSpPr>
      <p:sp>
        <p:nvSpPr>
          <p:cNvPr id="1048696"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697" name="日期占位符 2"/>
          <p:cNvSpPr>
            <a:spLocks noGrp="1"/>
          </p:cNvSpPr>
          <p:nvPr>
            <p:ph type="dt" sz="half" idx="10"/>
            <p:custDataLst>
              <p:tags r:id="rId3"/>
            </p:custDataLst>
          </p:nvPr>
        </p:nvSpPr>
        <p:spPr/>
        <p:txBody>
          <a:bodyPr/>
          <a:p>
            <a:fld id="{760FBDFE-C587-4B4C-A407-44438C67B59E}" type="datetimeFigureOut">
              <a:rPr lang="zh-CN" altLang="en-US" smtClean="0"/>
            </a:fld>
            <a:endParaRPr lang="zh-CN" altLang="en-US"/>
          </a:p>
        </p:txBody>
      </p:sp>
      <p:sp>
        <p:nvSpPr>
          <p:cNvPr id="1048698" name="页脚占位符 3"/>
          <p:cNvSpPr>
            <a:spLocks noGrp="1"/>
          </p:cNvSpPr>
          <p:nvPr>
            <p:ph type="ftr" sz="quarter" idx="11"/>
            <p:custDataLst>
              <p:tags r:id="rId4"/>
            </p:custDataLst>
          </p:nvPr>
        </p:nvSpPr>
        <p:spPr/>
        <p:txBody>
          <a:bodyPr/>
          <a:p>
            <a:endParaRPr lang="zh-CN" altLang="en-US"/>
          </a:p>
        </p:txBody>
      </p:sp>
      <p:sp>
        <p:nvSpPr>
          <p:cNvPr id="1048699" name="灯片编号占位符 4"/>
          <p:cNvSpPr>
            <a:spLocks noGrp="1"/>
          </p:cNvSpPr>
          <p:nvPr>
            <p:ph type="sldNum" sz="quarter" idx="12"/>
            <p:custDataLst>
              <p:tags r:id="rId5"/>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3" name=""/>
        <p:cNvGrpSpPr/>
        <p:nvPr/>
      </p:nvGrpSpPr>
      <p:grpSpPr>
        <a:xfrm>
          <a:off x="0" y="0"/>
          <a:ext cx="0" cy="0"/>
          <a:chOff x="0" y="0"/>
          <a:chExt cx="0" cy="0"/>
        </a:xfrm>
      </p:grpSpPr>
      <p:sp>
        <p:nvSpPr>
          <p:cNvPr id="1048593" name="日期占位符 1"/>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594" name="页脚占位符 2"/>
          <p:cNvSpPr>
            <a:spLocks noGrp="1"/>
          </p:cNvSpPr>
          <p:nvPr>
            <p:ph type="ftr" sz="quarter" idx="11"/>
            <p:custDataLst>
              <p:tags r:id="rId3"/>
            </p:custDataLst>
          </p:nvPr>
        </p:nvSpPr>
        <p:spPr/>
        <p:txBody>
          <a:bodyPr/>
          <a:p>
            <a:endParaRPr lang="zh-CN" altLang="en-US"/>
          </a:p>
        </p:txBody>
      </p:sp>
      <p:sp>
        <p:nvSpPr>
          <p:cNvPr id="1048595" name="灯片编号占位符 3"/>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79" name=""/>
        <p:cNvGrpSpPr/>
        <p:nvPr/>
      </p:nvGrpSpPr>
      <p:grpSpPr>
        <a:xfrm>
          <a:off x="0" y="0"/>
          <a:ext cx="0" cy="0"/>
          <a:chOff x="0" y="0"/>
          <a:chExt cx="0" cy="0"/>
        </a:xfrm>
      </p:grpSpPr>
      <p:sp>
        <p:nvSpPr>
          <p:cNvPr id="1048738"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1048739"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1048740" name="日期占位符 4"/>
          <p:cNvSpPr>
            <a:spLocks noGrp="1"/>
          </p:cNvSpPr>
          <p:nvPr>
            <p:ph type="dt" sz="half" idx="10"/>
            <p:custDataLst>
              <p:tags r:id="rId4"/>
            </p:custDataLst>
          </p:nvPr>
        </p:nvSpPr>
        <p:spPr/>
        <p:txBody>
          <a:bodyPr/>
          <a:p>
            <a:fld id="{9EFD9D74-47D9-4702-A33C-335B63B48DBF}" type="datetimeFigureOut">
              <a:rPr lang="zh-CN" altLang="en-US" smtClean="0"/>
            </a:fld>
            <a:endParaRPr lang="zh-CN" altLang="en-US" dirty="0"/>
          </a:p>
        </p:txBody>
      </p:sp>
      <p:sp>
        <p:nvSpPr>
          <p:cNvPr id="1048741" name="页脚占位符 5"/>
          <p:cNvSpPr>
            <a:spLocks noGrp="1"/>
          </p:cNvSpPr>
          <p:nvPr>
            <p:ph type="ftr" sz="quarter" idx="11"/>
            <p:custDataLst>
              <p:tags r:id="rId5"/>
            </p:custDataLst>
          </p:nvPr>
        </p:nvSpPr>
        <p:spPr/>
        <p:txBody>
          <a:bodyPr/>
          <a:p>
            <a:endParaRPr lang="zh-CN" altLang="en-US" dirty="0"/>
          </a:p>
        </p:txBody>
      </p:sp>
      <p:sp>
        <p:nvSpPr>
          <p:cNvPr id="1048742" name="灯片编号占位符 6"/>
          <p:cNvSpPr>
            <a:spLocks noGrp="1"/>
          </p:cNvSpPr>
          <p:nvPr>
            <p:ph type="sldNum" sz="quarter" idx="12"/>
            <p:custDataLst>
              <p:tags r:id="rId6"/>
            </p:custDataLst>
          </p:nvPr>
        </p:nvSpPr>
        <p:spPr/>
        <p:txBody>
          <a:bodyPr/>
          <a:p>
            <a:fld id="{FABC47A4-756D-490B-A52F-7D9E2C9FC05F}" type="slidenum">
              <a:rPr lang="zh-CN" altLang="en-US" smtClean="0"/>
            </a:fld>
            <a:endParaRPr lang="zh-CN" altLang="en-US"/>
          </a:p>
        </p:txBody>
      </p:sp>
      <p:sp>
        <p:nvSpPr>
          <p:cNvPr id="1048743"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74" name=""/>
        <p:cNvGrpSpPr/>
        <p:nvPr/>
      </p:nvGrpSpPr>
      <p:grpSpPr>
        <a:xfrm>
          <a:off x="0" y="0"/>
          <a:ext cx="0" cy="0"/>
          <a:chOff x="0" y="0"/>
          <a:chExt cx="0" cy="0"/>
        </a:xfrm>
      </p:grpSpPr>
      <p:sp>
        <p:nvSpPr>
          <p:cNvPr id="1048710"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1048711"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2"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713" name="页脚占位符 4"/>
          <p:cNvSpPr>
            <a:spLocks noGrp="1"/>
          </p:cNvSpPr>
          <p:nvPr>
            <p:ph type="ftr" sz="quarter" idx="11"/>
            <p:custDataLst>
              <p:tags r:id="rId5"/>
            </p:custDataLst>
          </p:nvPr>
        </p:nvSpPr>
        <p:spPr/>
        <p:txBody>
          <a:bodyPr/>
          <a:p>
            <a:endParaRPr lang="zh-CN" altLang="en-US"/>
          </a:p>
        </p:txBody>
      </p:sp>
      <p:sp>
        <p:nvSpPr>
          <p:cNvPr id="1048714"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75" name=""/>
        <p:cNvGrpSpPr/>
        <p:nvPr/>
      </p:nvGrpSpPr>
      <p:grpSpPr>
        <a:xfrm>
          <a:off x="0" y="0"/>
          <a:ext cx="0" cy="0"/>
          <a:chOff x="0" y="0"/>
          <a:chExt cx="0" cy="0"/>
        </a:xfrm>
      </p:grpSpPr>
      <p:sp>
        <p:nvSpPr>
          <p:cNvPr id="1048715" name="日期占位符 2"/>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716" name="页脚占位符 3"/>
          <p:cNvSpPr>
            <a:spLocks noGrp="1"/>
          </p:cNvSpPr>
          <p:nvPr>
            <p:ph type="ftr" sz="quarter" idx="11"/>
            <p:custDataLst>
              <p:tags r:id="rId3"/>
            </p:custDataLst>
          </p:nvPr>
        </p:nvSpPr>
        <p:spPr/>
        <p:txBody>
          <a:bodyPr/>
          <a:p>
            <a:endParaRPr lang="zh-CN" altLang="en-US"/>
          </a:p>
        </p:txBody>
      </p:sp>
      <p:sp>
        <p:nvSpPr>
          <p:cNvPr id="1048717" name="灯片编号占位符 4"/>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
        <p:nvSpPr>
          <p:cNvPr id="1048718" name="内容占位符 6"/>
          <p:cNvSpPr>
            <a:spLocks noGrp="1"/>
          </p:cNvSpPr>
          <p:nvPr>
            <p:ph sz="quarter" idx="13"/>
            <p:custDataLst>
              <p:tags r:id="rId5"/>
            </p:custDataLst>
          </p:nvPr>
        </p:nvSpPr>
        <p:spPr>
          <a:xfrm>
            <a:off x="608400" y="774000"/>
            <a:ext cx="10972800" cy="5482800"/>
          </a:xfrm>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72" name=""/>
        <p:cNvGrpSpPr/>
        <p:nvPr/>
      </p:nvGrpSpPr>
      <p:grpSpPr>
        <a:xfrm>
          <a:off x="0" y="0"/>
          <a:ext cx="0" cy="0"/>
          <a:chOff x="0" y="0"/>
          <a:chExt cx="0" cy="0"/>
        </a:xfrm>
      </p:grpSpPr>
      <p:sp>
        <p:nvSpPr>
          <p:cNvPr id="1048700" name="日期占位符 2"/>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701" name="页脚占位符 3"/>
          <p:cNvSpPr>
            <a:spLocks noGrp="1"/>
          </p:cNvSpPr>
          <p:nvPr>
            <p:ph type="ftr" sz="quarter" idx="11"/>
            <p:custDataLst>
              <p:tags r:id="rId3"/>
            </p:custDataLst>
          </p:nvPr>
        </p:nvSpPr>
        <p:spPr/>
        <p:txBody>
          <a:bodyPr/>
          <a:p>
            <a:endParaRPr lang="zh-CN" altLang="en-US"/>
          </a:p>
        </p:txBody>
      </p:sp>
      <p:sp>
        <p:nvSpPr>
          <p:cNvPr id="1048702" name="灯片编号占位符 4"/>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
        <p:nvSpPr>
          <p:cNvPr id="1048703"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1048704"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2_仅标题">
    <p:spTree>
      <p:nvGrpSpPr>
        <p:cNvPr id="46" name=""/>
        <p:cNvGrpSpPr/>
        <p:nvPr/>
      </p:nvGrpSpPr>
      <p:grpSpPr>
        <a:xfrm>
          <a:off x="0" y="0"/>
          <a:ext cx="0" cy="0"/>
          <a:chOff x="0" y="0"/>
          <a:chExt cx="0" cy="0"/>
        </a:xfrm>
      </p:grpSpPr>
      <p:sp>
        <p:nvSpPr>
          <p:cNvPr id="1048602" name="Title Text"/>
          <p:cNvSpPr txBox="1">
            <a:spLocks noGrp="1"/>
          </p:cNvSpPr>
          <p:nvPr>
            <p:ph type="title" hasCustomPrompt="1"/>
          </p:nvPr>
        </p:nvSpPr>
        <p:spPr>
          <a:xfrm>
            <a:off x="1209303" y="356657"/>
            <a:ext cx="7863029" cy="440677"/>
          </a:xfrm>
          <a:prstGeom prst="rect">
            <a:avLst/>
          </a:prstGeom>
        </p:spPr>
        <p:txBody>
          <a:bodyPr lIns="34290" tIns="34290" rIns="34290" bIns="34290"/>
          <a:lstStyle>
            <a:lvl1pPr algn="l" defTabSz="514350">
              <a:lnSpc>
                <a:spcPct val="90000"/>
              </a:lnSpc>
              <a:defRPr sz="2665">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Title Text</a:t>
            </a:r>
          </a:p>
        </p:txBody>
      </p:sp>
      <p:sp>
        <p:nvSpPr>
          <p:cNvPr id="1048603" name="直接连接符 11"/>
          <p:cNvSpPr/>
          <p:nvPr/>
        </p:nvSpPr>
        <p:spPr>
          <a:xfrm flipV="1">
            <a:off x="1270836" y="872083"/>
            <a:ext cx="10479240" cy="3"/>
          </a:xfrm>
          <a:prstGeom prst="line">
            <a:avLst/>
          </a:prstGeom>
          <a:ln w="15875">
            <a:solidFill>
              <a:schemeClr val="accent1"/>
            </a:solidFill>
          </a:ln>
        </p:spPr>
        <p:txBody>
          <a:bodyPr lIns="0" tIns="0" rIns="0" bIns="0"/>
          <a:p>
            <a:endParaRPr sz="2400"/>
          </a:p>
        </p:txBody>
      </p:sp>
      <p:grpSp>
        <p:nvGrpSpPr>
          <p:cNvPr id="47" name="组合 13"/>
          <p:cNvGrpSpPr/>
          <p:nvPr/>
        </p:nvGrpSpPr>
        <p:grpSpPr>
          <a:xfrm>
            <a:off x="527433" y="331257"/>
            <a:ext cx="528001" cy="528001"/>
            <a:chOff x="0" y="0"/>
            <a:chExt cx="395999" cy="395999"/>
          </a:xfrm>
        </p:grpSpPr>
        <p:sp>
          <p:nvSpPr>
            <p:cNvPr id="1048604" name="矩形 14"/>
            <p:cNvSpPr/>
            <p:nvPr/>
          </p:nvSpPr>
          <p:spPr>
            <a:xfrm>
              <a:off x="-1" y="-1"/>
              <a:ext cx="326094" cy="336419"/>
            </a:xfrm>
            <a:prstGeom prst="rect">
              <a:avLst/>
            </a:prstGeom>
            <a:noFill/>
            <a:ln w="19050" cap="flat">
              <a:solidFill>
                <a:schemeClr val="accent1"/>
              </a:solidFill>
              <a:prstDash val="solid"/>
              <a:round/>
            </a:ln>
            <a:effectLst/>
          </p:spPr>
          <p:txBody>
            <a:bodyPr wrap="square" lIns="0" tIns="0" rIns="0" bIns="0" numCol="1" anchor="ctr">
              <a:noAutofit/>
            </a:bodyPr>
            <a:p>
              <a:pPr algn="ctr">
                <a:defRPr>
                  <a:solidFill>
                    <a:srgbClr val="FFFFFF"/>
                  </a:solidFill>
                </a:defRPr>
              </a:pPr>
              <a:endParaRPr sz="2400"/>
            </a:p>
          </p:txBody>
        </p:sp>
        <p:sp>
          <p:nvSpPr>
            <p:cNvPr id="1048605" name="矩形 15"/>
            <p:cNvSpPr/>
            <p:nvPr/>
          </p:nvSpPr>
          <p:spPr>
            <a:xfrm>
              <a:off x="186359" y="183900"/>
              <a:ext cx="209641" cy="212100"/>
            </a:xfrm>
            <a:prstGeom prst="rect">
              <a:avLst/>
            </a:prstGeom>
            <a:solidFill>
              <a:schemeClr val="accent1"/>
            </a:solidFill>
            <a:ln w="12700" cap="flat">
              <a:noFill/>
              <a:miter lim="400000"/>
            </a:ln>
            <a:effectLst/>
          </p:spPr>
          <p:txBody>
            <a:bodyPr wrap="square" lIns="0" tIns="0" rIns="0" bIns="0" numCol="1" anchor="ctr">
              <a:noAutofit/>
            </a:bodyPr>
            <a:p>
              <a:pPr algn="ctr">
                <a:defRPr>
                  <a:solidFill>
                    <a:srgbClr val="FFFFFF"/>
                  </a:solidFill>
                </a:defRPr>
              </a:pPr>
              <a:endParaRPr sz="2400"/>
            </a:p>
          </p:txBody>
        </p:sp>
      </p:grpSp>
      <p:pic>
        <p:nvPicPr>
          <p:cNvPr id="2097154" name="图片 5" descr="图片 5"/>
          <p:cNvPicPr>
            <a:picLocks noChangeAspect="1"/>
          </p:cNvPicPr>
          <p:nvPr/>
        </p:nvPicPr>
        <p:blipFill>
          <a:blip r:embed="rId2"/>
          <a:stretch>
            <a:fillRect/>
          </a:stretch>
        </p:blipFill>
        <p:spPr>
          <a:xfrm>
            <a:off x="9963573" y="120225"/>
            <a:ext cx="1705188" cy="676489"/>
          </a:xfrm>
          <a:prstGeom prst="rect">
            <a:avLst/>
          </a:prstGeom>
          <a:ln w="12700">
            <a:miter lim="400000"/>
            <a:headEnd/>
            <a:tailEnd/>
          </a:ln>
        </p:spPr>
      </p:pic>
      <p:sp>
        <p:nvSpPr>
          <p:cNvPr id="1048606" name="Slide Number"/>
          <p:cNvSpPr txBox="1">
            <a:spLocks noGrp="1"/>
          </p:cNvSpPr>
          <p:nvPr>
            <p:ph type="sldNum" sz="quarter" idx="2"/>
          </p:nvPr>
        </p:nvSpPr>
        <p:spPr>
          <a:xfrm>
            <a:off x="10567255" y="6375369"/>
            <a:ext cx="370525" cy="424071"/>
          </a:xfrm>
          <a:prstGeom prst="rect">
            <a:avLst/>
          </a:prstGeom>
        </p:spPr>
        <p:txBody>
          <a:bodyPr/>
          <a:lstStyle>
            <a:lvl1pPr algn="ctr">
              <a:defRPr sz="1865">
                <a:latin typeface="Impact" panose="020B0806030902050204"/>
                <a:ea typeface="Impact" panose="020B0806030902050204"/>
                <a:cs typeface="Impact" panose="020B0806030902050204"/>
                <a:sym typeface="Impact" panose="020B0806030902050204"/>
              </a:defRPr>
            </a:lvl1p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p>
            <a:r>
              <a:rPr lang="zh-CN" altLang="en-US" dirty="0"/>
              <a:t>单击此处编辑母版标题样式</a:t>
            </a:r>
            <a:endParaRPr lang="zh-CN" altLang="en-US" dirty="0"/>
          </a:p>
        </p:txBody>
      </p:sp>
      <p:sp>
        <p:nvSpPr>
          <p:cNvPr id="1048577"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048579"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2.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1.vml"/><Relationship Id="rId7"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wmf"/><Relationship Id="rId4" Type="http://schemas.openxmlformats.org/officeDocument/2006/relationships/oleObject" Target="../embeddings/oleObject1.bin"/><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vmlDrawing" Target="../drawings/vmlDrawing2.vml"/><Relationship Id="rId6"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4.wmf"/><Relationship Id="rId2" Type="http://schemas.openxmlformats.org/officeDocument/2006/relationships/oleObject" Target="../embeddings/oleObject2.bin"/><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3.vml"/><Relationship Id="rId7"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4.wmf"/><Relationship Id="rId2" Type="http://schemas.openxmlformats.org/officeDocument/2006/relationships/oleObject" Target="../embeddings/oleObject3.bin"/><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86" name="矩形 3"/>
          <p:cNvSpPr/>
          <p:nvPr/>
        </p:nvSpPr>
        <p:spPr>
          <a:xfrm>
            <a:off x="0" y="1590040"/>
            <a:ext cx="12197080" cy="211709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kumimoji="1" lang="zh-CN" altLang="en-US"/>
          </a:p>
        </p:txBody>
      </p:sp>
      <p:sp>
        <p:nvSpPr>
          <p:cNvPr id="1048587" name="Text Box 6"/>
          <p:cNvSpPr txBox="1"/>
          <p:nvPr/>
        </p:nvSpPr>
        <p:spPr>
          <a:xfrm>
            <a:off x="901700" y="1864360"/>
            <a:ext cx="10394315" cy="1691640"/>
          </a:xfrm>
          <a:prstGeom prst="rect">
            <a:avLst/>
          </a:prstGeom>
          <a:noFill/>
        </p:spPr>
        <p:txBody>
          <a:bodyPr wrap="square" rtlCol="0">
            <a:spAutoFit/>
          </a:bodyPr>
          <a:p>
            <a:pPr algn="ctr"/>
            <a:r>
              <a:rPr lang="zh-CN" altLang="en-US" sz="3200" b="1">
                <a:solidFill>
                  <a:schemeClr val="bg1"/>
                </a:solidFill>
                <a:latin typeface="Microsoft Sans Serif" panose="020B0604020202020204" charset="0"/>
                <a:ea typeface="华文细黑" panose="02010600040101010101" charset="-122"/>
                <a:sym typeface="方正公文黑体" panose="02000500000000000000" charset="-122"/>
              </a:rPr>
              <a:t>基于神经元共激活链接的智能手机端大语言模型快速推理</a:t>
            </a:r>
            <a:endParaRPr lang="zh-CN" altLang="en-US" sz="3200" b="1">
              <a:solidFill>
                <a:schemeClr val="bg1"/>
              </a:solidFill>
              <a:latin typeface="Microsoft Sans Serif" panose="020B0604020202020204" charset="0"/>
              <a:ea typeface="华文细黑" panose="02010600040101010101" charset="-122"/>
              <a:sym typeface="方正公文黑体" panose="02000500000000000000" charset="-122"/>
            </a:endParaRPr>
          </a:p>
          <a:p>
            <a:pPr algn="ctr"/>
            <a:r>
              <a:rPr lang="en-US" altLang="zh-CN" sz="3200" b="1">
                <a:solidFill>
                  <a:schemeClr val="bg1"/>
                </a:solidFill>
                <a:latin typeface="Microsoft Sans Serif" panose="020B0604020202020204" charset="0"/>
                <a:ea typeface="华文细黑" panose="02010600040101010101" charset="-122"/>
                <a:sym typeface="方正公文黑体" panose="02000500000000000000" charset="-122"/>
              </a:rPr>
              <a:t>Neuralink: Fast LLM Inference on Smartphones with  Neuron Co-Activation Linking</a:t>
            </a:r>
            <a:endParaRPr lang="en-US" altLang="zh-CN" sz="3200" b="1">
              <a:solidFill>
                <a:schemeClr val="bg1"/>
              </a:solidFill>
              <a:latin typeface="Microsoft Sans Serif" panose="020B0604020202020204" charset="0"/>
              <a:ea typeface="华文细黑" panose="02010600040101010101" charset="-122"/>
              <a:sym typeface="方正公文黑体" panose="02000500000000000000" charset="-122"/>
            </a:endParaRPr>
          </a:p>
        </p:txBody>
      </p:sp>
      <p:pic>
        <p:nvPicPr>
          <p:cNvPr id="2097152" name="图片 11" descr="cache"/>
          <p:cNvPicPr>
            <a:picLocks noChangeAspect="1"/>
          </p:cNvPicPr>
          <p:nvPr/>
        </p:nvPicPr>
        <p:blipFill>
          <a:blip r:embed="rId1"/>
          <a:stretch>
            <a:fillRect/>
          </a:stretch>
        </p:blipFill>
        <p:spPr>
          <a:xfrm>
            <a:off x="9015095" y="309880"/>
            <a:ext cx="2561590" cy="790575"/>
          </a:xfrm>
          <a:prstGeom prst="rect">
            <a:avLst/>
          </a:prstGeom>
        </p:spPr>
      </p:pic>
      <p:sp>
        <p:nvSpPr>
          <p:cNvPr id="1048588" name="Text Box 7"/>
          <p:cNvSpPr txBox="1"/>
          <p:nvPr/>
        </p:nvSpPr>
        <p:spPr>
          <a:xfrm>
            <a:off x="3098800" y="3923030"/>
            <a:ext cx="6000750" cy="726440"/>
          </a:xfrm>
          <a:prstGeom prst="rect">
            <a:avLst/>
          </a:prstGeom>
        </p:spPr>
        <p:txBody>
          <a:bodyPr wrap="square">
            <a:noAutofit/>
          </a:bodyPr>
          <a:p>
            <a:pPr marL="0" indent="0" algn="ctr"/>
            <a:r>
              <a:rPr lang="en-US" altLang="zh-CN">
                <a:latin typeface="微软雅黑" panose="020B0503020204020204" charset="-122"/>
                <a:ea typeface="微软雅黑" panose="020B0503020204020204" charset="-122"/>
                <a:sym typeface="+mn-ea"/>
              </a:rPr>
              <a:t>Tuowei Wang, Ruwen Fan, Minxing Huang, Zixu Hao, Kun Li, Ting Cao, Youyou Lu, Yaoxue Zhang, Ju Ren</a:t>
            </a:r>
            <a:br>
              <a:rPr lang="en-US" altLang="zh-CN">
                <a:latin typeface="微软雅黑" panose="020B0503020204020204" charset="-122"/>
                <a:ea typeface="微软雅黑" panose="020B0503020204020204" charset="-122"/>
                <a:sym typeface="+mn-ea"/>
              </a:rPr>
            </a:br>
            <a:endParaRPr lang="en-US" altLang="zh-CN" sz="2800" b="1" i="0">
              <a:solidFill>
                <a:srgbClr val="374151"/>
              </a:solidFill>
              <a:latin typeface="微软雅黑" panose="020B0503020204020204" charset="-122"/>
              <a:ea typeface="微软雅黑" panose="020B0503020204020204" charset="-122"/>
              <a:cs typeface="Microsoft Sans Serif" panose="020B0604020202020204" charset="0"/>
              <a:sym typeface="+mn-ea"/>
            </a:endParaRPr>
          </a:p>
        </p:txBody>
      </p:sp>
      <p:sp>
        <p:nvSpPr>
          <p:cNvPr id="1048589" name="文本框 5"/>
          <p:cNvSpPr txBox="1"/>
          <p:nvPr/>
        </p:nvSpPr>
        <p:spPr>
          <a:xfrm>
            <a:off x="4168775" y="4649470"/>
            <a:ext cx="4064000" cy="497839"/>
          </a:xfrm>
          <a:prstGeom prst="rect">
            <a:avLst/>
          </a:prstGeom>
          <a:noFill/>
        </p:spPr>
        <p:txBody>
          <a:bodyPr wrap="square" rtlCol="0">
            <a:spAutoFit/>
          </a:bodyPr>
          <a:p>
            <a:pPr algn="ctr"/>
            <a:r>
              <a:rPr lang="en-US" altLang="zh-CN" sz="2400" b="1">
                <a:solidFill>
                  <a:srgbClr val="374151"/>
                </a:solidFill>
                <a:latin typeface="Microsoft Sans Serif" panose="020B0604020202020204" charset="0"/>
                <a:ea typeface="__Inter_f367f3"/>
                <a:cs typeface="Microsoft Sans Serif" panose="020B0604020202020204" charset="0"/>
                <a:sym typeface="+mn-ea"/>
              </a:rPr>
              <a:t>ASPLOS 2025</a:t>
            </a:r>
            <a:endParaRPr lang="en-US" altLang="zh-CN" sz="2400" b="1">
              <a:solidFill>
                <a:srgbClr val="374151"/>
              </a:solidFill>
              <a:latin typeface="Microsoft Sans Serif" panose="020B0604020202020204" charset="0"/>
              <a:ea typeface="__Inter_f367f3"/>
              <a:cs typeface="Microsoft Sans Serif" panose="020B0604020202020204" charset="0"/>
              <a:sym typeface="+mn-ea"/>
            </a:endParaRPr>
          </a:p>
        </p:txBody>
      </p:sp>
      <p:sp>
        <p:nvSpPr>
          <p:cNvPr id="1048590" name="文本框 8"/>
          <p:cNvSpPr txBox="1"/>
          <p:nvPr/>
        </p:nvSpPr>
        <p:spPr>
          <a:xfrm>
            <a:off x="8736965" y="5269230"/>
            <a:ext cx="4064000" cy="645160"/>
          </a:xfrm>
          <a:prstGeom prst="rect">
            <a:avLst/>
          </a:prstGeom>
          <a:noFill/>
        </p:spPr>
        <p:txBody>
          <a:bodyPr wrap="square" rtlCol="0">
            <a:spAutoFit/>
          </a:bodyPr>
          <a:p>
            <a:r>
              <a:rPr lang="zh-CN" altLang="en-US"/>
              <a:t>汇报人</a:t>
            </a:r>
            <a:r>
              <a:rPr lang="en-US" altLang="zh-CN"/>
              <a:t>：</a:t>
            </a:r>
            <a:endParaRPr lang="en-US" altLang="zh-CN"/>
          </a:p>
          <a:p>
            <a:r>
              <a:rPr lang="zh-CN" altLang="en-US"/>
              <a:t>时间</a:t>
            </a:r>
            <a:r>
              <a:rPr lang="en-US" altLang="zh-CN"/>
              <a:t>：</a:t>
            </a:r>
            <a:r>
              <a:rPr lang="en-US" altLang="zh-CN">
                <a:latin typeface="微软雅黑" panose="020B0503020204020204" charset="-122"/>
                <a:ea typeface="微软雅黑" panose="020B0503020204020204" charset="-122"/>
              </a:rPr>
              <a:t>2025.12.12</a:t>
            </a:r>
            <a:endParaRPr lang="en-US" altLang="zh-CN">
              <a:latin typeface="微软雅黑" panose="020B0503020204020204" charset="-122"/>
              <a:ea typeface="微软雅黑" panose="020B0503020204020204"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596" name="矩形 3"/>
          <p:cNvSpPr/>
          <p:nvPr/>
        </p:nvSpPr>
        <p:spPr>
          <a:xfrm>
            <a:off x="3409605" y="1364979"/>
            <a:ext cx="8782421" cy="1872001"/>
          </a:xfrm>
          <a:custGeom>
            <a:avLst/>
            <a:gdLst/>
            <a:ahLst/>
            <a:cxnLst>
              <a:cxn ang="0">
                <a:pos x="wd2" y="hd2"/>
              </a:cxn>
              <a:cxn ang="5400000">
                <a:pos x="wd2" y="hd2"/>
              </a:cxn>
              <a:cxn ang="10800000">
                <a:pos x="wd2" y="hd2"/>
              </a:cxn>
              <a:cxn ang="16200000">
                <a:pos x="wd2" y="hd2"/>
              </a:cxn>
            </a:cxnLst>
            <a:rect l="0" t="0" r="r" b="b"/>
            <a:pathLst>
              <a:path w="21600" h="21600" extrusionOk="0">
                <a:moveTo>
                  <a:pt x="2658" y="0"/>
                </a:moveTo>
                <a:lnTo>
                  <a:pt x="21600" y="0"/>
                </a:lnTo>
                <a:lnTo>
                  <a:pt x="21600" y="21600"/>
                </a:lnTo>
                <a:lnTo>
                  <a:pt x="0" y="21600"/>
                </a:lnTo>
                <a:close/>
              </a:path>
            </a:pathLst>
          </a:custGeom>
          <a:solidFill>
            <a:schemeClr val="bg2">
              <a:lumMod val="75000"/>
            </a:schemeClr>
          </a:solidFill>
          <a:ln w="12700">
            <a:miter lim="400000"/>
          </a:ln>
        </p:spPr>
        <p:txBody>
          <a:bodyPr lIns="0" tIns="0" rIns="0" bIns="0" anchor="ctr"/>
          <a:p>
            <a:pPr algn="ctr">
              <a:defRPr>
                <a:solidFill>
                  <a:srgbClr val="FFFFFF"/>
                </a:solidFill>
              </a:defRPr>
            </a:pPr>
            <a:endParaRPr sz="2400"/>
          </a:p>
        </p:txBody>
      </p:sp>
      <p:sp>
        <p:nvSpPr>
          <p:cNvPr id="1048597" name="矩形 6"/>
          <p:cNvSpPr/>
          <p:nvPr/>
        </p:nvSpPr>
        <p:spPr>
          <a:xfrm>
            <a:off x="0" y="3909053"/>
            <a:ext cx="5712357" cy="1872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7513" y="21600"/>
                </a:lnTo>
                <a:lnTo>
                  <a:pt x="0" y="21600"/>
                </a:lnTo>
                <a:close/>
              </a:path>
            </a:pathLst>
          </a:custGeom>
          <a:solidFill>
            <a:srgbClr val="BFBFBF"/>
          </a:solidFill>
          <a:ln w="12700">
            <a:miter lim="400000"/>
          </a:ln>
        </p:spPr>
        <p:txBody>
          <a:bodyPr lIns="0" tIns="0" rIns="0" bIns="0" anchor="ctr"/>
          <a:p>
            <a:pPr algn="ctr">
              <a:defRPr>
                <a:solidFill>
                  <a:srgbClr val="FFFFFF"/>
                </a:solidFill>
              </a:defRPr>
            </a:pPr>
            <a:endParaRPr sz="2400"/>
          </a:p>
        </p:txBody>
      </p:sp>
      <p:sp>
        <p:nvSpPr>
          <p:cNvPr id="1048598" name="矩形 7"/>
          <p:cNvSpPr/>
          <p:nvPr/>
        </p:nvSpPr>
        <p:spPr>
          <a:xfrm>
            <a:off x="-1" y="2124729"/>
            <a:ext cx="10613240" cy="302400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8047" y="21600"/>
                </a:lnTo>
                <a:lnTo>
                  <a:pt x="0" y="21600"/>
                </a:lnTo>
                <a:close/>
              </a:path>
            </a:pathLst>
          </a:custGeom>
          <a:solidFill>
            <a:schemeClr val="accent1">
              <a:lumMod val="75000"/>
            </a:schemeClr>
          </a:solidFill>
          <a:ln w="12700">
            <a:miter lim="400000"/>
          </a:ln>
        </p:spPr>
        <p:txBody>
          <a:bodyPr lIns="0" tIns="0" rIns="0" bIns="0" anchor="ctr"/>
          <a:p>
            <a:pPr algn="ctr">
              <a:defRPr>
                <a:solidFill>
                  <a:srgbClr val="FFFFFF"/>
                </a:solidFill>
              </a:defRPr>
            </a:pPr>
            <a:endParaRPr sz="2400"/>
          </a:p>
        </p:txBody>
      </p:sp>
      <p:sp>
        <p:nvSpPr>
          <p:cNvPr id="1048599" name="TextBox 11"/>
          <p:cNvSpPr txBox="1"/>
          <p:nvPr/>
        </p:nvSpPr>
        <p:spPr>
          <a:xfrm>
            <a:off x="3892972" y="3016545"/>
            <a:ext cx="3017516" cy="904239"/>
          </a:xfrm>
          <a:prstGeom prst="rect">
            <a:avLst/>
          </a:prstGeom>
          <a:ln w="12700">
            <a:miter lim="400000"/>
          </a:ln>
        </p:spPr>
        <p:txBody>
          <a:bodyPr wrap="none" lIns="60958" rIns="60958">
            <a:spAutoFit/>
          </a:bodyPr>
          <a:p>
            <a:pPr lvl="1" indent="0">
              <a:defRPr sz="3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4800"/>
              <a:t>研究背景</a:t>
            </a:r>
            <a:endParaRPr lang="zh-CN" sz="4800"/>
          </a:p>
        </p:txBody>
      </p:sp>
      <p:grpSp>
        <p:nvGrpSpPr>
          <p:cNvPr id="45" name="组合 1"/>
          <p:cNvGrpSpPr/>
          <p:nvPr/>
        </p:nvGrpSpPr>
        <p:grpSpPr>
          <a:xfrm>
            <a:off x="1671812" y="2646180"/>
            <a:ext cx="1737796" cy="1737796"/>
            <a:chOff x="0" y="0"/>
            <a:chExt cx="1303346" cy="1303346"/>
          </a:xfrm>
        </p:grpSpPr>
        <p:sp>
          <p:nvSpPr>
            <p:cNvPr id="1048600" name="椭圆 19"/>
            <p:cNvSpPr/>
            <p:nvPr/>
          </p:nvSpPr>
          <p:spPr>
            <a:xfrm>
              <a:off x="-1" y="-1"/>
              <a:ext cx="1303348" cy="1303348"/>
            </a:xfrm>
            <a:prstGeom prst="ellipse">
              <a:avLst/>
            </a:prstGeom>
            <a:gradFill flip="none" rotWithShape="1">
              <a:gsLst>
                <a:gs pos="0">
                  <a:srgbClr val="FFFFFF"/>
                </a:gs>
                <a:gs pos="50000">
                  <a:srgbClr val="F2F2F2"/>
                </a:gs>
                <a:gs pos="100000">
                  <a:srgbClr val="BFBFBF"/>
                </a:gs>
              </a:gsLst>
              <a:lin ang="18900000" scaled="0"/>
            </a:gradFill>
            <a:ln w="53975" cap="flat">
              <a:solidFill>
                <a:srgbClr val="ECECEC"/>
              </a:solidFill>
              <a:prstDash val="solid"/>
              <a:round/>
            </a:ln>
            <a:effectLst>
              <a:outerShdw blurRad="444500" dist="254000" dir="8100000" rotWithShape="0">
                <a:srgbClr val="000000">
                  <a:alpha val="50000"/>
                </a:srgbClr>
              </a:outerShdw>
            </a:effectLst>
          </p:spPr>
          <p:txBody>
            <a:bodyPr wrap="square" lIns="0" tIns="0" rIns="0" bIns="0" numCol="1" anchor="ctr">
              <a:noAutofit/>
            </a:bodyPr>
            <a:p>
              <a:pPr algn="ctr">
                <a:defRPr>
                  <a:solidFill>
                    <a:srgbClr val="FFFFFF"/>
                  </a:solidFill>
                </a:defRPr>
              </a:pPr>
              <a:endParaRPr sz="2400"/>
            </a:p>
          </p:txBody>
        </p:sp>
        <p:sp>
          <p:nvSpPr>
            <p:cNvPr id="1048601" name="椭圆 21"/>
            <p:cNvSpPr/>
            <p:nvPr/>
          </p:nvSpPr>
          <p:spPr>
            <a:xfrm>
              <a:off x="145554" y="145554"/>
              <a:ext cx="1012239" cy="1012239"/>
            </a:xfrm>
            <a:prstGeom prst="ellipse">
              <a:avLst/>
            </a:prstGeom>
            <a:solidFill>
              <a:srgbClr val="FFFFFF"/>
            </a:solidFill>
            <a:ln w="12700" cap="flat">
              <a:noFill/>
              <a:miter lim="400000"/>
            </a:ln>
            <a:effectLst/>
          </p:spPr>
          <p:txBody>
            <a:bodyPr wrap="square" lIns="0" tIns="0" rIns="0" bIns="0" numCol="1" anchor="ctr">
              <a:noAutofit/>
            </a:bodyPr>
            <a:p>
              <a:pPr algn="ctr" defTabSz="685800">
                <a:defRPr sz="2100" b="1">
                  <a:solidFill>
                    <a:srgbClr val="FFFFFF"/>
                  </a:solidFill>
                </a:defRPr>
              </a:pPr>
              <a:endParaRPr sz="2800"/>
            </a:p>
          </p:txBody>
        </p:sp>
      </p:grpSp>
      <p:pic>
        <p:nvPicPr>
          <p:cNvPr id="2097153" name="图片 2"/>
          <p:cNvPicPr>
            <a:picLocks noChangeAspect="1"/>
          </p:cNvPicPr>
          <p:nvPr/>
        </p:nvPicPr>
        <p:blipFill>
          <a:blip r:embed="rId1" cstate="print"/>
          <a:stretch>
            <a:fillRect/>
          </a:stretch>
        </p:blipFill>
        <p:spPr>
          <a:xfrm>
            <a:off x="1920875" y="2941320"/>
            <a:ext cx="1239520" cy="1147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07" name="Rounded Rectangle 4"/>
          <p:cNvSpPr/>
          <p:nvPr/>
        </p:nvSpPr>
        <p:spPr>
          <a:xfrm>
            <a:off x="2699385" y="1258570"/>
            <a:ext cx="6468745" cy="6083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48608"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研究背景</a:t>
            </a:r>
            <a:endParaRPr lang="zh-CN" altLang="en-US" sz="2800"/>
          </a:p>
        </p:txBody>
      </p:sp>
      <p:sp>
        <p:nvSpPr>
          <p:cNvPr id="1048609" name="Text Box 1"/>
          <p:cNvSpPr txBox="1"/>
          <p:nvPr/>
        </p:nvSpPr>
        <p:spPr>
          <a:xfrm>
            <a:off x="2699385" y="1358900"/>
            <a:ext cx="6468110" cy="497839"/>
          </a:xfrm>
          <a:prstGeom prst="rect">
            <a:avLst/>
          </a:prstGeom>
          <a:noFill/>
        </p:spPr>
        <p:txBody>
          <a:bodyPr wrap="square" rtlCol="0">
            <a:spAutoFit/>
          </a:bodyPr>
          <a:p>
            <a:pPr algn="ct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关键挑战</a:t>
            </a:r>
            <a:r>
              <a:rPr lang="en-US" altLang="zh-CN" sz="2400" b="1">
                <a:solidFill>
                  <a:schemeClr val="bg1"/>
                </a:solidFill>
                <a:latin typeface="PingFang SC Semibold" panose="020B0400000000000000" charset="-122"/>
                <a:ea typeface="PingFang SC Semibold" panose="020B0400000000000000" charset="-122"/>
                <a:cs typeface="PingFang SC Semibold" panose="020B0400000000000000" charset="-122"/>
              </a:rPr>
              <a:t>：</a:t>
            </a: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智能手机内存容量小</a:t>
            </a:r>
            <a:r>
              <a:rPr lang="en-US" altLang="zh-CN" sz="2400" b="1">
                <a:solidFill>
                  <a:schemeClr val="bg1"/>
                </a:solidFill>
                <a:latin typeface="PingFang SC Semibold" panose="020B0400000000000000" charset="-122"/>
                <a:ea typeface="PingFang SC Semibold" panose="020B0400000000000000" charset="-122"/>
                <a:cs typeface="PingFang SC Semibold" panose="020B0400000000000000" charset="-122"/>
              </a:rPr>
              <a:t>、</a:t>
            </a: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命令</a:t>
            </a: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队列浅</a:t>
            </a:r>
            <a:endPar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endParaRPr>
          </a:p>
        </p:txBody>
      </p:sp>
      <p:sp>
        <p:nvSpPr>
          <p:cNvPr id="1048610" name="Text Box 2"/>
          <p:cNvSpPr txBox="1"/>
          <p:nvPr/>
        </p:nvSpPr>
        <p:spPr>
          <a:xfrm>
            <a:off x="1116965" y="2137410"/>
            <a:ext cx="9304655" cy="2956560"/>
          </a:xfrm>
          <a:prstGeom prst="rect">
            <a:avLst/>
          </a:prstGeom>
          <a:noFill/>
        </p:spPr>
        <p:txBody>
          <a:bodyPr wrap="square" rtlCol="0">
            <a:noAutofit/>
          </a:bodyPr>
          <a:p>
            <a:pPr marL="285750" indent="-285750">
              <a:lnSpc>
                <a:spcPct val="150000"/>
              </a:lnSpc>
              <a:buFont typeface="Wingdings" panose="05000000000000000000" charset="0"/>
              <a:buChar char=""/>
            </a:pPr>
            <a:r>
              <a:rPr lang="zh-CN" altLang="en-US" sz="2000"/>
              <a:t>定制模型</a:t>
            </a:r>
            <a:r>
              <a:rPr lang="en-US" altLang="zh-CN" sz="2000" baseline="30000">
                <a:solidFill>
                  <a:schemeClr val="tx1"/>
                </a:solidFill>
                <a:latin typeface="微软雅黑" panose="020B0503020204020204" charset="-122"/>
                <a:ea typeface="微软雅黑" panose="020B0503020204020204" charset="-122"/>
              </a:rPr>
              <a:t>[1]</a:t>
            </a:r>
            <a:r>
              <a:rPr lang="en-US" altLang="zh-CN" sz="2000"/>
              <a:t>：</a:t>
            </a:r>
            <a:endParaRPr lang="en-US" altLang="zh-CN" sz="2000"/>
          </a:p>
          <a:p>
            <a:pPr marL="742950" lvl="1" indent="-285750">
              <a:lnSpc>
                <a:spcPct val="150000"/>
              </a:lnSpc>
              <a:buFont typeface="Wingdings" panose="05000000000000000000" charset="0"/>
              <a:buChar char=""/>
            </a:pPr>
            <a:r>
              <a:rPr lang="zh-CN" altLang="en-US" sz="2000"/>
              <a:t>通过减少参数量适应受限的</a:t>
            </a:r>
            <a:r>
              <a:rPr lang="en-US" altLang="zh-CN" sz="2000">
                <a:latin typeface="微软雅黑" panose="020B0503020204020204" charset="-122"/>
                <a:ea typeface="微软雅黑" panose="020B0503020204020204" charset="-122"/>
              </a:rPr>
              <a:t>DRAM</a:t>
            </a:r>
            <a:r>
              <a:rPr lang="zh-CN" altLang="en-US" sz="2000"/>
              <a:t>容量</a:t>
            </a:r>
            <a:endParaRPr lang="zh-CN" altLang="en-US" sz="2000"/>
          </a:p>
          <a:p>
            <a:pPr marL="742950" lvl="1" indent="-285750">
              <a:lnSpc>
                <a:spcPct val="150000"/>
              </a:lnSpc>
              <a:buFont typeface="Wingdings" panose="05000000000000000000" charset="0"/>
              <a:buChar char=""/>
            </a:pPr>
            <a:r>
              <a:rPr lang="zh-CN" altLang="en-US" sz="2000"/>
              <a:t>不可避免地</a:t>
            </a:r>
            <a:r>
              <a:rPr lang="en-US" altLang="zh-CN" sz="2000"/>
              <a:t>，</a:t>
            </a:r>
            <a:r>
              <a:rPr lang="zh-CN" altLang="en-US" sz="2000"/>
              <a:t>导致了精度和推理能力的下降</a:t>
            </a:r>
            <a:endParaRPr lang="en-US" altLang="zh-CN" sz="2000"/>
          </a:p>
          <a:p>
            <a:pPr marL="285750" indent="-285750">
              <a:lnSpc>
                <a:spcPct val="150000"/>
              </a:lnSpc>
              <a:buFont typeface="Wingdings" panose="05000000000000000000" charset="0"/>
              <a:buChar char=""/>
            </a:pPr>
            <a:r>
              <a:rPr lang="zh-CN" altLang="en-US" sz="2000"/>
              <a:t>稀疏激活</a:t>
            </a:r>
            <a:r>
              <a:rPr lang="en-US" altLang="zh-CN" baseline="30000">
                <a:solidFill>
                  <a:schemeClr val="tx1"/>
                </a:solidFill>
                <a:latin typeface="微软雅黑" panose="020B0503020204020204" charset="-122"/>
                <a:ea typeface="微软雅黑" panose="020B0503020204020204" charset="-122"/>
              </a:rPr>
              <a:t>[2]</a:t>
            </a:r>
            <a:r>
              <a:rPr lang="zh-CN" altLang="en-US" sz="2000"/>
              <a:t>：</a:t>
            </a:r>
            <a:endParaRPr lang="zh-CN" altLang="en-US" sz="2000"/>
          </a:p>
          <a:p>
            <a:pPr marL="742950" lvl="1" indent="-285750">
              <a:lnSpc>
                <a:spcPct val="150000"/>
              </a:lnSpc>
              <a:buFont typeface="Wingdings" panose="05000000000000000000" charset="0"/>
              <a:buChar char=""/>
            </a:pPr>
            <a:r>
              <a:rPr lang="zh-CN" altLang="en-US" sz="2000"/>
              <a:t>利用</a:t>
            </a:r>
            <a:r>
              <a:rPr lang="en-US" altLang="zh-CN" sz="2000">
                <a:latin typeface="微软雅黑" panose="020B0503020204020204" charset="-122"/>
                <a:ea typeface="微软雅黑" panose="020B0503020204020204" charset="-122"/>
              </a:rPr>
              <a:t>LLM</a:t>
            </a:r>
            <a:r>
              <a:rPr lang="zh-CN" altLang="en-US" sz="2000"/>
              <a:t>的激活稀疏性</a:t>
            </a:r>
            <a:r>
              <a:rPr lang="en-US" altLang="zh-CN" sz="2000"/>
              <a:t>，</a:t>
            </a:r>
            <a:r>
              <a:rPr lang="zh-CN" altLang="en-US" sz="2000"/>
              <a:t>仅将当前输入所需的特定参数加载</a:t>
            </a:r>
            <a:r>
              <a:rPr lang="zh-CN" altLang="en-US" sz="2000"/>
              <a:t>进内存</a:t>
            </a:r>
            <a:endParaRPr lang="zh-CN" altLang="en-US" sz="2000"/>
          </a:p>
          <a:p>
            <a:pPr marL="742950" lvl="1" indent="-285750">
              <a:lnSpc>
                <a:spcPct val="150000"/>
              </a:lnSpc>
              <a:buFont typeface="Wingdings" panose="05000000000000000000" charset="0"/>
              <a:buChar char=""/>
            </a:pPr>
            <a:r>
              <a:rPr lang="zh-CN" altLang="en-US" sz="2000"/>
              <a:t>导致大量的</a:t>
            </a:r>
            <a:r>
              <a:rPr lang="en-US" altLang="zh-CN" sz="2000">
                <a:latin typeface="微软雅黑" panose="020B0503020204020204" charset="-122"/>
                <a:ea typeface="微软雅黑" panose="020B0503020204020204" charset="-122"/>
              </a:rPr>
              <a:t>I/O</a:t>
            </a:r>
            <a:r>
              <a:rPr lang="zh-CN" altLang="en-US" sz="2000"/>
              <a:t>操作</a:t>
            </a:r>
            <a:r>
              <a:rPr lang="en-US" altLang="zh-CN" sz="2000"/>
              <a:t>，</a:t>
            </a:r>
            <a:r>
              <a:rPr lang="zh-CN" altLang="en-US" sz="2000"/>
              <a:t>成为推理瓶颈</a:t>
            </a:r>
            <a:endParaRPr lang="zh-CN" altLang="en-US" sz="2000"/>
          </a:p>
          <a:p>
            <a:pPr marL="742950" lvl="1" indent="-285750">
              <a:lnSpc>
                <a:spcPct val="150000"/>
              </a:lnSpc>
              <a:buFont typeface="Wingdings" panose="05000000000000000000" charset="0"/>
              <a:buChar char=""/>
            </a:pPr>
            <a:endParaRPr lang="zh-CN" altLang="en-US" sz="2000"/>
          </a:p>
          <a:p>
            <a:pPr indent="0">
              <a:lnSpc>
                <a:spcPct val="150000"/>
              </a:lnSpc>
              <a:buFont typeface="Wingdings" panose="05000000000000000000" charset="0"/>
              <a:buNone/>
            </a:pPr>
            <a:endParaRPr lang="en-US" altLang="zh-CN" sz="2000">
              <a:latin typeface="微软雅黑" panose="020B0503020204020204" charset="-122"/>
              <a:ea typeface="微软雅黑" panose="020B0503020204020204" charset="-122"/>
            </a:endParaRPr>
          </a:p>
        </p:txBody>
      </p:sp>
      <p:sp>
        <p:nvSpPr>
          <p:cNvPr id="1048611" name="文本框 6"/>
          <p:cNvSpPr txBox="1"/>
          <p:nvPr/>
        </p:nvSpPr>
        <p:spPr>
          <a:xfrm>
            <a:off x="1116965" y="5891530"/>
            <a:ext cx="10565130" cy="497839"/>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rPr>
              <a:t>[1] Thawakar et al., "MobiLlama: Towards Accurate and Lightweight Fully Transparent GPT," ICLR 2025 (SLLM Workshop).</a:t>
            </a:r>
            <a:endParaRPr lang="en-US" altLang="zh-CN" sz="1200">
              <a:latin typeface="微软雅黑" panose="020B0503020204020204" charset="-122"/>
              <a:ea typeface="微软雅黑" panose="020B0503020204020204" charset="-122"/>
            </a:endParaRPr>
          </a:p>
          <a:p>
            <a:r>
              <a:rPr lang="en-US" altLang="zh-CN" sz="1200">
                <a:latin typeface="微软雅黑" panose="020B0503020204020204" charset="-122"/>
                <a:ea typeface="微软雅黑" panose="020B0503020204020204" charset="-122"/>
              </a:rPr>
              <a:t>[2] Keivan Alizadeh et al., "LLM in a flash: Effizcient Large Language Model Inference with Limited Memory," ACL 2024.</a:t>
            </a:r>
            <a:endParaRPr lang="en-US" altLang="zh-CN" sz="1200">
              <a:latin typeface="微软雅黑" panose="020B0503020204020204" charset="-122"/>
              <a:ea typeface="微软雅黑" panose="020B0503020204020204" charset="-122"/>
            </a:endParaRPr>
          </a:p>
        </p:txBody>
      </p:sp>
      <p:pic>
        <p:nvPicPr>
          <p:cNvPr id="2097155" name="图片 11" descr="cache"/>
          <p:cNvPicPr>
            <a:picLocks noChangeAspect="1"/>
          </p:cNvPicPr>
          <p:nvPr/>
        </p:nvPicPr>
        <p:blipFill>
          <a:blip r:embed="rId1"/>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12"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研究背景</a:t>
            </a:r>
            <a:endParaRPr lang="zh-CN" altLang="en-US" sz="2800"/>
          </a:p>
        </p:txBody>
      </p:sp>
      <p:sp>
        <p:nvSpPr>
          <p:cNvPr id="1048613" name="Text Box 1"/>
          <p:cNvSpPr txBox="1"/>
          <p:nvPr/>
        </p:nvSpPr>
        <p:spPr>
          <a:xfrm>
            <a:off x="483870" y="1002030"/>
            <a:ext cx="5519420" cy="3291840"/>
          </a:xfrm>
          <a:prstGeom prst="rect">
            <a:avLst/>
          </a:prstGeom>
          <a:noFill/>
        </p:spPr>
        <p:txBody>
          <a:bodyPr wrap="square" rtlCol="0">
            <a:spAutoFit/>
          </a:bodyPr>
          <a:p>
            <a:pPr>
              <a:lnSpc>
                <a:spcPct val="150000"/>
              </a:lnSpc>
            </a:pPr>
            <a:r>
              <a:rPr lang="zh-CN" altLang="en-US" b="1">
                <a:latin typeface="PingFang SC Semibold" panose="020B0400000000000000" charset="-122"/>
                <a:ea typeface="PingFang SC Semibold" panose="020B0400000000000000" charset="-122"/>
              </a:rPr>
              <a:t>稀疏激活的产生</a:t>
            </a:r>
            <a:r>
              <a:rPr lang="en-US" altLang="zh-CN" b="1">
                <a:latin typeface="PingFang SC Semibold" panose="020B0400000000000000" charset="-122"/>
                <a:ea typeface="PingFang SC Semibold" panose="020B0400000000000000" charset="-122"/>
              </a:rPr>
              <a:t>：</a:t>
            </a:r>
            <a:endParaRPr lang="en-US" altLang="zh-CN" b="1">
              <a:latin typeface="PingFang SC Semibold" panose="020B0400000000000000" charset="-122"/>
              <a:ea typeface="PingFang SC Semibold" panose="020B0400000000000000" charset="-122"/>
            </a:endParaRPr>
          </a:p>
          <a:p>
            <a:pPr marL="285750" indent="-285750">
              <a:lnSpc>
                <a:spcPct val="150000"/>
              </a:lnSpc>
              <a:buFont typeface="Arial" panose="020B0604020202090204" pitchFamily="34" charset="0"/>
              <a:buChar char="•"/>
            </a:pPr>
            <a:r>
              <a:rPr lang="zh-CN" altLang="en-US"/>
              <a:t>如果</a:t>
            </a:r>
            <a:r>
              <a:rPr lang="en-US" altLang="zh-CN">
                <a:latin typeface="微软雅黑" panose="020B0503020204020204" charset="-122"/>
                <a:ea typeface="微软雅黑" panose="020B0503020204020204" charset="-122"/>
              </a:rPr>
              <a:t>Y</a:t>
            </a:r>
            <a:r>
              <a:rPr lang="zh-CN" altLang="en-US"/>
              <a:t>中的某个数是负数</a:t>
            </a:r>
            <a:r>
              <a:rPr lang="en-US" altLang="zh-CN"/>
              <a:t>（</a:t>
            </a:r>
            <a:r>
              <a:rPr lang="zh-CN" altLang="en-US"/>
              <a:t>如图中</a:t>
            </a:r>
            <a:r>
              <a:rPr lang="en-US" altLang="zh-CN"/>
              <a:t>     ），</a:t>
            </a:r>
            <a:r>
              <a:rPr lang="zh-CN" altLang="en-US"/>
              <a:t>经过</a:t>
            </a:r>
            <a:r>
              <a:rPr lang="en-US" altLang="zh-CN">
                <a:latin typeface="微软雅黑" panose="020B0503020204020204" charset="-122"/>
                <a:ea typeface="微软雅黑" panose="020B0503020204020204" charset="-122"/>
              </a:rPr>
              <a:t>ReLU</a:t>
            </a:r>
            <a:r>
              <a:rPr lang="zh-CN" altLang="en-US"/>
              <a:t>之后就会变成</a:t>
            </a:r>
            <a:r>
              <a:rPr lang="en-US" altLang="zh-CN">
                <a:latin typeface="微软雅黑" panose="020B0503020204020204" charset="-122"/>
                <a:ea typeface="微软雅黑" panose="020B0503020204020204" charset="-122"/>
              </a:rPr>
              <a:t>0</a:t>
            </a:r>
            <a:endParaRPr lang="en-US" altLang="zh-CN">
              <a:latin typeface="微软雅黑" panose="020B0503020204020204" charset="-122"/>
              <a:ea typeface="微软雅黑" panose="020B0503020204020204" charset="-122"/>
            </a:endParaRPr>
          </a:p>
          <a:p>
            <a:pPr marL="285750" indent="-285750">
              <a:lnSpc>
                <a:spcPct val="150000"/>
              </a:lnSpc>
              <a:buFont typeface="Arial" panose="020B0604020202090204" pitchFamily="34" charset="0"/>
              <a:buChar char="•"/>
            </a:pPr>
            <a:r>
              <a:rPr lang="zh-CN" altLang="en-US"/>
              <a:t>一旦激活值为</a:t>
            </a:r>
            <a:r>
              <a:rPr lang="en-US" altLang="zh-CN">
                <a:latin typeface="微软雅黑" panose="020B0503020204020204" charset="-122"/>
                <a:ea typeface="微软雅黑" panose="020B0503020204020204" charset="-122"/>
              </a:rPr>
              <a:t>0</a:t>
            </a:r>
            <a:r>
              <a:rPr lang="en-US" altLang="zh-CN"/>
              <a:t>，</a:t>
            </a:r>
            <a:r>
              <a:rPr lang="zh-CN" altLang="en-US"/>
              <a:t>在后续计算中</a:t>
            </a:r>
            <a:r>
              <a:rPr lang="en-US" altLang="zh-CN"/>
              <a:t>，</a:t>
            </a:r>
            <a:r>
              <a:rPr lang="zh-CN" altLang="en-US"/>
              <a:t>无论对应的下投影矩阵是什么数值</a:t>
            </a:r>
            <a:r>
              <a:rPr lang="en-US" altLang="zh-CN"/>
              <a:t>，</a:t>
            </a:r>
            <a:r>
              <a:rPr lang="zh-CN" altLang="en-US"/>
              <a:t>乘以</a:t>
            </a:r>
            <a:r>
              <a:rPr lang="zh-CN" altLang="en-US">
                <a:latin typeface="微软雅黑" panose="020B0503020204020204" charset="-122"/>
                <a:ea typeface="微软雅黑" panose="020B0503020204020204" charset="-122"/>
              </a:rPr>
              <a:t>0</a:t>
            </a:r>
            <a:r>
              <a:rPr lang="zh-CN" altLang="en-US"/>
              <a:t>之后都是</a:t>
            </a:r>
            <a:r>
              <a:rPr lang="zh-CN" altLang="en-US" sz="1800">
                <a:latin typeface="微软雅黑" panose="020B0503020204020204" charset="-122"/>
                <a:ea typeface="微软雅黑" panose="020B0503020204020204" charset="-122"/>
              </a:rPr>
              <a:t>0</a:t>
            </a:r>
            <a:endParaRPr lang="zh-CN" altLang="en-US" sz="1800"/>
          </a:p>
          <a:p>
            <a:pPr marL="285750" indent="-285750">
              <a:lnSpc>
                <a:spcPct val="150000"/>
              </a:lnSpc>
              <a:buFont typeface="Arial" panose="020B0604020202090204" pitchFamily="34" charset="0"/>
              <a:buChar char="•"/>
            </a:pPr>
            <a:r>
              <a:rPr lang="zh-CN" altLang="en-US"/>
              <a:t>意味着对于当前输入</a:t>
            </a:r>
            <a:r>
              <a:rPr lang="en-US" altLang="zh-CN"/>
              <a:t>，</a:t>
            </a:r>
            <a:r>
              <a:rPr lang="zh-CN" altLang="en-US"/>
              <a:t>上投影矩阵</a:t>
            </a:r>
            <a:r>
              <a:rPr lang="en-US" altLang="zh-CN"/>
              <a:t>   </a:t>
            </a:r>
            <a:r>
              <a:rPr lang="zh-CN" altLang="en-US">
                <a:sym typeface="+mn-ea"/>
              </a:rPr>
              <a:t>中</a:t>
            </a:r>
            <a:r>
              <a:rPr lang="zh-CN" altLang="en-US"/>
              <a:t>的对应行和下投影矩阵</a:t>
            </a:r>
            <a:r>
              <a:rPr lang="en-US" altLang="zh-CN"/>
              <a:t>   </a:t>
            </a:r>
            <a:r>
              <a:rPr lang="zh-CN" altLang="en-US"/>
              <a:t>中的对应列是</a:t>
            </a:r>
            <a:r>
              <a:rPr lang="zh-CN" altLang="en-US" b="1">
                <a:latin typeface="PingFang SC Semibold" panose="020B0400000000000000" charset="-122"/>
                <a:ea typeface="PingFang SC Semibold" panose="020B0400000000000000" charset="-122"/>
              </a:rPr>
              <a:t>未激活</a:t>
            </a:r>
            <a:r>
              <a:rPr lang="zh-CN" altLang="en-US"/>
              <a:t>的</a:t>
            </a:r>
            <a:endParaRPr lang="zh-CN" altLang="en-US"/>
          </a:p>
        </p:txBody>
      </p:sp>
      <p:pic>
        <p:nvPicPr>
          <p:cNvPr id="2097156" name="Picture 3"/>
          <p:cNvPicPr>
            <a:picLocks noChangeAspect="1"/>
          </p:cNvPicPr>
          <p:nvPr/>
        </p:nvPicPr>
        <p:blipFill>
          <a:blip r:embed="rId1"/>
          <a:stretch>
            <a:fillRect/>
          </a:stretch>
        </p:blipFill>
        <p:spPr>
          <a:xfrm>
            <a:off x="6106795" y="1623060"/>
            <a:ext cx="4976495" cy="1785620"/>
          </a:xfrm>
          <a:prstGeom prst="rect">
            <a:avLst/>
          </a:prstGeom>
          <a:ln>
            <a:solidFill>
              <a:schemeClr val="tx1"/>
            </a:solidFill>
          </a:ln>
        </p:spPr>
      </p:pic>
      <p:pic>
        <p:nvPicPr>
          <p:cNvPr id="2097157" name="Picture 6"/>
          <p:cNvPicPr>
            <a:picLocks noChangeAspect="1"/>
          </p:cNvPicPr>
          <p:nvPr/>
        </p:nvPicPr>
        <p:blipFill>
          <a:blip r:embed="rId2"/>
          <a:stretch>
            <a:fillRect/>
          </a:stretch>
        </p:blipFill>
        <p:spPr>
          <a:xfrm>
            <a:off x="6106795" y="3850640"/>
            <a:ext cx="4976495" cy="2396490"/>
          </a:xfrm>
          <a:prstGeom prst="rect">
            <a:avLst/>
          </a:prstGeom>
          <a:ln>
            <a:solidFill>
              <a:schemeClr val="tx1"/>
            </a:solidFill>
          </a:ln>
        </p:spPr>
      </p:pic>
      <p:pic>
        <p:nvPicPr>
          <p:cNvPr id="2097158" name="334E55B0-647D-440b-865C-3EC943EB4CBC-1" descr="wpsoffice"/>
          <p:cNvPicPr>
            <a:picLocks noChangeAspect="1"/>
          </p:cNvPicPr>
          <p:nvPr/>
        </p:nvPicPr>
        <p:blipFill>
          <a:blip r:embed="rId3"/>
          <a:stretch>
            <a:fillRect/>
          </a:stretch>
        </p:blipFill>
        <p:spPr>
          <a:xfrm>
            <a:off x="4331335" y="1623060"/>
            <a:ext cx="273685" cy="233045"/>
          </a:xfrm>
          <a:prstGeom prst="rect">
            <a:avLst/>
          </a:prstGeom>
        </p:spPr>
      </p:pic>
      <p:pic>
        <p:nvPicPr>
          <p:cNvPr id="2097159" name="334E55B0-647D-440b-865C-3EC943EB4CBC-2" descr="wpsoffice"/>
          <p:cNvPicPr>
            <a:picLocks noChangeAspect="1"/>
          </p:cNvPicPr>
          <p:nvPr/>
        </p:nvPicPr>
        <p:blipFill>
          <a:blip r:embed="rId4"/>
          <a:stretch>
            <a:fillRect/>
          </a:stretch>
        </p:blipFill>
        <p:spPr>
          <a:xfrm>
            <a:off x="4331335" y="3284855"/>
            <a:ext cx="192405" cy="192405"/>
          </a:xfrm>
          <a:prstGeom prst="rect">
            <a:avLst/>
          </a:prstGeom>
        </p:spPr>
      </p:pic>
      <p:pic>
        <p:nvPicPr>
          <p:cNvPr id="2097160" name="334E55B0-647D-440b-865C-3EC943EB4CBC-3" descr="wpsoffice"/>
          <p:cNvPicPr>
            <a:picLocks noChangeAspect="1"/>
          </p:cNvPicPr>
          <p:nvPr/>
        </p:nvPicPr>
        <p:blipFill>
          <a:blip r:embed="rId5"/>
          <a:stretch>
            <a:fillRect/>
          </a:stretch>
        </p:blipFill>
        <p:spPr>
          <a:xfrm>
            <a:off x="2264410" y="3672840"/>
            <a:ext cx="199390" cy="177800"/>
          </a:xfrm>
          <a:prstGeom prst="rect">
            <a:avLst/>
          </a:prstGeom>
        </p:spPr>
      </p:pic>
      <p:sp>
        <p:nvSpPr>
          <p:cNvPr id="1048614" name="Text Box 1"/>
          <p:cNvSpPr txBox="1"/>
          <p:nvPr/>
        </p:nvSpPr>
        <p:spPr>
          <a:xfrm>
            <a:off x="587375" y="4323080"/>
            <a:ext cx="5519420" cy="1920239"/>
          </a:xfrm>
          <a:prstGeom prst="rect">
            <a:avLst/>
          </a:prstGeom>
          <a:noFill/>
        </p:spPr>
        <p:txBody>
          <a:bodyPr wrap="square" rtlCol="0">
            <a:spAutoFit/>
          </a:bodyPr>
          <a:p>
            <a:pPr>
              <a:lnSpc>
                <a:spcPct val="150000"/>
              </a:lnSpc>
            </a:pPr>
            <a:r>
              <a:rPr lang="zh-CN" altLang="en-US" b="1">
                <a:latin typeface="PingFang SC Semibold" panose="020B0400000000000000" charset="-122"/>
                <a:ea typeface="PingFang SC Semibold" panose="020B0400000000000000" charset="-122"/>
              </a:rPr>
              <a:t>如何利用稀疏激活性</a:t>
            </a:r>
            <a:r>
              <a:rPr lang="en-US" altLang="zh-CN" baseline="30000">
                <a:solidFill>
                  <a:schemeClr val="tx1"/>
                </a:solidFill>
                <a:latin typeface="PingFang SC" panose="020B0400000000000000" charset="-122"/>
                <a:ea typeface="PingFang SC" panose="020B0400000000000000" charset="-122"/>
              </a:rPr>
              <a:t>[3]</a:t>
            </a:r>
            <a:r>
              <a:rPr lang="en-US" altLang="zh-CN" b="1">
                <a:latin typeface="PingFang SC Semibold" panose="020B0400000000000000" charset="-122"/>
                <a:ea typeface="PingFang SC Semibold" panose="020B0400000000000000" charset="-122"/>
              </a:rPr>
              <a:t>：</a:t>
            </a:r>
            <a:endParaRPr lang="en-US" altLang="zh-CN" b="1">
              <a:latin typeface="PingFang SC Semibold" panose="020B0400000000000000" charset="-122"/>
              <a:ea typeface="PingFang SC Semibold" panose="020B0400000000000000" charset="-122"/>
            </a:endParaRPr>
          </a:p>
          <a:p>
            <a:pPr marL="342900" indent="-342900">
              <a:lnSpc>
                <a:spcPct val="150000"/>
              </a:lnSpc>
              <a:buFont typeface="+mj-lt"/>
              <a:buAutoNum type="alphaLcPeriod"/>
            </a:pPr>
            <a:r>
              <a:rPr lang="zh-CN" altLang="en-US"/>
              <a:t>快速预测这一层哪些神经元</a:t>
            </a:r>
            <a:r>
              <a:rPr lang="zh-CN" altLang="en-US"/>
              <a:t>会被激活</a:t>
            </a:r>
            <a:endParaRPr lang="zh-CN" altLang="en-US"/>
          </a:p>
          <a:p>
            <a:pPr marL="342900" indent="-342900">
              <a:lnSpc>
                <a:spcPct val="150000"/>
              </a:lnSpc>
              <a:buFont typeface="+mj-lt"/>
              <a:buAutoNum type="alphaLcPeriod"/>
            </a:pPr>
            <a:r>
              <a:rPr lang="zh-CN" altLang="en-US"/>
              <a:t>只从</a:t>
            </a:r>
            <a:r>
              <a:rPr lang="en-US" altLang="zh-CN">
                <a:latin typeface="微软雅黑" panose="020B0503020204020204" charset="-122"/>
                <a:ea typeface="微软雅黑" panose="020B0503020204020204" charset="-122"/>
              </a:rPr>
              <a:t>Flash</a:t>
            </a:r>
            <a:r>
              <a:rPr lang="zh-CN" altLang="en-US"/>
              <a:t>中读取被激活的神经元</a:t>
            </a:r>
            <a:r>
              <a:rPr lang="zh-CN" altLang="en-US"/>
              <a:t>参数</a:t>
            </a:r>
            <a:endParaRPr lang="zh-CN" altLang="en-US"/>
          </a:p>
          <a:p>
            <a:pPr marL="342900" indent="-342900">
              <a:lnSpc>
                <a:spcPct val="150000"/>
              </a:lnSpc>
              <a:buFont typeface="+mj-lt"/>
              <a:buAutoNum type="alphaLcPeriod"/>
            </a:pPr>
            <a:r>
              <a:rPr lang="zh-CN" altLang="en-US"/>
              <a:t>使用加载进</a:t>
            </a:r>
            <a:r>
              <a:rPr lang="en-US" altLang="zh-CN">
                <a:latin typeface="微软雅黑" panose="020B0503020204020204" charset="-122"/>
                <a:ea typeface="微软雅黑" panose="020B0503020204020204" charset="-122"/>
              </a:rPr>
              <a:t>DRAM</a:t>
            </a:r>
            <a:r>
              <a:rPr lang="zh-CN" altLang="en-US"/>
              <a:t>的少量参数完成</a:t>
            </a:r>
            <a:r>
              <a:rPr lang="zh-CN" altLang="en-US"/>
              <a:t>推理计算</a:t>
            </a:r>
            <a:endParaRPr lang="zh-CN" altLang="en-US"/>
          </a:p>
        </p:txBody>
      </p:sp>
      <p:sp>
        <p:nvSpPr>
          <p:cNvPr id="1048615" name="文本框 10"/>
          <p:cNvSpPr txBox="1"/>
          <p:nvPr/>
        </p:nvSpPr>
        <p:spPr>
          <a:xfrm>
            <a:off x="587375" y="6397625"/>
            <a:ext cx="9011285" cy="275590"/>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rPr>
              <a:t>[3]Liu et al., "Deja Vu: Contextual Sparsity for Efficient LLMs at Inference Time," ICML 2023.</a:t>
            </a:r>
            <a:endParaRPr lang="en-US" altLang="zh-CN" sz="1200">
              <a:latin typeface="微软雅黑" panose="020B0503020204020204" charset="-122"/>
              <a:ea typeface="微软雅黑" panose="020B0503020204020204" charset="-122"/>
            </a:endParaRPr>
          </a:p>
        </p:txBody>
      </p:sp>
      <p:pic>
        <p:nvPicPr>
          <p:cNvPr id="2097161" name="图片 13" descr="cache"/>
          <p:cNvPicPr>
            <a:picLocks noChangeAspect="1"/>
          </p:cNvPicPr>
          <p:nvPr/>
        </p:nvPicPr>
        <p:blipFill>
          <a:blip r:embed="rId6"/>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16" name="圆角矩形 4"/>
          <p:cNvSpPr/>
          <p:nvPr/>
        </p:nvSpPr>
        <p:spPr>
          <a:xfrm>
            <a:off x="1620520" y="6141720"/>
            <a:ext cx="8950960" cy="478155"/>
          </a:xfrm>
          <a:prstGeom prst="round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8617"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研究背景</a:t>
            </a:r>
            <a:endParaRPr lang="zh-CN" altLang="en-US" sz="2800"/>
          </a:p>
        </p:txBody>
      </p:sp>
      <p:sp>
        <p:nvSpPr>
          <p:cNvPr id="1048618" name="Text Box 5"/>
          <p:cNvSpPr txBox="1"/>
          <p:nvPr/>
        </p:nvSpPr>
        <p:spPr>
          <a:xfrm>
            <a:off x="635635" y="1120140"/>
            <a:ext cx="4734560" cy="2640965"/>
          </a:xfrm>
          <a:prstGeom prst="rect">
            <a:avLst/>
          </a:prstGeom>
          <a:noFill/>
        </p:spPr>
        <p:txBody>
          <a:bodyPr wrap="square" rtlCol="0">
            <a:noAutofit/>
          </a:bodyPr>
          <a:p>
            <a:pPr>
              <a:lnSpc>
                <a:spcPct val="150000"/>
              </a:lnSpc>
            </a:pPr>
            <a:r>
              <a:rPr lang="zh-CN" altLang="en-US">
                <a:sym typeface="+mn-ea"/>
              </a:rPr>
              <a:t>稀疏激活的相关工作存在以下</a:t>
            </a:r>
            <a:r>
              <a:rPr lang="zh-CN" altLang="en-US" b="1">
                <a:latin typeface="PingFang SC Semibold" panose="020B0400000000000000" charset="-122"/>
                <a:ea typeface="PingFang SC Semibold" panose="020B0400000000000000" charset="-122"/>
                <a:sym typeface="+mn-ea"/>
              </a:rPr>
              <a:t>局限性</a:t>
            </a:r>
            <a:r>
              <a:rPr lang="zh-CN" altLang="en-US">
                <a:sym typeface="+mn-ea"/>
              </a:rPr>
              <a:t>：</a:t>
            </a:r>
            <a:endParaRPr lang="en-US" altLang="zh-CN"/>
          </a:p>
          <a:p>
            <a:pPr marL="285750" indent="-285750">
              <a:lnSpc>
                <a:spcPct val="150000"/>
              </a:lnSpc>
              <a:buFont typeface="Wingdings" panose="05000000000000000000" charset="0"/>
              <a:buChar char=""/>
            </a:pPr>
            <a:r>
              <a:rPr lang="zh-CN" altLang="en-US"/>
              <a:t>稀疏激活导致读取请求变得分散且细粒度</a:t>
            </a:r>
            <a:r>
              <a:rPr lang="en-US" altLang="zh-CN"/>
              <a:t>；</a:t>
            </a:r>
            <a:endParaRPr lang="en-US" altLang="zh-CN"/>
          </a:p>
          <a:p>
            <a:pPr marL="285750" indent="-285750">
              <a:lnSpc>
                <a:spcPct val="150000"/>
              </a:lnSpc>
              <a:buFont typeface="Wingdings" panose="05000000000000000000" charset="0"/>
              <a:buChar char=""/>
            </a:pPr>
            <a:r>
              <a:rPr lang="zh-CN" altLang="en-US"/>
              <a:t>智能手机普遍采用</a:t>
            </a:r>
            <a:r>
              <a:rPr lang="en-US" altLang="zh-CN"/>
              <a:t> </a:t>
            </a:r>
            <a:r>
              <a:rPr lang="en-US" altLang="zh-CN">
                <a:latin typeface="微软雅黑" panose="020B0503020204020204" charset="-122"/>
                <a:ea typeface="微软雅黑" panose="020B0503020204020204" charset="-122"/>
              </a:rPr>
              <a:t>UFS </a:t>
            </a:r>
            <a:r>
              <a:rPr lang="zh-CN" altLang="en-US"/>
              <a:t>存储协议，其命令队列极浅（仅支持</a:t>
            </a:r>
            <a:r>
              <a:rPr lang="en-US" altLang="zh-CN"/>
              <a:t> </a:t>
            </a:r>
            <a:r>
              <a:rPr lang="en-US" altLang="zh-CN">
                <a:latin typeface="微软雅黑" panose="020B0503020204020204" charset="-122"/>
                <a:ea typeface="微软雅黑" panose="020B0503020204020204" charset="-122"/>
              </a:rPr>
              <a:t>32 </a:t>
            </a:r>
            <a:r>
              <a:rPr lang="zh-CN" altLang="en-US"/>
              <a:t>个并发条目）</a:t>
            </a:r>
            <a:r>
              <a:rPr lang="en-US" altLang="zh-CN"/>
              <a:t>；</a:t>
            </a:r>
            <a:endParaRPr lang="en-US" altLang="zh-CN"/>
          </a:p>
          <a:p>
            <a:pPr marL="285750" indent="-285750">
              <a:lnSpc>
                <a:spcPct val="150000"/>
              </a:lnSpc>
              <a:buFont typeface="Wingdings" panose="05000000000000000000" charset="0"/>
              <a:buChar char=""/>
            </a:pPr>
            <a:r>
              <a:rPr lang="zh-CN" altLang="en-US"/>
              <a:t>这种模式触发了手机的</a:t>
            </a:r>
            <a:r>
              <a:rPr lang="en-US" altLang="zh-CN"/>
              <a:t> </a:t>
            </a:r>
            <a:r>
              <a:rPr lang="en-US" altLang="zh-CN">
                <a:latin typeface="微软雅黑" panose="020B0503020204020204" charset="-122"/>
                <a:ea typeface="微软雅黑" panose="020B0503020204020204" charset="-122"/>
              </a:rPr>
              <a:t>IOPS </a:t>
            </a:r>
            <a:r>
              <a:rPr lang="zh-CN" altLang="en-US"/>
              <a:t>瓶颈，导致存储控制器忙于处理指令而非传输数据</a:t>
            </a:r>
            <a:endParaRPr lang="zh-CN" altLang="en-US"/>
          </a:p>
          <a:p>
            <a:pPr>
              <a:lnSpc>
                <a:spcPct val="150000"/>
              </a:lnSpc>
            </a:pPr>
            <a:endParaRPr lang="zh-CN" altLang="en-US"/>
          </a:p>
          <a:p>
            <a:pPr>
              <a:lnSpc>
                <a:spcPct val="150000"/>
              </a:lnSpc>
            </a:pPr>
            <a:endParaRPr lang="zh-CN" altLang="en-US"/>
          </a:p>
          <a:p>
            <a:pPr>
              <a:lnSpc>
                <a:spcPct val="150000"/>
              </a:lnSpc>
            </a:pPr>
            <a:endParaRPr lang="zh-CN" altLang="en-US"/>
          </a:p>
          <a:p>
            <a:pPr>
              <a:lnSpc>
                <a:spcPct val="150000"/>
              </a:lnSpc>
            </a:pPr>
            <a:endParaRPr lang="zh-CN" altLang="en-US"/>
          </a:p>
        </p:txBody>
      </p:sp>
      <p:pic>
        <p:nvPicPr>
          <p:cNvPr id="2097162" name="Picture 6"/>
          <p:cNvPicPr>
            <a:picLocks noChangeAspect="1"/>
          </p:cNvPicPr>
          <p:nvPr/>
        </p:nvPicPr>
        <p:blipFill>
          <a:blip r:embed="rId1"/>
          <a:stretch>
            <a:fillRect/>
          </a:stretch>
        </p:blipFill>
        <p:spPr>
          <a:xfrm>
            <a:off x="5616575" y="1795145"/>
            <a:ext cx="6184900" cy="4064000"/>
          </a:xfrm>
          <a:prstGeom prst="rect">
            <a:avLst/>
          </a:prstGeom>
          <a:ln>
            <a:noFill/>
          </a:ln>
        </p:spPr>
      </p:pic>
      <p:sp>
        <p:nvSpPr>
          <p:cNvPr id="1048619" name="Text Box 7"/>
          <p:cNvSpPr txBox="1"/>
          <p:nvPr/>
        </p:nvSpPr>
        <p:spPr>
          <a:xfrm>
            <a:off x="1619885" y="6159500"/>
            <a:ext cx="8747760" cy="497839"/>
          </a:xfrm>
          <a:prstGeom prst="rect">
            <a:avLst/>
          </a:prstGeom>
          <a:noFill/>
        </p:spPr>
        <p:txBody>
          <a:bodyPr wrap="square" rtlCol="0">
            <a:spAutoFit/>
          </a:bodyPr>
          <a:p>
            <a:pPr algn="ct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既然</a:t>
            </a:r>
            <a:r>
              <a:rPr lang="en-US" altLang="zh-CN" sz="2400" b="1">
                <a:solidFill>
                  <a:schemeClr val="bg1"/>
                </a:solidFill>
                <a:latin typeface="PingFang SC Semibold" panose="020B0400000000000000" charset="-122"/>
                <a:ea typeface="PingFang SC Semibold" panose="020B0400000000000000" charset="-122"/>
                <a:cs typeface="PingFang SC Semibold" panose="020B0400000000000000" charset="-122"/>
              </a:rPr>
              <a:t>I/O</a:t>
            </a: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是瓶颈</a:t>
            </a:r>
            <a:r>
              <a:rPr lang="en-US" altLang="zh-CN" sz="2400" b="1">
                <a:solidFill>
                  <a:schemeClr val="bg1"/>
                </a:solidFill>
                <a:latin typeface="PingFang SC Semibold" panose="020B0400000000000000" charset="-122"/>
                <a:ea typeface="PingFang SC Semibold" panose="020B0400000000000000" charset="-122"/>
                <a:cs typeface="PingFang SC Semibold" panose="020B0400000000000000" charset="-122"/>
              </a:rPr>
              <a:t>，</a:t>
            </a: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如何减少</a:t>
            </a:r>
            <a:r>
              <a:rPr lang="en-US" altLang="zh-CN" sz="2400" b="1">
                <a:solidFill>
                  <a:schemeClr val="bg1"/>
                </a:solidFill>
                <a:latin typeface="PingFang SC Semibold" panose="020B0400000000000000" charset="-122"/>
                <a:ea typeface="PingFang SC Semibold" panose="020B0400000000000000" charset="-122"/>
                <a:cs typeface="PingFang SC Semibold" panose="020B0400000000000000" charset="-122"/>
              </a:rPr>
              <a:t>I/O</a:t>
            </a:r>
            <a:r>
              <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rPr>
              <a:t>次数就成了关键</a:t>
            </a:r>
            <a:endParaRPr lang="zh-CN" altLang="en-US" sz="2400" b="1">
              <a:solidFill>
                <a:schemeClr val="bg1"/>
              </a:solidFill>
              <a:latin typeface="PingFang SC Semibold" panose="020B0400000000000000" charset="-122"/>
              <a:ea typeface="PingFang SC Semibold" panose="020B0400000000000000" charset="-122"/>
              <a:cs typeface="PingFang SC Semibold" panose="020B0400000000000000" charset="-122"/>
            </a:endParaRPr>
          </a:p>
        </p:txBody>
      </p:sp>
      <p:sp>
        <p:nvSpPr>
          <p:cNvPr id="1048620" name="矩形标注 3"/>
          <p:cNvSpPr/>
          <p:nvPr/>
        </p:nvSpPr>
        <p:spPr>
          <a:xfrm>
            <a:off x="1869440" y="3886835"/>
            <a:ext cx="3332480" cy="1564005"/>
          </a:xfrm>
          <a:prstGeom prst="wedgeRectCallout">
            <a:avLst>
              <a:gd name="adj1" fmla="val 109965"/>
              <a:gd name="adj2" fmla="val 1065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带宽随数据块大小呈线性增长</a:t>
            </a:r>
            <a:r>
              <a:rPr lang="en-US" altLang="zh-CN" sz="2000"/>
              <a:t>，</a:t>
            </a:r>
            <a:r>
              <a:rPr lang="zh-CN" altLang="en-US" sz="2000"/>
              <a:t>这说明此时速度完全被</a:t>
            </a:r>
            <a:r>
              <a:rPr lang="en-US" altLang="zh-CN" sz="2000"/>
              <a:t> IOPS </a:t>
            </a:r>
            <a:r>
              <a:rPr lang="zh-CN" altLang="en-US" sz="2000"/>
              <a:t>卡死</a:t>
            </a:r>
            <a:endParaRPr lang="zh-CN" altLang="en-US" sz="2000"/>
          </a:p>
        </p:txBody>
      </p:sp>
      <p:pic>
        <p:nvPicPr>
          <p:cNvPr id="2097163" name="图片 11" descr="cache"/>
          <p:cNvPicPr>
            <a:picLocks noChangeAspect="1"/>
          </p:cNvPicPr>
          <p:nvPr/>
        </p:nvPicPr>
        <p:blipFill>
          <a:blip r:embed="rId2"/>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1" name="矩形 3"/>
          <p:cNvSpPr/>
          <p:nvPr/>
        </p:nvSpPr>
        <p:spPr>
          <a:xfrm>
            <a:off x="3409605" y="1364979"/>
            <a:ext cx="8782421" cy="1872001"/>
          </a:xfrm>
          <a:custGeom>
            <a:avLst/>
            <a:gdLst/>
            <a:ahLst/>
            <a:cxnLst>
              <a:cxn ang="0">
                <a:pos x="wd2" y="hd2"/>
              </a:cxn>
              <a:cxn ang="5400000">
                <a:pos x="wd2" y="hd2"/>
              </a:cxn>
              <a:cxn ang="10800000">
                <a:pos x="wd2" y="hd2"/>
              </a:cxn>
              <a:cxn ang="16200000">
                <a:pos x="wd2" y="hd2"/>
              </a:cxn>
            </a:cxnLst>
            <a:rect l="0" t="0" r="r" b="b"/>
            <a:pathLst>
              <a:path w="21600" h="21600" extrusionOk="0">
                <a:moveTo>
                  <a:pt x="2658" y="0"/>
                </a:moveTo>
                <a:lnTo>
                  <a:pt x="21600" y="0"/>
                </a:lnTo>
                <a:lnTo>
                  <a:pt x="21600" y="21600"/>
                </a:lnTo>
                <a:lnTo>
                  <a:pt x="0" y="21600"/>
                </a:lnTo>
                <a:close/>
              </a:path>
            </a:pathLst>
          </a:custGeom>
          <a:solidFill>
            <a:schemeClr val="bg2">
              <a:lumMod val="75000"/>
            </a:schemeClr>
          </a:solidFill>
          <a:ln w="12700">
            <a:miter lim="400000"/>
          </a:ln>
        </p:spPr>
        <p:txBody>
          <a:bodyPr lIns="0" tIns="0" rIns="0" bIns="0" anchor="ctr"/>
          <a:p>
            <a:pPr algn="ctr">
              <a:defRPr>
                <a:solidFill>
                  <a:srgbClr val="FFFFFF"/>
                </a:solidFill>
              </a:defRPr>
            </a:pPr>
            <a:endParaRPr sz="2400"/>
          </a:p>
        </p:txBody>
      </p:sp>
      <p:sp>
        <p:nvSpPr>
          <p:cNvPr id="1048622" name="矩形 6"/>
          <p:cNvSpPr/>
          <p:nvPr/>
        </p:nvSpPr>
        <p:spPr>
          <a:xfrm>
            <a:off x="0" y="3909053"/>
            <a:ext cx="5712357" cy="1872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7513" y="21600"/>
                </a:lnTo>
                <a:lnTo>
                  <a:pt x="0" y="21600"/>
                </a:lnTo>
                <a:close/>
              </a:path>
            </a:pathLst>
          </a:custGeom>
          <a:solidFill>
            <a:srgbClr val="BFBFBF"/>
          </a:solidFill>
          <a:ln w="12700">
            <a:miter lim="400000"/>
          </a:ln>
        </p:spPr>
        <p:txBody>
          <a:bodyPr lIns="0" tIns="0" rIns="0" bIns="0" anchor="ctr"/>
          <a:p>
            <a:pPr algn="ctr">
              <a:defRPr>
                <a:solidFill>
                  <a:srgbClr val="FFFFFF"/>
                </a:solidFill>
              </a:defRPr>
            </a:pPr>
            <a:endParaRPr sz="2400"/>
          </a:p>
        </p:txBody>
      </p:sp>
      <p:sp>
        <p:nvSpPr>
          <p:cNvPr id="1048623" name="矩形 7"/>
          <p:cNvSpPr/>
          <p:nvPr/>
        </p:nvSpPr>
        <p:spPr>
          <a:xfrm>
            <a:off x="-1" y="2124729"/>
            <a:ext cx="10613240" cy="302400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8047" y="21600"/>
                </a:lnTo>
                <a:lnTo>
                  <a:pt x="0" y="21600"/>
                </a:lnTo>
                <a:close/>
              </a:path>
            </a:pathLst>
          </a:custGeom>
          <a:solidFill>
            <a:schemeClr val="accent1">
              <a:lumMod val="75000"/>
            </a:schemeClr>
          </a:solidFill>
          <a:ln w="12700">
            <a:miter lim="400000"/>
          </a:ln>
        </p:spPr>
        <p:txBody>
          <a:bodyPr lIns="0" tIns="0" rIns="0" bIns="0" anchor="ctr"/>
          <a:p>
            <a:pPr algn="ctr">
              <a:defRPr>
                <a:solidFill>
                  <a:srgbClr val="FFFFFF"/>
                </a:solidFill>
              </a:defRPr>
            </a:pPr>
            <a:endParaRPr sz="2400"/>
          </a:p>
        </p:txBody>
      </p:sp>
      <p:sp>
        <p:nvSpPr>
          <p:cNvPr id="1048624" name="TextBox 11"/>
          <p:cNvSpPr txBox="1"/>
          <p:nvPr/>
        </p:nvSpPr>
        <p:spPr>
          <a:xfrm>
            <a:off x="3892972" y="3016545"/>
            <a:ext cx="3017516" cy="904239"/>
          </a:xfrm>
          <a:prstGeom prst="rect">
            <a:avLst/>
          </a:prstGeom>
          <a:ln w="12700">
            <a:miter lim="400000"/>
          </a:ln>
        </p:spPr>
        <p:txBody>
          <a:bodyPr wrap="none" lIns="60958" rIns="60958">
            <a:spAutoFit/>
          </a:bodyPr>
          <a:p>
            <a:pPr lvl="1" indent="0">
              <a:defRPr sz="3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4800"/>
              <a:t>算法</a:t>
            </a:r>
            <a:r>
              <a:rPr lang="zh-CN" sz="4800"/>
              <a:t>框架</a:t>
            </a:r>
            <a:endParaRPr lang="zh-CN" sz="4800"/>
          </a:p>
        </p:txBody>
      </p:sp>
      <p:grpSp>
        <p:nvGrpSpPr>
          <p:cNvPr id="52" name="组合 1"/>
          <p:cNvGrpSpPr/>
          <p:nvPr/>
        </p:nvGrpSpPr>
        <p:grpSpPr>
          <a:xfrm>
            <a:off x="1671812" y="2646180"/>
            <a:ext cx="1737796" cy="1737796"/>
            <a:chOff x="0" y="0"/>
            <a:chExt cx="1303346" cy="1303346"/>
          </a:xfrm>
        </p:grpSpPr>
        <p:sp>
          <p:nvSpPr>
            <p:cNvPr id="1048625" name="椭圆 19"/>
            <p:cNvSpPr/>
            <p:nvPr/>
          </p:nvSpPr>
          <p:spPr>
            <a:xfrm>
              <a:off x="-1" y="-1"/>
              <a:ext cx="1303348" cy="1303348"/>
            </a:xfrm>
            <a:prstGeom prst="ellipse">
              <a:avLst/>
            </a:prstGeom>
            <a:gradFill flip="none" rotWithShape="1">
              <a:gsLst>
                <a:gs pos="0">
                  <a:srgbClr val="FFFFFF"/>
                </a:gs>
                <a:gs pos="50000">
                  <a:srgbClr val="F2F2F2"/>
                </a:gs>
                <a:gs pos="100000">
                  <a:srgbClr val="BFBFBF"/>
                </a:gs>
              </a:gsLst>
              <a:lin ang="18900000" scaled="0"/>
            </a:gradFill>
            <a:ln w="53975" cap="flat">
              <a:solidFill>
                <a:srgbClr val="ECECEC"/>
              </a:solidFill>
              <a:prstDash val="solid"/>
              <a:round/>
            </a:ln>
            <a:effectLst>
              <a:outerShdw blurRad="444500" dist="254000" dir="8100000" rotWithShape="0">
                <a:srgbClr val="000000">
                  <a:alpha val="50000"/>
                </a:srgbClr>
              </a:outerShdw>
            </a:effectLst>
          </p:spPr>
          <p:txBody>
            <a:bodyPr wrap="square" lIns="0" tIns="0" rIns="0" bIns="0" numCol="1" anchor="ctr">
              <a:noAutofit/>
            </a:bodyPr>
            <a:p>
              <a:pPr algn="ctr">
                <a:defRPr>
                  <a:solidFill>
                    <a:srgbClr val="FFFFFF"/>
                  </a:solidFill>
                </a:defRPr>
              </a:pPr>
              <a:endParaRPr sz="2400"/>
            </a:p>
          </p:txBody>
        </p:sp>
        <p:sp>
          <p:nvSpPr>
            <p:cNvPr id="1048626" name="椭圆 21"/>
            <p:cNvSpPr/>
            <p:nvPr/>
          </p:nvSpPr>
          <p:spPr>
            <a:xfrm>
              <a:off x="145554" y="145554"/>
              <a:ext cx="1012239" cy="1012239"/>
            </a:xfrm>
            <a:prstGeom prst="ellipse">
              <a:avLst/>
            </a:prstGeom>
            <a:solidFill>
              <a:srgbClr val="FFFFFF"/>
            </a:solidFill>
            <a:ln w="12700" cap="flat">
              <a:noFill/>
              <a:miter lim="400000"/>
            </a:ln>
            <a:effectLst/>
          </p:spPr>
          <p:txBody>
            <a:bodyPr wrap="square" lIns="0" tIns="0" rIns="0" bIns="0" numCol="1" anchor="ctr">
              <a:noAutofit/>
            </a:bodyPr>
            <a:p>
              <a:pPr algn="ctr" defTabSz="685800">
                <a:defRPr sz="2100" b="1">
                  <a:solidFill>
                    <a:srgbClr val="FFFFFF"/>
                  </a:solidFill>
                </a:defRPr>
              </a:pPr>
              <a:endParaRPr sz="2800"/>
            </a:p>
          </p:txBody>
        </p:sp>
      </p:grpSp>
      <p:pic>
        <p:nvPicPr>
          <p:cNvPr id="2097164" name="图片 2"/>
          <p:cNvPicPr>
            <a:picLocks noChangeAspect="1"/>
          </p:cNvPicPr>
          <p:nvPr/>
        </p:nvPicPr>
        <p:blipFill>
          <a:blip r:embed="rId1" cstate="print"/>
          <a:stretch>
            <a:fillRect/>
          </a:stretch>
        </p:blipFill>
        <p:spPr>
          <a:xfrm>
            <a:off x="1920875" y="2941320"/>
            <a:ext cx="1239520" cy="1147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7"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算法框架</a:t>
            </a:r>
            <a:endParaRPr lang="zh-CN" altLang="en-US" sz="2800"/>
          </a:p>
        </p:txBody>
      </p:sp>
      <p:pic>
        <p:nvPicPr>
          <p:cNvPr id="2097165" name="Picture 2"/>
          <p:cNvPicPr>
            <a:picLocks noChangeAspect="1"/>
          </p:cNvPicPr>
          <p:nvPr/>
        </p:nvPicPr>
        <p:blipFill>
          <a:blip r:embed="rId1"/>
          <a:stretch>
            <a:fillRect/>
          </a:stretch>
        </p:blipFill>
        <p:spPr>
          <a:xfrm>
            <a:off x="6153785" y="922655"/>
            <a:ext cx="5591175" cy="5746115"/>
          </a:xfrm>
          <a:prstGeom prst="rect">
            <a:avLst/>
          </a:prstGeom>
        </p:spPr>
      </p:pic>
      <p:sp>
        <p:nvSpPr>
          <p:cNvPr id="1048628" name="Text Box 4"/>
          <p:cNvSpPr txBox="1"/>
          <p:nvPr/>
        </p:nvSpPr>
        <p:spPr>
          <a:xfrm>
            <a:off x="692785" y="1721485"/>
            <a:ext cx="5461000" cy="3415030"/>
          </a:xfrm>
          <a:prstGeom prst="rect">
            <a:avLst/>
          </a:prstGeom>
          <a:noFill/>
        </p:spPr>
        <p:txBody>
          <a:bodyPr wrap="square" rtlCol="0">
            <a:spAutoFit/>
          </a:bodyPr>
          <a:p>
            <a:pPr marL="285750" indent="-285750">
              <a:lnSpc>
                <a:spcPct val="150000"/>
              </a:lnSpc>
              <a:buFont typeface="Wingdings" panose="05000000000000000000" charset="0"/>
              <a:buChar char=""/>
            </a:pPr>
            <a:r>
              <a:rPr lang="zh-CN" altLang="en-US"/>
              <a:t>离线阶段</a:t>
            </a:r>
            <a:r>
              <a:rPr lang="en-US" altLang="zh-CN"/>
              <a:t>：</a:t>
            </a:r>
            <a:r>
              <a:rPr lang="zh-CN" altLang="en-US"/>
              <a:t>调整模型</a:t>
            </a:r>
            <a:r>
              <a:rPr lang="zh-CN" altLang="en-US"/>
              <a:t>神经元的储存</a:t>
            </a:r>
            <a:r>
              <a:rPr lang="zh-CN" altLang="en-US"/>
              <a:t>顺序</a:t>
            </a:r>
            <a:endParaRPr lang="zh-CN" altLang="en-US"/>
          </a:p>
          <a:p>
            <a:pPr marL="742950" lvl="1" indent="-285750">
              <a:lnSpc>
                <a:spcPct val="150000"/>
              </a:lnSpc>
              <a:buFont typeface="Arial" panose="020B0604020202090204" pitchFamily="34" charset="0"/>
              <a:buChar char="•"/>
            </a:pPr>
            <a:r>
              <a:rPr lang="zh-CN" altLang="en-US"/>
              <a:t>模式提取</a:t>
            </a:r>
            <a:r>
              <a:rPr lang="en-US" altLang="zh-CN"/>
              <a:t>：</a:t>
            </a:r>
            <a:r>
              <a:rPr lang="zh-CN" altLang="en-US"/>
              <a:t>统计神经元的共激活频率</a:t>
            </a:r>
            <a:r>
              <a:rPr lang="en-US" altLang="zh-CN"/>
              <a:t>；</a:t>
            </a:r>
            <a:endParaRPr lang="zh-CN" altLang="en-US"/>
          </a:p>
          <a:p>
            <a:pPr marL="742950" lvl="1" indent="-285750">
              <a:lnSpc>
                <a:spcPct val="150000"/>
              </a:lnSpc>
              <a:buFont typeface="Arial" panose="020B0604020202090204" pitchFamily="34" charset="0"/>
              <a:buChar char="•"/>
            </a:pPr>
            <a:r>
              <a:rPr lang="zh-CN" altLang="en-US"/>
              <a:t>问题抽象</a:t>
            </a:r>
            <a:r>
              <a:rPr lang="en-US" altLang="zh-CN"/>
              <a:t>：</a:t>
            </a:r>
            <a:r>
              <a:rPr lang="zh-CN" altLang="en-US"/>
              <a:t>将存储布局建模成图</a:t>
            </a:r>
            <a:r>
              <a:rPr lang="en-US" altLang="zh-CN"/>
              <a:t>；</a:t>
            </a:r>
            <a:endParaRPr lang="zh-CN" altLang="en-US"/>
          </a:p>
          <a:p>
            <a:pPr marL="742950" lvl="1" indent="-285750">
              <a:lnSpc>
                <a:spcPct val="150000"/>
              </a:lnSpc>
              <a:buFont typeface="Arial" panose="020B0604020202090204" pitchFamily="34" charset="0"/>
              <a:buChar char="•"/>
            </a:pPr>
            <a:r>
              <a:rPr lang="zh-CN" altLang="en-US"/>
              <a:t>哈密顿路径搜索</a:t>
            </a:r>
            <a:r>
              <a:rPr lang="en-US" altLang="zh-CN"/>
              <a:t>：</a:t>
            </a:r>
            <a:r>
              <a:rPr lang="zh-CN" altLang="en-US"/>
              <a:t>利用贪心搜索算法搜寻图中的最短路径</a:t>
            </a:r>
            <a:r>
              <a:rPr lang="en-US" altLang="zh-CN"/>
              <a:t>；</a:t>
            </a:r>
            <a:endParaRPr lang="zh-CN" altLang="en-US"/>
          </a:p>
          <a:p>
            <a:pPr marL="285750" indent="-285750">
              <a:lnSpc>
                <a:spcPct val="150000"/>
              </a:lnSpc>
              <a:buFont typeface="Wingdings" panose="05000000000000000000" charset="0"/>
              <a:buChar char=""/>
            </a:pPr>
            <a:r>
              <a:rPr lang="zh-CN" altLang="en-US">
                <a:sym typeface="+mn-ea"/>
              </a:rPr>
              <a:t>在线阶段</a:t>
            </a:r>
            <a:r>
              <a:rPr lang="en-US" altLang="zh-CN">
                <a:sym typeface="+mn-ea"/>
              </a:rPr>
              <a:t>：</a:t>
            </a:r>
            <a:r>
              <a:rPr lang="zh-CN" altLang="en-US">
                <a:sym typeface="+mn-ea"/>
              </a:rPr>
              <a:t>合并离散的读取请求</a:t>
            </a:r>
            <a:endParaRPr lang="zh-CN" altLang="en-US"/>
          </a:p>
          <a:p>
            <a:pPr marL="742950" lvl="1" indent="-285750">
              <a:lnSpc>
                <a:spcPct val="150000"/>
              </a:lnSpc>
              <a:buFont typeface="Arial" panose="020B0604020202090204" pitchFamily="34" charset="0"/>
              <a:buChar char="•"/>
            </a:pPr>
            <a:r>
              <a:rPr lang="zh-CN" altLang="en-US">
                <a:sym typeface="+mn-ea"/>
              </a:rPr>
              <a:t>访问合并</a:t>
            </a:r>
            <a:r>
              <a:rPr lang="en-US" altLang="zh-CN">
                <a:sym typeface="+mn-ea"/>
              </a:rPr>
              <a:t>：</a:t>
            </a:r>
            <a:r>
              <a:rPr lang="zh-CN" altLang="en-US"/>
              <a:t>将两次小读取合并为一次大读取</a:t>
            </a:r>
            <a:endParaRPr lang="zh-CN" altLang="en-US"/>
          </a:p>
          <a:p>
            <a:pPr marL="742950" lvl="1" indent="-285750">
              <a:lnSpc>
                <a:spcPct val="150000"/>
              </a:lnSpc>
              <a:buFont typeface="Arial" panose="020B0604020202090204" pitchFamily="34" charset="0"/>
              <a:buChar char="•"/>
            </a:pPr>
            <a:r>
              <a:rPr lang="zh-CN" altLang="en-US">
                <a:sym typeface="+mn-ea"/>
              </a:rPr>
              <a:t>缓存策略</a:t>
            </a:r>
            <a:r>
              <a:rPr lang="en-US" altLang="zh-CN">
                <a:sym typeface="+mn-ea"/>
              </a:rPr>
              <a:t>：</a:t>
            </a:r>
            <a:r>
              <a:rPr lang="zh-CN" altLang="en-US">
                <a:sym typeface="+mn-ea"/>
              </a:rPr>
              <a:t>优先缓存离散的</a:t>
            </a:r>
            <a:r>
              <a:rPr lang="en-US" altLang="zh-CN">
                <a:sym typeface="+mn-ea"/>
              </a:rPr>
              <a:t>“</a:t>
            </a:r>
            <a:r>
              <a:rPr lang="zh-CN" altLang="en-US">
                <a:sym typeface="+mn-ea"/>
              </a:rPr>
              <a:t>孤立神经元</a:t>
            </a:r>
            <a:r>
              <a:rPr lang="en-US" altLang="zh-CN">
                <a:sym typeface="+mn-ea"/>
              </a:rPr>
              <a:t>”</a:t>
            </a:r>
            <a:endParaRPr lang="en-US" altLang="zh-CN">
              <a:sym typeface="+mn-ea"/>
            </a:endParaRPr>
          </a:p>
        </p:txBody>
      </p:sp>
      <p:pic>
        <p:nvPicPr>
          <p:cNvPr id="2097166" name="图片 11" descr="cache"/>
          <p:cNvPicPr>
            <a:picLocks noChangeAspect="1"/>
          </p:cNvPicPr>
          <p:nvPr/>
        </p:nvPicPr>
        <p:blipFill>
          <a:blip r:embed="rId2"/>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9"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算法框架</a:t>
            </a:r>
            <a:r>
              <a:rPr lang="en-US" altLang="zh-CN" sz="2800"/>
              <a:t> —— </a:t>
            </a:r>
            <a:r>
              <a:rPr lang="zh-CN" altLang="en-US" sz="2800"/>
              <a:t>离线阶段</a:t>
            </a:r>
            <a:endParaRPr lang="zh-CN" altLang="en-US" sz="2800"/>
          </a:p>
        </p:txBody>
      </p:sp>
      <p:sp>
        <p:nvSpPr>
          <p:cNvPr id="1048630" name="Text Box 3"/>
          <p:cNvSpPr txBox="1"/>
          <p:nvPr/>
        </p:nvSpPr>
        <p:spPr>
          <a:xfrm>
            <a:off x="1209040" y="1363345"/>
            <a:ext cx="7556500" cy="3415030"/>
          </a:xfrm>
          <a:prstGeom prst="rect">
            <a:avLst/>
          </a:prstGeom>
          <a:noFill/>
        </p:spPr>
        <p:txBody>
          <a:bodyPr wrap="square" rtlCol="0">
            <a:spAutoFit/>
          </a:bodyPr>
          <a:p>
            <a:pPr>
              <a:lnSpc>
                <a:spcPct val="150000"/>
              </a:lnSpc>
            </a:pPr>
            <a:r>
              <a:rPr lang="en-US"/>
              <a:t>1. </a:t>
            </a:r>
            <a:r>
              <a:rPr lang="zh-CN" altLang="en-US"/>
              <a:t>模式提取</a:t>
            </a:r>
            <a:endParaRPr lang="zh-CN" altLang="en-US"/>
          </a:p>
          <a:p>
            <a:pPr marL="285750" indent="-285750">
              <a:lnSpc>
                <a:spcPct val="150000"/>
              </a:lnSpc>
              <a:buFont typeface="Wingdings" panose="05000000000000000000" charset="0"/>
              <a:buChar char=""/>
            </a:pPr>
            <a:r>
              <a:rPr lang="zh-CN" altLang="en-US"/>
              <a:t>参数主要集中在</a:t>
            </a:r>
            <a:r>
              <a:rPr lang="en-US" altLang="zh-CN">
                <a:latin typeface="微软雅黑" panose="020B0503020204020204" charset="-122"/>
                <a:ea typeface="微软雅黑" panose="020B0503020204020204" charset="-122"/>
              </a:rPr>
              <a:t>FFN</a:t>
            </a:r>
            <a:r>
              <a:rPr lang="zh-CN" altLang="en-US"/>
              <a:t>块</a:t>
            </a:r>
            <a:r>
              <a:rPr lang="en-US" altLang="zh-CN"/>
              <a:t>，</a:t>
            </a:r>
            <a:r>
              <a:rPr lang="zh-CN" altLang="en-US"/>
              <a:t>所以只对</a:t>
            </a:r>
            <a:r>
              <a:rPr lang="en-US" altLang="zh-CN">
                <a:latin typeface="微软雅黑" panose="020B0503020204020204" charset="-122"/>
                <a:ea typeface="微软雅黑" panose="020B0503020204020204" charset="-122"/>
              </a:rPr>
              <a:t>FFN</a:t>
            </a:r>
            <a:r>
              <a:rPr lang="zh-CN" altLang="en-US"/>
              <a:t>块做</a:t>
            </a:r>
            <a:r>
              <a:rPr lang="en-US" altLang="zh-CN">
                <a:latin typeface="微软雅黑" panose="020B0503020204020204" charset="-122"/>
                <a:ea typeface="微软雅黑" panose="020B0503020204020204" charset="-122"/>
              </a:rPr>
              <a:t>offload</a:t>
            </a:r>
            <a:r>
              <a:rPr lang="zh-CN" altLang="en-US"/>
              <a:t>和</a:t>
            </a:r>
            <a:r>
              <a:rPr lang="zh-CN" altLang="en-US"/>
              <a:t>重排</a:t>
            </a:r>
            <a:endParaRPr lang="zh-CN" altLang="en-US"/>
          </a:p>
          <a:p>
            <a:pPr marL="285750" indent="-285750">
              <a:lnSpc>
                <a:spcPct val="150000"/>
              </a:lnSpc>
              <a:buFont typeface="Wingdings" panose="05000000000000000000" charset="0"/>
              <a:buChar char=""/>
            </a:pPr>
            <a:r>
              <a:rPr lang="zh-CN" altLang="en-US"/>
              <a:t>离线跑一批相关数据集</a:t>
            </a:r>
            <a:r>
              <a:rPr lang="en-US" altLang="zh-CN"/>
              <a:t>，</a:t>
            </a:r>
            <a:r>
              <a:rPr lang="zh-CN" altLang="en-US"/>
              <a:t>构建邻接矩阵记录神经元之间的共激活</a:t>
            </a:r>
            <a:r>
              <a:rPr lang="zh-CN" altLang="en-US"/>
              <a:t>频率</a:t>
            </a:r>
            <a:endParaRPr lang="zh-CN" altLang="en-US"/>
          </a:p>
          <a:p>
            <a:pPr>
              <a:lnSpc>
                <a:spcPct val="150000"/>
              </a:lnSpc>
            </a:pPr>
            <a:endParaRPr lang="zh-CN" altLang="en-US"/>
          </a:p>
          <a:p>
            <a:pPr>
              <a:lnSpc>
                <a:spcPct val="150000"/>
              </a:lnSpc>
            </a:pPr>
            <a:r>
              <a:rPr lang="en-US" altLang="zh-CN"/>
              <a:t>2. </a:t>
            </a:r>
            <a:r>
              <a:rPr lang="zh-CN" altLang="en-US"/>
              <a:t>图问题</a:t>
            </a:r>
            <a:r>
              <a:rPr lang="zh-CN" altLang="en-US"/>
              <a:t>抽象</a:t>
            </a:r>
            <a:endParaRPr lang="zh-CN" altLang="en-US"/>
          </a:p>
          <a:p>
            <a:pPr marL="400050" lvl="0" indent="-400050">
              <a:lnSpc>
                <a:spcPct val="150000"/>
              </a:lnSpc>
              <a:buFont typeface="+mj-lt"/>
              <a:buAutoNum type="romanUcPeriod"/>
            </a:pPr>
            <a:r>
              <a:rPr lang="zh-CN" altLang="en-US"/>
              <a:t>建图</a:t>
            </a:r>
            <a:r>
              <a:rPr lang="en-US" altLang="zh-CN"/>
              <a:t>：</a:t>
            </a:r>
            <a:r>
              <a:rPr lang="zh-CN" altLang="en-US"/>
              <a:t>每个节点代表一个神经元</a:t>
            </a:r>
            <a:r>
              <a:rPr lang="en-US" altLang="zh-CN"/>
              <a:t>，</a:t>
            </a:r>
            <a:r>
              <a:rPr lang="zh-CN" altLang="en-US"/>
              <a:t>边的值为神经元之间的“距离”</a:t>
            </a:r>
            <a:r>
              <a:rPr lang="en-US" altLang="zh-CN"/>
              <a:t>，</a:t>
            </a:r>
            <a:r>
              <a:rPr lang="zh-CN" altLang="en-US"/>
              <a:t>共激活越频繁</a:t>
            </a:r>
            <a:r>
              <a:rPr lang="en-US" altLang="zh-CN"/>
              <a:t>，</a:t>
            </a:r>
            <a:r>
              <a:rPr lang="zh-CN" altLang="en-US"/>
              <a:t>距离</a:t>
            </a:r>
            <a:r>
              <a:rPr lang="zh-CN" altLang="en-US"/>
              <a:t>越小</a:t>
            </a:r>
            <a:endParaRPr lang="zh-CN" altLang="en-US"/>
          </a:p>
          <a:p>
            <a:pPr marL="400050" lvl="0" indent="-400050">
              <a:lnSpc>
                <a:spcPct val="150000"/>
              </a:lnSpc>
              <a:buFont typeface="+mj-lt"/>
              <a:buAutoNum type="romanUcPeriod"/>
            </a:pPr>
            <a:r>
              <a:rPr lang="zh-CN" altLang="en-US"/>
              <a:t>问题转换</a:t>
            </a:r>
            <a:r>
              <a:rPr lang="en-US" altLang="zh-CN"/>
              <a:t>：</a:t>
            </a:r>
            <a:r>
              <a:rPr lang="zh-CN" altLang="en-US"/>
              <a:t>在这张图上找最短</a:t>
            </a:r>
            <a:r>
              <a:rPr lang="en-US" altLang="zh-CN" b="1">
                <a:latin typeface="PingFang SC Semibold" panose="020B0400000000000000" charset="-122"/>
                <a:ea typeface="PingFang SC Semibold" panose="020B0400000000000000" charset="-122"/>
              </a:rPr>
              <a:t>Hamilton</a:t>
            </a:r>
            <a:r>
              <a:rPr lang="zh-CN" altLang="en-US"/>
              <a:t>路径</a:t>
            </a:r>
            <a:endParaRPr lang="zh-CN" altLang="en-US"/>
          </a:p>
        </p:txBody>
      </p:sp>
      <p:pic>
        <p:nvPicPr>
          <p:cNvPr id="2097167" name="图片 1"/>
          <p:cNvPicPr>
            <a:picLocks noChangeAspect="1"/>
          </p:cNvPicPr>
          <p:nvPr/>
        </p:nvPicPr>
        <p:blipFill>
          <a:blip r:embed="rId1"/>
          <a:stretch>
            <a:fillRect/>
          </a:stretch>
        </p:blipFill>
        <p:spPr>
          <a:xfrm>
            <a:off x="8435975" y="1439545"/>
            <a:ext cx="3505200" cy="1600200"/>
          </a:xfrm>
          <a:prstGeom prst="rect">
            <a:avLst/>
          </a:prstGeom>
        </p:spPr>
      </p:pic>
      <p:pic>
        <p:nvPicPr>
          <p:cNvPr id="2097168" name="图片 2"/>
          <p:cNvPicPr>
            <a:picLocks noChangeAspect="1"/>
          </p:cNvPicPr>
          <p:nvPr/>
        </p:nvPicPr>
        <p:blipFill>
          <a:blip r:embed="rId2"/>
          <a:stretch>
            <a:fillRect/>
          </a:stretch>
        </p:blipFill>
        <p:spPr>
          <a:xfrm>
            <a:off x="8765540" y="3429000"/>
            <a:ext cx="2628900" cy="520700"/>
          </a:xfrm>
          <a:prstGeom prst="rect">
            <a:avLst/>
          </a:prstGeom>
        </p:spPr>
      </p:pic>
      <p:sp>
        <p:nvSpPr>
          <p:cNvPr id="1048631" name="圆角矩形 6"/>
          <p:cNvSpPr/>
          <p:nvPr/>
        </p:nvSpPr>
        <p:spPr>
          <a:xfrm>
            <a:off x="762000" y="5073650"/>
            <a:ext cx="10816590" cy="1226185"/>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48632" name="文本框 8"/>
          <p:cNvSpPr txBox="1"/>
          <p:nvPr/>
        </p:nvSpPr>
        <p:spPr>
          <a:xfrm>
            <a:off x="4064000" y="5138420"/>
            <a:ext cx="4064000" cy="460375"/>
          </a:xfrm>
          <a:prstGeom prst="rect">
            <a:avLst/>
          </a:prstGeom>
          <a:noFill/>
        </p:spPr>
        <p:txBody>
          <a:bodyPr wrap="square" rtlCol="0">
            <a:spAutoFit/>
          </a:bodyPr>
          <a:p>
            <a:pPr algn="ctr"/>
            <a:r>
              <a:rPr lang="zh-CN" altLang="en-US" sz="2400" b="1">
                <a:solidFill>
                  <a:srgbClr val="FF0000"/>
                </a:solidFill>
                <a:latin typeface="PingFang SC Semibold" panose="020B0400000000000000" charset="-122"/>
                <a:ea typeface="PingFang SC Semibold" panose="020B0400000000000000" charset="-122"/>
              </a:rPr>
              <a:t>核心问题转换</a:t>
            </a:r>
            <a:endParaRPr lang="zh-CN" altLang="en-US" sz="2400" b="1">
              <a:solidFill>
                <a:srgbClr val="FF0000"/>
              </a:solidFill>
              <a:latin typeface="PingFang SC Semibold" panose="020B0400000000000000" charset="-122"/>
              <a:ea typeface="PingFang SC Semibold" panose="020B0400000000000000" charset="-122"/>
            </a:endParaRPr>
          </a:p>
        </p:txBody>
      </p:sp>
      <p:sp>
        <p:nvSpPr>
          <p:cNvPr id="1048633" name="圆角矩形 9"/>
          <p:cNvSpPr/>
          <p:nvPr/>
        </p:nvSpPr>
        <p:spPr>
          <a:xfrm>
            <a:off x="972820" y="5696585"/>
            <a:ext cx="2665730" cy="4267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PingFang SC Semibold" panose="020B0400000000000000" charset="-122"/>
                <a:ea typeface="PingFang SC Semibold" panose="020B0400000000000000" charset="-122"/>
                <a:cs typeface="PingFang SC Semibold" panose="020B0400000000000000" charset="-122"/>
              </a:rPr>
              <a:t>尽可能减少</a:t>
            </a:r>
            <a:r>
              <a:rPr lang="en-US" altLang="zh-CN" b="1">
                <a:latin typeface="PingFang SC Semibold" panose="020B0400000000000000" charset="-122"/>
                <a:ea typeface="PingFang SC Semibold" panose="020B0400000000000000" charset="-122"/>
                <a:cs typeface="PingFang SC Semibold" panose="020B0400000000000000" charset="-122"/>
              </a:rPr>
              <a:t>I/O</a:t>
            </a:r>
            <a:r>
              <a:rPr lang="zh-CN" altLang="en-US" b="1">
                <a:latin typeface="PingFang SC Semibold" panose="020B0400000000000000" charset="-122"/>
                <a:ea typeface="PingFang SC Semibold" panose="020B0400000000000000" charset="-122"/>
                <a:cs typeface="PingFang SC Semibold" panose="020B0400000000000000" charset="-122"/>
              </a:rPr>
              <a:t>次数</a:t>
            </a:r>
            <a:endParaRPr lang="zh-CN" altLang="en-US" b="1">
              <a:latin typeface="PingFang SC Semibold" panose="020B0400000000000000" charset="-122"/>
              <a:ea typeface="PingFang SC Semibold" panose="020B0400000000000000" charset="-122"/>
              <a:cs typeface="PingFang SC Semibold" panose="020B0400000000000000" charset="-122"/>
            </a:endParaRPr>
          </a:p>
        </p:txBody>
      </p:sp>
      <p:sp>
        <p:nvSpPr>
          <p:cNvPr id="1048634" name="圆角矩形 11"/>
          <p:cNvSpPr/>
          <p:nvPr/>
        </p:nvSpPr>
        <p:spPr>
          <a:xfrm>
            <a:off x="4257675" y="5696585"/>
            <a:ext cx="2887980" cy="4267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PingFang SC Semibold" panose="020B0400000000000000" charset="-122"/>
                <a:ea typeface="PingFang SC Semibold" panose="020B0400000000000000" charset="-122"/>
              </a:rPr>
              <a:t>靠近</a:t>
            </a:r>
            <a:r>
              <a:rPr lang="zh-CN" altLang="en-US" b="1">
                <a:latin typeface="PingFang SC Semibold" panose="020B0400000000000000" charset="-122"/>
                <a:ea typeface="PingFang SC Semibold" panose="020B0400000000000000" charset="-122"/>
              </a:rPr>
              <a:t>放置高共激活神经元</a:t>
            </a:r>
            <a:endParaRPr lang="zh-CN" altLang="en-US" b="1">
              <a:latin typeface="PingFang SC Semibold" panose="020B0400000000000000" charset="-122"/>
              <a:ea typeface="PingFang SC Semibold" panose="020B0400000000000000" charset="-122"/>
            </a:endParaRPr>
          </a:p>
        </p:txBody>
      </p:sp>
      <p:sp>
        <p:nvSpPr>
          <p:cNvPr id="1048635" name="圆角矩形 13"/>
          <p:cNvSpPr/>
          <p:nvPr/>
        </p:nvSpPr>
        <p:spPr>
          <a:xfrm>
            <a:off x="7764780" y="5696585"/>
            <a:ext cx="3505200" cy="4267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PingFang SC Semibold" panose="020B0400000000000000" charset="-122"/>
                <a:ea typeface="PingFang SC Semibold" panose="020B0400000000000000" charset="-122"/>
                <a:cs typeface="PingFang SC Semibold" panose="020B0400000000000000" charset="-122"/>
              </a:rPr>
              <a:t>在这张图上找</a:t>
            </a:r>
            <a:r>
              <a:rPr lang="zh-CN" altLang="en-US" b="1">
                <a:solidFill>
                  <a:schemeClr val="bg1"/>
                </a:solidFill>
                <a:latin typeface="PingFang SC Semibold" panose="020B0400000000000000" charset="-122"/>
                <a:ea typeface="PingFang SC Semibold" panose="020B0400000000000000" charset="-122"/>
                <a:cs typeface="PingFang SC Semibold" panose="020B0400000000000000" charset="-122"/>
              </a:rPr>
              <a:t>最短</a:t>
            </a:r>
            <a:r>
              <a:rPr lang="en-US" altLang="zh-CN" b="1">
                <a:latin typeface="PingFang SC Semibold" panose="020B0400000000000000" charset="-122"/>
                <a:ea typeface="PingFang SC Semibold" panose="020B0400000000000000" charset="-122"/>
                <a:cs typeface="PingFang SC Semibold" panose="020B0400000000000000" charset="-122"/>
              </a:rPr>
              <a:t>Hamilton</a:t>
            </a:r>
            <a:r>
              <a:rPr lang="zh-CN" altLang="en-US" b="1">
                <a:latin typeface="PingFang SC Semibold" panose="020B0400000000000000" charset="-122"/>
                <a:ea typeface="PingFang SC Semibold" panose="020B0400000000000000" charset="-122"/>
                <a:cs typeface="PingFang SC Semibold" panose="020B0400000000000000" charset="-122"/>
              </a:rPr>
              <a:t>路径</a:t>
            </a:r>
            <a:endParaRPr lang="zh-CN" altLang="en-US" b="1">
              <a:latin typeface="PingFang SC Semibold" panose="020B0400000000000000" charset="-122"/>
              <a:ea typeface="PingFang SC Semibold" panose="020B0400000000000000" charset="-122"/>
              <a:cs typeface="PingFang SC Semibold" panose="020B0400000000000000" charset="-122"/>
            </a:endParaRPr>
          </a:p>
        </p:txBody>
      </p:sp>
      <p:sp>
        <p:nvSpPr>
          <p:cNvPr id="1048636" name="右箭头 15"/>
          <p:cNvSpPr/>
          <p:nvPr/>
        </p:nvSpPr>
        <p:spPr>
          <a:xfrm>
            <a:off x="3732530" y="5826125"/>
            <a:ext cx="455295" cy="1854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8637" name="右箭头 16"/>
          <p:cNvSpPr/>
          <p:nvPr/>
        </p:nvSpPr>
        <p:spPr>
          <a:xfrm>
            <a:off x="7215505" y="5826125"/>
            <a:ext cx="455295" cy="1854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097169" name="图片 18" descr="cache"/>
          <p:cNvPicPr>
            <a:picLocks noChangeAspect="1"/>
          </p:cNvPicPr>
          <p:nvPr/>
        </p:nvPicPr>
        <p:blipFill>
          <a:blip r:embed="rId3"/>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38"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算法框架</a:t>
            </a:r>
            <a:r>
              <a:rPr lang="en-US" altLang="zh-CN" sz="2800"/>
              <a:t> —— </a:t>
            </a:r>
            <a:r>
              <a:rPr lang="zh-CN" altLang="en-US" sz="2800"/>
              <a:t>离线阶段</a:t>
            </a:r>
            <a:endParaRPr lang="zh-CN" altLang="en-US" sz="2800"/>
          </a:p>
        </p:txBody>
      </p:sp>
      <p:sp>
        <p:nvSpPr>
          <p:cNvPr id="1048639" name="文本框 14"/>
          <p:cNvSpPr txBox="1"/>
          <p:nvPr/>
        </p:nvSpPr>
        <p:spPr>
          <a:xfrm>
            <a:off x="976630" y="1078230"/>
            <a:ext cx="10569575" cy="398780"/>
          </a:xfrm>
          <a:prstGeom prst="rect">
            <a:avLst/>
          </a:prstGeom>
          <a:noFill/>
        </p:spPr>
        <p:txBody>
          <a:bodyPr wrap="square" rtlCol="0">
            <a:spAutoFit/>
          </a:bodyPr>
          <a:p>
            <a:pPr algn="l"/>
            <a:r>
              <a:rPr lang="zh-CN" altLang="en-US" sz="2000"/>
              <a:t>为什么可以把</a:t>
            </a:r>
            <a:r>
              <a:rPr lang="en-US" altLang="zh-CN" sz="2000"/>
              <a:t>【</a:t>
            </a:r>
            <a:r>
              <a:rPr lang="zh-CN" altLang="en-US" sz="2000"/>
              <a:t>将高共激活神经元放置在一起</a:t>
            </a:r>
            <a:r>
              <a:rPr lang="en-US" altLang="zh-CN" sz="2000"/>
              <a:t>】</a:t>
            </a:r>
            <a:r>
              <a:rPr lang="zh-CN" altLang="en-US" sz="2000"/>
              <a:t>问题转换成</a:t>
            </a:r>
            <a:r>
              <a:rPr lang="en-US" altLang="zh-CN" sz="2000"/>
              <a:t>【</a:t>
            </a:r>
            <a:r>
              <a:rPr lang="zh-CN" altLang="en-US" sz="2000"/>
              <a:t>寻找图中最短</a:t>
            </a:r>
            <a:r>
              <a:rPr lang="en-US" altLang="zh-CN" sz="2000">
                <a:latin typeface="微软雅黑" panose="020B0503020204020204" charset="-122"/>
                <a:ea typeface="微软雅黑" panose="020B0503020204020204" charset="-122"/>
              </a:rPr>
              <a:t>Hamilton</a:t>
            </a:r>
            <a:r>
              <a:rPr lang="zh-CN" altLang="en-US" sz="2000"/>
              <a:t>路径</a:t>
            </a:r>
            <a:r>
              <a:rPr lang="en-US" altLang="zh-CN" sz="2000"/>
              <a:t>】？</a:t>
            </a:r>
            <a:endParaRPr lang="en-US" altLang="zh-CN" sz="2000"/>
          </a:p>
        </p:txBody>
      </p:sp>
      <p:sp>
        <p:nvSpPr>
          <p:cNvPr id="1048640" name="文本框 17"/>
          <p:cNvSpPr txBox="1"/>
          <p:nvPr/>
        </p:nvSpPr>
        <p:spPr>
          <a:xfrm>
            <a:off x="1102360" y="2043430"/>
            <a:ext cx="7720330" cy="2360930"/>
          </a:xfrm>
          <a:prstGeom prst="rect">
            <a:avLst/>
          </a:prstGeom>
          <a:noFill/>
        </p:spPr>
        <p:txBody>
          <a:bodyPr wrap="square" rtlCol="0">
            <a:noAutofit/>
          </a:bodyPr>
          <a:p>
            <a:pPr marL="285750" indent="-285750">
              <a:lnSpc>
                <a:spcPct val="150000"/>
              </a:lnSpc>
              <a:buFont typeface="Wingdings" panose="05000000000000000000" charset="0"/>
              <a:buChar char=""/>
            </a:pPr>
            <a:r>
              <a:rPr lang="zh-CN" altLang="en-US"/>
              <a:t>目标</a:t>
            </a:r>
            <a:r>
              <a:rPr lang="en-US" altLang="zh-CN"/>
              <a:t>：</a:t>
            </a:r>
            <a:r>
              <a:rPr lang="zh-CN" altLang="en-US"/>
              <a:t>对于</a:t>
            </a:r>
            <a:r>
              <a:rPr lang="en-US" altLang="zh-CN"/>
              <a:t>N</a:t>
            </a:r>
            <a:r>
              <a:rPr lang="zh-CN" altLang="en-US"/>
              <a:t>个神经元</a:t>
            </a:r>
            <a:r>
              <a:rPr lang="en-US" altLang="zh-CN"/>
              <a:t>，</a:t>
            </a:r>
            <a:r>
              <a:rPr lang="zh-CN" altLang="en-US"/>
              <a:t>希望找到一个排序</a:t>
            </a:r>
            <a:r>
              <a:rPr lang="en-US" altLang="zh-CN"/>
              <a:t>                    , </a:t>
            </a:r>
            <a:r>
              <a:rPr lang="zh-CN" altLang="en-US"/>
              <a:t>使得共激活频率高的神经元尽可能靠近</a:t>
            </a:r>
            <a:r>
              <a:rPr lang="en-US" altLang="zh-CN"/>
              <a:t>；</a:t>
            </a:r>
            <a:endParaRPr lang="en-US" altLang="zh-CN"/>
          </a:p>
          <a:p>
            <a:pPr marL="285750" indent="-285750">
              <a:lnSpc>
                <a:spcPct val="150000"/>
              </a:lnSpc>
              <a:buFont typeface="Wingdings" panose="05000000000000000000" charset="0"/>
              <a:buChar char=""/>
            </a:pPr>
            <a:r>
              <a:rPr lang="en-US" altLang="zh-CN">
                <a:latin typeface="微软雅黑" panose="020B0503020204020204" charset="-122"/>
                <a:ea typeface="微软雅黑" panose="020B0503020204020204" charset="-122"/>
              </a:rPr>
              <a:t>Hamilton</a:t>
            </a:r>
            <a:r>
              <a:rPr lang="zh-CN" altLang="en-US"/>
              <a:t>路径定义</a:t>
            </a:r>
            <a:r>
              <a:rPr lang="en-US" altLang="zh-CN"/>
              <a:t>：</a:t>
            </a:r>
            <a:r>
              <a:rPr lang="zh-CN" altLang="en-US"/>
              <a:t>一条恰好访问图中每个节点一次的路径</a:t>
            </a:r>
            <a:r>
              <a:rPr lang="en-US" altLang="zh-CN"/>
              <a:t>，</a:t>
            </a:r>
            <a:r>
              <a:rPr lang="zh-CN" altLang="en-US"/>
              <a:t>因此每条</a:t>
            </a:r>
            <a:r>
              <a:rPr lang="en-US" altLang="zh-CN">
                <a:latin typeface="微软雅黑" panose="020B0503020204020204" charset="-122"/>
                <a:ea typeface="微软雅黑" panose="020B0503020204020204" charset="-122"/>
              </a:rPr>
              <a:t>Hamilton</a:t>
            </a:r>
            <a:r>
              <a:rPr lang="zh-CN" altLang="en-US"/>
              <a:t>路径就是一个</a:t>
            </a:r>
            <a:r>
              <a:rPr lang="zh-CN" altLang="en-US"/>
              <a:t>排序</a:t>
            </a:r>
            <a:endParaRPr lang="zh-CN" altLang="en-US"/>
          </a:p>
          <a:p>
            <a:pPr marL="285750" indent="-285750">
              <a:lnSpc>
                <a:spcPct val="150000"/>
              </a:lnSpc>
              <a:buFont typeface="Wingdings" panose="05000000000000000000" charset="0"/>
              <a:buChar char=""/>
            </a:pPr>
            <a:r>
              <a:rPr lang="zh-CN" altLang="en-US"/>
              <a:t>图中边的值</a:t>
            </a:r>
            <a:r>
              <a:rPr lang="en-US" altLang="zh-CN"/>
              <a:t>                              , </a:t>
            </a:r>
            <a:r>
              <a:rPr lang="en-US" altLang="zh-CN">
                <a:latin typeface="微软雅黑" panose="020B0503020204020204" charset="-122"/>
                <a:ea typeface="微软雅黑" panose="020B0503020204020204" charset="-122"/>
              </a:rPr>
              <a:t>dist</a:t>
            </a:r>
            <a:r>
              <a:rPr lang="zh-CN" altLang="en-US"/>
              <a:t>越小</a:t>
            </a:r>
            <a:r>
              <a:rPr lang="en-US" altLang="zh-CN"/>
              <a:t>，</a:t>
            </a:r>
            <a:r>
              <a:rPr lang="zh-CN" altLang="en-US"/>
              <a:t>两两共激活频率</a:t>
            </a:r>
            <a:r>
              <a:rPr lang="zh-CN" altLang="en-US"/>
              <a:t>越高</a:t>
            </a:r>
            <a:endParaRPr lang="zh-CN" altLang="en-US"/>
          </a:p>
          <a:p>
            <a:pPr indent="0">
              <a:lnSpc>
                <a:spcPct val="150000"/>
              </a:lnSpc>
              <a:buFont typeface="Wingdings" panose="05000000000000000000" charset="0"/>
              <a:buNone/>
            </a:pPr>
            <a:endParaRPr lang="zh-CN" altLang="en-US"/>
          </a:p>
          <a:p>
            <a:pPr indent="0">
              <a:lnSpc>
                <a:spcPct val="150000"/>
              </a:lnSpc>
              <a:buFont typeface="Wingdings" panose="05000000000000000000" charset="0"/>
              <a:buNone/>
            </a:pPr>
            <a:endParaRPr lang="zh-CN" altLang="en-US"/>
          </a:p>
          <a:p>
            <a:pPr marL="285750" indent="-285750">
              <a:lnSpc>
                <a:spcPct val="150000"/>
              </a:lnSpc>
              <a:buFont typeface="Wingdings" panose="05000000000000000000" charset="0"/>
              <a:buChar char=""/>
            </a:pPr>
            <a:endParaRPr lang="zh-CN" altLang="en-US"/>
          </a:p>
          <a:p>
            <a:pPr indent="0">
              <a:lnSpc>
                <a:spcPct val="150000"/>
              </a:lnSpc>
              <a:buFont typeface="Wingdings" panose="05000000000000000000" charset="0"/>
              <a:buNone/>
            </a:pPr>
            <a:endParaRPr lang="zh-CN" altLang="en-US"/>
          </a:p>
          <a:p>
            <a:pPr marL="285750" indent="-285750">
              <a:lnSpc>
                <a:spcPct val="150000"/>
              </a:lnSpc>
              <a:buFont typeface="Wingdings" panose="05000000000000000000" charset="0"/>
              <a:buChar char=""/>
            </a:pPr>
            <a:endParaRPr lang="zh-CN" altLang="en-US"/>
          </a:p>
          <a:p>
            <a:pPr>
              <a:lnSpc>
                <a:spcPct val="150000"/>
              </a:lnSpc>
            </a:pPr>
            <a:endParaRPr lang="zh-CN" altLang="en-US"/>
          </a:p>
        </p:txBody>
      </p:sp>
      <p:pic>
        <p:nvPicPr>
          <p:cNvPr id="2097170" name="334E55B0-647D-440b-865C-3EC943EB4CBC-4" descr="wpsoffice"/>
          <p:cNvPicPr>
            <a:picLocks noChangeAspect="1"/>
          </p:cNvPicPr>
          <p:nvPr/>
        </p:nvPicPr>
        <p:blipFill>
          <a:blip r:embed="rId1"/>
          <a:stretch>
            <a:fillRect/>
          </a:stretch>
        </p:blipFill>
        <p:spPr>
          <a:xfrm>
            <a:off x="5863590" y="2221865"/>
            <a:ext cx="1636395" cy="241300"/>
          </a:xfrm>
          <a:prstGeom prst="rect">
            <a:avLst/>
          </a:prstGeom>
        </p:spPr>
      </p:pic>
      <p:pic>
        <p:nvPicPr>
          <p:cNvPr id="2097171" name="334E55B0-647D-440b-865C-3EC943EB4CBC-5" descr="wpsoffice"/>
          <p:cNvPicPr>
            <a:picLocks noChangeAspect="1"/>
          </p:cNvPicPr>
          <p:nvPr/>
        </p:nvPicPr>
        <p:blipFill>
          <a:blip r:embed="rId2"/>
          <a:stretch>
            <a:fillRect/>
          </a:stretch>
        </p:blipFill>
        <p:spPr>
          <a:xfrm>
            <a:off x="2670810" y="3850640"/>
            <a:ext cx="2558415" cy="252730"/>
          </a:xfrm>
          <a:prstGeom prst="rect">
            <a:avLst/>
          </a:prstGeom>
        </p:spPr>
      </p:pic>
      <p:pic>
        <p:nvPicPr>
          <p:cNvPr id="2097172" name="图片 21"/>
          <p:cNvPicPr>
            <a:picLocks noChangeAspect="1"/>
          </p:cNvPicPr>
          <p:nvPr/>
        </p:nvPicPr>
        <p:blipFill>
          <a:blip r:embed="rId3"/>
          <a:stretch>
            <a:fillRect/>
          </a:stretch>
        </p:blipFill>
        <p:spPr>
          <a:xfrm>
            <a:off x="9184005" y="1845945"/>
            <a:ext cx="1841500" cy="2755900"/>
          </a:xfrm>
          <a:prstGeom prst="rect">
            <a:avLst/>
          </a:prstGeom>
        </p:spPr>
      </p:pic>
      <p:sp>
        <p:nvSpPr>
          <p:cNvPr id="1048641" name="文本框 22"/>
          <p:cNvSpPr txBox="1"/>
          <p:nvPr/>
        </p:nvSpPr>
        <p:spPr>
          <a:xfrm>
            <a:off x="1067435" y="5024120"/>
            <a:ext cx="8870315" cy="398780"/>
          </a:xfrm>
          <a:prstGeom prst="rect">
            <a:avLst/>
          </a:prstGeom>
          <a:noFill/>
        </p:spPr>
        <p:txBody>
          <a:bodyPr wrap="square" rtlCol="0">
            <a:spAutoFit/>
          </a:bodyPr>
          <a:p>
            <a:r>
              <a:rPr lang="zh-CN" altLang="en-US" sz="2000" b="1">
                <a:latin typeface="PingFang SC Semibold" panose="020B0400000000000000" charset="-122"/>
                <a:ea typeface="PingFang SC Semibold" panose="020B0400000000000000" charset="-122"/>
                <a:cs typeface="PingFang SC Semibold" panose="020B0400000000000000" charset="-122"/>
                <a:sym typeface="+mn-ea"/>
              </a:rPr>
              <a:t>最短</a:t>
            </a:r>
            <a:r>
              <a:rPr lang="en-US" altLang="zh-CN" sz="2000" b="1">
                <a:latin typeface="PingFang SC Semibold" panose="020B0400000000000000" charset="-122"/>
                <a:ea typeface="PingFang SC Semibold" panose="020B0400000000000000" charset="-122"/>
                <a:cs typeface="PingFang SC Semibold" panose="020B0400000000000000" charset="-122"/>
                <a:sym typeface="+mn-ea"/>
              </a:rPr>
              <a:t>Hamilton</a:t>
            </a:r>
            <a:r>
              <a:rPr lang="zh-CN" altLang="en-US" sz="2000" b="1">
                <a:latin typeface="PingFang SC Semibold" panose="020B0400000000000000" charset="-122"/>
                <a:ea typeface="PingFang SC Semibold" panose="020B0400000000000000" charset="-122"/>
                <a:cs typeface="PingFang SC Semibold" panose="020B0400000000000000" charset="-122"/>
                <a:sym typeface="+mn-ea"/>
              </a:rPr>
              <a:t>路径</a:t>
            </a:r>
            <a:r>
              <a:rPr lang="en-US" altLang="zh-CN" sz="2000" b="1">
                <a:latin typeface="PingFang SC Semibold" panose="020B0400000000000000" charset="-122"/>
                <a:ea typeface="PingFang SC Semibold" panose="020B0400000000000000" charset="-122"/>
                <a:cs typeface="PingFang SC Semibold" panose="020B0400000000000000" charset="-122"/>
                <a:sym typeface="+mn-ea"/>
              </a:rPr>
              <a:t> = </a:t>
            </a:r>
            <a:r>
              <a:rPr lang="zh-CN" altLang="en-US" sz="2000" b="1">
                <a:latin typeface="PingFang SC Semibold" panose="020B0400000000000000" charset="-122"/>
                <a:ea typeface="PingFang SC Semibold" panose="020B0400000000000000" charset="-122"/>
                <a:cs typeface="PingFang SC Semibold" panose="020B0400000000000000" charset="-122"/>
                <a:sym typeface="+mn-ea"/>
              </a:rPr>
              <a:t>两两共激活频率最高的排序</a:t>
            </a:r>
            <a:r>
              <a:rPr lang="en-US" altLang="zh-CN" sz="2000" b="1">
                <a:latin typeface="PingFang SC Semibold" panose="020B0400000000000000" charset="-122"/>
                <a:ea typeface="PingFang SC Semibold" panose="020B0400000000000000" charset="-122"/>
                <a:cs typeface="PingFang SC Semibold" panose="020B0400000000000000" charset="-122"/>
                <a:sym typeface="+mn-ea"/>
              </a:rPr>
              <a:t> = </a:t>
            </a:r>
            <a:r>
              <a:rPr lang="zh-CN" altLang="en-US" sz="2000" b="1">
                <a:latin typeface="PingFang SC Semibold" panose="020B0400000000000000" charset="-122"/>
                <a:ea typeface="PingFang SC Semibold" panose="020B0400000000000000" charset="-122"/>
                <a:cs typeface="PingFang SC Semibold" panose="020B0400000000000000" charset="-122"/>
                <a:sym typeface="+mn-ea"/>
              </a:rPr>
              <a:t>最终的神经元放置顺序</a:t>
            </a:r>
            <a:endParaRPr lang="zh-CN" altLang="en-US" sz="2000" b="1">
              <a:latin typeface="PingFang SC Semibold" panose="020B0400000000000000" charset="-122"/>
              <a:ea typeface="PingFang SC Semibold" panose="020B0400000000000000" charset="-122"/>
              <a:cs typeface="PingFang SC Semibold" panose="020B0400000000000000" charset="-122"/>
              <a:sym typeface="+mn-ea"/>
            </a:endParaRPr>
          </a:p>
        </p:txBody>
      </p:sp>
      <p:pic>
        <p:nvPicPr>
          <p:cNvPr id="2097173" name="图片 24" descr="cache"/>
          <p:cNvPicPr>
            <a:picLocks noChangeAspect="1"/>
          </p:cNvPicPr>
          <p:nvPr/>
        </p:nvPicPr>
        <p:blipFill>
          <a:blip r:embed="rId4"/>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42"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算法框架</a:t>
            </a:r>
            <a:r>
              <a:rPr lang="en-US" altLang="zh-CN" sz="2800">
                <a:sym typeface="+mn-ea"/>
              </a:rPr>
              <a:t> —— </a:t>
            </a:r>
            <a:r>
              <a:rPr lang="zh-CN" altLang="en-US" sz="2800">
                <a:sym typeface="+mn-ea"/>
              </a:rPr>
              <a:t>离线阶段</a:t>
            </a:r>
            <a:endParaRPr lang="zh-CN" altLang="en-US" sz="2800"/>
          </a:p>
        </p:txBody>
      </p:sp>
      <p:sp>
        <p:nvSpPr>
          <p:cNvPr id="1048643" name="Text Box 3"/>
          <p:cNvSpPr txBox="1"/>
          <p:nvPr/>
        </p:nvSpPr>
        <p:spPr>
          <a:xfrm>
            <a:off x="854710" y="990600"/>
            <a:ext cx="4064000" cy="368300"/>
          </a:xfrm>
          <a:prstGeom prst="rect">
            <a:avLst/>
          </a:prstGeom>
          <a:noFill/>
        </p:spPr>
        <p:txBody>
          <a:bodyPr wrap="square" rtlCol="0">
            <a:spAutoFit/>
          </a:bodyPr>
          <a:p>
            <a:r>
              <a:rPr lang="en-US"/>
              <a:t>3. </a:t>
            </a:r>
            <a:r>
              <a:rPr lang="zh-CN" altLang="en-US"/>
              <a:t>启发式搜索</a:t>
            </a:r>
            <a:endParaRPr lang="zh-CN" altLang="en-US"/>
          </a:p>
        </p:txBody>
      </p:sp>
      <p:pic>
        <p:nvPicPr>
          <p:cNvPr id="2097174" name="Picture 5"/>
          <p:cNvPicPr>
            <a:picLocks noChangeAspect="1"/>
          </p:cNvPicPr>
          <p:nvPr/>
        </p:nvPicPr>
        <p:blipFill>
          <a:blip r:embed="rId1"/>
          <a:stretch>
            <a:fillRect/>
          </a:stretch>
        </p:blipFill>
        <p:spPr>
          <a:xfrm>
            <a:off x="738505" y="1289050"/>
            <a:ext cx="4488815" cy="5476240"/>
          </a:xfrm>
          <a:prstGeom prst="rect">
            <a:avLst/>
          </a:prstGeom>
          <a:ln w="12700" cmpd="sng">
            <a:noFill/>
            <a:prstDash val="solid"/>
          </a:ln>
        </p:spPr>
      </p:pic>
      <p:sp>
        <p:nvSpPr>
          <p:cNvPr id="1048644" name="文本框 1"/>
          <p:cNvSpPr txBox="1"/>
          <p:nvPr/>
        </p:nvSpPr>
        <p:spPr>
          <a:xfrm>
            <a:off x="5302250" y="1468755"/>
            <a:ext cx="6607810" cy="4707890"/>
          </a:xfrm>
          <a:prstGeom prst="rect">
            <a:avLst/>
          </a:prstGeom>
          <a:noFill/>
        </p:spPr>
        <p:txBody>
          <a:bodyPr wrap="square" rtlCol="0">
            <a:spAutoFit/>
          </a:bodyPr>
          <a:p>
            <a:pPr>
              <a:lnSpc>
                <a:spcPct val="150000"/>
              </a:lnSpc>
            </a:pPr>
            <a:r>
              <a:rPr lang="zh-CN" altLang="en-US" sz="2000" b="1">
                <a:latin typeface="Times New Roman" panose="02020503050405090304" charset="0"/>
                <a:ea typeface="PingFang SC Semibold" panose="020B0400000000000000" charset="-122"/>
                <a:cs typeface="Times New Roman" panose="02020503050405090304" charset="0"/>
              </a:rPr>
              <a:t>算法流程</a:t>
            </a:r>
            <a:r>
              <a:rPr lang="en-US" altLang="zh-CN" sz="2000" b="1">
                <a:latin typeface="Times New Roman" panose="02020503050405090304" charset="0"/>
                <a:ea typeface="PingFang SC Semibold" panose="020B0400000000000000" charset="-122"/>
                <a:cs typeface="Times New Roman" panose="02020503050405090304" charset="0"/>
              </a:rPr>
              <a:t>：</a:t>
            </a:r>
            <a:endParaRPr lang="en-US" altLang="zh-CN" sz="2000" b="1">
              <a:latin typeface="Times New Roman" panose="02020503050405090304" charset="0"/>
              <a:ea typeface="PingFang SC Semibold" panose="020B0400000000000000" charset="-122"/>
              <a:cs typeface="Times New Roman" panose="02020503050405090304" charset="0"/>
            </a:endParaRPr>
          </a:p>
          <a:p>
            <a:pPr>
              <a:lnSpc>
                <a:spcPct val="150000"/>
              </a:lnSpc>
            </a:pPr>
            <a:r>
              <a:rPr lang="zh-CN" altLang="en-US">
                <a:latin typeface="Times New Roman" panose="02020503050405090304" charset="0"/>
                <a:cs typeface="Times New Roman" panose="02020503050405090304" charset="0"/>
              </a:rPr>
              <a:t>输入</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共激活概率邻接矩阵</a:t>
            </a:r>
            <a:endParaRPr lang="en-US" altLang="zh-CN">
              <a:latin typeface="Times New Roman" panose="02020503050405090304" charset="0"/>
              <a:cs typeface="Times New Roman" panose="02020503050405090304" charset="0"/>
            </a:endParaRPr>
          </a:p>
          <a:p>
            <a:pPr marL="342900" indent="-342900">
              <a:lnSpc>
                <a:spcPct val="150000"/>
              </a:lnSpc>
              <a:buAutoNum type="arabicPeriod"/>
            </a:pPr>
            <a:r>
              <a:rPr lang="zh-CN" altLang="en-US">
                <a:latin typeface="Times New Roman" panose="02020503050405090304" charset="0"/>
                <a:cs typeface="Times New Roman" panose="02020503050405090304" charset="0"/>
              </a:rPr>
              <a:t>初始化与入队</a:t>
            </a:r>
            <a:r>
              <a:rPr lang="en-US" altLang="zh-CN">
                <a:latin typeface="Times New Roman" panose="02020503050405090304" charset="0"/>
                <a:ea typeface="微软雅黑" panose="020B0503020204020204" charset="-122"/>
                <a:cs typeface="Times New Roman" panose="02020503050405090304" charset="0"/>
              </a:rPr>
              <a:t>(L4-L8)</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初始化并查集与优先队列</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计算所有神经元对距离并</a:t>
            </a:r>
            <a:r>
              <a:rPr lang="zh-CN" altLang="en-US">
                <a:latin typeface="Times New Roman" panose="02020503050405090304" charset="0"/>
                <a:cs typeface="Times New Roman" panose="02020503050405090304" charset="0"/>
              </a:rPr>
              <a:t>入队</a:t>
            </a:r>
            <a:endParaRPr lang="zh-CN" altLang="en-US">
              <a:latin typeface="Times New Roman" panose="02020503050405090304" charset="0"/>
              <a:cs typeface="Times New Roman" panose="02020503050405090304" charset="0"/>
            </a:endParaRPr>
          </a:p>
          <a:p>
            <a:pPr marL="342900" indent="-342900">
              <a:lnSpc>
                <a:spcPct val="150000"/>
              </a:lnSpc>
              <a:buAutoNum type="arabicPeriod"/>
            </a:pPr>
            <a:r>
              <a:rPr lang="zh-CN" altLang="en-US">
                <a:latin typeface="Times New Roman" panose="02020503050405090304" charset="0"/>
                <a:cs typeface="Times New Roman" panose="02020503050405090304" charset="0"/>
              </a:rPr>
              <a:t>贪心选择</a:t>
            </a:r>
            <a:r>
              <a:rPr lang="en-US" altLang="zh-CN">
                <a:latin typeface="Times New Roman" panose="02020503050405090304" charset="0"/>
                <a:ea typeface="微软雅黑" panose="020B0503020204020204" charset="-122"/>
                <a:cs typeface="Times New Roman" panose="02020503050405090304" charset="0"/>
              </a:rPr>
              <a:t>(L9-L10)</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循环从堆中弹出距离最近的一对</a:t>
            </a:r>
            <a:r>
              <a:rPr lang="zh-CN" altLang="en-US">
                <a:latin typeface="Times New Roman" panose="02020503050405090304" charset="0"/>
                <a:cs typeface="Times New Roman" panose="02020503050405090304" charset="0"/>
              </a:rPr>
              <a:t>神经元</a:t>
            </a:r>
            <a:endParaRPr lang="zh-CN" altLang="en-US">
              <a:latin typeface="Times New Roman" panose="02020503050405090304" charset="0"/>
              <a:cs typeface="Times New Roman" panose="02020503050405090304" charset="0"/>
            </a:endParaRPr>
          </a:p>
          <a:p>
            <a:pPr marL="342900" indent="-342900">
              <a:lnSpc>
                <a:spcPct val="150000"/>
              </a:lnSpc>
              <a:buAutoNum type="arabicPeriod"/>
            </a:pPr>
            <a:r>
              <a:rPr lang="zh-CN" altLang="en-US">
                <a:latin typeface="Times New Roman" panose="02020503050405090304" charset="0"/>
                <a:cs typeface="Times New Roman" panose="02020503050405090304" charset="0"/>
              </a:rPr>
              <a:t>合法性检查</a:t>
            </a:r>
            <a:r>
              <a:rPr lang="en-US" altLang="zh-CN">
                <a:latin typeface="Times New Roman" panose="02020503050405090304" charset="0"/>
                <a:ea typeface="微软雅黑" panose="020B0503020204020204" charset="-122"/>
                <a:cs typeface="Times New Roman" panose="02020503050405090304" charset="0"/>
              </a:rPr>
              <a:t>(L11-L12)</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检查神经元是否已有两个邻居</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即位于一条链中间</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若是则跳过以防止</a:t>
            </a:r>
            <a:r>
              <a:rPr lang="zh-CN" altLang="en-US">
                <a:latin typeface="Times New Roman" panose="02020503050405090304" charset="0"/>
                <a:cs typeface="Times New Roman" panose="02020503050405090304" charset="0"/>
              </a:rPr>
              <a:t>分叉</a:t>
            </a:r>
            <a:endParaRPr lang="zh-CN" altLang="en-US">
              <a:latin typeface="Times New Roman" panose="02020503050405090304" charset="0"/>
              <a:cs typeface="Times New Roman" panose="02020503050405090304" charset="0"/>
            </a:endParaRPr>
          </a:p>
          <a:p>
            <a:pPr marL="342900" indent="-342900">
              <a:lnSpc>
                <a:spcPct val="150000"/>
              </a:lnSpc>
              <a:buAutoNum type="arabicPeriod"/>
            </a:pPr>
            <a:r>
              <a:rPr lang="zh-CN" altLang="en-US">
                <a:latin typeface="Times New Roman" panose="02020503050405090304" charset="0"/>
                <a:cs typeface="Times New Roman" panose="02020503050405090304" charset="0"/>
              </a:rPr>
              <a:t>集合合并</a:t>
            </a:r>
            <a:r>
              <a:rPr lang="en-US" altLang="zh-CN">
                <a:latin typeface="Times New Roman" panose="02020503050405090304" charset="0"/>
                <a:ea typeface="微软雅黑" panose="020B0503020204020204" charset="-122"/>
                <a:cs typeface="Times New Roman" panose="02020503050405090304" charset="0"/>
              </a:rPr>
              <a:t>(L13-L18)</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若两个神经元属于不同集合</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则合并并建立</a:t>
            </a:r>
            <a:r>
              <a:rPr lang="zh-CN" altLang="en-US">
                <a:latin typeface="Times New Roman" panose="02020503050405090304" charset="0"/>
                <a:cs typeface="Times New Roman" panose="02020503050405090304" charset="0"/>
              </a:rPr>
              <a:t>物理链接</a:t>
            </a:r>
            <a:endParaRPr lang="zh-CN" altLang="en-US">
              <a:latin typeface="Times New Roman" panose="02020503050405090304" charset="0"/>
              <a:cs typeface="Times New Roman" panose="02020503050405090304" charset="0"/>
            </a:endParaRPr>
          </a:p>
          <a:p>
            <a:pPr marL="342900" indent="-342900">
              <a:lnSpc>
                <a:spcPct val="150000"/>
              </a:lnSpc>
              <a:buAutoNum type="arabicPeriod"/>
            </a:pPr>
            <a:r>
              <a:rPr lang="zh-CN" altLang="en-US">
                <a:latin typeface="Times New Roman" panose="02020503050405090304" charset="0"/>
                <a:cs typeface="Times New Roman" panose="02020503050405090304" charset="0"/>
              </a:rPr>
              <a:t>路径重构</a:t>
            </a:r>
            <a:r>
              <a:rPr lang="en-US" altLang="zh-CN">
                <a:latin typeface="Times New Roman" panose="02020503050405090304" charset="0"/>
                <a:ea typeface="微软雅黑" panose="020B0503020204020204" charset="-122"/>
                <a:cs typeface="Times New Roman" panose="02020503050405090304" charset="0"/>
              </a:rPr>
              <a:t>(L19-L24)</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从邻居数为</a:t>
            </a:r>
            <a:r>
              <a:rPr lang="en-US" altLang="zh-CN">
                <a:latin typeface="Times New Roman" panose="02020503050405090304" charset="0"/>
                <a:ea typeface="微软雅黑" panose="020B0503020204020204" charset="-122"/>
                <a:cs typeface="Times New Roman" panose="02020503050405090304" charset="0"/>
              </a:rPr>
              <a:t>1</a:t>
            </a:r>
            <a:r>
              <a:rPr lang="zh-CN" altLang="en-US">
                <a:latin typeface="Times New Roman" panose="02020503050405090304" charset="0"/>
                <a:cs typeface="Times New Roman" panose="02020503050405090304" charset="0"/>
              </a:rPr>
              <a:t>的端点</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链的起点</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开始遍历链条</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生成最终的</a:t>
            </a:r>
            <a:r>
              <a:rPr lang="en-US" altLang="zh-CN">
                <a:latin typeface="Times New Roman" panose="02020503050405090304" charset="0"/>
                <a:ea typeface="微软雅黑" panose="020B0503020204020204" charset="-122"/>
                <a:cs typeface="Times New Roman" panose="02020503050405090304" charset="0"/>
              </a:rPr>
              <a:t>Flash</a:t>
            </a:r>
            <a:r>
              <a:rPr lang="zh-CN" altLang="en-US">
                <a:latin typeface="Times New Roman" panose="02020503050405090304" charset="0"/>
                <a:cs typeface="Times New Roman" panose="02020503050405090304" charset="0"/>
              </a:rPr>
              <a:t>存储顺序</a:t>
            </a:r>
            <a:r>
              <a:rPr lang="zh-CN" altLang="en-US">
                <a:latin typeface="Times New Roman" panose="02020503050405090304" charset="0"/>
                <a:cs typeface="Times New Roman" panose="02020503050405090304" charset="0"/>
              </a:rPr>
              <a:t>列表</a:t>
            </a:r>
            <a:endParaRPr lang="zh-CN" altLang="en-US">
              <a:latin typeface="Times New Roman" panose="02020503050405090304" charset="0"/>
              <a:cs typeface="Times New Roman" panose="02020503050405090304" charset="0"/>
            </a:endParaRPr>
          </a:p>
        </p:txBody>
      </p:sp>
      <p:pic>
        <p:nvPicPr>
          <p:cNvPr id="2097175" name="图片 11" descr="cache"/>
          <p:cNvPicPr>
            <a:picLocks noChangeAspect="1"/>
          </p:cNvPicPr>
          <p:nvPr/>
        </p:nvPicPr>
        <p:blipFill>
          <a:blip r:embed="rId2"/>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45"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算法框架</a:t>
            </a:r>
            <a:r>
              <a:rPr lang="en-US" altLang="zh-CN" sz="2800">
                <a:sym typeface="+mn-ea"/>
              </a:rPr>
              <a:t> —— </a:t>
            </a:r>
            <a:r>
              <a:rPr lang="zh-CN" altLang="en-US" sz="2800">
                <a:sym typeface="+mn-ea"/>
              </a:rPr>
              <a:t>在线阶段</a:t>
            </a:r>
            <a:endParaRPr lang="zh-CN" altLang="en-US" sz="2800"/>
          </a:p>
        </p:txBody>
      </p:sp>
      <p:sp>
        <p:nvSpPr>
          <p:cNvPr id="1048646" name="文本框 2"/>
          <p:cNvSpPr txBox="1"/>
          <p:nvPr/>
        </p:nvSpPr>
        <p:spPr>
          <a:xfrm>
            <a:off x="488315" y="1721485"/>
            <a:ext cx="5480050" cy="3461385"/>
          </a:xfrm>
          <a:prstGeom prst="rect">
            <a:avLst/>
          </a:prstGeom>
          <a:noFill/>
        </p:spPr>
        <p:txBody>
          <a:bodyPr wrap="square" rtlCol="0">
            <a:spAutoFit/>
          </a:bodyPr>
          <a:p>
            <a:pPr>
              <a:lnSpc>
                <a:spcPct val="150000"/>
              </a:lnSpc>
            </a:pPr>
            <a:r>
              <a:rPr lang="en-US" altLang="zh-CN" sz="2000" b="1">
                <a:latin typeface="PingFang SC Semibold" panose="020B0400000000000000" charset="-122"/>
                <a:ea typeface="PingFang SC Semibold" panose="020B0400000000000000" charset="-122"/>
                <a:cs typeface="PingFang SC Semibold" panose="020B0400000000000000" charset="-122"/>
              </a:rPr>
              <a:t>1. </a:t>
            </a:r>
            <a:r>
              <a:rPr lang="zh-CN" altLang="en-US" sz="2000" b="1">
                <a:latin typeface="PingFang SC Semibold" panose="020B0400000000000000" charset="-122"/>
                <a:ea typeface="PingFang SC Semibold" panose="020B0400000000000000" charset="-122"/>
                <a:cs typeface="PingFang SC Semibold" panose="020B0400000000000000" charset="-122"/>
              </a:rPr>
              <a:t>访问合并</a:t>
            </a:r>
            <a:endParaRPr lang="zh-CN" altLang="en-US" sz="2000" b="1">
              <a:latin typeface="PingFang SC Semibold" panose="020B0400000000000000" charset="-122"/>
              <a:ea typeface="PingFang SC Semibold" panose="020B0400000000000000" charset="-122"/>
              <a:cs typeface="PingFang SC Semibold" panose="020B0400000000000000" charset="-122"/>
            </a:endParaRPr>
          </a:p>
          <a:p>
            <a:pPr marL="285750" indent="-285750">
              <a:lnSpc>
                <a:spcPct val="150000"/>
              </a:lnSpc>
              <a:buFont typeface="Wingdings" panose="05000000000000000000" charset="0"/>
              <a:buChar char=""/>
            </a:pPr>
            <a:r>
              <a:rPr lang="zh-CN" altLang="en-US"/>
              <a:t>背景</a:t>
            </a:r>
            <a:r>
              <a:rPr lang="en-US" altLang="zh-CN"/>
              <a:t>：</a:t>
            </a:r>
            <a:r>
              <a:rPr lang="zh-CN" altLang="en-US"/>
              <a:t>虽然在离线阶段优化了存储布局，但推理时神经元激活是动态的</a:t>
            </a:r>
            <a:r>
              <a:rPr lang="en-US" altLang="zh-CN"/>
              <a:t>，</a:t>
            </a:r>
            <a:r>
              <a:rPr lang="zh-CN" altLang="en-US"/>
              <a:t>即使是一组经常共同激活的神经元，在特定时刻可能也只有部分</a:t>
            </a:r>
            <a:r>
              <a:rPr lang="zh-CN" altLang="en-US"/>
              <a:t>被激活</a:t>
            </a:r>
            <a:endParaRPr lang="zh-CN" altLang="en-US"/>
          </a:p>
          <a:p>
            <a:pPr marL="285750" indent="-285750">
              <a:lnSpc>
                <a:spcPct val="150000"/>
              </a:lnSpc>
              <a:buFont typeface="Wingdings" panose="05000000000000000000" charset="0"/>
              <a:buChar char=""/>
            </a:pPr>
            <a:r>
              <a:rPr lang="zh-CN" altLang="en-US"/>
              <a:t>步骤</a:t>
            </a:r>
            <a:r>
              <a:rPr lang="en-US" altLang="zh-CN"/>
              <a:t>：</a:t>
            </a:r>
            <a:r>
              <a:rPr lang="zh-CN" altLang="en-US"/>
              <a:t>当两次读取请求的间隔很近</a:t>
            </a:r>
            <a:r>
              <a:rPr lang="en-US" altLang="zh-CN"/>
              <a:t>，</a:t>
            </a:r>
            <a:r>
              <a:rPr lang="zh-CN" altLang="en-US"/>
              <a:t>小于某个阈值</a:t>
            </a:r>
            <a:r>
              <a:rPr lang="en-US" altLang="zh-CN"/>
              <a:t>    </a:t>
            </a:r>
            <a:r>
              <a:rPr lang="zh-CN" altLang="en-US"/>
              <a:t>时</a:t>
            </a:r>
            <a:r>
              <a:rPr lang="en-US" altLang="zh-CN"/>
              <a:t>，</a:t>
            </a:r>
            <a:r>
              <a:rPr lang="zh-CN" altLang="en-US"/>
              <a:t>会将中间未激活的神经元</a:t>
            </a:r>
            <a:r>
              <a:rPr lang="zh-CN" altLang="en-US"/>
              <a:t>一并读取</a:t>
            </a:r>
            <a:endParaRPr lang="zh-CN" altLang="en-US"/>
          </a:p>
          <a:p>
            <a:pPr marL="285750" indent="-285750">
              <a:lnSpc>
                <a:spcPct val="150000"/>
              </a:lnSpc>
              <a:buFont typeface="Wingdings" panose="05000000000000000000" charset="0"/>
              <a:buChar char=""/>
            </a:pPr>
            <a:r>
              <a:rPr lang="zh-CN" altLang="en-US"/>
              <a:t>条件</a:t>
            </a:r>
            <a:r>
              <a:rPr lang="en-US" altLang="zh-CN"/>
              <a:t>：</a:t>
            </a:r>
            <a:r>
              <a:rPr lang="zh-CN" altLang="en-US"/>
              <a:t>只有在存储处于</a:t>
            </a:r>
            <a:r>
              <a:rPr lang="en-US" altLang="zh-CN">
                <a:latin typeface="微软雅黑" panose="020B0503020204020204" charset="-122"/>
                <a:ea typeface="微软雅黑" panose="020B0503020204020204" charset="-122"/>
              </a:rPr>
              <a:t>IOPS</a:t>
            </a:r>
            <a:r>
              <a:rPr lang="zh-CN" altLang="en-US"/>
              <a:t>约束而不是带宽约束的情况时才会启用这个</a:t>
            </a:r>
            <a:r>
              <a:rPr lang="zh-CN" altLang="en-US"/>
              <a:t>策略</a:t>
            </a:r>
            <a:endParaRPr lang="zh-CN" altLang="en-US"/>
          </a:p>
        </p:txBody>
      </p:sp>
      <p:pic>
        <p:nvPicPr>
          <p:cNvPr id="2097176" name="图片 4"/>
          <p:cNvPicPr>
            <a:picLocks noChangeAspect="1"/>
          </p:cNvPicPr>
          <p:nvPr/>
        </p:nvPicPr>
        <p:blipFill>
          <a:blip r:embed="rId1"/>
          <a:stretch>
            <a:fillRect/>
          </a:stretch>
        </p:blipFill>
        <p:spPr>
          <a:xfrm>
            <a:off x="5969000" y="1543685"/>
            <a:ext cx="6019800" cy="3962400"/>
          </a:xfrm>
          <a:prstGeom prst="rect">
            <a:avLst/>
          </a:prstGeom>
          <a:ln>
            <a:solidFill>
              <a:schemeClr val="tx1"/>
            </a:solidFill>
          </a:ln>
        </p:spPr>
      </p:pic>
      <p:pic>
        <p:nvPicPr>
          <p:cNvPr id="2097177" name="334E55B0-647D-440b-865C-3EC943EB4CBC-6" descr="wpsoffice"/>
          <p:cNvPicPr>
            <a:picLocks noChangeAspect="1"/>
          </p:cNvPicPr>
          <p:nvPr/>
        </p:nvPicPr>
        <p:blipFill>
          <a:blip r:embed="rId2"/>
          <a:stretch>
            <a:fillRect/>
          </a:stretch>
        </p:blipFill>
        <p:spPr>
          <a:xfrm>
            <a:off x="1166495" y="3923030"/>
            <a:ext cx="177165" cy="257810"/>
          </a:xfrm>
          <a:prstGeom prst="rect">
            <a:avLst/>
          </a:prstGeom>
        </p:spPr>
      </p:pic>
      <p:pic>
        <p:nvPicPr>
          <p:cNvPr id="2097178" name="图片 11" descr="cache"/>
          <p:cNvPicPr>
            <a:picLocks noChangeAspect="1"/>
          </p:cNvPicPr>
          <p:nvPr/>
        </p:nvPicPr>
        <p:blipFill>
          <a:blip r:embed="rId3"/>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7"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算法框架</a:t>
            </a:r>
            <a:r>
              <a:rPr lang="en-US" altLang="zh-CN" sz="2800">
                <a:sym typeface="+mn-ea"/>
              </a:rPr>
              <a:t> —— </a:t>
            </a:r>
            <a:r>
              <a:rPr lang="zh-CN" altLang="en-US" sz="2800">
                <a:sym typeface="+mn-ea"/>
              </a:rPr>
              <a:t>在线阶段</a:t>
            </a:r>
            <a:endParaRPr lang="zh-CN" altLang="en-US" sz="2800"/>
          </a:p>
        </p:txBody>
      </p:sp>
      <p:sp>
        <p:nvSpPr>
          <p:cNvPr id="1048648" name="文本框 2"/>
          <p:cNvSpPr txBox="1"/>
          <p:nvPr/>
        </p:nvSpPr>
        <p:spPr>
          <a:xfrm>
            <a:off x="361315" y="1282700"/>
            <a:ext cx="6338570" cy="4707890"/>
          </a:xfrm>
          <a:prstGeom prst="rect">
            <a:avLst/>
          </a:prstGeom>
          <a:noFill/>
        </p:spPr>
        <p:txBody>
          <a:bodyPr wrap="square" rtlCol="0">
            <a:spAutoFit/>
          </a:bodyPr>
          <a:p>
            <a:pPr>
              <a:lnSpc>
                <a:spcPct val="150000"/>
              </a:lnSpc>
            </a:pPr>
            <a:r>
              <a:rPr lang="en-US" altLang="zh-CN" sz="2000" b="1">
                <a:latin typeface="PingFang SC Semibold" panose="020B0400000000000000" charset="-122"/>
                <a:ea typeface="PingFang SC Semibold" panose="020B0400000000000000" charset="-122"/>
                <a:cs typeface="PingFang SC Semibold" panose="020B0400000000000000" charset="-122"/>
              </a:rPr>
              <a:t>2. </a:t>
            </a:r>
            <a:r>
              <a:rPr lang="zh-CN" altLang="en-US" sz="2000" b="1">
                <a:latin typeface="PingFang SC Semibold" panose="020B0400000000000000" charset="-122"/>
                <a:ea typeface="PingFang SC Semibold" panose="020B0400000000000000" charset="-122"/>
                <a:cs typeface="PingFang SC Semibold" panose="020B0400000000000000" charset="-122"/>
              </a:rPr>
              <a:t>缓存</a:t>
            </a:r>
            <a:r>
              <a:rPr lang="zh-CN" altLang="en-US" sz="2000" b="1">
                <a:latin typeface="PingFang SC Semibold" panose="020B0400000000000000" charset="-122"/>
                <a:ea typeface="PingFang SC Semibold" panose="020B0400000000000000" charset="-122"/>
                <a:cs typeface="PingFang SC Semibold" panose="020B0400000000000000" charset="-122"/>
              </a:rPr>
              <a:t>策略</a:t>
            </a:r>
            <a:endParaRPr lang="zh-CN" altLang="en-US" sz="2000" b="1">
              <a:latin typeface="PingFang SC Semibold" panose="020B0400000000000000" charset="-122"/>
              <a:ea typeface="PingFang SC Semibold" panose="020B0400000000000000" charset="-122"/>
              <a:cs typeface="PingFang SC Semibold" panose="020B0400000000000000" charset="-122"/>
            </a:endParaRPr>
          </a:p>
          <a:p>
            <a:pPr marL="285750" indent="-285750">
              <a:lnSpc>
                <a:spcPct val="150000"/>
              </a:lnSpc>
              <a:buFont typeface="Wingdings" panose="05000000000000000000" charset="0"/>
              <a:buChar char=""/>
            </a:pPr>
            <a:r>
              <a:rPr lang="zh-CN" altLang="en-US"/>
              <a:t>背景</a:t>
            </a:r>
            <a:r>
              <a:rPr lang="en-US" altLang="zh-CN"/>
              <a:t>：</a:t>
            </a:r>
            <a:r>
              <a:rPr lang="zh-CN" altLang="en-US"/>
              <a:t>传统的</a:t>
            </a:r>
            <a:r>
              <a:rPr lang="en-US" altLang="zh-CN">
                <a:latin typeface="微软雅黑" panose="020B0503020204020204" charset="-122"/>
                <a:ea typeface="微软雅黑" panose="020B0503020204020204" charset="-122"/>
                <a:sym typeface="+mn-ea"/>
              </a:rPr>
              <a:t>LRU</a:t>
            </a:r>
            <a:r>
              <a:rPr lang="zh-CN" altLang="en-US"/>
              <a:t>缓存策略通常只关注单个神经元的热度</a:t>
            </a:r>
            <a:r>
              <a:rPr lang="en-US" altLang="zh-CN"/>
              <a:t>，</a:t>
            </a:r>
            <a:r>
              <a:rPr lang="zh-CN" altLang="en-US"/>
              <a:t>容易破坏离线阶段建立的</a:t>
            </a:r>
            <a:r>
              <a:rPr lang="zh-CN" altLang="en-US"/>
              <a:t>连续性</a:t>
            </a:r>
            <a:endParaRPr lang="zh-CN" altLang="en-US"/>
          </a:p>
          <a:p>
            <a:pPr marL="285750" indent="-285750">
              <a:lnSpc>
                <a:spcPct val="150000"/>
              </a:lnSpc>
              <a:buFont typeface="Wingdings" panose="05000000000000000000" charset="0"/>
              <a:buChar char=""/>
            </a:pPr>
            <a:r>
              <a:rPr lang="zh-CN" altLang="en-US"/>
              <a:t>案例</a:t>
            </a:r>
            <a:r>
              <a:rPr lang="en-US" altLang="zh-CN"/>
              <a:t>：</a:t>
            </a:r>
            <a:r>
              <a:rPr lang="en-US" altLang="zh-CN">
                <a:latin typeface="微软雅黑" panose="020B0503020204020204" charset="-122"/>
                <a:ea typeface="微软雅黑" panose="020B0503020204020204" charset="-122"/>
              </a:rPr>
              <a:t>Flash </a:t>
            </a:r>
            <a:r>
              <a:rPr lang="zh-CN" altLang="en-US"/>
              <a:t>中连续存储的神经元</a:t>
            </a:r>
            <a:r>
              <a:rPr lang="en-US" altLang="zh-CN"/>
              <a:t> </a:t>
            </a:r>
            <a:r>
              <a:rPr lang="en-US" altLang="zh-CN">
                <a:latin typeface="微软雅黑" panose="020B0503020204020204" charset="-122"/>
                <a:ea typeface="微软雅黑" panose="020B0503020204020204" charset="-122"/>
              </a:rPr>
              <a:t>A-B-C-D</a:t>
            </a:r>
            <a:r>
              <a:rPr lang="zh-CN" altLang="en-US"/>
              <a:t>，只有最热的</a:t>
            </a:r>
            <a:r>
              <a:rPr lang="en-US" altLang="zh-CN"/>
              <a:t> </a:t>
            </a:r>
            <a:r>
              <a:rPr lang="en-US" altLang="zh-CN">
                <a:latin typeface="微软雅黑" panose="020B0503020204020204" charset="-122"/>
                <a:ea typeface="微软雅黑" panose="020B0503020204020204" charset="-122"/>
              </a:rPr>
              <a:t>B </a:t>
            </a:r>
            <a:r>
              <a:rPr lang="zh-CN" altLang="en-US"/>
              <a:t>被缓存进</a:t>
            </a:r>
            <a:r>
              <a:rPr lang="en-US" altLang="zh-CN"/>
              <a:t> </a:t>
            </a:r>
            <a:r>
              <a:rPr lang="en-US" altLang="zh-CN">
                <a:latin typeface="微软雅黑" panose="020B0503020204020204" charset="-122"/>
                <a:ea typeface="微软雅黑" panose="020B0503020204020204" charset="-122"/>
              </a:rPr>
              <a:t>DRAM</a:t>
            </a:r>
            <a:r>
              <a:rPr lang="zh-CN" altLang="en-US"/>
              <a:t>。那么下次需要读取这组数据时，</a:t>
            </a:r>
            <a:r>
              <a:rPr lang="en-US" altLang="zh-CN">
                <a:latin typeface="微软雅黑" panose="020B0503020204020204" charset="-122"/>
                <a:ea typeface="微软雅黑" panose="020B0503020204020204" charset="-122"/>
              </a:rPr>
              <a:t>Flash </a:t>
            </a:r>
            <a:r>
              <a:rPr lang="zh-CN" altLang="en-US"/>
              <a:t>里剩下的</a:t>
            </a:r>
            <a:r>
              <a:rPr lang="en-US" altLang="zh-CN"/>
              <a:t> </a:t>
            </a:r>
            <a:r>
              <a:rPr lang="en-US" altLang="zh-CN">
                <a:latin typeface="微软雅黑" panose="020B0503020204020204" charset="-122"/>
                <a:ea typeface="微软雅黑" panose="020B0503020204020204" charset="-122"/>
              </a:rPr>
              <a:t>A、C、D</a:t>
            </a:r>
            <a:r>
              <a:rPr lang="en-US" altLang="zh-CN"/>
              <a:t> </a:t>
            </a:r>
            <a:r>
              <a:rPr lang="zh-CN" altLang="en-US"/>
              <a:t>就变成了不连续的碎片</a:t>
            </a:r>
            <a:endParaRPr lang="zh-CN" altLang="en-US"/>
          </a:p>
          <a:p>
            <a:pPr marL="285750" indent="-285750">
              <a:lnSpc>
                <a:spcPct val="150000"/>
              </a:lnSpc>
              <a:buFont typeface="Wingdings" panose="05000000000000000000" charset="0"/>
              <a:buChar char=""/>
            </a:pPr>
            <a:r>
              <a:rPr lang="zh-CN" altLang="en-US"/>
              <a:t>算法思想</a:t>
            </a:r>
            <a:r>
              <a:rPr lang="en-US" altLang="zh-CN"/>
              <a:t>：</a:t>
            </a:r>
            <a:r>
              <a:rPr lang="en-US" altLang="zh-CN">
                <a:latin typeface="微软雅黑" panose="020B0503020204020204" charset="-122"/>
                <a:ea typeface="微软雅黑" panose="020B0503020204020204" charset="-122"/>
              </a:rPr>
              <a:t>Neuralink</a:t>
            </a:r>
            <a:r>
              <a:rPr lang="zh-CN" altLang="en-US"/>
              <a:t>将神经元分为两类</a:t>
            </a:r>
            <a:endParaRPr lang="zh-CN" altLang="en-US"/>
          </a:p>
          <a:p>
            <a:pPr lvl="2" indent="-285750">
              <a:lnSpc>
                <a:spcPct val="150000"/>
              </a:lnSpc>
              <a:buFont typeface="Wingdings" panose="05000000000000000000" charset="0"/>
              <a:buChar char=""/>
            </a:pPr>
            <a:r>
              <a:rPr lang="zh-CN" altLang="en-US">
                <a:sym typeface="+mn-ea"/>
              </a:rPr>
              <a:t>连续片段</a:t>
            </a:r>
            <a:r>
              <a:rPr lang="en-US" altLang="zh-CN">
                <a:sym typeface="+mn-ea"/>
              </a:rPr>
              <a:t>：</a:t>
            </a:r>
            <a:r>
              <a:rPr lang="zh-CN" altLang="en-US">
                <a:sym typeface="+mn-ea"/>
              </a:rPr>
              <a:t>经常被</a:t>
            </a:r>
            <a:r>
              <a:rPr lang="zh-CN" altLang="en-US">
                <a:sym typeface="+mn-ea"/>
              </a:rPr>
              <a:t>成片</a:t>
            </a:r>
            <a:r>
              <a:rPr lang="zh-CN" altLang="en-US">
                <a:sym typeface="+mn-ea"/>
              </a:rPr>
              <a:t>访问的长串连续神经元</a:t>
            </a:r>
            <a:r>
              <a:rPr lang="en-US" altLang="zh-CN">
                <a:sym typeface="+mn-ea"/>
              </a:rPr>
              <a:t>，</a:t>
            </a:r>
            <a:r>
              <a:rPr lang="zh-CN" altLang="en-US">
                <a:sym typeface="+mn-ea"/>
              </a:rPr>
              <a:t>降低其缓存概率</a:t>
            </a:r>
            <a:endParaRPr lang="zh-CN" altLang="en-US">
              <a:sym typeface="+mn-ea"/>
            </a:endParaRPr>
          </a:p>
          <a:p>
            <a:pPr lvl="2" indent="-285750">
              <a:lnSpc>
                <a:spcPct val="150000"/>
              </a:lnSpc>
              <a:buFont typeface="Wingdings" panose="05000000000000000000" charset="0"/>
              <a:buChar char=""/>
            </a:pPr>
            <a:r>
              <a:rPr lang="zh-CN" altLang="en-US"/>
              <a:t>离群神经元</a:t>
            </a:r>
            <a:r>
              <a:rPr lang="en-US" altLang="zh-CN"/>
              <a:t>：</a:t>
            </a:r>
            <a:r>
              <a:rPr lang="zh-CN" altLang="en-US"/>
              <a:t>常单独被访问</a:t>
            </a:r>
            <a:r>
              <a:rPr lang="en-US" altLang="zh-CN"/>
              <a:t>，</a:t>
            </a:r>
            <a:r>
              <a:rPr lang="zh-CN" altLang="en-US"/>
              <a:t>采取正常缓存</a:t>
            </a:r>
            <a:r>
              <a:rPr lang="zh-CN" altLang="en-US"/>
              <a:t>策略</a:t>
            </a:r>
            <a:endParaRPr lang="zh-CN" altLang="en-US"/>
          </a:p>
          <a:p>
            <a:pPr marL="742950" lvl="1" indent="-285750">
              <a:lnSpc>
                <a:spcPct val="150000"/>
              </a:lnSpc>
              <a:buFont typeface="Wingdings" panose="05000000000000000000" charset="0"/>
              <a:buChar char=""/>
            </a:pPr>
            <a:endParaRPr lang="zh-CN" altLang="en-US"/>
          </a:p>
        </p:txBody>
      </p:sp>
      <p:pic>
        <p:nvPicPr>
          <p:cNvPr id="2097179" name="图片 7" descr="cache"/>
          <p:cNvPicPr>
            <a:picLocks noChangeAspect="1"/>
          </p:cNvPicPr>
          <p:nvPr/>
        </p:nvPicPr>
        <p:blipFill>
          <a:blip r:embed="rId1"/>
          <a:stretch>
            <a:fillRect/>
          </a:stretch>
        </p:blipFill>
        <p:spPr>
          <a:xfrm>
            <a:off x="6779260" y="1939925"/>
            <a:ext cx="5285105" cy="2885440"/>
          </a:xfrm>
          <a:prstGeom prst="rect">
            <a:avLst/>
          </a:prstGeom>
          <a:ln>
            <a:solidFill>
              <a:schemeClr val="tx1"/>
            </a:solidFill>
          </a:ln>
        </p:spPr>
      </p:pic>
      <p:pic>
        <p:nvPicPr>
          <p:cNvPr id="2097180" name="图片 11" descr="cache"/>
          <p:cNvPicPr>
            <a:picLocks noChangeAspect="1"/>
          </p:cNvPicPr>
          <p:nvPr/>
        </p:nvPicPr>
        <p:blipFill>
          <a:blip r:embed="rId2"/>
          <a:stretch>
            <a:fillRect/>
          </a:stretch>
        </p:blipFill>
        <p:spPr>
          <a:xfrm>
            <a:off x="9015095" y="6985"/>
            <a:ext cx="2561590" cy="790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9" name="矩形 3"/>
          <p:cNvSpPr/>
          <p:nvPr/>
        </p:nvSpPr>
        <p:spPr>
          <a:xfrm>
            <a:off x="3409605" y="1364979"/>
            <a:ext cx="8782421" cy="1872001"/>
          </a:xfrm>
          <a:custGeom>
            <a:avLst/>
            <a:gdLst/>
            <a:ahLst/>
            <a:cxnLst>
              <a:cxn ang="0">
                <a:pos x="wd2" y="hd2"/>
              </a:cxn>
              <a:cxn ang="5400000">
                <a:pos x="wd2" y="hd2"/>
              </a:cxn>
              <a:cxn ang="10800000">
                <a:pos x="wd2" y="hd2"/>
              </a:cxn>
              <a:cxn ang="16200000">
                <a:pos x="wd2" y="hd2"/>
              </a:cxn>
            </a:cxnLst>
            <a:rect l="0" t="0" r="r" b="b"/>
            <a:pathLst>
              <a:path w="21600" h="21600" extrusionOk="0">
                <a:moveTo>
                  <a:pt x="2658" y="0"/>
                </a:moveTo>
                <a:lnTo>
                  <a:pt x="21600" y="0"/>
                </a:lnTo>
                <a:lnTo>
                  <a:pt x="21600" y="21600"/>
                </a:lnTo>
                <a:lnTo>
                  <a:pt x="0" y="21600"/>
                </a:lnTo>
                <a:close/>
              </a:path>
            </a:pathLst>
          </a:custGeom>
          <a:solidFill>
            <a:schemeClr val="bg2">
              <a:lumMod val="75000"/>
            </a:schemeClr>
          </a:solidFill>
          <a:ln w="12700">
            <a:miter lim="400000"/>
          </a:ln>
        </p:spPr>
        <p:txBody>
          <a:bodyPr lIns="0" tIns="0" rIns="0" bIns="0" anchor="ctr"/>
          <a:p>
            <a:pPr algn="ctr">
              <a:defRPr>
                <a:solidFill>
                  <a:srgbClr val="FFFFFF"/>
                </a:solidFill>
              </a:defRPr>
            </a:pPr>
            <a:endParaRPr sz="2400"/>
          </a:p>
        </p:txBody>
      </p:sp>
      <p:sp>
        <p:nvSpPr>
          <p:cNvPr id="1048650" name="矩形 6"/>
          <p:cNvSpPr/>
          <p:nvPr/>
        </p:nvSpPr>
        <p:spPr>
          <a:xfrm>
            <a:off x="0" y="3909053"/>
            <a:ext cx="5712357" cy="1872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7513" y="21600"/>
                </a:lnTo>
                <a:lnTo>
                  <a:pt x="0" y="21600"/>
                </a:lnTo>
                <a:close/>
              </a:path>
            </a:pathLst>
          </a:custGeom>
          <a:solidFill>
            <a:srgbClr val="BFBFBF"/>
          </a:solidFill>
          <a:ln w="12700">
            <a:miter lim="400000"/>
          </a:ln>
        </p:spPr>
        <p:txBody>
          <a:bodyPr lIns="0" tIns="0" rIns="0" bIns="0" anchor="ctr"/>
          <a:p>
            <a:pPr algn="ctr">
              <a:defRPr>
                <a:solidFill>
                  <a:srgbClr val="FFFFFF"/>
                </a:solidFill>
              </a:defRPr>
            </a:pPr>
            <a:endParaRPr sz="2400"/>
          </a:p>
        </p:txBody>
      </p:sp>
      <p:sp>
        <p:nvSpPr>
          <p:cNvPr id="1048651" name="矩形 7"/>
          <p:cNvSpPr/>
          <p:nvPr/>
        </p:nvSpPr>
        <p:spPr>
          <a:xfrm>
            <a:off x="-1" y="2124729"/>
            <a:ext cx="10613240" cy="302400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8047" y="21600"/>
                </a:lnTo>
                <a:lnTo>
                  <a:pt x="0" y="21600"/>
                </a:lnTo>
                <a:close/>
              </a:path>
            </a:pathLst>
          </a:custGeom>
          <a:solidFill>
            <a:schemeClr val="accent1">
              <a:lumMod val="75000"/>
            </a:schemeClr>
          </a:solidFill>
          <a:ln w="12700">
            <a:miter lim="400000"/>
          </a:ln>
        </p:spPr>
        <p:txBody>
          <a:bodyPr lIns="0" tIns="0" rIns="0" bIns="0" anchor="ctr"/>
          <a:p>
            <a:pPr algn="ctr">
              <a:defRPr>
                <a:solidFill>
                  <a:srgbClr val="FFFFFF"/>
                </a:solidFill>
              </a:defRPr>
            </a:pPr>
            <a:endParaRPr sz="2400"/>
          </a:p>
        </p:txBody>
      </p:sp>
      <p:sp>
        <p:nvSpPr>
          <p:cNvPr id="1048652" name="TextBox 11"/>
          <p:cNvSpPr txBox="1"/>
          <p:nvPr/>
        </p:nvSpPr>
        <p:spPr>
          <a:xfrm>
            <a:off x="3892972" y="3016545"/>
            <a:ext cx="3016250" cy="829945"/>
          </a:xfrm>
          <a:prstGeom prst="rect">
            <a:avLst/>
          </a:prstGeom>
          <a:ln w="12700">
            <a:miter lim="400000"/>
          </a:ln>
        </p:spPr>
        <p:txBody>
          <a:bodyPr wrap="none" lIns="60958" rIns="60958">
            <a:spAutoFit/>
          </a:bodyPr>
          <a:p>
            <a:pPr lvl="1" indent="0" algn="l">
              <a:defRPr sz="3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4800">
                <a:sym typeface="+mn-ea"/>
              </a:rPr>
              <a:t>实验分析</a:t>
            </a:r>
            <a:endParaRPr lang="zh-CN" sz="4800"/>
          </a:p>
        </p:txBody>
      </p:sp>
      <p:grpSp>
        <p:nvGrpSpPr>
          <p:cNvPr id="60" name="组合 1"/>
          <p:cNvGrpSpPr/>
          <p:nvPr/>
        </p:nvGrpSpPr>
        <p:grpSpPr>
          <a:xfrm>
            <a:off x="1671812" y="2646180"/>
            <a:ext cx="1737796" cy="1737796"/>
            <a:chOff x="0" y="0"/>
            <a:chExt cx="1303346" cy="1303346"/>
          </a:xfrm>
        </p:grpSpPr>
        <p:sp>
          <p:nvSpPr>
            <p:cNvPr id="1048653" name="椭圆 19"/>
            <p:cNvSpPr/>
            <p:nvPr/>
          </p:nvSpPr>
          <p:spPr>
            <a:xfrm>
              <a:off x="-1" y="-1"/>
              <a:ext cx="1303348" cy="1303348"/>
            </a:xfrm>
            <a:prstGeom prst="ellipse">
              <a:avLst/>
            </a:prstGeom>
            <a:gradFill flip="none" rotWithShape="1">
              <a:gsLst>
                <a:gs pos="0">
                  <a:srgbClr val="FFFFFF"/>
                </a:gs>
                <a:gs pos="50000">
                  <a:srgbClr val="F2F2F2"/>
                </a:gs>
                <a:gs pos="100000">
                  <a:srgbClr val="BFBFBF"/>
                </a:gs>
              </a:gsLst>
              <a:lin ang="18900000" scaled="0"/>
            </a:gradFill>
            <a:ln w="53975" cap="flat">
              <a:solidFill>
                <a:srgbClr val="ECECEC"/>
              </a:solidFill>
              <a:prstDash val="solid"/>
              <a:round/>
            </a:ln>
            <a:effectLst>
              <a:outerShdw blurRad="444500" dist="254000" dir="8100000" rotWithShape="0">
                <a:srgbClr val="000000">
                  <a:alpha val="50000"/>
                </a:srgbClr>
              </a:outerShdw>
            </a:effectLst>
          </p:spPr>
          <p:txBody>
            <a:bodyPr wrap="square" lIns="0" tIns="0" rIns="0" bIns="0" numCol="1" anchor="ctr">
              <a:noAutofit/>
            </a:bodyPr>
            <a:p>
              <a:pPr algn="ctr">
                <a:defRPr>
                  <a:solidFill>
                    <a:srgbClr val="FFFFFF"/>
                  </a:solidFill>
                </a:defRPr>
              </a:pPr>
              <a:endParaRPr sz="2400"/>
            </a:p>
          </p:txBody>
        </p:sp>
        <p:sp>
          <p:nvSpPr>
            <p:cNvPr id="1048654" name="椭圆 21"/>
            <p:cNvSpPr/>
            <p:nvPr/>
          </p:nvSpPr>
          <p:spPr>
            <a:xfrm>
              <a:off x="145554" y="145554"/>
              <a:ext cx="1012239" cy="1012239"/>
            </a:xfrm>
            <a:prstGeom prst="ellipse">
              <a:avLst/>
            </a:prstGeom>
            <a:solidFill>
              <a:srgbClr val="FFFFFF"/>
            </a:solidFill>
            <a:ln w="12700" cap="flat">
              <a:noFill/>
              <a:miter lim="400000"/>
            </a:ln>
            <a:effectLst/>
          </p:spPr>
          <p:txBody>
            <a:bodyPr wrap="square" lIns="0" tIns="0" rIns="0" bIns="0" numCol="1" anchor="ctr">
              <a:noAutofit/>
            </a:bodyPr>
            <a:p>
              <a:pPr algn="ctr" defTabSz="685800">
                <a:defRPr sz="2100" b="1">
                  <a:solidFill>
                    <a:srgbClr val="FFFFFF"/>
                  </a:solidFill>
                </a:defRPr>
              </a:pPr>
              <a:endParaRPr sz="2800"/>
            </a:p>
          </p:txBody>
        </p:sp>
      </p:grpSp>
      <p:pic>
        <p:nvPicPr>
          <p:cNvPr id="2097164" name="图片 2"/>
          <p:cNvPicPr>
            <a:picLocks noChangeAspect="1"/>
          </p:cNvPicPr>
          <p:nvPr/>
        </p:nvPicPr>
        <p:blipFill>
          <a:blip r:embed="rId1" cstate="print"/>
          <a:stretch>
            <a:fillRect/>
          </a:stretch>
        </p:blipFill>
        <p:spPr>
          <a:xfrm>
            <a:off x="1920875" y="2941320"/>
            <a:ext cx="1239520" cy="1147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9"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实验分析</a:t>
            </a:r>
            <a:r>
              <a:rPr lang="en-US" altLang="zh-CN" sz="2800">
                <a:sym typeface="+mn-ea"/>
              </a:rPr>
              <a:t>——</a:t>
            </a:r>
            <a:r>
              <a:rPr lang="zh-CN" altLang="en-US" sz="2800">
                <a:sym typeface="+mn-ea"/>
              </a:rPr>
              <a:t>实验整体思路</a:t>
            </a:r>
            <a:endParaRPr lang="zh-CN" altLang="en-US" sz="2800">
              <a:sym typeface="+mn-ea"/>
            </a:endParaRPr>
          </a:p>
        </p:txBody>
      </p:sp>
      <p:pic>
        <p:nvPicPr>
          <p:cNvPr id="2097185" name="图片 18" descr="cache"/>
          <p:cNvPicPr>
            <a:picLocks noChangeAspect="1"/>
          </p:cNvPicPr>
          <p:nvPr/>
        </p:nvPicPr>
        <p:blipFill>
          <a:blip r:embed="rId1"/>
          <a:stretch>
            <a:fillRect/>
          </a:stretch>
        </p:blipFill>
        <p:spPr>
          <a:xfrm>
            <a:off x="9015095" y="6985"/>
            <a:ext cx="2561590" cy="790575"/>
          </a:xfrm>
          <a:prstGeom prst="rect">
            <a:avLst/>
          </a:prstGeom>
        </p:spPr>
      </p:pic>
      <p:sp>
        <p:nvSpPr>
          <p:cNvPr id="2" name="文本框 1"/>
          <p:cNvSpPr txBox="1"/>
          <p:nvPr/>
        </p:nvSpPr>
        <p:spPr>
          <a:xfrm>
            <a:off x="1378585" y="1490980"/>
            <a:ext cx="9868535" cy="3876675"/>
          </a:xfrm>
          <a:prstGeom prst="rect">
            <a:avLst/>
          </a:prstGeom>
          <a:noFill/>
        </p:spPr>
        <p:txBody>
          <a:bodyPr wrap="square" rtlCol="0">
            <a:spAutoFit/>
          </a:bodyPr>
          <a:p>
            <a:pPr>
              <a:lnSpc>
                <a:spcPct val="150000"/>
              </a:lnSpc>
            </a:pPr>
            <a:r>
              <a:rPr lang="zh-CN" altLang="en-US" sz="2000"/>
              <a:t>论文的实验围绕三个核心问题来设计：</a:t>
            </a:r>
            <a:endParaRPr lang="zh-CN" altLang="en-US" sz="2000">
              <a:latin typeface="Times New Roman" panose="02020503050405090304" charset="0"/>
              <a:cs typeface="Times New Roman" panose="02020503050405090304" charset="0"/>
            </a:endParaRPr>
          </a:p>
          <a:p>
            <a:pPr marL="342900" indent="-342900">
              <a:lnSpc>
                <a:spcPct val="150000"/>
              </a:lnSpc>
              <a:buFont typeface="Wingdings" panose="05000000000000000000" charset="0"/>
              <a:buChar char="Ø"/>
            </a:pPr>
            <a:r>
              <a:rPr lang="zh-CN" altLang="en-US"/>
              <a:t>整体加速效果：</a:t>
            </a:r>
            <a:r>
              <a:rPr lang="en-US" altLang="zh-CN">
                <a:latin typeface="Times New Roman" panose="02020503050405090304" charset="0"/>
                <a:cs typeface="Times New Roman" panose="02020503050405090304" charset="0"/>
              </a:rPr>
              <a:t>Neuralink </a:t>
            </a:r>
            <a:r>
              <a:rPr lang="zh-CN" altLang="en-US"/>
              <a:t>相比现有手机端</a:t>
            </a:r>
            <a:r>
              <a:rPr lang="en-US" altLang="zh-CN"/>
              <a:t> </a:t>
            </a:r>
            <a:r>
              <a:rPr lang="en-US" altLang="zh-CN">
                <a:latin typeface="Times New Roman" panose="02020503050405090304" charset="0"/>
                <a:cs typeface="Times New Roman" panose="02020503050405090304" charset="0"/>
              </a:rPr>
              <a:t>LLM </a:t>
            </a:r>
            <a:r>
              <a:rPr lang="zh-CN" altLang="en-US"/>
              <a:t>推理方案（尤其是</a:t>
            </a:r>
            <a:r>
              <a:rPr lang="en-US" altLang="zh-CN"/>
              <a:t> </a:t>
            </a:r>
            <a:r>
              <a:rPr lang="en-US" altLang="zh-CN">
                <a:latin typeface="Times New Roman" panose="02020503050405090304" charset="0"/>
                <a:cs typeface="Times New Roman" panose="02020503050405090304" charset="0"/>
              </a:rPr>
              <a:t>LLMFlash</a:t>
            </a:r>
            <a:r>
              <a:rPr lang="zh-CN" altLang="en-US"/>
              <a:t>）在端到端时延和</a:t>
            </a:r>
            <a:r>
              <a:rPr lang="en-US" altLang="zh-CN"/>
              <a:t> </a:t>
            </a:r>
            <a:r>
              <a:rPr lang="en-US" altLang="zh-CN">
                <a:latin typeface="Times New Roman" panose="02020503050405090304" charset="0"/>
                <a:cs typeface="Times New Roman" panose="02020503050405090304" charset="0"/>
              </a:rPr>
              <a:t>I/O </a:t>
            </a:r>
            <a:r>
              <a:rPr lang="zh-CN" altLang="en-US"/>
              <a:t>带宽上能提升多少？</a:t>
            </a:r>
            <a:endParaRPr lang="zh-CN" altLang="en-US"/>
          </a:p>
          <a:p>
            <a:pPr marL="285750" indent="-285750">
              <a:lnSpc>
                <a:spcPct val="150000"/>
              </a:lnSpc>
              <a:buFont typeface="Wingdings" panose="05000000000000000000" charset="0"/>
              <a:buChar char="Ø"/>
            </a:pPr>
            <a:r>
              <a:rPr lang="zh-CN" altLang="en-US"/>
              <a:t>离线</a:t>
            </a:r>
            <a:r>
              <a:rPr lang="en-US" altLang="zh-CN"/>
              <a:t> / </a:t>
            </a:r>
            <a:r>
              <a:rPr lang="zh-CN" altLang="en-US"/>
              <a:t>在线两部分分别贡献多少？</a:t>
            </a:r>
            <a:endParaRPr lang="zh-CN" altLang="en-US"/>
          </a:p>
          <a:p>
            <a:pPr marL="742950" lvl="1" indent="-285750">
              <a:lnSpc>
                <a:spcPct val="150000"/>
              </a:lnSpc>
              <a:buFont typeface="Arial" panose="020B0604020202090204" pitchFamily="34" charset="0"/>
              <a:buChar char="•"/>
            </a:pPr>
            <a:r>
              <a:rPr lang="zh-CN" altLang="en-US"/>
              <a:t>离线的「相关性聚类</a:t>
            </a:r>
            <a:r>
              <a:rPr lang="en-US" altLang="zh-CN"/>
              <a:t> + </a:t>
            </a:r>
            <a:r>
              <a:rPr lang="zh-CN" altLang="en-US"/>
              <a:t>重排」到底提高了多少连续访问？</a:t>
            </a:r>
            <a:endParaRPr lang="zh-CN" altLang="en-US"/>
          </a:p>
          <a:p>
            <a:pPr marL="742950" lvl="1" indent="-285750">
              <a:lnSpc>
                <a:spcPct val="150000"/>
              </a:lnSpc>
              <a:buFont typeface="Arial" panose="020B0604020202090204" pitchFamily="34" charset="0"/>
              <a:buChar char="•"/>
            </a:pPr>
            <a:r>
              <a:rPr lang="zh-CN" altLang="en-US"/>
              <a:t>在线的「访问折叠</a:t>
            </a:r>
            <a:r>
              <a:rPr lang="en-US" altLang="zh-CN"/>
              <a:t> + </a:t>
            </a:r>
            <a:r>
              <a:rPr lang="zh-CN" altLang="en-US"/>
              <a:t>缓存策略」在此基础上还能带来多少额外收益？</a:t>
            </a:r>
            <a:endParaRPr lang="en-US" altLang="zh-CN"/>
          </a:p>
          <a:p>
            <a:pPr marL="285750" indent="-285750">
              <a:lnSpc>
                <a:spcPct val="150000"/>
              </a:lnSpc>
              <a:buFont typeface="Wingdings" panose="05000000000000000000" charset="0"/>
              <a:buChar char="Ø"/>
            </a:pPr>
            <a:r>
              <a:rPr lang="zh-CN" altLang="en-US"/>
              <a:t>机制是否稳定可靠、开销是否可接受？</a:t>
            </a:r>
            <a:endParaRPr lang="zh-CN" altLang="en-US"/>
          </a:p>
          <a:p>
            <a:pPr marL="742950" lvl="1" indent="-285750">
              <a:lnSpc>
                <a:spcPct val="150000"/>
              </a:lnSpc>
              <a:buFont typeface="Arial" panose="020B0604020202090204" pitchFamily="34" charset="0"/>
              <a:buChar char="•"/>
            </a:pPr>
            <a:r>
              <a:rPr lang="zh-CN" altLang="en-US"/>
              <a:t>对不同模型、不同数据集是否都有效？</a:t>
            </a:r>
            <a:endParaRPr lang="zh-CN" altLang="en-US"/>
          </a:p>
          <a:p>
            <a:pPr marL="742950" lvl="1" indent="-285750">
              <a:lnSpc>
                <a:spcPct val="150000"/>
              </a:lnSpc>
              <a:buFont typeface="Arial" panose="020B0604020202090204" pitchFamily="34" charset="0"/>
              <a:buChar char="•"/>
            </a:pPr>
            <a:r>
              <a:rPr lang="zh-CN" altLang="en-US"/>
              <a:t>离线搜索、在线策略本身的时间</a:t>
            </a:r>
            <a:r>
              <a:rPr lang="en-US" altLang="zh-CN"/>
              <a:t> / </a:t>
            </a:r>
            <a:r>
              <a:rPr lang="zh-CN" altLang="en-US"/>
              <a:t>资源开销有多大？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62"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实验分析</a:t>
            </a:r>
            <a:r>
              <a:rPr lang="en-US" altLang="zh-CN" sz="2800">
                <a:sym typeface="+mn-ea"/>
              </a:rPr>
              <a:t>——</a:t>
            </a:r>
            <a:r>
              <a:rPr lang="zh-CN" altLang="en-US" sz="2800">
                <a:sym typeface="+mn-ea"/>
              </a:rPr>
              <a:t>实验平台</a:t>
            </a:r>
            <a:r>
              <a:rPr lang="zh-CN" altLang="en-US" sz="2800">
                <a:sym typeface="+mn-ea"/>
              </a:rPr>
              <a:t>与对象</a:t>
            </a:r>
            <a:endParaRPr lang="zh-CN" altLang="en-US" sz="2800">
              <a:sym typeface="+mn-ea"/>
            </a:endParaRPr>
          </a:p>
        </p:txBody>
      </p:sp>
      <p:pic>
        <p:nvPicPr>
          <p:cNvPr id="2097187" name="图片 13" descr="cache"/>
          <p:cNvPicPr>
            <a:picLocks noChangeAspect="1"/>
          </p:cNvPicPr>
          <p:nvPr/>
        </p:nvPicPr>
        <p:blipFill>
          <a:blip r:embed="rId1"/>
          <a:stretch>
            <a:fillRect/>
          </a:stretch>
        </p:blipFill>
        <p:spPr>
          <a:xfrm>
            <a:off x="9015095" y="6985"/>
            <a:ext cx="2561590" cy="790575"/>
          </a:xfrm>
          <a:prstGeom prst="rect">
            <a:avLst/>
          </a:prstGeom>
        </p:spPr>
      </p:pic>
      <p:sp>
        <p:nvSpPr>
          <p:cNvPr id="3" name="文本框 2"/>
          <p:cNvSpPr txBox="1"/>
          <p:nvPr/>
        </p:nvSpPr>
        <p:spPr>
          <a:xfrm>
            <a:off x="527050" y="1247775"/>
            <a:ext cx="6639560" cy="5077460"/>
          </a:xfrm>
          <a:prstGeom prst="rect">
            <a:avLst/>
          </a:prstGeom>
          <a:noFill/>
        </p:spPr>
        <p:txBody>
          <a:bodyPr wrap="square" rtlCol="0">
            <a:spAutoFit/>
          </a:bodyPr>
          <a:p>
            <a:pPr marL="285750" indent="-285750">
              <a:lnSpc>
                <a:spcPct val="150000"/>
              </a:lnSpc>
              <a:buFont typeface="Wingdings" panose="05000000000000000000" charset="0"/>
              <a:buChar char="Ø"/>
            </a:pPr>
            <a:r>
              <a:rPr lang="en-US" altLang="zh-CN" b="1">
                <a:latin typeface="Times New Roman" panose="02020503050405090304" charset="0"/>
                <a:cs typeface="Times New Roman" panose="02020503050405090304" charset="0"/>
              </a:rPr>
              <a:t>硬件平台</a:t>
            </a:r>
            <a:r>
              <a:rPr lang="en-US" altLang="zh-CN">
                <a:latin typeface="Times New Roman" panose="02020503050405090304" charset="0"/>
                <a:cs typeface="Times New Roman" panose="02020503050405090304" charset="0"/>
              </a:rPr>
              <a:t>：多款真实智能手机，覆盖从中低端到高端</a:t>
            </a:r>
            <a:r>
              <a:rPr lang="zh-CN" altLang="en-US">
                <a:latin typeface="Times New Roman" panose="02020503050405090304" charset="0"/>
                <a:ea typeface="宋体" pitchFamily="2" charset="-122"/>
                <a:cs typeface="Times New Roman" panose="02020503050405090304" charset="0"/>
              </a:rPr>
              <a:t>；</a:t>
            </a:r>
            <a:r>
              <a:rPr lang="en-US" altLang="zh-CN">
                <a:latin typeface="Times New Roman" panose="02020503050405090304" charset="0"/>
                <a:cs typeface="Times New Roman" panose="02020503050405090304" charset="0"/>
              </a:rPr>
              <a:t>SoC 配置、DRAM 容量、UFS 版本都有差异，用来验证方案在不同硬件上的鲁棒性。</a:t>
            </a:r>
            <a:endParaRPr lang="en-US" altLang="zh-CN">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b="1">
                <a:latin typeface="Times New Roman" panose="02020503050405090304" charset="0"/>
                <a:cs typeface="Times New Roman" panose="02020503050405090304" charset="0"/>
              </a:rPr>
              <a:t>被测模型</a:t>
            </a:r>
            <a:r>
              <a:rPr lang="zh-CN" altLang="en-US">
                <a:latin typeface="Times New Roman" panose="02020503050405090304" charset="0"/>
                <a:cs typeface="Times New Roman" panose="02020503050405090304" charset="0"/>
              </a:rPr>
              <a:t>：选择</a:t>
            </a:r>
            <a:r>
              <a:rPr lang="en-US" altLang="zh-CN">
                <a:latin typeface="Times New Roman" panose="02020503050405090304" charset="0"/>
                <a:cs typeface="Times New Roman" panose="02020503050405090304" charset="0"/>
              </a:rPr>
              <a:t> 7 </a:t>
            </a:r>
            <a:r>
              <a:rPr lang="zh-CN" altLang="en-US">
                <a:latin typeface="Times New Roman" panose="02020503050405090304" charset="0"/>
                <a:cs typeface="Times New Roman" panose="02020503050405090304" charset="0"/>
              </a:rPr>
              <a:t>个结构和规模都不同、都带激活稀疏机制的</a:t>
            </a:r>
            <a:r>
              <a:rPr lang="en-US" altLang="zh-CN">
                <a:latin typeface="Times New Roman" panose="02020503050405090304" charset="0"/>
                <a:cs typeface="Times New Roman" panose="02020503050405090304" charset="0"/>
              </a:rPr>
              <a:t> LLM</a:t>
            </a:r>
            <a:endParaRPr lang="en-US" altLang="zh-CN">
              <a:latin typeface="Times New Roman" panose="02020503050405090304" charset="0"/>
              <a:cs typeface="Times New Roman" panose="02020503050405090304" charset="0"/>
            </a:endParaRPr>
          </a:p>
          <a:p>
            <a:pPr marL="800100" lvl="1" indent="-342900">
              <a:lnSpc>
                <a:spcPct val="150000"/>
              </a:lnSpc>
              <a:buFont typeface="Arial" panose="020B0604020202090204" pitchFamily="34" charset="0"/>
              <a:buChar char="•"/>
            </a:pPr>
            <a:r>
              <a:rPr lang="en-US" altLang="zh-CN">
                <a:latin typeface="Times New Roman" panose="02020503050405090304" charset="0"/>
                <a:cs typeface="Times New Roman" panose="02020503050405090304" charset="0"/>
              </a:rPr>
              <a:t>OPT </a:t>
            </a:r>
            <a:r>
              <a:rPr lang="zh-CN" altLang="en-US">
                <a:latin typeface="Times New Roman" panose="02020503050405090304" charset="0"/>
                <a:cs typeface="Times New Roman" panose="02020503050405090304" charset="0"/>
              </a:rPr>
              <a:t>系列：</a:t>
            </a:r>
            <a:r>
              <a:rPr lang="en-US" altLang="zh-CN">
                <a:latin typeface="Times New Roman" panose="02020503050405090304" charset="0"/>
                <a:cs typeface="Times New Roman" panose="02020503050405090304" charset="0"/>
              </a:rPr>
              <a:t>OPT-S 350M</a:t>
            </a:r>
            <a:r>
              <a:rPr lang="zh-CN"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OPT-M 1.3B</a:t>
            </a:r>
            <a:r>
              <a:rPr lang="zh-CN"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OPT-L 6.7B</a:t>
            </a:r>
            <a:endParaRPr lang="en-US" altLang="zh-CN">
              <a:latin typeface="Times New Roman" panose="02020503050405090304" charset="0"/>
              <a:cs typeface="Times New Roman" panose="02020503050405090304" charset="0"/>
            </a:endParaRPr>
          </a:p>
          <a:p>
            <a:pPr marL="800100" lvl="1" indent="-342900">
              <a:lnSpc>
                <a:spcPct val="150000"/>
              </a:lnSpc>
              <a:buFont typeface="Arial" panose="020B0604020202090204" pitchFamily="34" charset="0"/>
              <a:buChar char="•"/>
            </a:pPr>
            <a:r>
              <a:rPr lang="en-US" altLang="zh-CN">
                <a:latin typeface="Times New Roman" panose="02020503050405090304" charset="0"/>
                <a:cs typeface="Times New Roman" panose="02020503050405090304" charset="0"/>
              </a:rPr>
              <a:t>Llama-2 7B</a:t>
            </a:r>
            <a:endParaRPr lang="en-US" altLang="zh-CN">
              <a:latin typeface="Times New Roman" panose="02020503050405090304" charset="0"/>
              <a:cs typeface="Times New Roman" panose="02020503050405090304" charset="0"/>
            </a:endParaRPr>
          </a:p>
          <a:p>
            <a:pPr marL="800100" lvl="1" indent="-342900">
              <a:lnSpc>
                <a:spcPct val="150000"/>
              </a:lnSpc>
              <a:buFont typeface="Arial" panose="020B0604020202090204" pitchFamily="34" charset="0"/>
              <a:buChar char="•"/>
            </a:pPr>
            <a:r>
              <a:rPr lang="en-US" altLang="zh-CN">
                <a:latin typeface="Times New Roman" panose="02020503050405090304" charset="0"/>
                <a:cs typeface="Times New Roman" panose="02020503050405090304" charset="0"/>
              </a:rPr>
              <a:t>Mistral 7B</a:t>
            </a:r>
            <a:endParaRPr lang="en-US" altLang="zh-CN">
              <a:latin typeface="Times New Roman" panose="02020503050405090304" charset="0"/>
              <a:cs typeface="Times New Roman" panose="02020503050405090304" charset="0"/>
            </a:endParaRPr>
          </a:p>
          <a:p>
            <a:pPr marL="800100" lvl="1" indent="-342900">
              <a:lnSpc>
                <a:spcPct val="150000"/>
              </a:lnSpc>
              <a:buFont typeface="Arial" panose="020B0604020202090204" pitchFamily="34" charset="0"/>
              <a:buChar char="•"/>
            </a:pPr>
            <a:r>
              <a:rPr lang="en-US" altLang="zh-CN">
                <a:latin typeface="Times New Roman" panose="02020503050405090304" charset="0"/>
                <a:cs typeface="Times New Roman" panose="02020503050405090304" charset="0"/>
              </a:rPr>
              <a:t>MobiLlama 1B</a:t>
            </a:r>
            <a:endParaRPr lang="en-US" altLang="zh-CN">
              <a:latin typeface="Times New Roman" panose="02020503050405090304" charset="0"/>
              <a:cs typeface="Times New Roman" panose="02020503050405090304" charset="0"/>
            </a:endParaRPr>
          </a:p>
          <a:p>
            <a:pPr marL="800100" lvl="1" indent="-342900">
              <a:lnSpc>
                <a:spcPct val="150000"/>
              </a:lnSpc>
              <a:buFont typeface="Arial" panose="020B0604020202090204" pitchFamily="34" charset="0"/>
              <a:buChar char="•"/>
            </a:pPr>
            <a:r>
              <a:rPr lang="en-US" altLang="zh-CN">
                <a:latin typeface="Times New Roman" panose="02020503050405090304" charset="0"/>
                <a:cs typeface="Times New Roman" panose="02020503050405090304" charset="0"/>
              </a:rPr>
              <a:t>Phi-2 2.7B</a:t>
            </a:r>
            <a:endParaRPr lang="en-US" altLang="zh-CN">
              <a:latin typeface="Times New Roman" panose="02020503050405090304" charset="0"/>
              <a:cs typeface="Times New Roman" panose="02020503050405090304" charset="0"/>
            </a:endParaRPr>
          </a:p>
          <a:p>
            <a:pPr marL="342900" lvl="0" indent="-342900">
              <a:lnSpc>
                <a:spcPct val="150000"/>
              </a:lnSpc>
              <a:buFont typeface="Wingdings" panose="05000000000000000000" charset="0"/>
              <a:buChar char="Ø"/>
            </a:pPr>
            <a:r>
              <a:rPr lang="zh-CN" altLang="en-US" b="1">
                <a:latin typeface="Times New Roman" panose="02020503050405090304" charset="0"/>
                <a:cs typeface="Times New Roman" panose="02020503050405090304" charset="0"/>
              </a:rPr>
              <a:t>数据集</a:t>
            </a:r>
            <a:r>
              <a:rPr lang="zh-CN" altLang="en-US">
                <a:latin typeface="Times New Roman" panose="02020503050405090304" charset="0"/>
                <a:cs typeface="Times New Roman" panose="02020503050405090304" charset="0"/>
              </a:rPr>
              <a:t>：采用了多类数据集，覆盖：纯文本、指令微调、数学、常识推理等任务，保证激活稀疏模式多样</a:t>
            </a:r>
            <a:endParaRPr lang="zh-CN" altLang="en-US">
              <a:latin typeface="Times New Roman" panose="02020503050405090304" charset="0"/>
              <a:cs typeface="Times New Roman" panose="02020503050405090304" charset="0"/>
            </a:endParaRPr>
          </a:p>
        </p:txBody>
      </p:sp>
      <p:pic>
        <p:nvPicPr>
          <p:cNvPr id="2" name="图片 1"/>
          <p:cNvPicPr>
            <a:picLocks noChangeAspect="1"/>
          </p:cNvPicPr>
          <p:nvPr/>
        </p:nvPicPr>
        <p:blipFill>
          <a:blip r:embed="rId2"/>
          <a:stretch>
            <a:fillRect/>
          </a:stretch>
        </p:blipFill>
        <p:spPr>
          <a:xfrm>
            <a:off x="7404735" y="1600200"/>
            <a:ext cx="4100830" cy="4051935"/>
          </a:xfrm>
          <a:prstGeom prst="rect">
            <a:avLst/>
          </a:prstGeom>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67"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t>实验分析</a:t>
            </a:r>
            <a:r>
              <a:rPr lang="en-US" altLang="zh-CN" sz="2800"/>
              <a:t>——</a:t>
            </a:r>
            <a:r>
              <a:rPr lang="zh-CN" altLang="en-US" sz="2800"/>
              <a:t>对比基线与评价</a:t>
            </a:r>
            <a:r>
              <a:rPr lang="zh-CN" altLang="en-US" sz="2800"/>
              <a:t>指标</a:t>
            </a:r>
            <a:endParaRPr lang="zh-CN" altLang="en-US" sz="2800"/>
          </a:p>
        </p:txBody>
      </p:sp>
      <p:pic>
        <p:nvPicPr>
          <p:cNvPr id="2097189" name="图片 13" descr="cache"/>
          <p:cNvPicPr>
            <a:picLocks noChangeAspect="1"/>
          </p:cNvPicPr>
          <p:nvPr/>
        </p:nvPicPr>
        <p:blipFill>
          <a:blip r:embed="rId1"/>
          <a:stretch>
            <a:fillRect/>
          </a:stretch>
        </p:blipFill>
        <p:spPr>
          <a:xfrm>
            <a:off x="9015095" y="6985"/>
            <a:ext cx="2561590" cy="790575"/>
          </a:xfrm>
          <a:prstGeom prst="rect">
            <a:avLst/>
          </a:prstGeom>
        </p:spPr>
      </p:pic>
      <p:sp>
        <p:nvSpPr>
          <p:cNvPr id="2" name="文本框 1"/>
          <p:cNvSpPr txBox="1"/>
          <p:nvPr/>
        </p:nvSpPr>
        <p:spPr>
          <a:xfrm>
            <a:off x="747395" y="1362710"/>
            <a:ext cx="8850630" cy="4246245"/>
          </a:xfrm>
          <a:prstGeom prst="rect">
            <a:avLst/>
          </a:prstGeom>
          <a:noFill/>
        </p:spPr>
        <p:txBody>
          <a:bodyPr wrap="square" rtlCol="0">
            <a:spAutoFit/>
          </a:bodyPr>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外部基线</a:t>
            </a:r>
            <a:endParaRPr lang="zh-CN" altLang="en-US">
              <a:latin typeface="Times New Roman" panose="02020503050405090304" charset="0"/>
              <a:cs typeface="Times New Roman" panose="02020503050405090304" charset="0"/>
            </a:endParaRPr>
          </a:p>
          <a:p>
            <a:pPr marL="742950" lvl="1" indent="-285750">
              <a:lnSpc>
                <a:spcPct val="150000"/>
              </a:lnSpc>
              <a:buFont typeface="Arial" panose="020B0604020202090204" pitchFamily="34" charset="0"/>
              <a:buChar char="•"/>
            </a:pPr>
            <a:r>
              <a:rPr lang="en-US" altLang="zh-CN" b="1">
                <a:latin typeface="Times New Roman" panose="02020503050405090304" charset="0"/>
                <a:cs typeface="Times New Roman" panose="02020503050405090304" charset="0"/>
              </a:rPr>
              <a:t>llama.cpp</a:t>
            </a:r>
            <a:r>
              <a:rPr lang="en-US" altLang="zh-CN" b="1" baseline="30000">
                <a:latin typeface="Times New Roman" panose="02020503050405090304" charset="0"/>
                <a:cs typeface="Times New Roman" panose="02020503050405090304" charset="0"/>
              </a:rPr>
              <a:t>[4]</a:t>
            </a:r>
            <a:r>
              <a:rPr lang="zh-CN" altLang="en-US">
                <a:latin typeface="Times New Roman" panose="02020503050405090304" charset="0"/>
                <a:ea typeface="宋体" pitchFamily="2" charset="-122"/>
                <a:cs typeface="Times New Roman" panose="02020503050405090304" charset="0"/>
              </a:rPr>
              <a:t>：手机端最常用、性能很强的</a:t>
            </a:r>
            <a:r>
              <a:rPr lang="en-US" altLang="zh-CN">
                <a:latin typeface="Times New Roman" panose="02020503050405090304" charset="0"/>
                <a:ea typeface="宋体" pitchFamily="2" charset="-122"/>
                <a:cs typeface="Times New Roman" panose="02020503050405090304" charset="0"/>
              </a:rPr>
              <a:t> CPU </a:t>
            </a:r>
            <a:r>
              <a:rPr lang="zh-CN" altLang="en-US">
                <a:latin typeface="Times New Roman" panose="02020503050405090304" charset="0"/>
                <a:ea typeface="宋体" pitchFamily="2" charset="-122"/>
                <a:cs typeface="Times New Roman" panose="02020503050405090304" charset="0"/>
              </a:rPr>
              <a:t>推理框架</a:t>
            </a:r>
            <a:endParaRPr lang="zh-CN" altLang="en-US">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en-US" altLang="zh-CN" b="1">
                <a:latin typeface="Times New Roman" panose="02020503050405090304" charset="0"/>
                <a:ea typeface="宋体" pitchFamily="2" charset="-122"/>
                <a:cs typeface="Times New Roman" panose="02020503050405090304" charset="0"/>
              </a:rPr>
              <a:t>LLMFlash</a:t>
            </a:r>
            <a:r>
              <a:rPr lang="en-US" altLang="zh-CN" b="1" baseline="30000">
                <a:latin typeface="Times New Roman" panose="02020503050405090304" charset="0"/>
                <a:ea typeface="宋体" pitchFamily="2" charset="-122"/>
                <a:cs typeface="Times New Roman" panose="02020503050405090304" charset="0"/>
              </a:rPr>
              <a:t>[5]</a:t>
            </a:r>
            <a:r>
              <a:rPr lang="zh-CN" altLang="en-US">
                <a:latin typeface="Times New Roman" panose="02020503050405090304" charset="0"/>
                <a:ea typeface="宋体" pitchFamily="2" charset="-122"/>
                <a:cs typeface="Times New Roman" panose="02020503050405090304" charset="0"/>
              </a:rPr>
              <a:t>：专门为激活稀疏范式设计的手机端框架，是当前</a:t>
            </a:r>
            <a:r>
              <a:rPr lang="en-US" altLang="zh-CN">
                <a:latin typeface="Times New Roman" panose="02020503050405090304" charset="0"/>
                <a:ea typeface="宋体" pitchFamily="2" charset="-122"/>
                <a:cs typeface="Times New Roman" panose="02020503050405090304" charset="0"/>
              </a:rPr>
              <a:t> SOTA </a:t>
            </a:r>
            <a:r>
              <a:rPr lang="zh-CN" altLang="en-US">
                <a:latin typeface="Times New Roman" panose="02020503050405090304" charset="0"/>
                <a:ea typeface="宋体" pitchFamily="2" charset="-122"/>
                <a:cs typeface="Times New Roman" panose="02020503050405090304" charset="0"/>
              </a:rPr>
              <a:t>稀疏方案</a:t>
            </a:r>
            <a:endParaRPr lang="zh-CN" altLang="en-US">
              <a:latin typeface="Times New Roman" panose="02020503050405090304" charset="0"/>
              <a:ea typeface="宋体" pitchFamily="2" charset="-122"/>
              <a:cs typeface="Times New Roman" panose="02020503050405090304" charset="0"/>
            </a:endParaRPr>
          </a:p>
          <a:p>
            <a:pPr marL="285750" lvl="0" indent="-285750">
              <a:lnSpc>
                <a:spcPct val="150000"/>
              </a:lnSpc>
              <a:buFont typeface="Wingdings" panose="05000000000000000000" charset="0"/>
              <a:buChar char="Ø"/>
            </a:pPr>
            <a:r>
              <a:rPr lang="zh-CN" altLang="en-US">
                <a:latin typeface="Times New Roman" panose="02020503050405090304" charset="0"/>
                <a:ea typeface="宋体" pitchFamily="2" charset="-122"/>
                <a:cs typeface="Times New Roman" panose="02020503050405090304" charset="0"/>
              </a:rPr>
              <a:t>内部</a:t>
            </a:r>
            <a:r>
              <a:rPr lang="zh-CN" altLang="en-US">
                <a:latin typeface="Times New Roman" panose="02020503050405090304" charset="0"/>
                <a:ea typeface="宋体" pitchFamily="2" charset="-122"/>
                <a:cs typeface="Times New Roman" panose="02020503050405090304" charset="0"/>
              </a:rPr>
              <a:t>基线：</a:t>
            </a:r>
            <a:endParaRPr lang="zh-CN" altLang="en-US">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en-US" altLang="zh-CN" b="1">
                <a:latin typeface="Times New Roman" panose="02020503050405090304" charset="0"/>
                <a:ea typeface="宋体" pitchFamily="2" charset="-122"/>
                <a:cs typeface="Times New Roman" panose="02020503050405090304" charset="0"/>
              </a:rPr>
              <a:t>Neuralink-S</a:t>
            </a:r>
            <a:r>
              <a:rPr lang="zh-CN" altLang="en-US">
                <a:latin typeface="Times New Roman" panose="02020503050405090304" charset="0"/>
                <a:ea typeface="宋体" pitchFamily="2" charset="-122"/>
                <a:cs typeface="Times New Roman" panose="02020503050405090304" charset="0"/>
              </a:rPr>
              <a:t>：只按</a:t>
            </a:r>
            <a:r>
              <a:rPr lang="en-US" altLang="zh-CN">
                <a:latin typeface="Times New Roman" panose="02020503050405090304" charset="0"/>
                <a:ea typeface="宋体" pitchFamily="2" charset="-122"/>
                <a:cs typeface="Times New Roman" panose="02020503050405090304" charset="0"/>
              </a:rPr>
              <a:t>“</a:t>
            </a:r>
            <a:r>
              <a:rPr lang="zh-CN" altLang="en-US">
                <a:latin typeface="Times New Roman" panose="02020503050405090304" charset="0"/>
                <a:ea typeface="宋体" pitchFamily="2" charset="-122"/>
                <a:cs typeface="Times New Roman" panose="02020503050405090304" charset="0"/>
              </a:rPr>
              <a:t>单个神经元激活频率</a:t>
            </a:r>
            <a:r>
              <a:rPr lang="en-US" altLang="zh-CN">
                <a:latin typeface="Times New Roman" panose="02020503050405090304" charset="0"/>
                <a:ea typeface="宋体" pitchFamily="2" charset="-122"/>
                <a:cs typeface="Times New Roman" panose="02020503050405090304" charset="0"/>
              </a:rPr>
              <a:t>”</a:t>
            </a:r>
            <a:r>
              <a:rPr lang="zh-CN" altLang="en-US">
                <a:latin typeface="Times New Roman" panose="02020503050405090304" charset="0"/>
                <a:ea typeface="宋体" pitchFamily="2" charset="-122"/>
                <a:cs typeface="Times New Roman" panose="02020503050405090304" charset="0"/>
              </a:rPr>
              <a:t>降序排布，不考虑协同激活关系。用来对比「简单频率排序</a:t>
            </a:r>
            <a:r>
              <a:rPr lang="en-US" altLang="zh-CN">
                <a:latin typeface="Times New Roman" panose="02020503050405090304" charset="0"/>
                <a:ea typeface="宋体" pitchFamily="2" charset="-122"/>
                <a:cs typeface="Times New Roman" panose="02020503050405090304" charset="0"/>
              </a:rPr>
              <a:t> vs </a:t>
            </a:r>
            <a:r>
              <a:rPr lang="zh-CN" altLang="en-US">
                <a:latin typeface="Times New Roman" panose="02020503050405090304" charset="0"/>
                <a:ea typeface="宋体" pitchFamily="2" charset="-122"/>
                <a:cs typeface="Times New Roman" panose="02020503050405090304" charset="0"/>
              </a:rPr>
              <a:t>相关性感知聚类」</a:t>
            </a:r>
            <a:endParaRPr lang="zh-CN" altLang="en-US">
              <a:latin typeface="Times New Roman" panose="02020503050405090304" charset="0"/>
              <a:ea typeface="宋体" pitchFamily="2" charset="-122"/>
              <a:cs typeface="Times New Roman" panose="02020503050405090304" charset="0"/>
            </a:endParaRPr>
          </a:p>
          <a:p>
            <a:pPr marL="285750" lvl="0" indent="-285750">
              <a:lnSpc>
                <a:spcPct val="150000"/>
              </a:lnSpc>
              <a:buFont typeface="Wingdings" panose="05000000000000000000" charset="0"/>
              <a:buChar char="Ø"/>
            </a:pPr>
            <a:r>
              <a:rPr lang="zh-CN" altLang="en-US">
                <a:latin typeface="Times New Roman" panose="02020503050405090304" charset="0"/>
                <a:ea typeface="宋体" pitchFamily="2" charset="-122"/>
                <a:cs typeface="Times New Roman" panose="02020503050405090304" charset="0"/>
              </a:rPr>
              <a:t>评价指标：</a:t>
            </a:r>
            <a:endParaRPr lang="en-US" altLang="zh-CN">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ea typeface="宋体" pitchFamily="2" charset="-122"/>
                <a:cs typeface="Times New Roman" panose="02020503050405090304" charset="0"/>
              </a:rPr>
              <a:t>端到端每</a:t>
            </a:r>
            <a:r>
              <a:rPr lang="en-US" altLang="zh-CN">
                <a:latin typeface="Times New Roman" panose="02020503050405090304" charset="0"/>
                <a:ea typeface="宋体" pitchFamily="2" charset="-122"/>
                <a:cs typeface="Times New Roman" panose="02020503050405090304" charset="0"/>
              </a:rPr>
              <a:t> token </a:t>
            </a:r>
            <a:r>
              <a:rPr lang="zh-CN" altLang="en-US">
                <a:latin typeface="Times New Roman" panose="02020503050405090304" charset="0"/>
                <a:ea typeface="宋体" pitchFamily="2" charset="-122"/>
                <a:cs typeface="Times New Roman" panose="02020503050405090304" charset="0"/>
              </a:rPr>
              <a:t>延迟（主指标）</a:t>
            </a:r>
            <a:endParaRPr lang="en-US" altLang="zh-CN">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en-US" altLang="zh-CN">
                <a:latin typeface="Times New Roman" panose="02020503050405090304" charset="0"/>
                <a:ea typeface="宋体" pitchFamily="2" charset="-122"/>
                <a:cs typeface="Times New Roman" panose="02020503050405090304" charset="0"/>
              </a:rPr>
              <a:t>I/O </a:t>
            </a:r>
            <a:r>
              <a:rPr lang="zh-CN" altLang="en-US">
                <a:latin typeface="Times New Roman" panose="02020503050405090304" charset="0"/>
                <a:ea typeface="宋体" pitchFamily="2" charset="-122"/>
                <a:cs typeface="Times New Roman" panose="02020503050405090304" charset="0"/>
              </a:rPr>
              <a:t>有效带宽（只统计被激活的神经元字节数）：使用</a:t>
            </a:r>
            <a:r>
              <a:rPr lang="en-US" altLang="zh-CN">
                <a:latin typeface="Times New Roman" panose="02020503050405090304" charset="0"/>
                <a:ea typeface="宋体" pitchFamily="2" charset="-122"/>
                <a:cs typeface="Times New Roman" panose="02020503050405090304" charset="0"/>
              </a:rPr>
              <a:t> io_uring </a:t>
            </a:r>
            <a:r>
              <a:rPr lang="zh-CN" altLang="en-US">
                <a:latin typeface="Times New Roman" panose="02020503050405090304" charset="0"/>
                <a:ea typeface="宋体" pitchFamily="2" charset="-122"/>
                <a:cs typeface="Times New Roman" panose="02020503050405090304" charset="0"/>
              </a:rPr>
              <a:t>统计从发出首个</a:t>
            </a:r>
            <a:r>
              <a:rPr lang="en-US" altLang="zh-CN">
                <a:latin typeface="Times New Roman" panose="02020503050405090304" charset="0"/>
                <a:ea typeface="宋体" pitchFamily="2" charset="-122"/>
                <a:cs typeface="Times New Roman" panose="02020503050405090304" charset="0"/>
              </a:rPr>
              <a:t> I/O </a:t>
            </a:r>
            <a:r>
              <a:rPr lang="zh-CN" altLang="en-US">
                <a:latin typeface="Times New Roman" panose="02020503050405090304" charset="0"/>
                <a:ea typeface="宋体" pitchFamily="2" charset="-122"/>
                <a:cs typeface="Times New Roman" panose="02020503050405090304" charset="0"/>
              </a:rPr>
              <a:t>请求到最后一个完成的时间，结合总读量计算带宽。</a:t>
            </a:r>
            <a:endParaRPr lang="zh-CN" altLang="en-US">
              <a:latin typeface="Times New Roman" panose="02020503050405090304" charset="0"/>
              <a:ea typeface="宋体" pitchFamily="2" charset="-122"/>
              <a:cs typeface="Times New Roman" panose="02020503050405090304" charset="0"/>
            </a:endParaRPr>
          </a:p>
        </p:txBody>
      </p:sp>
      <p:sp>
        <p:nvSpPr>
          <p:cNvPr id="1048615" name="文本框 10"/>
          <p:cNvSpPr txBox="1"/>
          <p:nvPr/>
        </p:nvSpPr>
        <p:spPr>
          <a:xfrm>
            <a:off x="747395" y="6127115"/>
            <a:ext cx="9011285" cy="645160"/>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rPr>
              <a:t>[4]Georgi Gerganov, “llama.cpp: Port of Facebook’s LLaMA model in C/C++,” 2024.</a:t>
            </a:r>
            <a:endParaRPr lang="en-US" altLang="zh-CN" sz="1200">
              <a:latin typeface="微软雅黑" panose="020B0503020204020204" charset="-122"/>
              <a:ea typeface="微软雅黑" panose="020B0503020204020204" charset="-122"/>
            </a:endParaRPr>
          </a:p>
          <a:p>
            <a:r>
              <a:rPr lang="en-US" altLang="zh-CN" sz="1200">
                <a:latin typeface="微软雅黑" panose="020B0503020204020204" charset="-122"/>
                <a:ea typeface="微软雅黑" panose="020B0503020204020204" charset="-122"/>
                <a:sym typeface="+mn-ea"/>
              </a:rPr>
              <a:t>[5]</a:t>
            </a:r>
            <a:r>
              <a:rPr lang="en-US" altLang="zh-CN" sz="1200">
                <a:latin typeface="微软雅黑" panose="020B0503020204020204" charset="-122"/>
                <a:ea typeface="微软雅黑" panose="020B0503020204020204" charset="-122"/>
              </a:rPr>
              <a:t>Alizadeh et al., “LLM in a Flash: Efficient Large Language Model Inference with Limited Memory,” arXiv, 2023.</a:t>
            </a:r>
            <a:endParaRPr lang="en-US" altLang="zh-CN" sz="1200">
              <a:latin typeface="微软雅黑" panose="020B0503020204020204" charset="-122"/>
              <a:ea typeface="微软雅黑" panose="020B0503020204020204" charset="-122"/>
            </a:endParaRPr>
          </a:p>
          <a:p>
            <a:endParaRPr lang="en-US" altLang="zh-CN" sz="12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70"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实验分析</a:t>
            </a:r>
            <a:r>
              <a:rPr lang="en-US" altLang="zh-CN" sz="2800">
                <a:sym typeface="+mn-ea"/>
              </a:rPr>
              <a:t>——</a:t>
            </a:r>
            <a:r>
              <a:rPr lang="zh-CN" altLang="en-US" sz="2800">
                <a:sym typeface="+mn-ea"/>
              </a:rPr>
              <a:t>整体</a:t>
            </a:r>
            <a:r>
              <a:rPr lang="zh-CN" altLang="en-US" sz="2800">
                <a:sym typeface="+mn-ea"/>
              </a:rPr>
              <a:t>性能</a:t>
            </a:r>
            <a:endParaRPr lang="zh-CN" altLang="en-US" sz="2800">
              <a:sym typeface="+mn-ea"/>
            </a:endParaRPr>
          </a:p>
        </p:txBody>
      </p:sp>
      <p:pic>
        <p:nvPicPr>
          <p:cNvPr id="2097191" name="图片 21" descr="cache"/>
          <p:cNvPicPr>
            <a:picLocks noChangeAspect="1"/>
          </p:cNvPicPr>
          <p:nvPr/>
        </p:nvPicPr>
        <p:blipFill>
          <a:blip r:embed="rId1"/>
          <a:stretch>
            <a:fillRect/>
          </a:stretch>
        </p:blipFill>
        <p:spPr>
          <a:xfrm>
            <a:off x="9015095" y="6985"/>
            <a:ext cx="2561590" cy="790575"/>
          </a:xfrm>
          <a:prstGeom prst="rect">
            <a:avLst/>
          </a:prstGeom>
        </p:spPr>
      </p:pic>
      <p:pic>
        <p:nvPicPr>
          <p:cNvPr id="3" name="图片 2"/>
          <p:cNvPicPr>
            <a:picLocks noChangeAspect="1"/>
          </p:cNvPicPr>
          <p:nvPr/>
        </p:nvPicPr>
        <p:blipFill>
          <a:blip r:embed="rId2"/>
          <a:stretch>
            <a:fillRect/>
          </a:stretch>
        </p:blipFill>
        <p:spPr>
          <a:xfrm>
            <a:off x="2369185" y="2052320"/>
            <a:ext cx="7453630" cy="4610735"/>
          </a:xfrm>
          <a:prstGeom prst="rect">
            <a:avLst/>
          </a:prstGeom>
          <a:ln>
            <a:solidFill>
              <a:schemeClr val="tx1"/>
            </a:solidFill>
          </a:ln>
        </p:spPr>
      </p:pic>
      <p:sp>
        <p:nvSpPr>
          <p:cNvPr id="2" name="文本框 1"/>
          <p:cNvSpPr txBox="1"/>
          <p:nvPr/>
        </p:nvSpPr>
        <p:spPr>
          <a:xfrm>
            <a:off x="1438910" y="1003935"/>
            <a:ext cx="9596755" cy="922020"/>
          </a:xfrm>
          <a:prstGeom prst="rect">
            <a:avLst/>
          </a:prstGeom>
          <a:noFill/>
        </p:spPr>
        <p:txBody>
          <a:bodyPr wrap="square" rtlCol="0">
            <a:spAutoFit/>
          </a:bodyPr>
          <a:p>
            <a:pPr>
              <a:lnSpc>
                <a:spcPct val="150000"/>
              </a:lnSpc>
            </a:pPr>
            <a:r>
              <a:rPr lang="en-US" altLang="zh-CN">
                <a:latin typeface="Times New Roman" panose="02020503050405090304" charset="0"/>
                <a:cs typeface="Times New Roman" panose="02020503050405090304" charset="0"/>
              </a:rPr>
              <a:t>Neuralink</a:t>
            </a:r>
            <a:r>
              <a:rPr lang="zh-CN" altLang="en-US">
                <a:latin typeface="Times New Roman" panose="02020503050405090304" charset="0"/>
                <a:cs typeface="Times New Roman" panose="02020503050405090304" charset="0"/>
              </a:rPr>
              <a:t>始终优于基线，在</a:t>
            </a:r>
            <a:r>
              <a:rPr lang="en-US" altLang="zh-CN">
                <a:latin typeface="Times New Roman" panose="02020503050405090304" charset="0"/>
                <a:cs typeface="Times New Roman" panose="02020503050405090304" charset="0"/>
              </a:rPr>
              <a:t> 2 </a:t>
            </a:r>
            <a:r>
              <a:rPr lang="zh-CN" altLang="en-US">
                <a:latin typeface="Times New Roman" panose="02020503050405090304" charset="0"/>
                <a:cs typeface="Times New Roman" panose="02020503050405090304" charset="0"/>
              </a:rPr>
              <a:t>台手机</a:t>
            </a:r>
            <a:r>
              <a:rPr lang="en-US" altLang="zh-CN">
                <a:latin typeface="Times New Roman" panose="02020503050405090304" charset="0"/>
                <a:cs typeface="Times New Roman" panose="02020503050405090304" charset="0"/>
              </a:rPr>
              <a:t> </a:t>
            </a:r>
            <a:r>
              <a:rPr lang="en-US"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 7 </a:t>
            </a:r>
            <a:r>
              <a:rPr lang="zh-CN" altLang="en-US">
                <a:latin typeface="Times New Roman" panose="02020503050405090304" charset="0"/>
                <a:cs typeface="Times New Roman" panose="02020503050405090304" charset="0"/>
              </a:rPr>
              <a:t>个</a:t>
            </a:r>
            <a:r>
              <a:rPr lang="en-US" altLang="zh-CN">
                <a:latin typeface="Times New Roman" panose="02020503050405090304" charset="0"/>
                <a:cs typeface="Times New Roman" panose="02020503050405090304" charset="0"/>
              </a:rPr>
              <a:t> LLM </a:t>
            </a:r>
            <a:r>
              <a:rPr lang="en-US"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 3 </a:t>
            </a:r>
            <a:r>
              <a:rPr lang="zh-CN" altLang="en-US">
                <a:latin typeface="Times New Roman" panose="02020503050405090304" charset="0"/>
                <a:cs typeface="Times New Roman" panose="02020503050405090304" charset="0"/>
              </a:rPr>
              <a:t>个数据集上，</a:t>
            </a:r>
            <a:r>
              <a:rPr lang="en-US" altLang="zh-CN">
                <a:latin typeface="Times New Roman" panose="02020503050405090304" charset="0"/>
                <a:cs typeface="Times New Roman" panose="02020503050405090304" charset="0"/>
              </a:rPr>
              <a:t>Neuralink </a:t>
            </a:r>
            <a:r>
              <a:rPr lang="zh-CN" altLang="en-US">
                <a:latin typeface="Times New Roman" panose="02020503050405090304" charset="0"/>
                <a:cs typeface="Times New Roman" panose="02020503050405090304" charset="0"/>
              </a:rPr>
              <a:t>相比</a:t>
            </a:r>
            <a:r>
              <a:rPr lang="en-US" altLang="zh-CN">
                <a:latin typeface="Times New Roman" panose="02020503050405090304" charset="0"/>
                <a:cs typeface="Times New Roman" panose="02020503050405090304" charset="0"/>
              </a:rPr>
              <a:t> llama.cpp / LLMFlash / Neuralink-S </a:t>
            </a:r>
            <a:r>
              <a:rPr lang="zh-CN" altLang="en-US">
                <a:latin typeface="Times New Roman" panose="02020503050405090304" charset="0"/>
                <a:cs typeface="Times New Roman" panose="02020503050405090304" charset="0"/>
              </a:rPr>
              <a:t>平均分别提升</a:t>
            </a:r>
            <a:r>
              <a:rPr lang="en-US" altLang="zh-CN">
                <a:latin typeface="Times New Roman" panose="02020503050405090304" charset="0"/>
                <a:cs typeface="Times New Roman" panose="02020503050405090304" charset="0"/>
              </a:rPr>
              <a:t> 2.37</a:t>
            </a:r>
            <a:r>
              <a:rPr lang="en-US"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 / 1.48</a:t>
            </a:r>
            <a:r>
              <a:rPr lang="en-US"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 / 1.25</a:t>
            </a:r>
            <a:r>
              <a:rPr lang="en-US" altLang="en-US">
                <a:latin typeface="Times New Roman" panose="02020503050405090304" charset="0"/>
                <a:cs typeface="Times New Roman" panose="02020503050405090304" charset="0"/>
              </a:rPr>
              <a:t>×</a:t>
            </a:r>
            <a:r>
              <a:rPr lang="zh-CN" altLang="en-US">
                <a:latin typeface="Times New Roman" panose="02020503050405090304" charset="0"/>
                <a:ea typeface="宋体" pitchFamily="2" charset="-122"/>
                <a:cs typeface="Times New Roman" panose="02020503050405090304" charset="0"/>
              </a:rPr>
              <a:t>。</a:t>
            </a:r>
            <a:endParaRPr lang="zh-CN" altLang="en-US">
              <a:latin typeface="Times New Roman" panose="02020503050405090304" charset="0"/>
              <a:ea typeface="宋体" pitchFamily="2" charset="-122"/>
              <a:cs typeface="Times New Roman"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81"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实验分析</a:t>
            </a:r>
            <a:r>
              <a:rPr lang="en-US" altLang="zh-CN" sz="2800">
                <a:sym typeface="+mn-ea"/>
              </a:rPr>
              <a:t>——</a:t>
            </a:r>
            <a:r>
              <a:rPr lang="zh-CN" altLang="en-US" sz="2800">
                <a:sym typeface="+mn-ea"/>
              </a:rPr>
              <a:t>离线阶段</a:t>
            </a:r>
            <a:r>
              <a:rPr lang="zh-CN" altLang="en-US" sz="2800">
                <a:sym typeface="+mn-ea"/>
              </a:rPr>
              <a:t>消融实验</a:t>
            </a:r>
            <a:endParaRPr lang="zh-CN" altLang="en-US" sz="2800">
              <a:sym typeface="+mn-ea"/>
            </a:endParaRPr>
          </a:p>
        </p:txBody>
      </p:sp>
      <p:sp>
        <p:nvSpPr>
          <p:cNvPr id="1048683" name="文本框 9"/>
          <p:cNvSpPr txBox="1"/>
          <p:nvPr/>
        </p:nvSpPr>
        <p:spPr>
          <a:xfrm>
            <a:off x="868680" y="4384675"/>
            <a:ext cx="4064000" cy="1976755"/>
          </a:xfrm>
          <a:prstGeom prst="rect">
            <a:avLst/>
          </a:prstGeom>
          <a:noFill/>
        </p:spPr>
        <p:txBody>
          <a:bodyPr wrap="square" rtlCol="0">
            <a:noAutofit/>
          </a:bodyPr>
          <a:p>
            <a:endParaRPr lang="zh-CN" altLang="en-US"/>
          </a:p>
        </p:txBody>
      </p:sp>
      <p:pic>
        <p:nvPicPr>
          <p:cNvPr id="2097198" name="图片 15" descr="cache"/>
          <p:cNvPicPr>
            <a:picLocks noChangeAspect="1"/>
          </p:cNvPicPr>
          <p:nvPr/>
        </p:nvPicPr>
        <p:blipFill>
          <a:blip r:embed="rId1"/>
          <a:stretch>
            <a:fillRect/>
          </a:stretch>
        </p:blipFill>
        <p:spPr>
          <a:xfrm>
            <a:off x="9015095" y="6985"/>
            <a:ext cx="2561590" cy="790575"/>
          </a:xfrm>
          <a:prstGeom prst="rect">
            <a:avLst/>
          </a:prstGeom>
        </p:spPr>
      </p:pic>
      <p:pic>
        <p:nvPicPr>
          <p:cNvPr id="6" name="图片 5"/>
          <p:cNvPicPr>
            <a:picLocks noChangeAspect="1"/>
          </p:cNvPicPr>
          <p:nvPr/>
        </p:nvPicPr>
        <p:blipFill>
          <a:blip r:embed="rId2"/>
          <a:stretch>
            <a:fillRect/>
          </a:stretch>
        </p:blipFill>
        <p:spPr>
          <a:xfrm>
            <a:off x="297815" y="4005580"/>
            <a:ext cx="7701915" cy="2341880"/>
          </a:xfrm>
          <a:prstGeom prst="rect">
            <a:avLst/>
          </a:prstGeom>
          <a:ln>
            <a:solidFill>
              <a:schemeClr val="tx1"/>
            </a:solidFill>
          </a:ln>
        </p:spPr>
      </p:pic>
      <p:sp>
        <p:nvSpPr>
          <p:cNvPr id="2" name="文本框 1"/>
          <p:cNvSpPr txBox="1"/>
          <p:nvPr/>
        </p:nvSpPr>
        <p:spPr>
          <a:xfrm>
            <a:off x="1209040" y="901700"/>
            <a:ext cx="9689465" cy="2999740"/>
          </a:xfrm>
          <a:prstGeom prst="rect">
            <a:avLst/>
          </a:prstGeom>
          <a:noFill/>
        </p:spPr>
        <p:txBody>
          <a:bodyPr wrap="square" rtlCol="0">
            <a:spAutoFit/>
          </a:bodyPr>
          <a:p>
            <a:pPr marL="285750" indent="-285750">
              <a:lnSpc>
                <a:spcPct val="150000"/>
              </a:lnSpc>
              <a:buFont typeface="Wingdings" panose="05000000000000000000" charset="0"/>
              <a:buChar char="Ø"/>
            </a:pPr>
            <a:r>
              <a:rPr lang="zh-CN" altLang="en-US" b="1">
                <a:latin typeface="Times New Roman" panose="02020503050405090304" charset="0"/>
                <a:cs typeface="Times New Roman" panose="02020503050405090304" charset="0"/>
              </a:rPr>
              <a:t>实验设置</a:t>
            </a:r>
            <a:r>
              <a:rPr lang="zh-CN" altLang="en-US">
                <a:latin typeface="Times New Roman" panose="02020503050405090304" charset="0"/>
                <a:cs typeface="Times New Roman" panose="02020503050405090304" charset="0"/>
              </a:rPr>
              <a:t>：禁用在线优化，仅比较</a:t>
            </a:r>
            <a:r>
              <a:rPr lang="en-US" altLang="zh-CN">
                <a:latin typeface="Times New Roman" panose="02020503050405090304" charset="0"/>
                <a:cs typeface="Times New Roman" panose="02020503050405090304" charset="0"/>
              </a:rPr>
              <a:t> LLMFlash</a:t>
            </a:r>
            <a:r>
              <a:rPr lang="zh-CN"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Neuralink-S</a:t>
            </a:r>
            <a:r>
              <a:rPr lang="zh-CN"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Neuralink </a:t>
            </a:r>
            <a:r>
              <a:rPr lang="zh-CN" altLang="en-US">
                <a:latin typeface="Times New Roman" panose="02020503050405090304" charset="0"/>
                <a:cs typeface="Times New Roman" panose="02020503050405090304" charset="0"/>
              </a:rPr>
              <a:t>的</a:t>
            </a:r>
            <a:r>
              <a:rPr lang="zh-CN" altLang="en-US" b="1">
                <a:latin typeface="Times New Roman" panose="02020503050405090304" charset="0"/>
                <a:cs typeface="Times New Roman" panose="02020503050405090304" charset="0"/>
              </a:rPr>
              <a:t>读访问长度分布</a:t>
            </a:r>
            <a:r>
              <a:rPr lang="zh-CN" altLang="en-US">
                <a:latin typeface="Times New Roman" panose="02020503050405090304" charset="0"/>
                <a:cs typeface="Times New Roman" panose="02020503050405090304" charset="0"/>
              </a:rPr>
              <a:t>；</a:t>
            </a:r>
            <a:endParaRPr lang="zh-CN" altLang="en-US">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b="1">
                <a:latin typeface="Times New Roman" panose="02020503050405090304" charset="0"/>
                <a:cs typeface="Times New Roman" panose="02020503050405090304" charset="0"/>
              </a:rPr>
              <a:t>实验结果</a:t>
            </a:r>
            <a:r>
              <a:rPr lang="zh-CN"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LLMFlash </a:t>
            </a:r>
            <a:r>
              <a:rPr lang="zh-CN" altLang="en-US">
                <a:latin typeface="Times New Roman" panose="02020503050405090304" charset="0"/>
                <a:cs typeface="Times New Roman" panose="02020503050405090304" charset="0"/>
              </a:rPr>
              <a:t>的读取</a:t>
            </a:r>
            <a:r>
              <a:rPr lang="zh-CN" altLang="en-US">
                <a:latin typeface="Times New Roman" panose="02020503050405090304" charset="0"/>
                <a:cs typeface="Times New Roman" panose="02020503050405090304" charset="0"/>
                <a:sym typeface="+mn-ea"/>
              </a:rPr>
              <a:t>高度碎片化，</a:t>
            </a:r>
            <a:r>
              <a:rPr lang="zh-CN" altLang="en-US">
                <a:latin typeface="Times New Roman" panose="02020503050405090304" charset="0"/>
                <a:cs typeface="Times New Roman" panose="02020503050405090304" charset="0"/>
              </a:rPr>
              <a:t>读长度大多为</a:t>
            </a:r>
            <a:r>
              <a:rPr lang="en-US" altLang="zh-CN">
                <a:latin typeface="Times New Roman" panose="02020503050405090304" charset="0"/>
                <a:cs typeface="Times New Roman" panose="02020503050405090304" charset="0"/>
              </a:rPr>
              <a:t> 1</a:t>
            </a:r>
            <a:r>
              <a:rPr lang="zh-CN" altLang="en-US">
                <a:latin typeface="Times New Roman" panose="02020503050405090304" charset="0"/>
                <a:cs typeface="Times New Roman" panose="02020503050405090304" charset="0"/>
              </a:rPr>
              <a:t>，</a:t>
            </a:r>
            <a:r>
              <a:rPr lang="en-US" altLang="zh-CN">
                <a:latin typeface="Times New Roman" panose="02020503050405090304" charset="0"/>
                <a:cs typeface="Times New Roman" panose="02020503050405090304" charset="0"/>
              </a:rPr>
              <a:t>Neuralink-S </a:t>
            </a:r>
            <a:r>
              <a:rPr lang="zh-CN" altLang="en-US">
                <a:latin typeface="Times New Roman" panose="02020503050405090304" charset="0"/>
                <a:cs typeface="Times New Roman" panose="02020503050405090304" charset="0"/>
              </a:rPr>
              <a:t>有小幅改善，</a:t>
            </a:r>
            <a:r>
              <a:rPr lang="en-US" altLang="zh-CN">
                <a:latin typeface="Times New Roman" panose="02020503050405090304" charset="0"/>
                <a:cs typeface="Times New Roman" panose="02020503050405090304" charset="0"/>
              </a:rPr>
              <a:t>Neuralink </a:t>
            </a:r>
            <a:r>
              <a:rPr lang="zh-CN" altLang="en-US">
                <a:latin typeface="Times New Roman" panose="02020503050405090304" charset="0"/>
                <a:cs typeface="Times New Roman" panose="02020503050405090304" charset="0"/>
              </a:rPr>
              <a:t>则显著增加中长连续读；</a:t>
            </a:r>
            <a:endParaRPr lang="zh-CN" altLang="en-US">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b="1">
                <a:latin typeface="Times New Roman" panose="02020503050405090304" charset="0"/>
                <a:cs typeface="Times New Roman" panose="02020503050405090304" charset="0"/>
              </a:rPr>
              <a:t>结论</a:t>
            </a:r>
            <a:r>
              <a:rPr lang="zh-CN" altLang="en-US">
                <a:latin typeface="Times New Roman" panose="02020503050405090304" charset="0"/>
                <a:cs typeface="Times New Roman" panose="02020503050405090304" charset="0"/>
              </a:rPr>
              <a:t>：离线相关性聚类将大量原本离散的、长度为</a:t>
            </a:r>
            <a:r>
              <a:rPr lang="en-US" altLang="zh-CN">
                <a:latin typeface="Times New Roman" panose="02020503050405090304" charset="0"/>
                <a:cs typeface="Times New Roman" panose="02020503050405090304" charset="0"/>
              </a:rPr>
              <a:t> 1 </a:t>
            </a:r>
            <a:r>
              <a:rPr lang="zh-CN" altLang="en-US">
                <a:latin typeface="Times New Roman" panose="02020503050405090304" charset="0"/>
                <a:cs typeface="Times New Roman" panose="02020503050405090304" charset="0"/>
              </a:rPr>
              <a:t>的</a:t>
            </a:r>
            <a:r>
              <a:rPr lang="en-US" altLang="zh-CN">
                <a:latin typeface="Times New Roman" panose="02020503050405090304" charset="0"/>
                <a:cs typeface="Times New Roman" panose="02020503050405090304" charset="0"/>
              </a:rPr>
              <a:t> I/O </a:t>
            </a:r>
            <a:r>
              <a:rPr lang="zh-CN" altLang="en-US">
                <a:latin typeface="Times New Roman" panose="02020503050405090304" charset="0"/>
                <a:cs typeface="Times New Roman" panose="02020503050405090304" charset="0"/>
              </a:rPr>
              <a:t>请求，合并成了长度更长的连续读取，从而有效地利用了带宽并规避了</a:t>
            </a:r>
            <a:r>
              <a:rPr lang="en-US" altLang="zh-CN">
                <a:latin typeface="Times New Roman" panose="02020503050405090304" charset="0"/>
                <a:cs typeface="Times New Roman" panose="02020503050405090304" charset="0"/>
              </a:rPr>
              <a:t> IOPS </a:t>
            </a:r>
            <a:r>
              <a:rPr lang="zh-CN" altLang="en-US">
                <a:latin typeface="Times New Roman" panose="02020503050405090304" charset="0"/>
                <a:cs typeface="Times New Roman" panose="02020503050405090304" charset="0"/>
              </a:rPr>
              <a:t>瓶颈；</a:t>
            </a:r>
            <a:endParaRPr lang="zh-CN" altLang="en-US">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b="1">
                <a:latin typeface="Times New Roman" panose="02020503050405090304" charset="0"/>
                <a:cs typeface="Times New Roman" panose="02020503050405090304" charset="0"/>
              </a:rPr>
              <a:t>开销分析</a:t>
            </a:r>
            <a:r>
              <a:rPr lang="zh-CN" altLang="en-US">
                <a:latin typeface="Times New Roman" panose="02020503050405090304" charset="0"/>
                <a:cs typeface="Times New Roman" panose="02020503050405090304" charset="0"/>
              </a:rPr>
              <a:t>：离线搜索算法的时间复杂度为</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即使对于</a:t>
            </a:r>
            <a:r>
              <a:rPr lang="en-US" altLang="zh-CN">
                <a:latin typeface="Times New Roman" panose="02020503050405090304" charset="0"/>
                <a:cs typeface="Times New Roman" panose="02020503050405090304" charset="0"/>
              </a:rPr>
              <a:t> 7B </a:t>
            </a:r>
            <a:r>
              <a:rPr lang="zh-CN" altLang="en-US">
                <a:latin typeface="Times New Roman" panose="02020503050405090304" charset="0"/>
                <a:cs typeface="Times New Roman" panose="02020503050405090304" charset="0"/>
              </a:rPr>
              <a:t>大小的模型，搜索过程也能在几分钟内完成。由于这是离线进行的一次性工作，该开销是可以接受的。</a:t>
            </a:r>
            <a:endParaRPr lang="zh-CN" altLang="en-US">
              <a:latin typeface="Times New Roman" panose="02020503050405090304" charset="0"/>
              <a:cs typeface="Times New Roman" panose="02020503050405090304" charset="0"/>
            </a:endParaRPr>
          </a:p>
        </p:txBody>
      </p:sp>
      <p:pic>
        <p:nvPicPr>
          <p:cNvPr id="3" name="图片 2"/>
          <p:cNvPicPr>
            <a:picLocks noChangeAspect="1"/>
          </p:cNvPicPr>
          <p:nvPr/>
        </p:nvPicPr>
        <p:blipFill>
          <a:blip r:embed="rId3"/>
          <a:stretch>
            <a:fillRect/>
          </a:stretch>
        </p:blipFill>
        <p:spPr>
          <a:xfrm>
            <a:off x="8170545" y="4005580"/>
            <a:ext cx="3741420" cy="2331720"/>
          </a:xfrm>
          <a:prstGeom prst="rect">
            <a:avLst/>
          </a:prstGeom>
          <a:ln>
            <a:solidFill>
              <a:schemeClr val="tx1"/>
            </a:solidFill>
          </a:ln>
        </p:spPr>
      </p:pic>
      <p:graphicFrame>
        <p:nvGraphicFramePr>
          <p:cNvPr id="4" name="对象 3">
            <a:hlinkClick r:id="" action="ppaction://ole?verb="/>
          </p:cNvPr>
          <p:cNvGraphicFramePr>
            <a:graphicFrameLocks noChangeAspect="1"/>
          </p:cNvGraphicFramePr>
          <p:nvPr/>
        </p:nvGraphicFramePr>
        <p:xfrm>
          <a:off x="6539865" y="3117850"/>
          <a:ext cx="114300" cy="215900"/>
        </p:xfrm>
        <a:graphic>
          <a:graphicData uri="http://schemas.openxmlformats.org/presentationml/2006/ole">
            <mc:AlternateContent xmlns:mc="http://schemas.openxmlformats.org/markup-compatibility/2006">
              <mc:Choice xmlns:v="urn:schemas-microsoft-com:vml" Requires="v">
                <p:oleObj spid="_x0000_s1025" name="" r:id="rId4" imgW="114300" imgH="215900" progId="Equation.KSEE3">
                  <p:embed/>
                </p:oleObj>
              </mc:Choice>
              <mc:Fallback>
                <p:oleObj name="" r:id="rId4" imgW="114300" imgH="215900" progId="Equation.KSEE3">
                  <p:embed/>
                  <p:pic>
                    <p:nvPicPr>
                      <p:cNvPr id="0" name="图片 1024"/>
                      <p:cNvPicPr/>
                      <p:nvPr/>
                    </p:nvPicPr>
                    <p:blipFill>
                      <a:blip r:embed="rId5"/>
                      <a:stretch>
                        <a:fillRect/>
                      </a:stretch>
                    </p:blipFill>
                    <p:spPr>
                      <a:xfrm>
                        <a:off x="6539865" y="3117850"/>
                        <a:ext cx="114300" cy="215900"/>
                      </a:xfrm>
                      <a:prstGeom prst="rect">
                        <a:avLst/>
                      </a:prstGeom>
                    </p:spPr>
                  </p:pic>
                </p:oleObj>
              </mc:Fallback>
            </mc:AlternateContent>
          </a:graphicData>
        </a:graphic>
      </p:graphicFrame>
      <p:pic>
        <p:nvPicPr>
          <p:cNvPr id="5" name="图片 4"/>
          <p:cNvPicPr>
            <a:picLocks noChangeAspect="1"/>
          </p:cNvPicPr>
          <p:nvPr/>
        </p:nvPicPr>
        <p:blipFill>
          <a:blip r:embed="rId6"/>
          <a:stretch>
            <a:fillRect/>
          </a:stretch>
        </p:blipFill>
        <p:spPr>
          <a:xfrm>
            <a:off x="5701665" y="3117850"/>
            <a:ext cx="1110615" cy="311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81"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实验分析</a:t>
            </a:r>
            <a:r>
              <a:rPr lang="en-US" altLang="zh-CN" sz="2800">
                <a:sym typeface="+mn-ea"/>
              </a:rPr>
              <a:t>——</a:t>
            </a:r>
            <a:r>
              <a:rPr lang="zh-CN" altLang="en-US" sz="2800">
                <a:sym typeface="+mn-ea"/>
              </a:rPr>
              <a:t>在线阶段</a:t>
            </a:r>
            <a:r>
              <a:rPr lang="zh-CN" altLang="en-US" sz="2800">
                <a:sym typeface="+mn-ea"/>
              </a:rPr>
              <a:t>消融实验</a:t>
            </a:r>
            <a:endParaRPr lang="zh-CN" altLang="en-US" sz="2800">
              <a:sym typeface="+mn-ea"/>
            </a:endParaRPr>
          </a:p>
        </p:txBody>
      </p:sp>
      <p:sp>
        <p:nvSpPr>
          <p:cNvPr id="1048683" name="文本框 9"/>
          <p:cNvSpPr txBox="1"/>
          <p:nvPr/>
        </p:nvSpPr>
        <p:spPr>
          <a:xfrm>
            <a:off x="868680" y="4384675"/>
            <a:ext cx="4064000" cy="1976755"/>
          </a:xfrm>
          <a:prstGeom prst="rect">
            <a:avLst/>
          </a:prstGeom>
          <a:noFill/>
        </p:spPr>
        <p:txBody>
          <a:bodyPr wrap="square" rtlCol="0">
            <a:noAutofit/>
          </a:bodyPr>
          <a:p>
            <a:endParaRPr lang="zh-CN" altLang="en-US"/>
          </a:p>
        </p:txBody>
      </p:sp>
      <p:pic>
        <p:nvPicPr>
          <p:cNvPr id="2097198" name="图片 15" descr="cache"/>
          <p:cNvPicPr>
            <a:picLocks noChangeAspect="1"/>
          </p:cNvPicPr>
          <p:nvPr/>
        </p:nvPicPr>
        <p:blipFill>
          <a:blip r:embed="rId1"/>
          <a:stretch>
            <a:fillRect/>
          </a:stretch>
        </p:blipFill>
        <p:spPr>
          <a:xfrm>
            <a:off x="9015095" y="6985"/>
            <a:ext cx="2561590" cy="790575"/>
          </a:xfrm>
          <a:prstGeom prst="rect">
            <a:avLst/>
          </a:prstGeom>
        </p:spPr>
      </p:pic>
      <p:graphicFrame>
        <p:nvGraphicFramePr>
          <p:cNvPr id="4" name="对象 3">
            <a:hlinkClick r:id="" action="ppaction://ole?verb="/>
          </p:cNvPr>
          <p:cNvGraphicFramePr>
            <a:graphicFrameLocks noChangeAspect="1"/>
          </p:cNvGraphicFramePr>
          <p:nvPr/>
        </p:nvGraphicFramePr>
        <p:xfrm>
          <a:off x="6539865" y="31178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6539865" y="3117850"/>
                        <a:ext cx="114300" cy="215900"/>
                      </a:xfrm>
                      <a:prstGeom prst="rect">
                        <a:avLst/>
                      </a:prstGeom>
                    </p:spPr>
                  </p:pic>
                </p:oleObj>
              </mc:Fallback>
            </mc:AlternateContent>
          </a:graphicData>
        </a:graphic>
      </p:graphicFrame>
      <p:pic>
        <p:nvPicPr>
          <p:cNvPr id="6" name="图片 5"/>
          <p:cNvPicPr>
            <a:picLocks noChangeAspect="1"/>
          </p:cNvPicPr>
          <p:nvPr/>
        </p:nvPicPr>
        <p:blipFill>
          <a:blip r:embed="rId4"/>
          <a:stretch>
            <a:fillRect/>
          </a:stretch>
        </p:blipFill>
        <p:spPr>
          <a:xfrm>
            <a:off x="1673860" y="3957955"/>
            <a:ext cx="3832860" cy="2628900"/>
          </a:xfrm>
          <a:prstGeom prst="rect">
            <a:avLst/>
          </a:prstGeom>
          <a:ln>
            <a:solidFill>
              <a:schemeClr val="tx1"/>
            </a:solidFill>
          </a:ln>
        </p:spPr>
      </p:pic>
      <p:pic>
        <p:nvPicPr>
          <p:cNvPr id="7" name="图片 6"/>
          <p:cNvPicPr>
            <a:picLocks noChangeAspect="1"/>
          </p:cNvPicPr>
          <p:nvPr/>
        </p:nvPicPr>
        <p:blipFill>
          <a:blip r:embed="rId5"/>
          <a:stretch>
            <a:fillRect/>
          </a:stretch>
        </p:blipFill>
        <p:spPr>
          <a:xfrm>
            <a:off x="6654165" y="3957955"/>
            <a:ext cx="3834130" cy="2628900"/>
          </a:xfrm>
          <a:prstGeom prst="rect">
            <a:avLst/>
          </a:prstGeom>
          <a:ln>
            <a:solidFill>
              <a:schemeClr val="tx1"/>
            </a:solidFill>
          </a:ln>
        </p:spPr>
      </p:pic>
      <p:sp>
        <p:nvSpPr>
          <p:cNvPr id="8" name="文本框 7"/>
          <p:cNvSpPr txBox="1"/>
          <p:nvPr/>
        </p:nvSpPr>
        <p:spPr>
          <a:xfrm>
            <a:off x="868680" y="883285"/>
            <a:ext cx="10367645" cy="3415030"/>
          </a:xfrm>
          <a:prstGeom prst="rect">
            <a:avLst/>
          </a:prstGeom>
          <a:noFill/>
        </p:spPr>
        <p:txBody>
          <a:bodyPr wrap="square" rtlCol="0">
            <a:spAutoFit/>
          </a:bodyPr>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访问合并：</a:t>
            </a:r>
            <a:endParaRPr lang="en-US" altLang="zh-CN">
              <a:latin typeface="Times New Roman" panose="02020503050405090304" charset="0"/>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ea typeface="宋体" pitchFamily="2" charset="-122"/>
                <a:cs typeface="Times New Roman" panose="02020503050405090304" charset="0"/>
              </a:rPr>
              <a:t>对比应用该技术前后的关键</a:t>
            </a:r>
            <a:r>
              <a:rPr lang="en-US" altLang="zh-CN">
                <a:latin typeface="Times New Roman" panose="02020503050405090304" charset="0"/>
                <a:ea typeface="宋体" pitchFamily="2" charset="-122"/>
                <a:cs typeface="Times New Roman" panose="02020503050405090304" charset="0"/>
              </a:rPr>
              <a:t> I/O </a:t>
            </a:r>
            <a:r>
              <a:rPr lang="zh-CN" altLang="en-US">
                <a:latin typeface="Times New Roman" panose="02020503050405090304" charset="0"/>
                <a:ea typeface="宋体" pitchFamily="2" charset="-122"/>
                <a:cs typeface="Times New Roman" panose="02020503050405090304" charset="0"/>
              </a:rPr>
              <a:t>指标（数据量、</a:t>
            </a:r>
            <a:r>
              <a:rPr lang="en-US" altLang="zh-CN">
                <a:latin typeface="Times New Roman" panose="02020503050405090304" charset="0"/>
                <a:ea typeface="宋体" pitchFamily="2" charset="-122"/>
                <a:cs typeface="Times New Roman" panose="02020503050405090304" charset="0"/>
              </a:rPr>
              <a:t>IOPS </a:t>
            </a:r>
            <a:r>
              <a:rPr lang="zh-CN" altLang="en-US">
                <a:latin typeface="Times New Roman" panose="02020503050405090304" charset="0"/>
                <a:ea typeface="宋体" pitchFamily="2" charset="-122"/>
                <a:cs typeface="Times New Roman" panose="02020503050405090304" charset="0"/>
              </a:rPr>
              <a:t>和带宽）</a:t>
            </a:r>
            <a:endParaRPr lang="zh-CN" altLang="en-US">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ea typeface="宋体" pitchFamily="2" charset="-122"/>
                <a:cs typeface="Times New Roman" panose="02020503050405090304" charset="0"/>
              </a:rPr>
              <a:t>结果表明</a:t>
            </a:r>
            <a:r>
              <a:rPr lang="en-US" altLang="zh-CN">
                <a:latin typeface="Times New Roman" panose="02020503050405090304" charset="0"/>
                <a:ea typeface="宋体" pitchFamily="2" charset="-122"/>
                <a:cs typeface="Times New Roman" panose="02020503050405090304" charset="0"/>
              </a:rPr>
              <a:t>I/O </a:t>
            </a:r>
            <a:r>
              <a:rPr lang="zh-CN" altLang="en-US">
                <a:latin typeface="Times New Roman" panose="02020503050405090304" charset="0"/>
                <a:ea typeface="宋体" pitchFamily="2" charset="-122"/>
                <a:cs typeface="Times New Roman" panose="02020503050405090304" charset="0"/>
              </a:rPr>
              <a:t>次数显著减少，同时为</a:t>
            </a:r>
            <a:r>
              <a:rPr lang="en-US" altLang="zh-CN">
                <a:latin typeface="Times New Roman" panose="02020503050405090304" charset="0"/>
                <a:ea typeface="宋体" pitchFamily="2" charset="-122"/>
                <a:cs typeface="Times New Roman" panose="02020503050405090304" charset="0"/>
              </a:rPr>
              <a:t>OPT‑L</a:t>
            </a:r>
            <a:r>
              <a:rPr lang="zh-CN" altLang="en-US">
                <a:latin typeface="Times New Roman" panose="02020503050405090304" charset="0"/>
                <a:ea typeface="宋体" pitchFamily="2" charset="-122"/>
                <a:cs typeface="Times New Roman" panose="02020503050405090304" charset="0"/>
              </a:rPr>
              <a:t>提供了</a:t>
            </a:r>
            <a:r>
              <a:rPr lang="en-US" altLang="zh-CN">
                <a:latin typeface="Times New Roman" panose="02020503050405090304" charset="0"/>
                <a:ea typeface="宋体" pitchFamily="2" charset="-122"/>
                <a:cs typeface="Times New Roman" panose="02020503050405090304" charset="0"/>
              </a:rPr>
              <a:t> 2.75</a:t>
            </a:r>
            <a:r>
              <a:rPr lang="en-US" altLang="en-US">
                <a:latin typeface="Times New Roman" panose="02020503050405090304" charset="0"/>
                <a:ea typeface="宋体" pitchFamily="2" charset="-122"/>
                <a:cs typeface="Times New Roman" panose="02020503050405090304" charset="0"/>
              </a:rPr>
              <a:t>×</a:t>
            </a:r>
            <a:r>
              <a:rPr lang="zh-CN" altLang="en-US">
                <a:latin typeface="Times New Roman" panose="02020503050405090304" charset="0"/>
                <a:ea typeface="宋体" pitchFamily="2" charset="-122"/>
                <a:cs typeface="Times New Roman" panose="02020503050405090304" charset="0"/>
              </a:rPr>
              <a:t>的带宽提升，为</a:t>
            </a:r>
            <a:r>
              <a:rPr lang="en-US" altLang="zh-CN">
                <a:latin typeface="Times New Roman" panose="02020503050405090304" charset="0"/>
                <a:ea typeface="宋体" pitchFamily="2" charset="-122"/>
                <a:cs typeface="Times New Roman" panose="02020503050405090304" charset="0"/>
              </a:rPr>
              <a:t>Llama‑2</a:t>
            </a:r>
            <a:r>
              <a:rPr lang="zh-CN" altLang="en-US">
                <a:latin typeface="Times New Roman" panose="02020503050405090304" charset="0"/>
                <a:ea typeface="宋体" pitchFamily="2" charset="-122"/>
                <a:cs typeface="Times New Roman" panose="02020503050405090304" charset="0"/>
              </a:rPr>
              <a:t>提供了</a:t>
            </a:r>
            <a:r>
              <a:rPr lang="en-US" altLang="zh-CN">
                <a:latin typeface="Times New Roman" panose="02020503050405090304" charset="0"/>
                <a:ea typeface="宋体" pitchFamily="2" charset="-122"/>
                <a:cs typeface="Times New Roman" panose="02020503050405090304" charset="0"/>
              </a:rPr>
              <a:t> 1.26</a:t>
            </a:r>
            <a:r>
              <a:rPr lang="en-US" altLang="en-US">
                <a:latin typeface="Times New Roman" panose="02020503050405090304" charset="0"/>
                <a:ea typeface="宋体" pitchFamily="2" charset="-122"/>
                <a:cs typeface="Times New Roman" panose="02020503050405090304" charset="0"/>
              </a:rPr>
              <a:t>×</a:t>
            </a:r>
            <a:r>
              <a:rPr lang="zh-CN" altLang="en-US">
                <a:latin typeface="Times New Roman" panose="02020503050405090304" charset="0"/>
                <a:ea typeface="宋体" pitchFamily="2" charset="-122"/>
                <a:cs typeface="Times New Roman" panose="02020503050405090304" charset="0"/>
              </a:rPr>
              <a:t>的带宽提升</a:t>
            </a:r>
            <a:endParaRPr lang="zh-CN" altLang="en-US">
              <a:latin typeface="Times New Roman" panose="02020503050405090304" charset="0"/>
              <a:ea typeface="宋体" pitchFamily="2" charset="-122"/>
              <a:cs typeface="Times New Roman" panose="02020503050405090304" charset="0"/>
            </a:endParaRPr>
          </a:p>
          <a:p>
            <a:pPr marL="285750" lvl="0" indent="-285750">
              <a:lnSpc>
                <a:spcPct val="150000"/>
              </a:lnSpc>
              <a:buFont typeface="Wingdings" panose="05000000000000000000" charset="0"/>
              <a:buChar char="Ø"/>
            </a:pPr>
            <a:r>
              <a:rPr lang="zh-CN" altLang="en-US">
                <a:latin typeface="Times New Roman" panose="02020503050405090304" charset="0"/>
                <a:ea typeface="宋体" pitchFamily="2" charset="-122"/>
                <a:cs typeface="Times New Roman" panose="02020503050405090304" charset="0"/>
              </a:rPr>
              <a:t>缓存策略：</a:t>
            </a:r>
            <a:endParaRPr lang="zh-CN" altLang="en-US">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ea typeface="宋体" pitchFamily="2" charset="-122"/>
                <a:cs typeface="Times New Roman" panose="02020503050405090304" charset="0"/>
              </a:rPr>
              <a:t>在不同</a:t>
            </a:r>
            <a:r>
              <a:rPr lang="en-US" altLang="zh-CN">
                <a:latin typeface="Times New Roman" panose="02020503050405090304" charset="0"/>
                <a:ea typeface="宋体" pitchFamily="2" charset="-122"/>
                <a:cs typeface="Times New Roman" panose="02020503050405090304" charset="0"/>
              </a:rPr>
              <a:t> DRAM </a:t>
            </a:r>
            <a:r>
              <a:rPr lang="zh-CN" altLang="en-US">
                <a:latin typeface="Times New Roman" panose="02020503050405090304" charset="0"/>
                <a:ea typeface="宋体" pitchFamily="2" charset="-122"/>
                <a:cs typeface="Times New Roman" panose="02020503050405090304" charset="0"/>
              </a:rPr>
              <a:t>缓存比率（</a:t>
            </a:r>
            <a:r>
              <a:rPr lang="en-US" altLang="zh-CN">
                <a:latin typeface="Times New Roman" panose="02020503050405090304" charset="0"/>
                <a:ea typeface="宋体" pitchFamily="2" charset="-122"/>
                <a:cs typeface="Times New Roman" panose="02020503050405090304" charset="0"/>
              </a:rPr>
              <a:t>0.02 </a:t>
            </a:r>
            <a:r>
              <a:rPr lang="zh-CN" altLang="en-US">
                <a:latin typeface="Times New Roman" panose="02020503050405090304" charset="0"/>
                <a:ea typeface="宋体" pitchFamily="2" charset="-122"/>
                <a:cs typeface="Times New Roman" panose="02020503050405090304" charset="0"/>
              </a:rPr>
              <a:t>至</a:t>
            </a:r>
            <a:r>
              <a:rPr lang="en-US" altLang="zh-CN">
                <a:latin typeface="Times New Roman" panose="02020503050405090304" charset="0"/>
                <a:ea typeface="宋体" pitchFamily="2" charset="-122"/>
                <a:cs typeface="Times New Roman" panose="02020503050405090304" charset="0"/>
              </a:rPr>
              <a:t> 0.10</a:t>
            </a:r>
            <a:r>
              <a:rPr lang="zh-CN" altLang="en-US">
                <a:latin typeface="Times New Roman" panose="02020503050405090304" charset="0"/>
                <a:ea typeface="宋体" pitchFamily="2" charset="-122"/>
                <a:cs typeface="Times New Roman" panose="02020503050405090304" charset="0"/>
              </a:rPr>
              <a:t>）下对比</a:t>
            </a:r>
            <a:r>
              <a:rPr lang="en-US" altLang="zh-CN">
                <a:latin typeface="Times New Roman" panose="02020503050405090304" charset="0"/>
                <a:ea typeface="宋体" pitchFamily="2" charset="-122"/>
                <a:cs typeface="Times New Roman" panose="02020503050405090304" charset="0"/>
              </a:rPr>
              <a:t> Neuralink </a:t>
            </a:r>
            <a:r>
              <a:rPr lang="zh-CN" altLang="en-US">
                <a:latin typeface="Times New Roman" panose="02020503050405090304" charset="0"/>
                <a:ea typeface="宋体" pitchFamily="2" charset="-122"/>
                <a:cs typeface="Times New Roman" panose="02020503050405090304" charset="0"/>
              </a:rPr>
              <a:t>与基线</a:t>
            </a:r>
            <a:r>
              <a:rPr lang="en-US" altLang="zh-CN">
                <a:latin typeface="Times New Roman" panose="02020503050405090304" charset="0"/>
                <a:ea typeface="宋体" pitchFamily="2" charset="-122"/>
                <a:cs typeface="Times New Roman" panose="02020503050405090304" charset="0"/>
              </a:rPr>
              <a:t> LLMFlash </a:t>
            </a:r>
            <a:r>
              <a:rPr lang="zh-CN" altLang="en-US">
                <a:latin typeface="Times New Roman" panose="02020503050405090304" charset="0"/>
                <a:ea typeface="宋体" pitchFamily="2" charset="-122"/>
                <a:cs typeface="Times New Roman" panose="02020503050405090304" charset="0"/>
              </a:rPr>
              <a:t>的端到端延迟</a:t>
            </a:r>
            <a:endParaRPr lang="zh-CN" altLang="en-US">
              <a:latin typeface="Times New Roman" panose="02020503050405090304" charset="0"/>
              <a:ea typeface="宋体" pitchFamily="2" charset="-122"/>
              <a:cs typeface="Times New Roman" panose="02020503050405090304" charset="0"/>
            </a:endParaRPr>
          </a:p>
          <a:p>
            <a:pPr marL="742950" lvl="1" indent="-285750">
              <a:lnSpc>
                <a:spcPct val="150000"/>
              </a:lnSpc>
              <a:buFont typeface="Arial" panose="020B0604020202090204" pitchFamily="34" charset="0"/>
              <a:buChar char="•"/>
            </a:pPr>
            <a:r>
              <a:rPr lang="en-US" altLang="zh-CN">
                <a:latin typeface="Times New Roman" panose="02020503050405090304" charset="0"/>
                <a:ea typeface="宋体" pitchFamily="2" charset="-122"/>
                <a:cs typeface="Times New Roman" panose="02020503050405090304" charset="0"/>
              </a:rPr>
              <a:t>Neura</a:t>
            </a:r>
            <a:r>
              <a:rPr lang="en-US" altLang="zh-CN">
                <a:latin typeface="Times New Roman" panose="02020503050405090304" charset="0"/>
                <a:ea typeface="宋体" pitchFamily="2" charset="-122"/>
                <a:cs typeface="Times New Roman" panose="02020503050405090304" charset="0"/>
              </a:rPr>
              <a:t>Link</a:t>
            </a:r>
            <a:r>
              <a:rPr lang="zh-CN" altLang="en-US">
                <a:latin typeface="Times New Roman" panose="02020503050405090304" charset="0"/>
                <a:ea typeface="宋体" pitchFamily="2" charset="-122"/>
                <a:cs typeface="Times New Roman" panose="02020503050405090304" charset="0"/>
              </a:rPr>
              <a:t>在相同推理延迟下所需的</a:t>
            </a:r>
            <a:r>
              <a:rPr lang="en-US" altLang="zh-CN">
                <a:latin typeface="Times New Roman" panose="02020503050405090304" charset="0"/>
                <a:ea typeface="宋体" pitchFamily="2" charset="-122"/>
                <a:cs typeface="Times New Roman" panose="02020503050405090304" charset="0"/>
              </a:rPr>
              <a:t> DRAM </a:t>
            </a:r>
            <a:r>
              <a:rPr lang="zh-CN" altLang="en-US">
                <a:latin typeface="Times New Roman" panose="02020503050405090304" charset="0"/>
                <a:ea typeface="宋体" pitchFamily="2" charset="-122"/>
                <a:cs typeface="Times New Roman" panose="02020503050405090304" charset="0"/>
              </a:rPr>
              <a:t>空间更少，具备更高的缓存空间效率</a:t>
            </a:r>
            <a:r>
              <a:rPr lang="en-US" altLang="zh-CN">
                <a:latin typeface="Times New Roman" panose="02020503050405090304" charset="0"/>
                <a:ea typeface="宋体" pitchFamily="2" charset="-122"/>
                <a:cs typeface="Times New Roman" panose="02020503050405090304" charset="0"/>
              </a:rPr>
              <a:t> </a:t>
            </a:r>
            <a:r>
              <a:rPr lang="zh-CN" altLang="en-US">
                <a:latin typeface="Times New Roman" panose="02020503050405090304" charset="0"/>
                <a:ea typeface="宋体" pitchFamily="2" charset="-122"/>
                <a:cs typeface="Times New Roman" panose="02020503050405090304" charset="0"/>
              </a:rPr>
              <a:t>。</a:t>
            </a:r>
            <a:endParaRPr lang="zh-CN" altLang="en-US">
              <a:latin typeface="Times New Roman" panose="02020503050405090304" charset="0"/>
              <a:ea typeface="宋体" pitchFamily="2" charset="-122"/>
              <a:cs typeface="Times New Roman" panose="02020503050405090304" charset="0"/>
            </a:endParaRPr>
          </a:p>
          <a:p>
            <a:pPr marL="285750" indent="-285750">
              <a:lnSpc>
                <a:spcPct val="150000"/>
              </a:lnSpc>
              <a:buFont typeface="Wingdings" panose="05000000000000000000" charset="0"/>
              <a:buChar char="Ø"/>
            </a:pPr>
            <a:endParaRPr lang="zh-CN" altLang="en-US">
              <a:latin typeface="Times New Roman" panose="02020503050405090304" charset="0"/>
              <a:ea typeface="宋体" pitchFamily="2" charset="-122"/>
              <a:cs typeface="Times New Roman"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81" name="标题 1"/>
          <p:cNvSpPr txBox="1">
            <a:spLocks noGrp="1"/>
          </p:cNvSpPr>
          <p:nvPr>
            <p:ph type="title"/>
          </p:nvPr>
        </p:nvSpPr>
        <p:spPr>
          <a:xfrm>
            <a:off x="1209301" y="356657"/>
            <a:ext cx="7863032" cy="440677"/>
          </a:xfrm>
          <a:prstGeom prst="rect">
            <a:avLst/>
          </a:prstGeom>
        </p:spPr>
        <p:txBody>
          <a:bodyPr>
            <a:noAutofit/>
          </a:bodyPr>
          <a:lstStyle>
            <a:lvl1pPr defTabSz="396240">
              <a:defRPr sz="1540" b="1">
                <a:solidFill>
                  <a:srgbClr val="000000"/>
                </a:solidFill>
              </a:defRPr>
            </a:lvl1pPr>
          </a:lstStyle>
          <a:p>
            <a:r>
              <a:rPr lang="zh-CN" altLang="en-US" sz="2800">
                <a:sym typeface="+mn-ea"/>
              </a:rPr>
              <a:t>实验分析</a:t>
            </a:r>
            <a:r>
              <a:rPr lang="en-US" altLang="zh-CN" sz="2800">
                <a:sym typeface="+mn-ea"/>
              </a:rPr>
              <a:t>——</a:t>
            </a:r>
            <a:r>
              <a:rPr lang="zh-CN" altLang="en-US" sz="2800">
                <a:sym typeface="+mn-ea"/>
              </a:rPr>
              <a:t>鲁棒性</a:t>
            </a:r>
            <a:r>
              <a:rPr lang="zh-CN" altLang="en-US" sz="2800">
                <a:sym typeface="+mn-ea"/>
              </a:rPr>
              <a:t>分析</a:t>
            </a:r>
            <a:endParaRPr lang="zh-CN" altLang="en-US" sz="2800">
              <a:sym typeface="+mn-ea"/>
            </a:endParaRPr>
          </a:p>
        </p:txBody>
      </p:sp>
      <p:sp>
        <p:nvSpPr>
          <p:cNvPr id="1048683" name="文本框 9"/>
          <p:cNvSpPr txBox="1"/>
          <p:nvPr/>
        </p:nvSpPr>
        <p:spPr>
          <a:xfrm>
            <a:off x="868680" y="4384675"/>
            <a:ext cx="4064000" cy="1976755"/>
          </a:xfrm>
          <a:prstGeom prst="rect">
            <a:avLst/>
          </a:prstGeom>
          <a:noFill/>
        </p:spPr>
        <p:txBody>
          <a:bodyPr wrap="square" rtlCol="0">
            <a:noAutofit/>
          </a:bodyPr>
          <a:p>
            <a:endParaRPr lang="zh-CN" altLang="en-US"/>
          </a:p>
        </p:txBody>
      </p:sp>
      <p:pic>
        <p:nvPicPr>
          <p:cNvPr id="2097198" name="图片 15" descr="cache"/>
          <p:cNvPicPr>
            <a:picLocks noChangeAspect="1"/>
          </p:cNvPicPr>
          <p:nvPr/>
        </p:nvPicPr>
        <p:blipFill>
          <a:blip r:embed="rId1"/>
          <a:stretch>
            <a:fillRect/>
          </a:stretch>
        </p:blipFill>
        <p:spPr>
          <a:xfrm>
            <a:off x="9015095" y="6985"/>
            <a:ext cx="2561590" cy="790575"/>
          </a:xfrm>
          <a:prstGeom prst="rect">
            <a:avLst/>
          </a:prstGeom>
        </p:spPr>
      </p:pic>
      <p:graphicFrame>
        <p:nvGraphicFramePr>
          <p:cNvPr id="4" name="对象 3">
            <a:hlinkClick r:id="" action="ppaction://ole?verb="/>
          </p:cNvPr>
          <p:cNvGraphicFramePr>
            <a:graphicFrameLocks noChangeAspect="1"/>
          </p:cNvGraphicFramePr>
          <p:nvPr/>
        </p:nvGraphicFramePr>
        <p:xfrm>
          <a:off x="6539865" y="31178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6539865" y="3117850"/>
                        <a:ext cx="114300" cy="215900"/>
                      </a:xfrm>
                      <a:prstGeom prst="rect">
                        <a:avLst/>
                      </a:prstGeom>
                    </p:spPr>
                  </p:pic>
                </p:oleObj>
              </mc:Fallback>
            </mc:AlternateContent>
          </a:graphicData>
        </a:graphic>
      </p:graphicFrame>
      <p:pic>
        <p:nvPicPr>
          <p:cNvPr id="2" name="图片 1"/>
          <p:cNvPicPr>
            <a:picLocks noChangeAspect="1"/>
          </p:cNvPicPr>
          <p:nvPr/>
        </p:nvPicPr>
        <p:blipFill>
          <a:blip r:embed="rId4"/>
          <a:stretch>
            <a:fillRect/>
          </a:stretch>
        </p:blipFill>
        <p:spPr>
          <a:xfrm>
            <a:off x="3925570" y="3595370"/>
            <a:ext cx="4099560" cy="2667000"/>
          </a:xfrm>
          <a:prstGeom prst="rect">
            <a:avLst/>
          </a:prstGeom>
        </p:spPr>
      </p:pic>
      <p:pic>
        <p:nvPicPr>
          <p:cNvPr id="3" name="图片 2"/>
          <p:cNvPicPr>
            <a:picLocks noChangeAspect="1"/>
          </p:cNvPicPr>
          <p:nvPr/>
        </p:nvPicPr>
        <p:blipFill>
          <a:blip r:embed="rId5"/>
          <a:stretch>
            <a:fillRect/>
          </a:stretch>
        </p:blipFill>
        <p:spPr>
          <a:xfrm>
            <a:off x="0" y="3761740"/>
            <a:ext cx="4130040" cy="2766060"/>
          </a:xfrm>
          <a:prstGeom prst="rect">
            <a:avLst/>
          </a:prstGeom>
        </p:spPr>
      </p:pic>
      <p:pic>
        <p:nvPicPr>
          <p:cNvPr id="5" name="图片 4"/>
          <p:cNvPicPr>
            <a:picLocks noChangeAspect="1"/>
          </p:cNvPicPr>
          <p:nvPr/>
        </p:nvPicPr>
        <p:blipFill>
          <a:blip r:embed="rId6"/>
          <a:stretch>
            <a:fillRect/>
          </a:stretch>
        </p:blipFill>
        <p:spPr>
          <a:xfrm>
            <a:off x="8115300" y="3766820"/>
            <a:ext cx="4076700" cy="2324100"/>
          </a:xfrm>
          <a:prstGeom prst="rect">
            <a:avLst/>
          </a:prstGeom>
        </p:spPr>
      </p:pic>
      <p:sp>
        <p:nvSpPr>
          <p:cNvPr id="9" name="文本框 8"/>
          <p:cNvSpPr txBox="1"/>
          <p:nvPr/>
        </p:nvSpPr>
        <p:spPr>
          <a:xfrm>
            <a:off x="633095" y="1010920"/>
            <a:ext cx="10943590" cy="2584450"/>
          </a:xfrm>
          <a:prstGeom prst="rect">
            <a:avLst/>
          </a:prstGeom>
          <a:noFill/>
        </p:spPr>
        <p:txBody>
          <a:bodyPr wrap="square" rtlCol="0">
            <a:spAutoFit/>
          </a:bodyPr>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对任务数据集的鲁棒性：</a:t>
            </a:r>
            <a:r>
              <a:rPr lang="en-US" altLang="zh-CN">
                <a:latin typeface="Times New Roman" panose="02020503050405090304" charset="0"/>
                <a:cs typeface="Times New Roman" panose="02020503050405090304" charset="0"/>
              </a:rPr>
              <a:t>Figure 15 </a:t>
            </a:r>
            <a:r>
              <a:rPr lang="zh-CN" altLang="en-US">
                <a:latin typeface="Times New Roman" panose="02020503050405090304" charset="0"/>
                <a:cs typeface="Times New Roman" panose="02020503050405090304" charset="0"/>
              </a:rPr>
              <a:t>展示了在</a:t>
            </a:r>
            <a:r>
              <a:rPr lang="en-US" altLang="zh-CN">
                <a:latin typeface="Times New Roman" panose="02020503050405090304" charset="0"/>
                <a:cs typeface="Times New Roman" panose="02020503050405090304" charset="0"/>
              </a:rPr>
              <a:t> OnePlus 12 </a:t>
            </a:r>
            <a:r>
              <a:rPr lang="zh-CN" altLang="en-US">
                <a:latin typeface="Times New Roman" panose="02020503050405090304" charset="0"/>
                <a:cs typeface="Times New Roman" panose="02020503050405090304" charset="0"/>
              </a:rPr>
              <a:t>上，使用不同任务数据集的归一化延迟对比，不同数据集之间的性能增益保持相对稳定，没有出现剧烈波动</a:t>
            </a:r>
            <a:endParaRPr lang="zh-CN" altLang="en-US">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对模型精度的适应性：</a:t>
            </a:r>
            <a:r>
              <a:rPr lang="en-US" altLang="zh-CN">
                <a:latin typeface="Times New Roman" panose="02020503050405090304" charset="0"/>
                <a:cs typeface="Times New Roman" panose="02020503050405090304" charset="0"/>
              </a:rPr>
              <a:t>Figure 16 </a:t>
            </a:r>
            <a:r>
              <a:rPr lang="zh-CN" altLang="en-US">
                <a:latin typeface="Times New Roman" panose="02020503050405090304" charset="0"/>
                <a:cs typeface="Times New Roman" panose="02020503050405090304" charset="0"/>
              </a:rPr>
              <a:t>展示了在不同参数精度</a:t>
            </a:r>
            <a:r>
              <a:rPr lang="en-US" altLang="zh-CN">
                <a:latin typeface="Times New Roman" panose="02020503050405090304" charset="0"/>
                <a:cs typeface="Times New Roman" panose="02020503050405090304" charset="0"/>
              </a:rPr>
              <a:t>Neuralink</a:t>
            </a:r>
            <a:r>
              <a:rPr lang="zh-CN" altLang="en-US">
                <a:latin typeface="Times New Roman" panose="02020503050405090304" charset="0"/>
                <a:cs typeface="Times New Roman" panose="02020503050405090304" charset="0"/>
              </a:rPr>
              <a:t>（橙色柱）相对于</a:t>
            </a:r>
            <a:r>
              <a:rPr lang="en-US" altLang="zh-CN">
                <a:latin typeface="Times New Roman" panose="02020503050405090304" charset="0"/>
                <a:cs typeface="Times New Roman" panose="02020503050405090304" charset="0"/>
              </a:rPr>
              <a:t> LLMFlash</a:t>
            </a:r>
            <a:r>
              <a:rPr lang="zh-CN" altLang="en-US">
                <a:latin typeface="Times New Roman" panose="02020503050405090304" charset="0"/>
                <a:cs typeface="Times New Roman" panose="02020503050405090304" charset="0"/>
              </a:rPr>
              <a:t>（绿色柱）的性能表现，</a:t>
            </a:r>
            <a:r>
              <a:rPr lang="en-US" altLang="zh-CN">
                <a:latin typeface="Times New Roman" panose="02020503050405090304" charset="0"/>
                <a:cs typeface="Times New Roman" panose="02020503050405090304" charset="0"/>
              </a:rPr>
              <a:t>Neuralink </a:t>
            </a:r>
            <a:r>
              <a:rPr lang="zh-CN" altLang="en-US">
                <a:latin typeface="Times New Roman" panose="02020503050405090304" charset="0"/>
                <a:cs typeface="Times New Roman" panose="02020503050405090304" charset="0"/>
              </a:rPr>
              <a:t>在所有精度设置下均优于</a:t>
            </a:r>
            <a:r>
              <a:rPr lang="en-US" altLang="zh-CN">
                <a:latin typeface="Times New Roman" panose="02020503050405090304" charset="0"/>
                <a:cs typeface="Times New Roman" panose="02020503050405090304" charset="0"/>
              </a:rPr>
              <a:t> LLMFlash</a:t>
            </a:r>
            <a:endParaRPr lang="en-US" altLang="zh-CN">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对硬件配置的广泛适应性：</a:t>
            </a:r>
            <a:r>
              <a:rPr lang="en-US" altLang="zh-CN">
                <a:latin typeface="Times New Roman" panose="02020503050405090304" charset="0"/>
                <a:cs typeface="Times New Roman" panose="02020503050405090304" charset="0"/>
              </a:rPr>
              <a:t>Figure 17 </a:t>
            </a:r>
            <a:r>
              <a:rPr lang="zh-CN" altLang="en-US">
                <a:latin typeface="Times New Roman" panose="02020503050405090304" charset="0"/>
                <a:cs typeface="Times New Roman" panose="02020503050405090304" charset="0"/>
              </a:rPr>
              <a:t>对比了三种不同硬件配置的手机，在从高端（</a:t>
            </a:r>
            <a:r>
              <a:rPr lang="en-US" altLang="zh-CN">
                <a:latin typeface="Times New Roman" panose="02020503050405090304" charset="0"/>
                <a:cs typeface="Times New Roman" panose="02020503050405090304" charset="0"/>
              </a:rPr>
              <a:t>OP 12</a:t>
            </a:r>
            <a:r>
              <a:rPr lang="zh-CN" altLang="en-US">
                <a:latin typeface="Times New Roman" panose="02020503050405090304" charset="0"/>
                <a:cs typeface="Times New Roman" panose="02020503050405090304" charset="0"/>
              </a:rPr>
              <a:t>）到中端</a:t>
            </a:r>
            <a:r>
              <a:rPr lang="en-US" altLang="zh-CN">
                <a:latin typeface="Times New Roman" panose="02020503050405090304" charset="0"/>
                <a:cs typeface="Times New Roman" panose="02020503050405090304" charset="0"/>
              </a:rPr>
              <a:t>/</a:t>
            </a:r>
            <a:r>
              <a:rPr lang="zh-CN" altLang="en-US">
                <a:latin typeface="Times New Roman" panose="02020503050405090304" charset="0"/>
                <a:cs typeface="Times New Roman" panose="02020503050405090304" charset="0"/>
              </a:rPr>
              <a:t>旧款（</a:t>
            </a:r>
            <a:r>
              <a:rPr lang="en-US" altLang="zh-CN">
                <a:latin typeface="Times New Roman" panose="02020503050405090304" charset="0"/>
                <a:cs typeface="Times New Roman" panose="02020503050405090304" charset="0"/>
              </a:rPr>
              <a:t>OP Ace 2</a:t>
            </a:r>
            <a:r>
              <a:rPr lang="zh-CN" altLang="en-US">
                <a:latin typeface="Times New Roman" panose="02020503050405090304" charset="0"/>
                <a:cs typeface="Times New Roman" panose="02020503050405090304" charset="0"/>
              </a:rPr>
              <a:t>）的所有设备上，</a:t>
            </a:r>
            <a:r>
              <a:rPr lang="en-US" altLang="zh-CN">
                <a:latin typeface="Times New Roman" panose="02020503050405090304" charset="0"/>
                <a:cs typeface="Times New Roman" panose="02020503050405090304" charset="0"/>
              </a:rPr>
              <a:t>Neuralink</a:t>
            </a:r>
            <a:r>
              <a:rPr lang="zh-CN" altLang="en-US">
                <a:latin typeface="Times New Roman" panose="02020503050405090304" charset="0"/>
                <a:cs typeface="Times New Roman" panose="02020503050405090304" charset="0"/>
              </a:rPr>
              <a:t>的端到端延迟都显著低于</a:t>
            </a:r>
            <a:r>
              <a:rPr lang="en-US" altLang="zh-CN">
                <a:latin typeface="Times New Roman" panose="02020503050405090304" charset="0"/>
                <a:cs typeface="Times New Roman" panose="02020503050405090304" charset="0"/>
              </a:rPr>
              <a:t> Baseline</a:t>
            </a:r>
            <a:r>
              <a:rPr lang="zh-CN" altLang="en-US">
                <a:latin typeface="Times New Roman" panose="02020503050405090304" charset="0"/>
                <a:cs typeface="Times New Roman" panose="02020503050405090304" charset="0"/>
              </a:rPr>
              <a:t>和</a:t>
            </a:r>
            <a:r>
              <a:rPr lang="en-US" altLang="zh-CN">
                <a:latin typeface="Times New Roman" panose="02020503050405090304" charset="0"/>
                <a:cs typeface="Times New Roman" panose="02020503050405090304" charset="0"/>
              </a:rPr>
              <a:t> LLMFlash</a:t>
            </a:r>
            <a:endParaRPr lang="zh-CN" altLang="en-US">
              <a:latin typeface="Times New Roman" panose="02020503050405090304" charset="0"/>
              <a:cs typeface="Times New Roman"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p:sp>
        <p:nvSpPr>
          <p:cNvPr id="1048691" name="标题 1"/>
          <p:cNvSpPr>
            <a:spLocks noGrp="1"/>
          </p:cNvSpPr>
          <p:nvPr>
            <p:ph type="title"/>
          </p:nvPr>
        </p:nvSpPr>
        <p:spPr/>
        <p:txBody>
          <a:bodyPr>
            <a:normAutofit fontScale="90000"/>
          </a:bodyPr>
          <a:p>
            <a:r>
              <a:rPr lang="zh-CN" altLang="en-US" sz="3110" b="1">
                <a:solidFill>
                  <a:srgbClr val="000000"/>
                </a:solidFill>
              </a:rPr>
              <a:t>总结与未来展望</a:t>
            </a:r>
            <a:endParaRPr lang="zh-CN" altLang="en-US" sz="3110" b="1">
              <a:solidFill>
                <a:srgbClr val="000000"/>
              </a:solidFill>
            </a:endParaRPr>
          </a:p>
        </p:txBody>
      </p:sp>
      <p:pic>
        <p:nvPicPr>
          <p:cNvPr id="2097201" name="图片 13" descr="cache"/>
          <p:cNvPicPr>
            <a:picLocks noChangeAspect="1"/>
          </p:cNvPicPr>
          <p:nvPr/>
        </p:nvPicPr>
        <p:blipFill>
          <a:blip r:embed="rId1"/>
          <a:stretch>
            <a:fillRect/>
          </a:stretch>
        </p:blipFill>
        <p:spPr>
          <a:xfrm>
            <a:off x="9015095" y="6985"/>
            <a:ext cx="2561590" cy="790575"/>
          </a:xfrm>
          <a:prstGeom prst="rect">
            <a:avLst/>
          </a:prstGeom>
        </p:spPr>
      </p:pic>
      <p:sp>
        <p:nvSpPr>
          <p:cNvPr id="2" name="文本框 1"/>
          <p:cNvSpPr txBox="1"/>
          <p:nvPr/>
        </p:nvSpPr>
        <p:spPr>
          <a:xfrm>
            <a:off x="1007745" y="1372870"/>
            <a:ext cx="10152380" cy="4661535"/>
          </a:xfrm>
          <a:prstGeom prst="rect">
            <a:avLst/>
          </a:prstGeom>
          <a:noFill/>
        </p:spPr>
        <p:txBody>
          <a:bodyPr wrap="square" rtlCol="0">
            <a:spAutoFit/>
          </a:bodyPr>
          <a:p>
            <a:pPr>
              <a:lnSpc>
                <a:spcPct val="150000"/>
              </a:lnSpc>
            </a:pPr>
            <a:r>
              <a:rPr lang="zh-CN" altLang="en-US" b="1"/>
              <a:t>创新点：</a:t>
            </a:r>
            <a:endParaRPr lang="zh-CN" altLang="en-US" b="1"/>
          </a:p>
          <a:p>
            <a:pPr marL="285750" indent="-285750">
              <a:lnSpc>
                <a:spcPct val="150000"/>
              </a:lnSpc>
              <a:buFont typeface="Arial" panose="020B0604020202090204" pitchFamily="34" charset="0"/>
              <a:buChar char="•"/>
            </a:pPr>
            <a:r>
              <a:rPr lang="zh-CN" altLang="en-US"/>
              <a:t>利用</a:t>
            </a:r>
            <a:r>
              <a:rPr lang="zh-CN" altLang="en-US" b="1"/>
              <a:t>神经元协同激活</a:t>
            </a:r>
            <a:r>
              <a:rPr lang="zh-CN" altLang="en-US"/>
              <a:t>现象来解决移动端闪存的</a:t>
            </a:r>
            <a:r>
              <a:rPr lang="en-US" altLang="zh-CN">
                <a:latin typeface="Times New Roman" panose="02020503050405090304" charset="0"/>
                <a:cs typeface="Times New Roman" panose="02020503050405090304" charset="0"/>
              </a:rPr>
              <a:t>IOPS</a:t>
            </a:r>
            <a:r>
              <a:rPr lang="zh-CN" altLang="en-US"/>
              <a:t>瓶颈问题</a:t>
            </a:r>
            <a:endParaRPr lang="zh-CN" altLang="en-US"/>
          </a:p>
          <a:p>
            <a:pPr marL="285750" indent="-285750">
              <a:lnSpc>
                <a:spcPct val="150000"/>
              </a:lnSpc>
              <a:buFont typeface="Arial" panose="020B0604020202090204" pitchFamily="34" charset="0"/>
              <a:buChar char="•"/>
            </a:pPr>
            <a:r>
              <a:rPr lang="zh-CN" altLang="en-US"/>
              <a:t>将稀疏参数在闪存中的物理布局问题建模为完全图上的</a:t>
            </a:r>
            <a:r>
              <a:rPr lang="zh-CN" altLang="en-US" b="1"/>
              <a:t>哈密顿路径规划</a:t>
            </a:r>
            <a:endParaRPr lang="zh-CN" altLang="en-US"/>
          </a:p>
          <a:p>
            <a:pPr marL="285750" indent="-285750">
              <a:lnSpc>
                <a:spcPct val="150000"/>
              </a:lnSpc>
              <a:buFont typeface="Arial" panose="020B0604020202090204" pitchFamily="34" charset="0"/>
              <a:buChar char="•"/>
            </a:pPr>
            <a:r>
              <a:rPr lang="zh-CN" altLang="en-US"/>
              <a:t>结合在线阶段的访问折叠与对齐缓存策略，实现了存储布局与运行时数据访问模式的深度对齐</a:t>
            </a:r>
            <a:endParaRPr lang="zh-CN" altLang="en-US"/>
          </a:p>
          <a:p>
            <a:pPr marL="285750" indent="-285750">
              <a:lnSpc>
                <a:spcPct val="150000"/>
              </a:lnSpc>
              <a:buFont typeface="Arial" panose="020B0604020202090204" pitchFamily="34" charset="0"/>
              <a:buChar char="•"/>
            </a:pPr>
            <a:endParaRPr lang="zh-CN" altLang="en-US"/>
          </a:p>
          <a:p>
            <a:pPr indent="0">
              <a:lnSpc>
                <a:spcPct val="150000"/>
              </a:lnSpc>
              <a:buFont typeface="Arial" panose="020B0604020202090204" pitchFamily="34" charset="0"/>
              <a:buNone/>
            </a:pPr>
            <a:r>
              <a:rPr lang="zh-CN" altLang="en-US" b="1"/>
              <a:t>贡献：</a:t>
            </a:r>
            <a:endParaRPr lang="zh-CN" altLang="en-US" b="1"/>
          </a:p>
          <a:p>
            <a:pPr indent="0">
              <a:lnSpc>
                <a:spcPct val="150000"/>
              </a:lnSpc>
              <a:buFont typeface="Arial" panose="020B0604020202090204" pitchFamily="34" charset="0"/>
              <a:buNone/>
            </a:pPr>
            <a:r>
              <a:rPr lang="zh-CN" altLang="en-US">
                <a:latin typeface="Times New Roman" panose="02020503050405090304" charset="0"/>
                <a:cs typeface="Times New Roman" panose="02020503050405090304" charset="0"/>
              </a:rPr>
              <a:t>本文根本性地指出了智能手机上稀疏</a:t>
            </a:r>
            <a:r>
              <a:rPr lang="en-US" altLang="zh-CN">
                <a:latin typeface="Times New Roman" panose="02020503050405090304" charset="0"/>
                <a:cs typeface="Times New Roman" panose="02020503050405090304" charset="0"/>
              </a:rPr>
              <a:t>LLM</a:t>
            </a:r>
            <a:r>
              <a:rPr lang="zh-CN" altLang="en-US">
                <a:latin typeface="Times New Roman" panose="02020503050405090304" charset="0"/>
                <a:cs typeface="Times New Roman" panose="02020503050405090304" charset="0"/>
              </a:rPr>
              <a:t>推理的主要瓶颈在于</a:t>
            </a:r>
            <a:r>
              <a:rPr lang="en-US" altLang="zh-CN">
                <a:latin typeface="Times New Roman" panose="02020503050405090304" charset="0"/>
                <a:cs typeface="Times New Roman" panose="02020503050405090304" charset="0"/>
              </a:rPr>
              <a:t>IOPS</a:t>
            </a:r>
            <a:r>
              <a:rPr lang="zh-CN" altLang="en-US">
                <a:latin typeface="Times New Roman" panose="02020503050405090304" charset="0"/>
                <a:cs typeface="Times New Roman" panose="02020503050405090304" charset="0"/>
              </a:rPr>
              <a:t>而非单纯的带宽限制，并提出了业界首个基于稀疏度驱动的闪存神经元布局优化框架。通过广泛的实证评估，</a:t>
            </a:r>
            <a:r>
              <a:rPr lang="en-US" altLang="zh-CN">
                <a:latin typeface="Times New Roman" panose="02020503050405090304" charset="0"/>
                <a:cs typeface="Times New Roman" panose="02020503050405090304" charset="0"/>
              </a:rPr>
              <a:t>NeuraLink</a:t>
            </a:r>
            <a:r>
              <a:rPr lang="zh-CN" altLang="en-US">
                <a:latin typeface="Times New Roman" panose="02020503050405090304" charset="0"/>
                <a:cs typeface="Times New Roman" panose="02020503050405090304" charset="0"/>
              </a:rPr>
              <a:t>在多种设备与模型上实现了平均</a:t>
            </a:r>
            <a:r>
              <a:rPr lang="en-US" altLang="zh-CN">
                <a:latin typeface="Times New Roman" panose="02020503050405090304" charset="0"/>
                <a:cs typeface="Times New Roman" panose="02020503050405090304" charset="0"/>
              </a:rPr>
              <a:t>1.80</a:t>
            </a:r>
            <a:r>
              <a:rPr lang="zh-CN" altLang="en-US">
                <a:latin typeface="Times New Roman" panose="02020503050405090304" charset="0"/>
                <a:cs typeface="Times New Roman" panose="02020503050405090304" charset="0"/>
              </a:rPr>
              <a:t>倍的</a:t>
            </a:r>
            <a:r>
              <a:rPr lang="en-US" altLang="zh-CN">
                <a:latin typeface="Times New Roman" panose="02020503050405090304" charset="0"/>
                <a:cs typeface="Times New Roman" panose="02020503050405090304" charset="0"/>
              </a:rPr>
              <a:t>I/O</a:t>
            </a:r>
            <a:r>
              <a:rPr lang="zh-CN" altLang="en-US">
                <a:latin typeface="Times New Roman" panose="02020503050405090304" charset="0"/>
                <a:cs typeface="Times New Roman" panose="02020503050405090304" charset="0"/>
              </a:rPr>
              <a:t>带宽提升和</a:t>
            </a:r>
            <a:r>
              <a:rPr lang="en-US" altLang="zh-CN">
                <a:latin typeface="Times New Roman" panose="02020503050405090304" charset="0"/>
                <a:cs typeface="Times New Roman" panose="02020503050405090304" charset="0"/>
              </a:rPr>
              <a:t>1.49</a:t>
            </a:r>
            <a:r>
              <a:rPr lang="zh-CN" altLang="en-US">
                <a:latin typeface="Times New Roman" panose="02020503050405090304" charset="0"/>
                <a:cs typeface="Times New Roman" panose="02020503050405090304" charset="0"/>
              </a:rPr>
              <a:t>倍的端到端推理加速，且在低比特量化（如</a:t>
            </a:r>
            <a:r>
              <a:rPr lang="en-US" altLang="zh-CN">
                <a:latin typeface="Times New Roman" panose="02020503050405090304" charset="0"/>
                <a:cs typeface="Times New Roman" panose="02020503050405090304" charset="0"/>
              </a:rPr>
              <a:t>8-bit</a:t>
            </a:r>
            <a:r>
              <a:rPr lang="zh-CN" altLang="en-US">
                <a:latin typeface="Times New Roman" panose="02020503050405090304" charset="0"/>
                <a:cs typeface="Times New Roman" panose="02020503050405090304" charset="0"/>
              </a:rPr>
              <a:t>）场景下展现出更优越的扩展性，为在资源受限的移动设备上部署高性能大模型提供了开创性的系统级解决方案。</a:t>
            </a:r>
            <a:endParaRPr lang="zh-CN" altLang="en-US">
              <a:latin typeface="Times New Roman" panose="02020503050405090304" charset="0"/>
              <a:cs typeface="Times New Roman" panose="02020503050405090304" charset="0"/>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p:sp>
        <p:nvSpPr>
          <p:cNvPr id="1048691" name="标题 1"/>
          <p:cNvSpPr>
            <a:spLocks noGrp="1"/>
          </p:cNvSpPr>
          <p:nvPr>
            <p:ph type="title"/>
          </p:nvPr>
        </p:nvSpPr>
        <p:spPr/>
        <p:txBody>
          <a:bodyPr>
            <a:normAutofit fontScale="90000"/>
          </a:bodyPr>
          <a:p>
            <a:r>
              <a:rPr lang="zh-CN" altLang="en-US" sz="3110" b="1">
                <a:solidFill>
                  <a:srgbClr val="000000"/>
                </a:solidFill>
              </a:rPr>
              <a:t>总结与未来展望</a:t>
            </a:r>
            <a:endParaRPr lang="zh-CN" altLang="en-US" sz="3110" b="1">
              <a:solidFill>
                <a:srgbClr val="000000"/>
              </a:solidFill>
            </a:endParaRPr>
          </a:p>
        </p:txBody>
      </p:sp>
      <p:pic>
        <p:nvPicPr>
          <p:cNvPr id="2097201" name="图片 13" descr="cache"/>
          <p:cNvPicPr>
            <a:picLocks noChangeAspect="1"/>
          </p:cNvPicPr>
          <p:nvPr/>
        </p:nvPicPr>
        <p:blipFill>
          <a:blip r:embed="rId1"/>
          <a:stretch>
            <a:fillRect/>
          </a:stretch>
        </p:blipFill>
        <p:spPr>
          <a:xfrm>
            <a:off x="9015095" y="6985"/>
            <a:ext cx="2561590" cy="790575"/>
          </a:xfrm>
          <a:prstGeom prst="rect">
            <a:avLst/>
          </a:prstGeom>
        </p:spPr>
      </p:pic>
      <p:sp>
        <p:nvSpPr>
          <p:cNvPr id="2" name="文本框 1"/>
          <p:cNvSpPr txBox="1"/>
          <p:nvPr/>
        </p:nvSpPr>
        <p:spPr>
          <a:xfrm>
            <a:off x="1007745" y="1372870"/>
            <a:ext cx="10152380" cy="4661535"/>
          </a:xfrm>
          <a:prstGeom prst="rect">
            <a:avLst/>
          </a:prstGeom>
          <a:noFill/>
        </p:spPr>
        <p:txBody>
          <a:bodyPr wrap="square" rtlCol="0">
            <a:spAutoFit/>
          </a:bodyPr>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存在的不足之处：</a:t>
            </a:r>
            <a:endParaRPr lang="zh-CN" altLang="en-US">
              <a:latin typeface="Times New Roman" panose="02020503050405090304" charset="0"/>
              <a:cs typeface="Times New Roman" panose="02020503050405090304" charset="0"/>
            </a:endParaRPr>
          </a:p>
          <a:p>
            <a:pPr marL="742950" lvl="1" indent="-285750">
              <a:lnSpc>
                <a:spcPct val="150000"/>
              </a:lnSpc>
              <a:buFont typeface="Arial" panose="020B0604020202090204" pitchFamily="34" charset="0"/>
              <a:buChar char="•"/>
            </a:pPr>
            <a:r>
              <a:rPr lang="zh-CN" altLang="en-US">
                <a:sym typeface="+mn-ea"/>
              </a:rPr>
              <a:t>由于最优布局问题本质上是</a:t>
            </a:r>
            <a:r>
              <a:rPr lang="en-US" altLang="zh-CN">
                <a:latin typeface="Times New Roman" panose="02020503050405090304" charset="0"/>
                <a:cs typeface="Times New Roman" panose="02020503050405090304" charset="0"/>
                <a:sym typeface="+mn-ea"/>
              </a:rPr>
              <a:t>NP</a:t>
            </a:r>
            <a:r>
              <a:rPr lang="zh-CN" altLang="en-US">
                <a:sym typeface="+mn-ea"/>
              </a:rPr>
              <a:t>完全的，当前的启发式算法仅能保证局部最优解</a:t>
            </a:r>
            <a:endParaRPr lang="zh-CN" altLang="en-US">
              <a:sym typeface="+mn-ea"/>
            </a:endParaRPr>
          </a:p>
          <a:p>
            <a:pPr marL="742950" lvl="1" indent="-285750">
              <a:lnSpc>
                <a:spcPct val="150000"/>
              </a:lnSpc>
              <a:buFont typeface="Arial" panose="020B0604020202090204" pitchFamily="34" charset="0"/>
              <a:buChar char="•"/>
            </a:pPr>
            <a:r>
              <a:rPr lang="zh-CN" altLang="en-US">
                <a:sym typeface="+mn-ea"/>
              </a:rPr>
              <a:t>在线阶段中为了维持访问连续性所采用的段粒度缓存策略，在一定程度上造成了</a:t>
            </a:r>
            <a:r>
              <a:rPr lang="en-US" altLang="zh-CN">
                <a:sym typeface="+mn-ea"/>
              </a:rPr>
              <a:t> DRAM </a:t>
            </a:r>
            <a:r>
              <a:rPr lang="zh-CN" altLang="en-US">
                <a:sym typeface="+mn-ea"/>
              </a:rPr>
              <a:t>资源的冗余占用</a:t>
            </a:r>
            <a:endParaRPr lang="zh-CN" altLang="en-US">
              <a:latin typeface="Times New Roman" panose="02020503050405090304" charset="0"/>
              <a:cs typeface="Times New Roman" panose="02020503050405090304" charset="0"/>
            </a:endParaRPr>
          </a:p>
          <a:p>
            <a:pPr marL="285750" indent="-285750">
              <a:lnSpc>
                <a:spcPct val="150000"/>
              </a:lnSpc>
              <a:buFont typeface="Wingdings" panose="05000000000000000000" charset="0"/>
              <a:buChar char="Ø"/>
            </a:pPr>
            <a:r>
              <a:rPr lang="zh-CN" altLang="en-US">
                <a:latin typeface="Times New Roman" panose="02020503050405090304" charset="0"/>
                <a:cs typeface="Times New Roman" panose="02020503050405090304" charset="0"/>
              </a:rPr>
              <a:t>结合物联网的</a:t>
            </a:r>
            <a:r>
              <a:rPr lang="zh-CN" altLang="en-US">
                <a:latin typeface="Times New Roman" panose="02020503050405090304" charset="0"/>
                <a:cs typeface="Times New Roman" panose="02020503050405090304" charset="0"/>
              </a:rPr>
              <a:t>进行未来</a:t>
            </a:r>
            <a:r>
              <a:rPr lang="zh-CN" altLang="en-US">
                <a:latin typeface="Times New Roman" panose="02020503050405090304" charset="0"/>
                <a:cs typeface="Times New Roman" panose="02020503050405090304" charset="0"/>
              </a:rPr>
              <a:t>展望：</a:t>
            </a:r>
            <a:endParaRPr lang="zh-CN" altLang="en-US">
              <a:latin typeface="Times New Roman" panose="02020503050405090304" charset="0"/>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cs typeface="Times New Roman" panose="02020503050405090304" charset="0"/>
              </a:rPr>
              <a:t>该论文本质上解决的是如何在硬件资源受限的移动终端上，运行本该属于云端的大规模语言模型；</a:t>
            </a:r>
            <a:endParaRPr lang="zh-CN" altLang="en-US">
              <a:latin typeface="Times New Roman" panose="02020503050405090304" charset="0"/>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cs typeface="Times New Roman" panose="02020503050405090304" charset="0"/>
              </a:rPr>
              <a:t>论文提到当模型量化到</a:t>
            </a:r>
            <a:r>
              <a:rPr lang="en-US" altLang="zh-CN">
                <a:latin typeface="Times New Roman" panose="02020503050405090304" charset="0"/>
                <a:cs typeface="Times New Roman" panose="02020503050405090304" charset="0"/>
              </a:rPr>
              <a:t> 8-bit </a:t>
            </a:r>
            <a:r>
              <a:rPr lang="zh-CN" altLang="en-US">
                <a:latin typeface="Times New Roman" panose="02020503050405090304" charset="0"/>
                <a:cs typeface="Times New Roman" panose="02020503050405090304" charset="0"/>
              </a:rPr>
              <a:t>时，</a:t>
            </a:r>
            <a:r>
              <a:rPr lang="en-US" altLang="zh-CN">
                <a:latin typeface="Times New Roman" panose="02020503050405090304" charset="0"/>
                <a:cs typeface="Times New Roman" panose="02020503050405090304" charset="0"/>
              </a:rPr>
              <a:t>Neuralink </a:t>
            </a:r>
            <a:r>
              <a:rPr lang="zh-CN" altLang="en-US">
                <a:latin typeface="Times New Roman" panose="02020503050405090304" charset="0"/>
                <a:cs typeface="Times New Roman" panose="02020503050405090304" charset="0"/>
              </a:rPr>
              <a:t>的优势更大</a:t>
            </a:r>
            <a:r>
              <a:rPr lang="en-US" altLang="zh-CN">
                <a:latin typeface="Times New Roman" panose="02020503050405090304" charset="0"/>
                <a:cs typeface="Times New Roman" panose="02020503050405090304" charset="0"/>
              </a:rPr>
              <a:t> </a:t>
            </a:r>
            <a:r>
              <a:rPr lang="zh-CN" altLang="en-US">
                <a:latin typeface="Times New Roman" panose="02020503050405090304" charset="0"/>
                <a:cs typeface="Times New Roman" panose="02020503050405090304" charset="0"/>
              </a:rPr>
              <a:t>。这与</a:t>
            </a:r>
            <a:r>
              <a:rPr lang="en-US" altLang="zh-CN">
                <a:latin typeface="Times New Roman" panose="02020503050405090304" charset="0"/>
                <a:cs typeface="Times New Roman" panose="02020503050405090304" charset="0"/>
              </a:rPr>
              <a:t> IoT </a:t>
            </a:r>
            <a:r>
              <a:rPr lang="zh-CN" altLang="en-US">
                <a:latin typeface="Times New Roman" panose="02020503050405090304" charset="0"/>
                <a:cs typeface="Times New Roman" panose="02020503050405090304" charset="0"/>
              </a:rPr>
              <a:t>设备广泛采用低精度计算（</a:t>
            </a:r>
            <a:r>
              <a:rPr lang="en-US" altLang="zh-CN">
                <a:latin typeface="Times New Roman" panose="02020503050405090304" charset="0"/>
                <a:cs typeface="Times New Roman" panose="02020503050405090304" charset="0"/>
              </a:rPr>
              <a:t>Int8/Int4</a:t>
            </a:r>
            <a:r>
              <a:rPr lang="zh-CN" altLang="en-US">
                <a:latin typeface="Times New Roman" panose="02020503050405090304" charset="0"/>
                <a:cs typeface="Times New Roman" panose="02020503050405090304" charset="0"/>
              </a:rPr>
              <a:t>）的趋势高度契合；</a:t>
            </a:r>
            <a:endParaRPr lang="zh-CN" altLang="en-US">
              <a:latin typeface="Times New Roman" panose="02020503050405090304" charset="0"/>
              <a:cs typeface="Times New Roman" panose="02020503050405090304" charset="0"/>
            </a:endParaRPr>
          </a:p>
          <a:p>
            <a:pPr marL="742950" lvl="1" indent="-285750">
              <a:lnSpc>
                <a:spcPct val="150000"/>
              </a:lnSpc>
              <a:buFont typeface="Arial" panose="020B0604020202090204" pitchFamily="34" charset="0"/>
              <a:buChar char="•"/>
            </a:pPr>
            <a:r>
              <a:rPr lang="zh-CN" altLang="en-US">
                <a:latin typeface="Times New Roman" panose="02020503050405090304" charset="0"/>
                <a:cs typeface="Times New Roman" panose="02020503050405090304" charset="0"/>
              </a:rPr>
              <a:t>虽然论文针对的是智能手机，但其核心思想可以迁移到树莓派、</a:t>
            </a:r>
            <a:r>
              <a:rPr lang="en-US" altLang="zh-CN">
                <a:latin typeface="Times New Roman" panose="02020503050405090304" charset="0"/>
                <a:cs typeface="Times New Roman" panose="02020503050405090304" charset="0"/>
              </a:rPr>
              <a:t>Jetson</a:t>
            </a:r>
            <a:r>
              <a:rPr lang="zh-CN" altLang="en-US">
                <a:latin typeface="Times New Roman" panose="02020503050405090304" charset="0"/>
                <a:cs typeface="Times New Roman" panose="02020503050405090304" charset="0"/>
              </a:rPr>
              <a:t>机器人控制器等其他边缘计算设备上。</a:t>
            </a:r>
            <a:endParaRPr lang="zh-CN" altLang="en-US">
              <a:latin typeface="Times New Roman" panose="02020503050405090304" charset="0"/>
              <a:cs typeface="Times New Roman" panose="02020503050405090304" charset="0"/>
            </a:endParaRPr>
          </a:p>
        </p:txBody>
      </p:sp>
    </p:spTree>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0cnVlfSIsCgkiTGF0ZXgiIDogIlhGc2dlVjh5WGkwZ1hGMD0iLAoJIkxhdGV4SW1nQmFzZTY0IiA6ICJpVkJPUncwS0dnb0FBQUFOU1VoRVVnQUFBRmdBQUFCSkJBTUFBQUJMTWZ3NUFBQUFNRkJNVkVYLy8vOEFBQUFBQUFBQUFBQUFBQUFBQUFBQUFBQUFBQUFBQUFBQUFBQUFBQUFBQUFBQUFBQUFBQUFBQUFBQUFBQXYzYUI3QUFBQUQzUlNUbE1BWnJ2dnEwUXl6ZDEybVNLSlZCQmh6TXI3QUFBQUNYQklXWE1BQUE3RUFBQU94QUdWS3c0YkFBQURUa2xFUVZSSURlMVdPMnRVUVJTZXhHU1R6ZU91YUdmaFhiQjNBeW9FRFc1NndRMldXbVN4MEhJRmV4TVYxQ0NZQlgvQXByZElJQWdLUWdJaTJHMUt1OTNDeWlZeDhiR0pqODh6YzJiT3ZUUDM3bUl0VG5IblBMNTVmWFBPbWF0VW4vWUJtZmEwRDFTcFdnYUx3NzdnbTA4eTdXcGY4SC9IUDh2QWllcjVoYjg5M0czTTRvdUFuKytMbUNPTTRvV0tzV1k5VTBBekIrUk1qVjlLbGZETnFzY2c0eHdnMVVmVkhhWEc0UmJmQW82bnZJRTRja1NHRWc2c09RYnFBU0tsTm42VFF2TjEyVWJwbEhLR1ltV2JMSXNDcWNxR1FpRHBCV3pRZDkxdFl4SUQ4bEpObUpQSmZFTVFYbkptTGhGeGFoVFFIYlVSWUkrbHZHOUQreVlFUWpTWDgyQnNhNjlSVDVCNVZvbVdKa3Q1MzJ2NmZFVEdBanZqZ1RRYlRNMlJvYXRXM3BScEcvRFRxa0pMMnUzSjA4TFhZSnJOSU9Kcm1VY1BwdGxnU3NBMmd3ZlRiREFkb1dBd3pRWmNFVEpTTkYrL2k4ZnZlRDN2QytpWTFpMVo0eVIwbStzYWMrcFRrTWlnNkxNMHY4TEtqWmZ2Z2M4cG5CR0xnRTRBM1ZadE5CZndTS3N0Q1FPdG1VWVV6TEFVdVdqZTNPOXFDNjJaMUFpR2pNdDR1WjJsTyt4YXpLUXY4ZFZrbnd2VmFaZVJ0S2piSVNNb3RWMzIweHBsYlJ4MjdHU3ZuOEE3UEc3WHJyR0xPVGFvSmZTc1pEdmF4Z0tMZFBxNmxocXlzYmJVQ0Vhb01UZHpWTFUwMDduc0NXT1k3TGRJNnFRV0RzUFN2Q1daMkpGVkxaN1lMQnVSMXVUSG5BNXFUMEV6MXkzTWRoWG1oMjdTRm8zSnluM3Jhb1hiVUp2bW5xTGFyRlFFbVN3SlNHY3FWSEZGVGI3dGJicjlPSWRTU1VDSzdTUG9wVUJ6U3hoekh0clpEeWRMLytZTUhweW14eUk4RFYzQm1vQjhJYnZCV0hMSVI1S1dsQS9yb3RDNGxFR3hRUUpVL0hTM2RWR01FTjJ5T2wxZzJYZXQ0NnR2b0x5N3h4WUtuN3JuSytMQU4ranliYU8zRmo0bk1aNTVnMDMyZnpjbUNwSExubThvSEd4K0RmbkJsRWgxSTJKWDFKeEJVUzdZOTZUbHRtTjlRNW5UNlZMQmwwUzdtRSttSUNudWJYaTZWbXBZTVRZT3ZjUmR4Rm1qbkVvUDZjd1kyMmcxMkdITGxwZlZOSGlNaTA4YkY1SlpTU3E2c2Q0YkU2MGVicWhDRzBkZEQ5eXlKYkhBdkRyZkp4dzhCQzc2MktLckRsTkJzWHROd1J5VzdaYU50bWlSVTlqTm5OZFRWSnpURGNnaE94eEFSY0cxYkZvRllDbzcwdllDWDBhbFlKVzJuUEVHaG81QXZSajRBOWNDL240NFBFZ1hBQUFBQUVsRlRrU3VRbUNDIgp9Cg=="/>
    </extobj>
    <extobj name="334E55B0-647D-440b-865C-3EC943EB4CBC-2">
      <extobjdata type="334E55B0-647D-440b-865C-3EC943EB4CBC" data="ewoJIkltZ1NldHRpbmdKc29uIiA6ICJ7XCJkcGlcIjpcIjYwMFwiLFwiZm9ybWF0XCI6XCJQTkdcIixcInRyYW5zcGFyZW50XCI6dHJ1ZSxcImF1dG9cIjpmYWxzZX0iLAoJIkxhdGV4IiA6ICJYRnNnVlNCY1hRPT0iLAoJIkxhdGV4SW1nQmFzZTY0IiA6ICJpVkJPUncwS0dnb0FBQUFOU1VoRVVnQUFBRHNBQUFBN0JBTUFBQUEzQysrQUFBQUFNRkJNVkVYLy8vOEFBQUFBQUFBQUFBQUFBQUFBQUFBQUFBQUFBQUFBQUFBQUFBQUFBQUFBQUFBQUFBQUFBQUFBQUFBQUFBQXYzYUI3QUFBQUQzUlNUbE1BemUvZGlVUXlxNWwydTJZaUVGUzJERk1YQUFBQUNYQklXWE1BQUE3RUFBQU94QUdWS3c0YkFBQUNDMGxFUVZRNEVkVlV1MjVUUVJEZHhIRnNjR3hJVXFRMFNvbUVMS0JEU0RkL0FNb1AyQVU5eVJjRUlRUVVDRk5RMFJoRVFSbEVqV1QvUVJBL1lQNGdjUUo1S1hBNHU5ZTc5OHcxVFVxMnVEc3o1K3lkUGJPNzQxd2I2M2R2THkrdjNsbkhUeGZHSmlNKzBKazR0NGhpbk9Sd1AwWU82Yjk5OFRHNGswL1B2dWJ3bysxT2lLdzl6LzA1ZW1mZmNqdDhxeGx3Mm91Qkd1RW4wUW56ZHh5TlVtQ2VjQzk1M3FqaFZ1SHZFUzQ4YnkzZ1RSRVlBdWVGNTYwYVpDdFVjbWJoQ2lXbmtRSEh5UW5HV09oTnBqNnc4TDdRVzRUZlc3Z3Y5RHBoMmFnblprS3ZFTzc1WUJwTnBZOEpKeVFZTGFYdno4aXVLLzBmc3JWSzJmOHF1d3ZvOGJFdVJ2WUR4QXNlUzFkUjJXM2dWd1R5V1UvYnNlSnlmSjZncDEwbGZOMnUxdE5lSUx4aDRVem8vb2s4TkhCVDZkY0lHOVMxbE42OXRHeXRVbnRXOXJRTmhKUk1YWll0VmZMZFFYVDRGU3I3Q3VHTjhKdjBVZGxYQ1Y5S2RrUHBlOEJSK20wdzVueERpcU1MVFB0VmpJeFBvOFY1T1BQMGg2TExEWUEvd3FhWjNSQ2ZxeS9FZGE2QnorSXo5Mjl4blpzM08zMWNydW5BNUJxWFZpL2FFck0xbU53VmpEUVhyNXI1MjQ3eGZEL1hNdFN4cFl1ZDI0VVdzYThQeEJPNTlVSm8zVzZNTUx0YWFzNUxtVjZ6UE10dThVQUhwYTd2Q1h3SDkzUGlGeXNpRDdvZDRCWE42bE5NUnRPUVRxME9jUFBsQno0SGU2c2lwNUhCajVNZk1WQ2FsOTZ0SE41N1hRcDY5eThxa1VEdXhzZUhKQUFBQUFCSlJVNUVya0pnZ2c9PSIKfQo="/>
    </extobj>
    <extobj name="334E55B0-647D-440b-865C-3EC943EB4CBC-3">
      <extobjdata type="334E55B0-647D-440b-865C-3EC943EB4CBC" data="ewoJIkltZ1NldHRpbmdKc29uIiA6ICJ7XCJkcGlcIjpcIjYwMFwiLFwiZm9ybWF0XCI6XCJQTkdcIixcInRyYW5zcGFyZW50XCI6dHJ1ZSxcImF1dG9cIjpmYWxzZX0iLAoJIkxhdGV4IiA6ICJYRnNnUkNCY1hRPT0iLAoJIkxhdGV4SW1nQmFzZTY0IiA6ICJpVkJPUncwS0dnb0FBQUFOU1VoRVVnQUFBRUFBQUFBNUJBTUFBQUIwYWpEa0FBQUFNRkJNVkVYLy8vOEFBQUFBQUFBQUFBQUFBQUFBQUFBQUFBQUFBQUFBQUFBQUFBQUFBQUFBQUFBQUFBQUFBQUFBQUFBQUFBQXYzYUI3QUFBQUQzUlNUbE1BdSsvZHphdUpSQkJtbVNKMlZESitSaWhNQUFBQUNYQklXWE1BQUE3RUFBQU94QUdWS3c0YkFBQUNNRWxFUVZRNEVXMlVQVThjUVF5R25TOEJTUkFCVWFBMFJ4T0pKam9LU3FTN0pqVlFVTjlWUktLQk9rMVF1bFJRcGIwS1JhRTVDdnBEK1FXcGFXNy9RZUNBUkNRazV2WHN6dGllM1dsMi9OcnJ0WjhaTDFHNUZ0aXQ2M2Z2SzBmMW1IYnVZTnp1dTVBdngvTnQwVitmeU5ycVlIdHo2aUtJbmtOY2lkb0hHSCtpVVQxZlFqdFBtbGpkWklYTk0wZ202eGsrY3VBaUhqTlByTkRLVTR5WWIyM0FVK1pmMXFZQjg1MFZwSFhYYW8vNXJ3MmdQZVpWSzRERHNyWHBFL00vSTd4QXhrMWpCekEzUnBoQndKR3hpV2FoRktwa0dPQ1FLdnNha0dPQXArTklqRElNQ05oZ3Z0UU1nd3dEUEQzbTN4b0F5Mk1nR3JwM2FoaEN3SDNLVU1jUVBxR25VY2RBMUxLWFJqQVVLVis1NmRqR0dqQVF5dEpyTjJLK3loSUlTYTFod0t3Vmw1RlRDRkFOUGYvUE1zaTkxZlB1T0t3aFZPcE83T1I3cjdJTVQ2Q2xzNUN6UDg4QzVxQjFveVpqVlVTamV2NkUxbythcEl2NytOeXpMeDNXTWNoOTBVa2EyNWJMRkZLM2doeldNY2p4S1Jxa1N4MVZOV0QwdElrbURDTUUvSWdGTjJGQUU5ZlJILzR1UmJMS1RkdWVSQU1HcWJHYjNtbkFnQnRrMkk3ckdBYVdna3lBdHB4S1dFMWZFS29aQmptOTB4VFFnT0dqbTZvR0RNalpUd2thTUR6eXAxdkgwUE0zc0lZQkpib3BHZWNZa0dCVEt3aHpidjRVUlBoUDY4UklJRXEyR0hBTWszMmJRUDROWFJXbU5waVgxTVJPWnF5ZmxOa1c4OXRraGMwWUFVZVZOSDNSOWdWODN0MUdSdVkzSnp0WXg0dHc4N3A5ZnloZXR5WmZyWisrT3lkUDFyNFZ6djhBZyt1L0NtNlpOMkFBQUFBQVNVVk9SSzVDWUlJPSIKfQo="/>
    </extobj>
    <extobj name="334E55B0-647D-440b-865C-3EC943EB4CBC-4">
      <extobjdata type="334E55B0-647D-440b-865C-3EC943EB4CBC" data="ewoJIkltZ1NldHRpbmdKc29uIiA6ICJ7XCJkcGlcIjpcIjYwMFwiLFwiZm9ybWF0XCI6XCJQTkdcIixcInRyYW5zcGFyZW50XCI6dHJ1ZSxcImF1dG9cIjp0cnVlfSIsCgkiTGF0ZXgiIDogIlhGc2dlRjh4TEhoZk1pNHVMbmhmYmlCY1hRPT0iLAoJIkxhdGV4SW1nQmFzZTY0IiA6ICJpVkJPUncwS0dnb0FBQUFOU1VoRVVnQUFBV2NBQUFBMUJBTUFBQUJ2cHpmMkFBQUFNRkJNVkVYLy8vOEFBQUFBQUFBQUFBQUFBQUFBQUFBQUFBQUFBQUFBQUFBQUFBQUFBQUFBQUFBQUFBQUFBQUFBQUFBQUFBQXYzYUI3QUFBQUQzUlNUbE1BSW9tNzNXYXJWREx2ZGhDWlJNMzc1blg5QUFBQUNYQklXWE1BQUE3RUFBQU94QUdWS3c0YkFBQUh3RWxFUVZSb0JkVVpTNGhiVmZRbWFTYVp5ZnlRYm9wSUFuWXI2VUlMb3BDQTdWQ3I5STBJaGFMMFplZENjRVlxb3FzWmNLdE1QeW9PQlY4V0xnVEJwRkJ3VVNXRGJuUmpSbFJFcUV4RVFTcElScHRPbTM3bWVNNzk1YjM3Zm5lYWpWNllsM3UrOTl4enp6bjNNNHp4OXNDamc4ZEV4eG04SkZEMjM3R0VqV0V5RHp0UExSSXVjeEFXbGcxaUVId0x3SVBiaU12Q1VIU0M5RVJvTEdGRGM3RUdRNEFtWXF1d0xqb0dod2J6Y0hTKzFJVkRqTlhlYTdQdllVTlRMRHBqQ1p2NjNjRno3SE80emxodStBS2JxZDAxNlQ2NGV3T0JLZGhoRTd2WU9RMjNmTFRVN2xqQ2h2WnBvTkJvUVlNdDlSakw5MkhWWUJpQjJlRThBUjRzVjN1TVRRUDhNNktsOXNZU05yVlh6eEZtRW01bXlYdGRnQXJCa2MzbHJNaHpETkQ2RlVDWDI3ZXhoSTFoOHNKNzB6QlkrNXV4QWdDNlBLWmxZSk5UV2pDa0dLcnR5ZE5qQ1pzR2xlOXh6QlNXaFEwTWF6UzZZcklvZUZaR2d3dUE4OE1vQVNHcjZJbS9Zd21ibXZzVmpzbWp0Ympray9najNHbnlJZXllRmNnV1VQMGdUemNFd3VZN2xyQXhRSDRvRU9ocHJCL2s2Zmc0OVJZRkw4WTlUV3cvVUpEWXRyR0VqVUVtcVloaHcxSkFhNTF4NG10dlFjNlBYTXhsZnByblAxYWZzWVRORVZiT0NneTZlSnQ2TTYrYUhCck9xUUlIUUhVbTJFcDljbjU4U3hDK2VnMU9QQkl2R1VHcFZRUnlEcUFYUWZhajVpajdzR1dBYitRQ1VOOGYrSmFxb1BCdnZQQXBUQ09BOCsyd1RDeUdzbzlhT1huL0pwYnBDbjE1V1F4VmpUTnA0ckhDKytINGR3OGRCSkJoS29aSStYNHA2U3NKVmNOUWdlSFBJMG1qTC8zNERmcXFxZUdramlsY2hHUEVqZ1dwa1NRV1RjT0tFRTBJWS9jWmtUU0JGaS9ZR20wS0g3ak80NktZVkxYQ0praU1FNUZjTWN3ZFkvK1pXRi80R0FkdHhyQUgwYVp3dnlmb1c4Q1BRRUhtRktpMGh5MTVKU0tTckkwMmhBc2dFeENYNjA2S2pTRXluamxDeVJWaWtvaW9TTEkyMmhET3FmMHBzaVRGV1NEeFpuNGtzVWRGa3JYUmhuQUh6c3VoK2pCSUdqU0tadVpIRkkvRVJVYVNyZEdtOEpyT2hTcW9TRWtZTzBneTh5TklEVUNSa1dScnRDbU0rZGNUMmwxK1lBdU1sQVlZK1pIRWpwRVVUaGxibzAzaHNqZ3c0bmg3c0VCWmgva2gwMWhoWW44eGt1b2hvcTNScGpEQ3kwSVplbm8xcERZWjRkaW5RUWZVUVREZjBFcHRqVGFGTTdXalVrZHJ6K0dCK2FGcXowbWhKT3NzekdPditLMzM0ZGZhTk43QmRaVE82V3hyaXEzUmtjSmNDNzVqYUcxMkhjeVBtNEt6Skhiemt2TWJUYU5ZR3h4MmpGUEJLSkphUGEzZDF1aElZYTVsNURhdE5LVXp5bzhwY1ZUTzNjYk1xTERXM1RhK0pjbTdUT2tYcm1VVVNVNVRxMDAxT2ttWXRPRE5TWjU4dGM3NHpoZWJSQnZseDc3Ym5IZXJ3ZWJnenNRdWhVaGYzaHFyOEFGQ2FCN2R5N0RORE51aWc5K1EwVmNQYzhXYUlVbVltUEJ5dXFHWWkxK05Jdkx0SjFkRGFIeVNJK1Nhcmp4YkZ6bFBiUjdWM09nZUlxQXE0aU1yTGl5NEtCZzMxR2JGL0hqZk5CcVoxVDJIMHhPRmljUDFoVFRtWklWTDhRWFFlalM2S29wN1Y4K3ozeVQyREFiSkhBeUZTMTFSNHNyQVQ2L29FbW1zV3lkVzBVeWp0NUI1V1JIeE4xRVk2WGowT0tmWVoxRDJuZ1JJajF3eWpVWmVmcUQzMUc2YUZ3ZUFMTnJWQVJCZWI0a3p2d3U4TExZODZXbjErc0xWbTBZdm9lS2VzZ0ovRTRXUlB1dXIwblErbHhISVNBOWZic1kwbWw0NzZyZ0krR3E2Z2FMb0VUSEZmWmdVVzJxT1hUaExKRndObkVvR1RrcU5sL1c2SWRFMDJrSEYvc1JLRk9iS2xXOTVndWxkZy9UVWtZNE44MDZnTVVDaGlhYmVXQkx6S1RrVm9yTk9uVUpaVHJjbWZOYmljODd0NE9xMGthWGtOUENybW1sMERSWExLT0lzaWNJVXVzTlZwWXEvY2lsUGt4N3BhWHI4NG1qNVJGTnJsTVY1NHJLc2JnZWFWRFNrcXp5UmlHVTRqbnFYNnZ5QmxiR2ZsVjQrbUdtMGl5UElmT1gwUkdHS25tYzRHLy9ROHF0ckx1bFpGQ1NOenNDZ2lkRXk0Ry9PV01ROE9TdGlBMkVyNVFnWG00SS9HSHR0d0F0M3UzUkdKemhYYVJxTmJobjZuNm9TaFZsZUxTclhSWUdzN01CQTFzN1I2TmJ1TWlzNE9NMHF2TXcrcS9uQ0ZNMVk1anB3TmVaNTUwMFlPc2pGMkNrWWVQQ1hHRUIrVGFQWnA0TlBzQUtOV3BJd09yb3k0cVEzOGo4MWVIcTNxZm9hWGZEZ1hkaHBJNk1IVDhQdXBtTGdGUkxSMkhLNmdyNStiU0NxL3ZQZWhWSDU1MHdob3hFYk1Kb2xDT2RobElWY1c5cW44SXIzN0NveDVSOGZqallmaEhNcWcrY0N3VW1zRVMzQzZKSmUxd2orQU1vZGlLVU1JTzhMMExhNmNDdGRRWVRSUlg4aUptbVlnaWM0K2NYeFRTK3JjMTlObE9ta1ljTjFHcmtML3BLWEpOMlNHZXVNYjdRckwxVjQxSzRrRFNsb0VaNmV0Z3pVS2FYZitva3IzcHdscUhNaWxzZFZ4ajRTU1JuTEhtSDA1SFlzZDREUWtqVzVHRXpjQUk4dDRNbU5mWlluWkpvWElveGU2MWtOTmFVT1JGbC9YYmNTRFRIaGxyTE1rUjA2WXhiU0trR0UwZDNGa05Jb1JPdWN3SmEyYkhNZ1NvdkFZVlRNODE2TGR2TmNXbnppdWJFWlZGYnlnbkFNaEtlT2RXcTRYYWVORWFQQmg1NVFXMHFYWW5zTi94SWJicHVOSU1PMGIzY05VZ0pRRmEyVlRSNTFBdVM5QVpQcVpzanZMWTRJbFJnVlZ5NjlnMlB2dlBIZ0ZSOUQrYUlQaU8zaWpVYTM3Vmd1VzBKSGxla1ZUTWprSEtFcmhXek5rZnErVlVpdktVbjhyWStFNzdPM0lzczBucjE3L0QvOThYcG1NQ3lQblBqOXlMcm5pK3ZwdE5RVitsWjhSamZpaDdDa3VPTGtqMWNWYjdkbVowQkFzMnNWSFFHUjhZR0o5OXRTU2JaL1lYUFArbVpvUi9xL3RjS3Yvd21ML3dWMWtxWXRkU1F1SVFBQUFBQkpSVTVFcmtKZ2dnPT0iCn0K"/>
    </extobj>
    <extobj name="334E55B0-647D-440b-865C-3EC943EB4CBC-5">
      <extobjdata type="334E55B0-647D-440b-865C-3EC943EB4CBC" data="ewoJIkltZ1NldHRpbmdKc29uIiA6ICJ7XCJkcGlcIjpcIjYwMFwiLFwiZm9ybWF0XCI6XCJQTkdcIixcInRyYW5zcGFyZW50XCI6dHJ1ZSxcImF1dG9cIjpmYWxzZX0iLAoJIkxhdGV4IiA6ICJYRnNnWkdsemRDaHVYMmtzYmw5cUtUMHhMVkFvYVN4cUtTQmNYUT09IiwKCSJMYXRleEltZ0Jhc2U2NCIgOiAiaVZCT1J3MEtHZ29BQUFBTlNVaEVVZ0FBQTNFQUFBQlhCQU1BQUFCWVI5SEpBQUFBTUZCTVZFWC8vLzhBQUFBQUFBQUFBQUFBQUFBQUFBQUFBQUFBQUFBQUFBQUFBQUFBQUFBQUFBQUFBQUFBQUFBQUFBQUFBQUF2M2FCN0FBQUFEM1JTVGxNQUVESkVWSGFKcTd2Tjc1bG1JdDN0OW9wUEFBQUFDWEJJV1hNQUFBN0VBQUFPeEFHVkt3NGJBQUFWa2tsRVFWUjRBZVZjWFd4a3lWWHU5dC9ZWTN2YWloWllOdEYyUDI1ZWFJc2dFaEZDbXljMklHakRRMURDUTFzZ2doUVUyU2dQTEFtb2V3WFN3a1RRRGhHSTdDcTVYaVJFTW9IcGVVQUpxMlhWNWlWS25td0ZuaENKRFNoQ0RHSGIvSVNNZXdZWDM2bmZVM1YvK2w3M2JZOUhleC82VnAwNjUxU2RjNnBPblZOMTdVcWw3R2ZoWDhybW1NSnYvUzlTR3E0OStQSXFtcW5NdzcrOEtzMk5lbGZWVThuOVRLR2lHY3A4UXpSS2xqT1YzYlBuRzZsdDE3bGhHaFhOVU9iK2YxK1owdFlILzNSbGZaWFowVFFxU3BYNWJULzBnUmRlZmpqRk1GZkU0UlRVQlVtYkYwL2lvcHRPUlNreXJ3cDZ2bHRRZ1J5OSs3KzhOdVB5Z3RpZmNRL0YyZCtXS3JRL2QxLzU4WkRIZENwS2tmbW03UEZSMkZmKytwTG81VWVlSG5OM21razJmZmNKSEtyV1pyYndiUjl0V2hVbHl6ei9nVjhaQ1BGL3RxdXZuVy9hY3E1Q1MxeXAvN29sdG5NTkt4ZlMzSjNqWEhqWlNGLzU4dTlDaFVKODhuVjZmb1BLZnZZU3FpaVhqdGR2Zjh0MG15b3psdDJCUWJyQnJXaUFXZS9xWUlyMW1zVTRwVzFkL0ZkS3l5WEFMYkYxQ2FvRUV0cHpYdFh3OWEraDhpSkRDbFdVVDhkdFllZG9xc3l3M0o3cDZFaUk3NWh5cnZmS1ZXODhuWXRjNDhxRDlIWlJsdVVXWVN6bkMzNVNDQjVJaFNyS3BXUHl3YWRHaURTWjY4SkZoNUVRRTliUTkxMXNHb2IwUGhKbE9Cek9jVUw1cHRpWmdKRzMrWHZnMTdieUltZmpZUmt4UGF5RE1jdGVRaFZOMWpFNld3UEhmZE5wbXN4dDFpdnczWjVuQ0wzM1NKeXhlbFZNazFBd1JybUxheVc1eS9XdlF0YXlMQWUzTldZU1FLTk9MVEVWVGRZeFdKSC8zVEVzMDJRZXNsNzdETi9RZWU4RklmNlRBVzU0TmRZd3UrTG9mSHJlQzYvL0FkbXROTXVkK0luVkNqZzN6Q2hqS3Bxb1k2TEVtbVBiUW9yTUk1Yk8vWU9Za0owdE0vZUxEcHJpbmhuaFZiM2JKU3dVbXRIamowYWxXZTdJMzJSbzI5c3orb2lwYUtLT0pXV2ZSem5KTW1NdlpGdmJ1elpNajhudm12QnMxYi9hbklER2RNdEZ3c2xEekFGZHZmdHZmOU9vbEdlNXJyL0p3REc1UFNXdW9razZsZ0xNL1RTVEkxbG1kRE5oYTJNc3NNajRsSjlqL3B4anpiSzhXREQ2VFI5TGVaWWJzTVFLL2MzQmN1WXd0eFFWSmNzTXozR1FMbDNZMGhGOGxTMlhGQzZFdldUVnEyeGJ6c0tiM0ZhYTVkWmhxUjdyYng1MTQ4ZEtVVkd5ekxlWVQyYTlweFQ3Zk9PczFGM09rWUkvQTNDWHIvcHArSmRtT1FyaHQ5bEl5RnVhdExnY0ZTWEtYR2ZwSE9zOXBjamozVXFsNHlMWEZQd1pnRnN1MFptT2UybVdvM1N1d2NaQ0VZcXhYRGtxU3BTNXpkSTUxbnR5RVI3OGYxakxpT1dmRER6YllxM0l2cHcxbE5Jc2gzUk84STdJa2taTjVhZ29VV2FlenZIdUU4dVlUU3lkbXhNbDVGYUovV1FCbHlkbExsbkV2SzAweTUwSThZQXpKa3ZxcUs4a0ZTWEt6Tk01M24xaTJVL25Wc3ZTWVdKZmFjQTFiNnROdzhvQkw4MXlSODQ1eW01aFNSTUFsS1NpSkptUnpobVhuRU5ZekNhV2V0ZHM3SnVEdERRVVJIS05VcGlWWnJtdThHTnNXTkpFTENXcEtFbG14RUVGN2syYWdnZDJMWmR2bHFMS25FeEdSaTA1OGRQUVNyUGNpQ1hlMUJrWW0zMnZMQlVseUl4MDdpeE50RGk4NDZWenUyVkZlZkdPc2lCZEwzbkt3c3h1Szh0eWRDUFRZMTFSZW1jT0VjdFNrU2Z6VDl3Ly94Z2RKdGxlbngvOCtTWWJBQlhmOGNKby9NY05CL1RUdWNoUENwNi84NHBDZmVxMXdkM2ZkRVFUU3dVSmo0ck10WXpPeTdJY3BXODhuYU5UMFZQZGI2Q2lTb0tPNHlQODNwZkhzSXozTUptckh4TGpFVTQxNjdiWGQ0cTc3T3haMGoySEUrdVJVRGR5SDhkNHpQT25pcXZuT2lzM3hFQThwQWJjV0Y0VTJUMkxFamFMK0hjMTBzVGZ5QjkvSWs0ZUlGbUtUL2s2NnNlYU1PZ2lRY2Z4SHQ0dXhnTisza3dZVE9hT2VIaGMrYkdMamJiWjcrZkZHN2dudmNjWkxZa0grSTdwSDBkeTZXTTQ5bEdIY2pqa2FURDA3ajlYZG1uOUxvb3ZOaXJ6QTd1VUdVcHlzU2hoVFppanBXUitlYUZSb05hOGRDRWUzSmJaMW1UVDBKMTlCU3BLMEhISURLZWVnMjlYRnJ4YmRlQTRtWjhXRncwQSt2dm9SaEUza1R2V3ZObGNqU1FPVEVHKzRDdjRQT1kxSEtIZzlhVXRTYkprU0dWdGJieFJ1VWx4YWxmR3FpZHEvY21tN0ovQ2hMZEMxNUROUDdXMUxNdlZoWmZYa3ZNODFKMzZLcXJFZFp3d3VCWXRsSDR3OGEzTVdCTDdSSFRyMGNna2tZTXQydlI0UnJraVBrVTQrR1RCWk45K09yZnNKVlkzWVhtMFY1YlBwYWZBT1VKREVrLzhLVXg0bzZRejU3SXNCN2RsQWhJU3R1VU9VS0NRQ3k1L1hNZThWWlhuWlBTKzY2MmhDcllpZmVuZTByT0VUclZWT3JkS1cxVE50RXNtWGF3aStheVlqSy9tcFhNM1BUdTNUK1VkL0ZiVWt6U1llWHV5TVBHbk1DSDJsWWxNOHlDVVpibWh1OU5CdDFobTQwM1R2YStpQkIwYlJQZCtSaXI3eUpzTVVyTVNCY2VQK2hNWHBDSXFuV3ZTdXFyem9IL2VwT2hMQTdNU205N09VUE1jWW4rYlpvYjRzc1pGRndkdU9GbWx3b1E0Z2p1T00zemJ1OUtlOThXUkphUXN5MEdIWjdhTGVkVHUyWnF2b3JpT0xhSXJxSmwvNUswS0NoNlV6TERBcHNMdG1GNzdPd0MwK0d4ZU1VZVVmZXZHZ2IzaCtqZ3hwaVZRbFZyb0E0eDloWUFreC9oWVI1RlVLazZJNWF4SHovaFZCK2c3NWRsbWVLd1llZk9RTlJRclVqcW5oVVlhQmNPeFB5ZjBWRlNKNnpqZUUrMzZlSFo5TjR1UVJjbnN6aXBod3g1aHprbVRkcm0zYk9xa0JCN1ZmQkx1cDNNdEh1T3QwVnFqbzlaallsZXBJQjNWaDY2cW52cGJuQkRMK1RER2p2eCsydE9MWVV0QVZJN2xLQ0o1NHh2MGZQMUhFY0tKMzJhOWVTcEswREZEMWNXNml0dTdkclVvdUpZWkc4V3JCbEduYzZ2U3lYbG4za05sVTNMY0pncjNiK2VPK0xIbEN1R2NPRlIwbGM5eXhRa3hLWGIwOE5tTDU1dlFIM3RVUHNwUWRURXF4M0tVenJubjRnM2VrYWVpQkIxelhGVWVxdVhyMXBZQ2E1bGJUblFVRzlSR0FSNHRTWHJwWjZSOUFLQ25DZ1Jyc0hhc2FIYmlXU003dFozZndEM3htV2FVL2JvRVllN2dKN3ZucUJ6TFVUcW5uL0dmL0pYMGRiWmZUMFVKT3JhSXBsQlZUaEVlMkVTRnVrWEpqQzFCK3pSb1g4VnBUVkl6Z25xbWJidG9QdkpGUFJ6L2RxNHk1S3VxZFFBR1E1Y0tZQ2FlQW1LZWR6N1FQQXpBdmljUUFtL3QvbzdGbGdVM1AzeDR3VnBVanVYcU1GdGF6NTZLRW5RY28xdFVONTVZTFd4VkVKYVVHUWFRdnBFQWtTNTI3cUdDTWRCTFAzNStTVUEvbmF0MGVReXl1d09Fa2ZQT0NGWjZnT2dIaTMzUGxJTjNOaUVoZDdoWEpzRDFzaHdjalZVbmpZNC9ub29TZE14eFpmbVcydVl3NzgvOE5pa3o0Z2pyOU15cWZNOHhFRHR1eWFDR2xmbG5HeDY1Znp2blc0NFlZSTNibExUbVBESjRZQ1E5ajVXclpCTVMzc0R1czVyS1g4Nk9WY0ZTVk02YUd4b2RKblR2V1M1Qnh6R1N4VzBKWXZjQUdrWEtmT1FNaW9pTXJVb2NMak5XRUV5Yy94SURCQjliNG9RbWlQdXh4dFdVQVZITEM5MnhXZzg1cDZDY1RraUkxbTBicWtIZVZORVFKTDhoNEZaaXk5OGxaNFkvNk05alF6cnlkR2lnNmgxVEVkd1MxN0dQN1dwMWV3OWdZRkptZExXdkFZZ2J6MHdiQmZKOFcrd0llczUvMGJiVG11U0RqeGl0Uk9KcmZPZzUvM254MExHSmw5SUpDWGNZS25qR2xtTWhCMm5BUFhaYWNna29uWE02NUMwb3gxUVU2RGhBdDlXMjUvMElURElqUXJUWFNkNXVCRE5TZ0dpZVovU1FQMjBBV0dUZWZJa05DeUtiS2NHM1BLTC8rMlBMSmFHUVFRanNlVnhZZUkvLzkwUmVVNUZLbExMbWFscncySXZQYTlzUi9FWHFUaEMzWEtCanl5VW9ETDE1VDQwa013SVVHMXBpa0R1V0NOdVlWVHlBOEtUcTJUWVkrdjdOVkdPV3F6dHVPZWVXWmxXUWNNWnJiZ2xPS2VrWmY5Wkl6dC93RjNZaGNMZ3N4MVFVNkRoR29BSDJIc0Fpa014WVoyTURhUEhkQ0pWRDAwRHZIOUhETjFFSHJHRWpHMnFQT1hHczhVMXF3SU4wam0yZ0NwYitXNUJ3NENVYzZXd250RVFwYTI0Q1dkQk12clVSd0d3MXBxSlF4eGJUSzhUVE9YakxVNHI5eldtV1RlY2tYVGRjb2gvQ29PalI1b0ExdkpERUM1eUl3OUF4d1BRNGxVeHovUlFrdkZhV3EwTkJxVUxHVk5UTlFIWmM0SUhEZVU4eXQ5d1JGZnl3eXZ3a0ViT29adkpUeW0rY3FpcHVBblJKMVdQRFl1bmNpWE9jQ2puenR5Q2g3OVV6T1djMVJxV3NPZmlMQjZtOXhGUVUxM0VTTFkvWWREdkpmT1FNeWhNd2NuQ3g0S242d3dOaHdVRTZoeVhHQXhvL25ldTR2VFJwYUQ2TUR5TVBZVVpJNERQT3JwVmp1YUVma2Z0ZGhpcEswckZQSVd2d3dMMEFUQkRvNWt5REVZUTRZOEhCSFFUb3FNNzM3VEh6U1RCSGR4a3hFZktzTEYvYW9yc3JTQWhENzJsSzlwcExUc0lBZlIvRDRzVnlMRGR5QzRFelYrVlFSY2s2anRIVlkwR1BsSG5vbkkyWHpzRXdPekVlOGs1UGV3TXMxbU9PMFBZREZqb29NVk1Dd1l5SmF6aEZTcmtnSVpqdnhEZzlydnM1cU5SS0hSc1VqdUM5bUs2U291T1FzQjBMZXFUTVhYYzZpU213RDZwM2J4QnBSeGxHVlNwekRZTFIwelY3b2IyOSt3WFYwQlNQVkVIL2FtNVUwMm5ML08vTHB2ZmMrU09Oa3Z4S0pZUUgvdUNkVitUb0dDVTh4U0dycXFMTllhREo4T25Gc0NVZ0NueElNdFlFS1B4RnpMTTVrbEJGSFUvSERpOG9EV054akpRWjRHMk5XVmV6TjJwUVhUdTRrYXlzaWJGOEE5NDBPL0JBeDZSek9xbW9CK3RLY3dNSmZYOTdpdGVLakpDZUZwOFIvMEhRdENlTkVQaWQ4ZThGODBONjVjMDRxOGQwUDVlWnppR085MTJQcCtPNERBWVNUK2N3UVRZcEV6alVLRmlWMEVGVlJyVTRXcUV6QW0yV2puT3BOZDA3RnF4YVk4dDZOUDVIRnQ1UlpWUE5qcE16Y0t5Tzlpb1JDMkYxMyt6VnNva0hIWTNTdEpLRWVDK1BhYnlCblhDVWNNeW9MMTJNeWxoem1la2NQc2w2eUlmbjY1aTNlR1Y0NFBDNFJzb01veGhWRE9XcVhKRDdHQ1lQWld0TE10ZURsYXozcnVsQUJHWlhzZVNKRGlsdkdUZXF1OFdVMkhCRlV1NXVEejlrNktIWVFpbnRTU0VFZXZRaVhiUWYrSVFZcVErNFpLMFV5OVdocWZUK0F4VjVPazZuZ3FiRGRFN0tqR25kMEZRRHFmc2Iwc0NJK1hzQTM1VEJKcUpYNmU0SXoyZ094QWRVcjNUdnlSZXU2N1RiVk5WSzVJNDFkWUkyMmtMVDBTa2R0K3lncEo3NXYvNllLZXAzQ2lHK0phTTVWZGNUeGhJRkh6RmFlTkZDS1paclo2VnpvWW84SFdPNDczM0pyQ0Z2N05EMG1RZWdxMUVjR2RlRVdRREFvTVY4VTY2aEUrVkVXd2RFZ3hhN0diWjFDVGMxZTlRMloxWVdWdkFHQWN4ajB3ZTZkU0RIcWp6djZKaE91dThaTFBMV083WWlDeW1FOEwvMGJlRkprSHpnT3lYUEJmbThDdFJLc1J5a0NUMGJHMEtnSWsvSE1vN3p0MEZObVpET1NabHhGSEtvVUk1VXI4cFlMV1dIU0xZQngrNU0wVmpaQnhIZ0R0SFo3MmJodFJzRTBBL0NIeE1DbzBpZWQ1bGtvbSs3WU1sRGpTVVBzZzJlZ3FVUVlvY2NOSURSRHRkYzNmWmplRjd1RGNzZFhvNlNVWTNpbm8yMUJpcnlkQ3dEQTdPSUdJMzhObUhiQXhBSU9nTzNQUW1uZ0phV1JuZUhxbTNwK3hhVUExd1NGNFoyd2VnSjFwU3czWDFDcDhlWEhKbUFPZGFFTGM3UUxxZkVMWFNKcG1OSmdSK3djYk5DQWxNSXpaNDdERjFITXpTbFlWM3dEYVZMZ1FxU2VlZ0lKc0xoZWUyK2lqd2RVNzdsNGtCTzFmYVhCRFVwbVNQZFYrdlJrS3hTVlZwVndUL3BHWS82TkZBV1Q0eWp3OG9uUVJmRzFnaDlQUVVrSHQxQm5Lb1NyYkY5RkVlSCtLa2YwSGVZdEdHcGg0SXhaMGVDcFJBYU4yNitRZFAwMkRqRmdTMVBVOEE0N2sxRFQ3UlFpcFU2aVpldklrL0hsSWVab004bkhjYURIaVh6aVZwRmEySmJKb3BMU3FzMW1hME5lNHBKLzFPYTJkekFiQ293eHc2QUxYZGV0dXVwc01ZVU1TQ2JLc2JmM0NhM29DWUU4Y1IyR2N6MUZFSTQyaTNnWTFidjRNV2VyamRoV0VPeDRuTVl4Nk9OWWpReGJDd1ArKzFxckJHQVVFVVV1UnNkSTI1TDNpVGo2UnlXSnhSYVdSQnk1K28rZ2hiQnFTa0RGSGcwV0hEcFFvdnk3TVdtSEVoMTZQVFdwWVcweUR4enkzTmJUWmR0VkRxRTJxSDRRajVkNWxFb2JQWG5lZ1locU9IVDFWQTBMd3AzRG0zNWNvWHFoMTkvNFRhTlExeTg5SWt2WFpiYk8zNzExMG4zUXJ6MGlWL2VTQm1JcnlKZngzVDJueFJzWWE3R2doNHRjeHVmdnE5L0JMYXBqc1Rtd21CYjlZci91VExYTjhxdTlzOS9EdUNudXVJUDdaaWV4Y3A1S3RKL3IwclFHbHRLNU1SY3FMbUNoT1M1OGJFbXhWRDJMQmVhYVFOV3pTSWtJb1M1anBaSzJLYzNmRWpoR3UxTzd1a1ZwbGNFUThjaWRTNzVLb0ovWkRvbTl6TzJWNlZ1RUppcllUcG5aRjVIQXFVODF0UDR3MVpqMys4SDhMdFdKd3VSR0w4NUVPSjNITWRxWDl3UkR5MEdCUnU4M3hZNzZhbEc0cjc0TlVPS1piWnB5bGkxMGJmcSs2NUt2dFRGeGo0aFlRWEpMSzM2YzA1OW1YSlYzSG56TStyNTNQMUI3eklzUU5NUmQrNkN6ZWZldkRNd3Jpckd5VmRSeGRkeDVZTVhQNXNnUzBJNloyV2VlMjN3K2IrVnZidzMrdGVHNmU2cjNsLzRyLy84ZmZHRlQyNlpSbnJQZjF6OCt6RUR6SHVwK05LZEhkZTJjSnY5a2ZxS2h3ZWttbWU1ZEVMaVZ3OWR4N0o0NVBxNTdpVmZSWldLcjJPTVBzRnlDZWxjNlRJUCtGcEtWK0lKVzFRU3E5NUxSdzViMnFIcnFOdmtJMFM5anZVSktxcTZvTnVPdmg1RWNHZ29YZVpkdm4vWm5tT0ZYUytTUVhQelhnd25GY0NqRzRuVThlT2JWTUxyMFRCQlJYTW1jbWVqYmNmVHVkSmxyck9Za1hVZEZtUC9wNkc5SGFLazEyUEVJKy9rSnAzd2VyUk1VTkdDaVRMWWFCSDVzSm9zbGk3ekRTKzRETHN6ZFp5b2JGVXFQOE4yeU9HbWFadjRSaGJwbTNsOStnQmxZcWNsSWt4UTBhckxqbTJuQTNadW9ZRGx5NXlQby9xL0FuVHdiSjZCS1V4K0l5NXRlRmlyNFFHMDEzcnRLaE5VZFBNc05tSjJqR3ZhWmlEek1GQ3I2Y3A3MXluZG5MdHdzTG1FZ01xMStpVWNjL3FBdXVqNWdHdGV5MVpSY3o4MmZFZ2Ntbk1HTXVkaUthUERHeXlVWDJYbDJNQURBRC95bEUyN2VTWkx3T1J4VnJOVk5EeDBZMXNjZlpvcXRlQ0lDYUFaeUx3VWh1eHVISzRreis3bzROazh6NFJ6eWpRa3ZFK0NkSzdxWmY4SkJOY05sS21pS3Q4M0luVVNmeVRrNFNTVFl5WXlqL2dwQ3V1TUYrVWhadi9RZ1lZN3JqeXBkQlRNamFVbktwc2o2YkpVdE9wT2ozQTJwSUt4MkI5NjRralpYSjlOMGxhQjlsYU9YTHlKblVuLy9iUGt2QjdPcWF6K3duVHVSQnhtb1YvRHRpd1ZuYnpxQmt6WFg1QU5aMTk3RGloTE01RjUxYnZvQ1hyVTFXWGdETTFSTm1EeS8yZ2tvOGFoWVRvWEZZaHU0dHdlQnlSTFJkR2hHeEgyTjdxM2JJdVloTE9SZVpSd0NPQkdJMHZWMFhuL2ZNTUJoejFYbmxRSzA3bTF6TnV3U2R3ZVQzdTZpdFIvU05Hamd1WGdPNUVUdkJnTWMwWXluK1FJOVJadmYzN0xqVWIvZnlRSHlDcUY2Vnc5aDNmTzR2YzQydEpWZE1TY0pkMzU3TkNWVjJ3cHpFam1CZk8vMzNMcnBCVmVQbVZSMnY4T3FKSDZDYWRGV2ZUWG9TMVZSZlBlckY4WDM5bW92Ri9vSzIwMjhGbkozSW01WmRacFV2SDljT2E1bitBajRkVW42clRaU0ptbW9vWFBHZ3o1L2dINXI1Y1BQUmdxTTVONUtSWUtoVjFQVTIvN1oxMmRoRXVSYWRoZkRXMWVGYjM3WmUvZm5ldkJ6VTdtWFphVGxLaUpCZnc1QW4wY2ZjcDRMc3gwbHJDT1NpNU9vNklaeXJ3b0Rrc1dWTEpyMDlVM3ZyL1laTXlic2QyYk5WN2o0alFxbXFYTTdTSWhSMjc5Um5Uc2RjdUx0S3JCaFU5dVhvOGQ4ZklxbXFuTTYyL01RalB5STlKZDBXTzhxNy9GS2s5VThmSXFlZ0psanJEQTFtSjNqRStVdmQ2aWc5MGRIL1BQZE4raVduZ1N4VjRXRC9wQy9aMzVremo4dC9LWW54OTk0YU52WmZsanN2OC9sKzJQSHhDN3BxMEFBQUFBU1VWT1JLNUNZSUk9Igp9Cg=="/>
    </extobj>
    <extobj name="334E55B0-647D-440b-865C-3EC943EB4CBC-6">
      <extobjdata type="334E55B0-647D-440b-865C-3EC943EB4CBC" data="ewoJIkltZ1NldHRpbmdKc29uIiA6ICJ7XCJkcGlcIjpcIjYwMFwiLFwiZm9ybWF0XCI6XCJQTkdcIixcInRyYW5zcGFyZW50XCI6dHJ1ZSxcImF1dG9cIjpmYWxzZX0iLAoJIkxhdGV4IiA6ICJYRnNnWEhSb1pYUmhJRnhkIiwKCSJMYXRleEltZ0Jhc2U2NCIgOiAiaVZCT1J3MEtHZ29BQUFBTlNVaEVVZ0FBQUNNQUFBQTdCQU1BQUFBRGNpNmNBQUFBTUZCTVZFWC8vLzhBQUFBQUFBQUFBQUFBQUFBQUFBQUFBQUFBQUFBQUFBQUFBQUFBQUFBQUFBQUFBQUFBQUFBQUFBQUFBQUF2M2FCN0FBQUFEM1JTVGxNQVZLdmQ3ODJKWmlLN0VFUjJNcG1pVmxleEFBQUFDWEJJV1hNQUFBN0VBQUFPeEFHVkt3NGJBQUFCNVVsRVFWUTRFVlZVdTFFRFFRd1ZZRERZZ09uZ0dDakFkSEFtSlRraVV0TUI3c0R1QUdZSW1DSEJBYm1ab1FDN0E3c0R1d01ZT1A2Zng1TzB0M2NvT0dtZlB2dFdxejJSS0V2NytVbGNtRkhQa09Ld2lxMm5lVThTOUNwWWdtdVJKcjVLYUJNZnV1am1KVFRGa1M3NlpXWWRtQ2swUjBlVnloamZwbHY0TVMzU3lIQmdaZzIvQWRvQTdzeGN3WE9BRWp5NXRRcTR3YnozQ05rMnNneGNSS2huVmhJb2lLd0FFNE15cDA2YjBLbEM1RmtjclFVc0ZLb2hjaDRCdXdyMVF6VE5lZGdvQlFicW9uQ2pYYW9sNEVXWEttZGVpN3Y0bVFuZGVBM21GOGNYT0M4R2R6U0pzazVvaHpvTEc5TWtRMjNsVnZCbzFEYnRZVlNLQ0h1ai9TTDN5S0VGYTl3WWVMVVFmdWJBR3hVM2ZOa0wwblUrVkZWNVpGUjFUZnZZT1V6b1VXa1NPbzNzREZvak5CQzlpbkJQMW1hbHhUNUVXaVB2Q2RsRlduM1lmWjZYZHlGdDI1QXpnMCtyelU4R0c2K2s3SmIyWkVnUDh5OUNGRnRqb3pRdGI0dzlzUnBubnErQkxMdFFUZWhPTmFVZDdwT0pBd09rNGYwVEllU0k4SVErZUNRUklGWmZtRG1QMEJUaGFZd2lsQ0ZNR2NNOWNiUElFNDc4MExBUmNqZUV6b0ZCN1NKUEoyT21FTTg4TVJjL1hYOXZ0OFVESVpSNEoyNWlRM1EwSHVuWXJnU3hpSTdsZ3o4QldpcGpGcnYvL3p0b3BubUszNkc1aTAvOTh2bXFndndCKy9GTlVzMXQweWtBQUFBQVNVVk9SSzVDWUlJPSIKfQo="/>
    </extobj>
  </extobjs>
</s:customData>
</file>

<file path=customXml/itemProps6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4742</Words>
  <Application>WPS 表格</Application>
  <PresentationFormat/>
  <Paragraphs>218</Paragraphs>
  <Slides>22</Slides>
  <Notes>0</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3</vt:i4>
      </vt:variant>
      <vt:variant>
        <vt:lpstr>幻灯片标题</vt:lpstr>
      </vt:variant>
      <vt:variant>
        <vt:i4>22</vt:i4>
      </vt:variant>
    </vt:vector>
  </HeadingPairs>
  <TitlesOfParts>
    <vt:vector size="47" baseType="lpstr">
      <vt:lpstr>Arial</vt:lpstr>
      <vt:lpstr>宋体</vt:lpstr>
      <vt:lpstr>Wingdings</vt:lpstr>
      <vt:lpstr>Wingdings</vt:lpstr>
      <vt:lpstr>微软雅黑</vt:lpstr>
      <vt:lpstr>汉仪旗黑</vt:lpstr>
      <vt:lpstr>Impact</vt:lpstr>
      <vt:lpstr>Microsoft Sans Serif</vt:lpstr>
      <vt:lpstr>华文细黑</vt:lpstr>
      <vt:lpstr>方正公文黑体</vt:lpstr>
      <vt:lpstr>__Inter_f367f3</vt:lpstr>
      <vt:lpstr>PingFang SC Semibold</vt:lpstr>
      <vt:lpstr>PingFang SC</vt:lpstr>
      <vt:lpstr>Times New Roman</vt:lpstr>
      <vt:lpstr>苹方-简</vt:lpstr>
      <vt:lpstr>宋体</vt:lpstr>
      <vt:lpstr>Arial Unicode MS</vt:lpstr>
      <vt:lpstr>汉仪书宋二KW</vt:lpstr>
      <vt:lpstr>Thonburi</vt:lpstr>
      <vt:lpstr>__Inter_f367f3</vt:lpstr>
      <vt:lpstr>微软雅黑</vt:lpstr>
      <vt:lpstr>WPS</vt:lpstr>
      <vt:lpstr>Equation.KSEE3</vt:lpstr>
      <vt:lpstr>Equation.KSEE3</vt:lpstr>
      <vt:lpstr>Equation.KSEE3</vt:lpstr>
      <vt:lpstr>PowerPoint 演示文稿</vt:lpstr>
      <vt:lpstr>PowerPoint 演示文稿</vt:lpstr>
      <vt:lpstr>研究背景</vt:lpstr>
      <vt:lpstr>研究背景</vt:lpstr>
      <vt:lpstr>研究背景</vt:lpstr>
      <vt:lpstr>PowerPoint 演示文稿</vt:lpstr>
      <vt:lpstr>算法框架</vt:lpstr>
      <vt:lpstr>算法框架 —— 离线阶段</vt:lpstr>
      <vt:lpstr>算法框架 —— 离线阶段</vt:lpstr>
      <vt:lpstr>算法框架 —— 离线阶段</vt:lpstr>
      <vt:lpstr>算法框架 —— 在线阶段</vt:lpstr>
      <vt:lpstr>算法框架 —— 在线阶段</vt:lpstr>
      <vt:lpstr>PowerPoint 演示文稿</vt:lpstr>
      <vt:lpstr>实验分析——实验整体思路</vt:lpstr>
      <vt:lpstr>实验分析——实验平台与对象</vt:lpstr>
      <vt:lpstr>实验分析——对比基线与评价指标</vt:lpstr>
      <vt:lpstr>实验分析——整体性能</vt:lpstr>
      <vt:lpstr>实验分析——离线阶段消融实验</vt:lpstr>
      <vt:lpstr>实验分析——在线阶段消融实验</vt:lpstr>
      <vt:lpstr>实验分析——鲁棒性分析</vt:lpstr>
      <vt:lpstr>总结与未来展望</vt:lpstr>
      <vt:lpstr>总结与未来展望</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M2012K10C</dc:creator>
  <cp:lastModifiedBy>lipeizhang</cp:lastModifiedBy>
  <cp:revision>29</cp:revision>
  <dcterms:created xsi:type="dcterms:W3CDTF">2026-01-12T02:49:55Z</dcterms:created>
  <dcterms:modified xsi:type="dcterms:W3CDTF">2026-01-12T02:49:55Z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EEAF987C269848308DC8BEBB4A8CAC24_13</vt:lpwstr>
  </property>
</Properties>
</file>